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70" r:id="rId2"/>
    <p:sldId id="327" r:id="rId3"/>
    <p:sldId id="334" r:id="rId4"/>
    <p:sldId id="302" r:id="rId5"/>
    <p:sldId id="320" r:id="rId6"/>
    <p:sldId id="303" r:id="rId7"/>
    <p:sldId id="348" r:id="rId8"/>
    <p:sldId id="305" r:id="rId9"/>
    <p:sldId id="304" r:id="rId10"/>
    <p:sldId id="306" r:id="rId11"/>
    <p:sldId id="276" r:id="rId12"/>
    <p:sldId id="335" r:id="rId13"/>
    <p:sldId id="328" r:id="rId14"/>
    <p:sldId id="322" r:id="rId15"/>
    <p:sldId id="321" r:id="rId16"/>
    <p:sldId id="349" r:id="rId17"/>
    <p:sldId id="350" r:id="rId18"/>
    <p:sldId id="351" r:id="rId19"/>
    <p:sldId id="280" r:id="rId20"/>
    <p:sldId id="283" r:id="rId21"/>
    <p:sldId id="309" r:id="rId22"/>
    <p:sldId id="308" r:id="rId23"/>
    <p:sldId id="284" r:id="rId24"/>
    <p:sldId id="307" r:id="rId25"/>
    <p:sldId id="311" r:id="rId26"/>
    <p:sldId id="352" r:id="rId27"/>
    <p:sldId id="353" r:id="rId28"/>
    <p:sldId id="354" r:id="rId29"/>
    <p:sldId id="289" r:id="rId30"/>
    <p:sldId id="355" r:id="rId31"/>
    <p:sldId id="356" r:id="rId32"/>
    <p:sldId id="357" r:id="rId33"/>
    <p:sldId id="358" r:id="rId34"/>
    <p:sldId id="359" r:id="rId35"/>
    <p:sldId id="360" r:id="rId36"/>
    <p:sldId id="295" r:id="rId37"/>
    <p:sldId id="297" r:id="rId38"/>
    <p:sldId id="298" r:id="rId39"/>
    <p:sldId id="268" r:id="rId40"/>
    <p:sldId id="361" r:id="rId41"/>
    <p:sldId id="301" r:id="rId42"/>
    <p:sldId id="339" r:id="rId43"/>
    <p:sldId id="362" r:id="rId44"/>
    <p:sldId id="363" r:id="rId45"/>
    <p:sldId id="364" r:id="rId46"/>
    <p:sldId id="343" r:id="rId47"/>
    <p:sldId id="366" r:id="rId48"/>
    <p:sldId id="367" r:id="rId49"/>
    <p:sldId id="368" r:id="rId50"/>
    <p:sldId id="369" r:id="rId51"/>
    <p:sldId id="326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3" clrIdx="0">
    <p:extLst>
      <p:ext uri="{19B8F6BF-5375-455C-9EA6-DF929625EA0E}">
        <p15:presenceInfo xmlns:p15="http://schemas.microsoft.com/office/powerpoint/2012/main" userId="dongupak" providerId="None"/>
      </p:ext>
    </p:extLst>
  </p:cmAuthor>
  <p:cmAuthor id="2" name="it" initials="i" lastIdx="1" clrIdx="1">
    <p:extLst>
      <p:ext uri="{19B8F6BF-5375-455C-9EA6-DF929625EA0E}">
        <p15:presenceInfo xmlns:p15="http://schemas.microsoft.com/office/powerpoint/2012/main" userId="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723"/>
    <a:srgbClr val="FFD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8" autoAdjust="0"/>
    <p:restoredTop sz="94660"/>
  </p:normalViewPr>
  <p:slideViewPr>
    <p:cSldViewPr snapToGrid="0">
      <p:cViewPr>
        <p:scale>
          <a:sx n="100" d="100"/>
          <a:sy n="100" d="100"/>
        </p:scale>
        <p:origin x="708" y="426"/>
      </p:cViewPr>
      <p:guideLst>
        <p:guide orient="horz" pos="107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AD054-522D-4B8F-B501-3F8D9B1967E7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FEA69-0BF9-485D-9E92-65BFD7807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57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9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0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969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8"/>
            <a:ext cx="10014757" cy="4936660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3">
                  <a:lumMod val="50000"/>
                </a:schemeClr>
              </a:buClr>
              <a:buFont typeface="Arial" pitchFamily="34" charset="0"/>
              <a:buChar char="•"/>
              <a:defRPr sz="2000"/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>
            <a:solidFill>
              <a:srgbClr val="D69E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rgbClr val="D69E6F"/>
                </a:solidFill>
              </a:rPr>
              <a:pPr algn="r"/>
              <a:t>‹#›</a:t>
            </a:fld>
            <a:endParaRPr lang="ko-KR" altLang="en-US" sz="675" b="1" dirty="0">
              <a:solidFill>
                <a:srgbClr val="D69E6F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F9EE1A-6617-7B62-049C-F651F1D76D02}"/>
              </a:ext>
            </a:extLst>
          </p:cNvPr>
          <p:cNvSpPr/>
          <p:nvPr userDrawn="1"/>
        </p:nvSpPr>
        <p:spPr>
          <a:xfrm>
            <a:off x="7831312" y="6365947"/>
            <a:ext cx="3407701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675" b="1" dirty="0">
                <a:solidFill>
                  <a:srgbClr val="D69E6F"/>
                </a:solidFill>
              </a:rPr>
              <a:t>Chapter 01 </a:t>
            </a:r>
            <a:r>
              <a:rPr lang="ko-KR" altLang="en-US" sz="750" dirty="0"/>
              <a:t>데이터 과학과 </a:t>
            </a:r>
            <a:r>
              <a:rPr lang="ko-KR" altLang="en-US" sz="750" dirty="0" err="1"/>
              <a:t>파이썬의</a:t>
            </a:r>
            <a:r>
              <a:rPr lang="ko-KR" altLang="en-US" sz="750" dirty="0"/>
              <a:t> 세계로</a:t>
            </a:r>
            <a:endParaRPr lang="ko-KR" altLang="en-US" sz="825" b="1" dirty="0">
              <a:solidFill>
                <a:srgbClr val="009FB4"/>
              </a:solidFill>
            </a:endParaRP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9979928" y="83680"/>
            <a:ext cx="1588680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8" name="TextBox 17"/>
          <p:cNvSpPr txBox="1"/>
          <p:nvPr userDrawn="1"/>
        </p:nvSpPr>
        <p:spPr>
          <a:xfrm>
            <a:off x="9979928" y="90475"/>
            <a:ext cx="2353359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r>
              <a:rPr lang="ko-KR" altLang="en-US" sz="675" spc="0" baseline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&amp;</a:t>
            </a:r>
            <a:r>
              <a:rPr lang="ko-KR" altLang="en-US" sz="675" spc="0" baseline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Data</a:t>
            </a:r>
            <a:r>
              <a:rPr lang="ko-KR" altLang="en-US" sz="675" spc="0" baseline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Science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3BB29D5-746E-3934-E911-F26B1E0C95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89" y="317641"/>
            <a:ext cx="677855" cy="62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92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0" r:id="rId3"/>
    <p:sldLayoutId id="2147483657" r:id="rId4"/>
    <p:sldLayoutId id="2147483658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</a:t>
            </a:r>
            <a:r>
              <a:rPr lang="ko-KR" altLang="en-US" sz="3600" b="1" dirty="0" err="1" smtClean="0"/>
              <a:t>파이썬</a:t>
            </a:r>
            <a:r>
              <a:rPr lang="ko-KR" altLang="en-US" sz="3600" b="1" dirty="0" smtClean="0"/>
              <a:t> 소개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141468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591069" y="565711"/>
            <a:ext cx="11054621" cy="5777447"/>
            <a:chOff x="1043098" y="4462353"/>
            <a:chExt cx="6985286" cy="1832681"/>
          </a:xfrm>
        </p:grpSpPr>
        <p:sp>
          <p:nvSpPr>
            <p:cNvPr id="5" name="모서리가 둥근 직사각형 2"/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7" name="직사각형 6"/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직사각형 32"/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" name="직사각형 23"/>
              <p:cNvSpPr>
                <a:spLocks noChangeArrowheads="1"/>
              </p:cNvSpPr>
              <p:nvPr/>
            </p:nvSpPr>
            <p:spPr bwMode="auto">
              <a:xfrm>
                <a:off x="854031" y="2923423"/>
                <a:ext cx="6696744" cy="12008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다음의 용어를 이해하고 설명할 수 있다</a:t>
                </a:r>
                <a:r>
                  <a:rPr lang="en-US" altLang="ko-KR" sz="2000" dirty="0"/>
                  <a:t>: </a:t>
                </a:r>
                <a:r>
                  <a:rPr lang="ko-KR" altLang="en-US" sz="2000" dirty="0"/>
                  <a:t>프로그램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프로그래밍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소프트웨어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하드웨어 </a:t>
                </a:r>
                <a:endParaRPr lang="en-US" altLang="ko-KR" sz="2000" dirty="0"/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 err="1"/>
                  <a:t>파이썬의</a:t>
                </a:r>
                <a:r>
                  <a:rPr lang="ko-KR" altLang="en-US" sz="2000" dirty="0"/>
                  <a:t> 역사와 </a:t>
                </a:r>
                <a:r>
                  <a:rPr lang="ko-KR" altLang="en-US" sz="2000" dirty="0" err="1"/>
                  <a:t>파이썬이</a:t>
                </a:r>
                <a:r>
                  <a:rPr lang="ko-KR" altLang="en-US" sz="2000" dirty="0"/>
                  <a:t> 가진 특징을 이해한다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컴파일러와 인터프리터 언어의 차이를 이해한다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파이썬 개발도구를 설치하고 사용법을 이해한다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간단한 파이썬 프로그램을 만들 수 있다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파이썬 프로그램의 명령이 해석되고 실행되는 과정에 대해 이해한다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파이썬 통합 개발 환경의 필요성을 이해하고 활용할 수 있다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파이썬 프로그램을 통해 원하는 메시지를 출력할 수 있다</a:t>
                </a:r>
                <a:r>
                  <a:rPr lang="en-US" altLang="ko-KR" sz="2000" dirty="0"/>
                  <a:t>. </a:t>
                </a:r>
              </a:p>
              <a:p>
                <a:pPr marL="182563" lvl="1" indent="-182563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2000" dirty="0"/>
                  <a:t>대화형 모드를 이용하여 간단한 계산을 수행할 수 있다</a:t>
                </a:r>
                <a:endParaRPr lang="ko-KR" altLang="en-US" sz="20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68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우리의 일상에서 컴퓨터와 스마트폰과 같은 정보통신 기계와 이 기계에서 작동되는 소프트웨어의 중요성은 점점 더 증가하고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19C213-5CF4-F7B4-E38A-FF21FD4F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일상 생활에서 느끼는 프로그램과 소프트웨어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211873" y="1978502"/>
            <a:ext cx="10014757" cy="3257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9388" indent="-179388" algn="l" defTabSz="914400" rtl="0" eaLnBrk="1" latinLnBrk="1" hangingPunct="1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-"/>
            </a:pPr>
            <a:r>
              <a:rPr lang="ko-KR" altLang="en-US" sz="1800" dirty="0" smtClean="0"/>
              <a:t>아침에 스마트폰의 </a:t>
            </a:r>
            <a:r>
              <a:rPr lang="ko-KR" altLang="en-US" sz="1800" dirty="0" err="1" smtClean="0"/>
              <a:t>알람</a:t>
            </a:r>
            <a:r>
              <a:rPr lang="ko-KR" altLang="en-US" sz="1800" dirty="0" smtClean="0"/>
              <a:t> 소리에 맞춰 눈을 뜨고 스마트폰을 통해 하루 일정을 확인하고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스마트폰을 통해 오늘 날씨를 확인하여 외출복을 고르는 것은 필자나 독자들의 흔한 일상이 아닐까 싶다</a:t>
            </a:r>
            <a:r>
              <a:rPr lang="en-US" altLang="ko-KR" sz="1800" dirty="0" smtClean="0"/>
              <a:t>. </a:t>
            </a:r>
          </a:p>
          <a:p>
            <a:pPr marL="182563" lvl="1" indent="-182563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</a:pPr>
            <a:r>
              <a:rPr lang="ko-KR" altLang="en-US" dirty="0"/>
              <a:t>혹은 회사에 출근하거나 학교에 다니는 사람들은 지하철이나 버스 안에서 스마트폰을 통해 음악을 감상하고</a:t>
            </a:r>
            <a:r>
              <a:rPr lang="en-US" altLang="ko-KR" dirty="0"/>
              <a:t>, </a:t>
            </a:r>
            <a:r>
              <a:rPr lang="ko-KR" altLang="en-US" dirty="0"/>
              <a:t>게임을 하며</a:t>
            </a:r>
            <a:r>
              <a:rPr lang="en-US" altLang="ko-KR" dirty="0"/>
              <a:t>, </a:t>
            </a:r>
            <a:r>
              <a:rPr lang="ko-KR" altLang="en-US" dirty="0"/>
              <a:t>메신저로 정보를 전달하고</a:t>
            </a:r>
            <a:r>
              <a:rPr lang="en-US" altLang="ko-KR" dirty="0"/>
              <a:t>, SNS</a:t>
            </a:r>
            <a:r>
              <a:rPr lang="ko-KR" altLang="en-US" dirty="0"/>
              <a:t>를 통해서 서로 정보를 교환하는 것도 아주 흔한 모습일 </a:t>
            </a:r>
            <a:r>
              <a:rPr lang="ko-KR" altLang="en-US" dirty="0" smtClean="0"/>
              <a:t>것이다</a:t>
            </a:r>
            <a:r>
              <a:rPr lang="en-US" altLang="ko-KR" dirty="0" smtClean="0"/>
              <a:t>.</a:t>
            </a:r>
          </a:p>
          <a:p>
            <a:pPr marL="182563" lvl="1" indent="-182563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</a:pPr>
            <a:r>
              <a:rPr lang="ko-KR" altLang="en-US" dirty="0"/>
              <a:t>이러한 기계는 어떻게 동작하는 것일까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183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스마트폰에는 시계의 기능이 내장되어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시계 프로그램에 “스마트폰의 시간이 오전 </a:t>
            </a:r>
            <a:r>
              <a:rPr lang="en-US" altLang="ko-KR" dirty="0"/>
              <a:t>7</a:t>
            </a:r>
            <a:r>
              <a:rPr lang="ko-KR" altLang="en-US" dirty="0"/>
              <a:t>시가 되면 </a:t>
            </a:r>
            <a:r>
              <a:rPr lang="ko-KR" altLang="en-US" dirty="0" err="1"/>
              <a:t>알람</a:t>
            </a:r>
            <a:r>
              <a:rPr lang="ko-KR" altLang="en-US" dirty="0"/>
              <a:t> 소리를 들려주도록 </a:t>
            </a:r>
            <a:r>
              <a:rPr lang="ko-KR" altLang="en-US" dirty="0" err="1"/>
              <a:t>하라”라는</a:t>
            </a:r>
            <a:r>
              <a:rPr lang="ko-KR" altLang="en-US" dirty="0"/>
              <a:t> 명령을 넣을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>
                <a:latin typeface="+mn-ea"/>
                <a:ea typeface="+mn-ea"/>
              </a:rPr>
              <a:t>1.1 </a:t>
            </a:r>
            <a:r>
              <a:rPr lang="ko-KR" altLang="en-US" dirty="0">
                <a:latin typeface="+mn-ea"/>
                <a:ea typeface="+mn-ea"/>
              </a:rPr>
              <a:t>일상 생활에서 느끼는 프로그램과 소프트웨어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66" y="2535201"/>
            <a:ext cx="5669534" cy="356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73" y="1285768"/>
            <a:ext cx="8990453" cy="4829158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B628FB55-49D8-661C-75E4-BDCC3892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1.1 </a:t>
            </a:r>
            <a:r>
              <a:rPr lang="ko-KR" altLang="en-US" dirty="0">
                <a:latin typeface="+mn-ea"/>
                <a:ea typeface="+mn-ea"/>
              </a:rPr>
              <a:t>일상 생활에서 느끼는 프로그램과 소프트웨어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52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스마트폰은 지정된 명령어를 수행할 수 있는 하드웨어와 소프트웨어가 있기 때문에 명령 수행이 가능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1F7A96D-14F1-35D4-81A8-DDA3D813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1.1 </a:t>
            </a:r>
            <a:r>
              <a:rPr lang="ko-KR" altLang="en-US" dirty="0">
                <a:latin typeface="+mn-ea"/>
                <a:ea typeface="+mn-ea"/>
              </a:rPr>
              <a:t>일상 생활에서 느끼는 프로그램과 소프트웨어</a:t>
            </a:r>
            <a:endParaRPr lang="ko-KR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28" y="2006330"/>
            <a:ext cx="6618055" cy="403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6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628FB55-49D8-661C-75E4-BDCC3892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1.1 </a:t>
            </a:r>
            <a:r>
              <a:rPr lang="ko-KR" altLang="en-US" dirty="0">
                <a:latin typeface="+mn-ea"/>
                <a:ea typeface="+mn-ea"/>
              </a:rPr>
              <a:t>일상 생활에서 느끼는 프로그램과 소프트웨어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3" y="1687605"/>
            <a:ext cx="10534006" cy="36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2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컴퓨터는</a:t>
            </a:r>
            <a:r>
              <a:rPr lang="en-US" altLang="ko-KR" dirty="0"/>
              <a:t> 0(OFF)</a:t>
            </a:r>
            <a:r>
              <a:rPr lang="ko-KR" altLang="en-US" dirty="0"/>
              <a:t>과 </a:t>
            </a:r>
            <a:r>
              <a:rPr lang="en-US" altLang="ko-KR" dirty="0"/>
              <a:t>1(ON)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chemeClr val="accent5"/>
                </a:solidFill>
              </a:rPr>
              <a:t>이진</a:t>
            </a:r>
            <a:r>
              <a:rPr lang="en-US" altLang="ko-KR" b="1" baseline="30000" dirty="0">
                <a:solidFill>
                  <a:schemeClr val="accent5"/>
                </a:solidFill>
              </a:rPr>
              <a:t>binary</a:t>
            </a:r>
            <a:r>
              <a:rPr lang="en-US" altLang="ko-KR" dirty="0"/>
              <a:t> </a:t>
            </a:r>
            <a:r>
              <a:rPr lang="ko-KR" altLang="en-US" dirty="0"/>
              <a:t>값만을 이해하고 저장함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최종적으로 컴퓨터가 수행하는 명령은 </a:t>
            </a:r>
            <a:r>
              <a:rPr lang="en-US" altLang="ko-KR" dirty="0"/>
              <a:t>000010010001111...</a:t>
            </a:r>
            <a:r>
              <a:rPr lang="ko-KR" altLang="en-US" dirty="0"/>
              <a:t>의 값으로 된 명령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01001000100...</a:t>
            </a:r>
            <a:r>
              <a:rPr lang="ko-KR" altLang="en-US" dirty="0"/>
              <a:t>과 같은 명령은 사람이 이해하기 어렵고 작성 시간이 오래 걸리며 오류가 많고 수정이 힘들다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사람이 이해할 수 있는 프로그래밍 언어를 이용하여 명령 입력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3FFFEA-5D36-DF82-0056-F770061D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1.1 </a:t>
            </a:r>
            <a:r>
              <a:rPr lang="ko-KR" altLang="en-US" dirty="0">
                <a:latin typeface="+mn-ea"/>
                <a:ea typeface="+mn-ea"/>
              </a:rPr>
              <a:t>일상 생활에서 느끼는 프로그램과 소프트웨어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20" y="2001901"/>
            <a:ext cx="7922874" cy="246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3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180975" indent="-180975"/>
            <a:r>
              <a:rPr lang="ko-KR" altLang="en-US" dirty="0"/>
              <a:t>프로그래머는 </a:t>
            </a:r>
            <a:r>
              <a:rPr lang="en-US" altLang="ko-KR" dirty="0"/>
              <a:t>hello.py</a:t>
            </a:r>
            <a:r>
              <a:rPr lang="ko-KR" altLang="en-US" dirty="0"/>
              <a:t>라는 이름의 파이썬 명령어를 이용한 프로그램을 작성</a:t>
            </a:r>
            <a:endParaRPr lang="en-US" altLang="ko-KR" dirty="0"/>
          </a:p>
          <a:p>
            <a:pPr marL="180975" indent="-180975"/>
            <a:r>
              <a:rPr lang="ko-KR" altLang="en-US" dirty="0"/>
              <a:t>인터프리터라는 프로그램이 </a:t>
            </a:r>
            <a:r>
              <a:rPr lang="en-US" altLang="ko-KR" dirty="0"/>
              <a:t>hello.py</a:t>
            </a:r>
            <a:r>
              <a:rPr lang="ko-KR" altLang="en-US" dirty="0"/>
              <a:t>라는 프로그램을 기계어 명령어로 변환하여 컴퓨터에서 실행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F7C0276-D9E5-A16A-ED08-7A3D2B37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1.1 </a:t>
            </a:r>
            <a:r>
              <a:rPr lang="ko-KR" altLang="en-US" dirty="0">
                <a:latin typeface="+mn-ea"/>
                <a:ea typeface="+mn-ea"/>
              </a:rPr>
              <a:t>일상 생활에서 느끼는 프로그램과 소프트웨어</a:t>
            </a:r>
            <a:endParaRPr lang="ko-KR" altLang="en-US" dirty="0"/>
          </a:p>
        </p:txBody>
      </p:sp>
      <p:sp>
        <p:nvSpPr>
          <p:cNvPr id="19" name="내용 개체 틀 2"/>
          <p:cNvSpPr txBox="1">
            <a:spLocks/>
          </p:cNvSpPr>
          <p:nvPr/>
        </p:nvSpPr>
        <p:spPr>
          <a:xfrm>
            <a:off x="744923" y="321384"/>
            <a:ext cx="10515600" cy="1782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45" y="3192342"/>
            <a:ext cx="9322662" cy="267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5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프로그래밍 언어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1.1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일상 생활에서 느끼는 프로그램과 소프트웨어</a:t>
            </a:r>
            <a:endParaRPr lang="ko-KR" altLang="en-US" sz="40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559E31-7726-A3B8-0C41-BF9E74B6E0D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컴퓨터 시스템을 </a:t>
            </a:r>
            <a:r>
              <a:rPr lang="ko-KR" altLang="en-US" dirty="0" err="1"/>
              <a:t>구동시키는</a:t>
            </a:r>
            <a:r>
              <a:rPr lang="ko-KR" altLang="en-US" dirty="0"/>
              <a:t> 소프트웨어를 만들기 위한 </a:t>
            </a:r>
            <a:r>
              <a:rPr lang="ko-KR" altLang="en-US" b="1" dirty="0">
                <a:solidFill>
                  <a:srgbClr val="00B0F0"/>
                </a:solidFill>
              </a:rPr>
              <a:t>인위적인 언어</a:t>
            </a:r>
          </a:p>
          <a:p>
            <a:r>
              <a:rPr lang="ko-KR" altLang="en-US" dirty="0"/>
              <a:t>컴퓨터가 수행할 수 있는 엄격한 형식의 문법이 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자동차나 프린터 등의 미리 틀이 정해진 기계</a:t>
            </a:r>
            <a:r>
              <a:rPr lang="en-US" altLang="ko-KR" dirty="0"/>
              <a:t>(</a:t>
            </a:r>
            <a:r>
              <a:rPr lang="ko-KR" altLang="en-US" b="1" dirty="0">
                <a:solidFill>
                  <a:srgbClr val="00B0F0"/>
                </a:solidFill>
              </a:rPr>
              <a:t>임베디드 시스템</a:t>
            </a:r>
            <a:r>
              <a:rPr lang="en-US" altLang="ko-KR" b="1" baseline="30000" dirty="0">
                <a:solidFill>
                  <a:srgbClr val="00B0F0"/>
                </a:solidFill>
              </a:rPr>
              <a:t>Embedded System</a:t>
            </a:r>
            <a:r>
              <a:rPr lang="en-US" altLang="ko-KR" dirty="0"/>
              <a:t>)</a:t>
            </a:r>
            <a:r>
              <a:rPr lang="ko-KR" altLang="en-US" dirty="0"/>
              <a:t>에서 제한된 목적과 용도로 사용되는 프로그래밍 언어는 수행 속도가 중요하므로 </a:t>
            </a:r>
            <a:r>
              <a:rPr lang="en-US" altLang="ko-KR" b="1" dirty="0"/>
              <a:t>C </a:t>
            </a:r>
            <a:r>
              <a:rPr lang="ko-KR" altLang="en-US" b="1" dirty="0"/>
              <a:t>혹은 </a:t>
            </a:r>
            <a:r>
              <a:rPr lang="en-US" altLang="ko-KR" b="1" dirty="0"/>
              <a:t>C++ </a:t>
            </a:r>
            <a:r>
              <a:rPr lang="ko-KR" altLang="en-US" b="1" dirty="0"/>
              <a:t>언어</a:t>
            </a:r>
            <a:r>
              <a:rPr lang="ko-KR" altLang="en-US" dirty="0"/>
              <a:t>를 주로 사용</a:t>
            </a:r>
          </a:p>
          <a:p>
            <a:r>
              <a:rPr lang="ko-KR" altLang="en-US" dirty="0"/>
              <a:t>웹 서비스를 위해서는 </a:t>
            </a:r>
            <a:r>
              <a:rPr lang="en-US" altLang="ko-KR" b="1" dirty="0"/>
              <a:t>HTML</a:t>
            </a:r>
            <a:r>
              <a:rPr lang="ko-KR" altLang="en-US" dirty="0"/>
              <a:t>과 같은 마크업 언어와 </a:t>
            </a:r>
            <a:r>
              <a:rPr lang="en-US" altLang="ko-KR" b="1" dirty="0"/>
              <a:t>JavaScript</a:t>
            </a:r>
            <a:r>
              <a:rPr lang="en-US" altLang="ko-KR" dirty="0"/>
              <a:t>, </a:t>
            </a:r>
            <a:r>
              <a:rPr lang="en-US" altLang="ko-KR" b="1" dirty="0"/>
              <a:t>PHP</a:t>
            </a:r>
            <a:r>
              <a:rPr lang="ko-KR" altLang="en-US" dirty="0"/>
              <a:t>와 같은 언어가 많이 사용</a:t>
            </a:r>
            <a:endParaRPr lang="en-US" altLang="ko-KR" dirty="0"/>
          </a:p>
          <a:p>
            <a:r>
              <a:rPr lang="ko-KR" altLang="en-US" dirty="0"/>
              <a:t>스마트폰 어플리케이션을 만들기 위해서는 </a:t>
            </a:r>
            <a:r>
              <a:rPr lang="en-US" altLang="ko-KR" b="1" dirty="0"/>
              <a:t>Java</a:t>
            </a:r>
            <a:r>
              <a:rPr lang="en-US" altLang="ko-KR" dirty="0"/>
              <a:t>, </a:t>
            </a:r>
            <a:r>
              <a:rPr lang="en-US" altLang="ko-KR" b="1" dirty="0"/>
              <a:t>Swift</a:t>
            </a:r>
            <a:r>
              <a:rPr lang="en-US" altLang="ko-KR" dirty="0"/>
              <a:t>, </a:t>
            </a:r>
            <a:r>
              <a:rPr lang="en-US" altLang="ko-KR" b="1" dirty="0"/>
              <a:t>Kotlin</a:t>
            </a:r>
            <a:r>
              <a:rPr lang="en-US" altLang="ko-KR" dirty="0"/>
              <a:t> </a:t>
            </a:r>
            <a:r>
              <a:rPr lang="ko-KR" altLang="en-US" dirty="0"/>
              <a:t>등의 언어가 사용</a:t>
            </a:r>
          </a:p>
          <a:p>
            <a:r>
              <a:rPr lang="ko-KR" altLang="en-US" dirty="0"/>
              <a:t>그 중 </a:t>
            </a:r>
            <a:r>
              <a:rPr lang="ko-KR" altLang="en-US" b="1" dirty="0">
                <a:solidFill>
                  <a:schemeClr val="accent5"/>
                </a:solidFill>
              </a:rPr>
              <a:t>파이썬</a:t>
            </a:r>
            <a:r>
              <a:rPr lang="en-US" altLang="ko-KR" b="1" baseline="30000" dirty="0">
                <a:solidFill>
                  <a:schemeClr val="accent5"/>
                </a:solidFill>
              </a:rPr>
              <a:t>python</a:t>
            </a:r>
            <a:r>
              <a:rPr lang="ko-KR" altLang="en-US" dirty="0"/>
              <a:t>은 강력하면서도 배우기 쉬움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7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1989</a:t>
            </a:r>
            <a:r>
              <a:rPr lang="ko-KR" altLang="en-US" dirty="0"/>
              <a:t>년 귀도 반 </a:t>
            </a:r>
            <a:r>
              <a:rPr lang="ko-KR" altLang="en-US" dirty="0" err="1"/>
              <a:t>로썸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chemeClr val="accent5"/>
                </a:solidFill>
              </a:rPr>
              <a:t>Guido Van Rossum</a:t>
            </a:r>
            <a:r>
              <a:rPr lang="en-US" altLang="ko-KR" dirty="0"/>
              <a:t>)</a:t>
            </a:r>
            <a:r>
              <a:rPr lang="ko-KR" altLang="en-US" dirty="0"/>
              <a:t>에 의해 개발</a:t>
            </a:r>
            <a:endParaRPr lang="en-US" altLang="ko-KR" dirty="0"/>
          </a:p>
          <a:p>
            <a:pPr lvl="1"/>
            <a:r>
              <a:rPr lang="ko-KR" altLang="en-US" dirty="0"/>
              <a:t>인터프리터 방식의 객체지향 프로그래밍 언어</a:t>
            </a:r>
            <a:endParaRPr lang="en-US" altLang="ko-KR" dirty="0"/>
          </a:p>
          <a:p>
            <a:pPr lvl="1"/>
            <a:r>
              <a:rPr lang="ko-KR" altLang="en-US" dirty="0"/>
              <a:t>귀도 반 </a:t>
            </a:r>
            <a:r>
              <a:rPr lang="ko-KR" altLang="en-US" dirty="0" err="1"/>
              <a:t>로썸이</a:t>
            </a:r>
            <a:r>
              <a:rPr lang="ko-KR" altLang="en-US" dirty="0"/>
              <a:t> 좋아했던 영국 코미디 영화 </a:t>
            </a:r>
            <a:r>
              <a:rPr lang="en-US" altLang="ko-KR" dirty="0"/>
              <a:t>"</a:t>
            </a:r>
            <a:r>
              <a:rPr lang="ko-KR" altLang="en-US" dirty="0" err="1"/>
              <a:t>몬티</a:t>
            </a:r>
            <a:r>
              <a:rPr lang="ko-KR" altLang="en-US" dirty="0"/>
              <a:t> </a:t>
            </a:r>
            <a:r>
              <a:rPr lang="ko-KR" altLang="en-US" dirty="0" err="1"/>
              <a:t>파이썬의</a:t>
            </a:r>
            <a:r>
              <a:rPr lang="ko-KR" altLang="en-US" dirty="0"/>
              <a:t> 날아다니는 서커스</a:t>
            </a:r>
            <a:r>
              <a:rPr lang="en-US" altLang="ko-KR" dirty="0"/>
              <a:t>(Monty Python's Flying Circus)"</a:t>
            </a:r>
            <a:r>
              <a:rPr lang="ko-KR" altLang="en-US" dirty="0"/>
              <a:t>에서 따온 이름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b="1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08" y="2694081"/>
            <a:ext cx="8864184" cy="29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6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63" y="1160264"/>
            <a:ext cx="7017074" cy="49610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5776A8F-8B39-30B4-5A0D-BAC4E461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</p:spTree>
    <p:extLst>
      <p:ext uri="{BB962C8B-B14F-4D97-AF65-F5344CB8AC3E}">
        <p14:creationId xmlns:p14="http://schemas.microsoft.com/office/powerpoint/2010/main" val="23106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82" y="2922035"/>
            <a:ext cx="4259692" cy="216754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프로그래밍 언어와 같이 만들어낸 인공언어와 구분하여 사람들이 일상에서 사용하는 언어를 자연언어라고 한다</a:t>
            </a:r>
          </a:p>
          <a:p>
            <a:r>
              <a:rPr lang="ko-KR" altLang="en-US" b="1" dirty="0">
                <a:solidFill>
                  <a:schemeClr val="accent5"/>
                </a:solidFill>
              </a:rPr>
              <a:t>소스 코드</a:t>
            </a:r>
            <a:r>
              <a:rPr lang="en-US" altLang="ko-KR" b="1" baseline="30000" dirty="0">
                <a:solidFill>
                  <a:schemeClr val="accent5"/>
                </a:solidFill>
              </a:rPr>
              <a:t>source code</a:t>
            </a:r>
          </a:p>
          <a:p>
            <a:pPr lvl="1"/>
            <a:r>
              <a:rPr lang="ko-KR" altLang="en-US" dirty="0"/>
              <a:t>프로그래밍 언어로 작성된 명령어들의 목록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b="1" dirty="0">
                <a:solidFill>
                  <a:schemeClr val="accent5"/>
                </a:solidFill>
              </a:rPr>
              <a:t>소스 파일</a:t>
            </a:r>
            <a:r>
              <a:rPr lang="en-US" altLang="ko-KR" b="1" baseline="30000" dirty="0">
                <a:solidFill>
                  <a:schemeClr val="accent5"/>
                </a:solidFill>
              </a:rPr>
              <a:t>source file</a:t>
            </a:r>
          </a:p>
          <a:p>
            <a:pPr lvl="1"/>
            <a:r>
              <a:rPr lang="ko-KR" altLang="en-US" dirty="0"/>
              <a:t>소스 코드가 저장된 파일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b="1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180100" y="2463542"/>
            <a:ext cx="25038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2"/>
                </a:solidFill>
              </a:rPr>
              <a:t>&lt; </a:t>
            </a:r>
            <a:r>
              <a:rPr lang="ko-KR" altLang="en-US" sz="2000" dirty="0">
                <a:solidFill>
                  <a:schemeClr val="tx2"/>
                </a:solidFill>
              </a:rPr>
              <a:t>소스코드 예시 </a:t>
            </a:r>
            <a:r>
              <a:rPr lang="en-US" altLang="ko-KR" sz="2000" dirty="0">
                <a:solidFill>
                  <a:schemeClr val="tx2"/>
                </a:solidFill>
              </a:rPr>
              <a:t>&gt;</a:t>
            </a:r>
            <a:endParaRPr lang="ko-KR" altLang="en-US" sz="2000" dirty="0">
              <a:solidFill>
                <a:schemeClr val="tx2"/>
              </a:solidFill>
            </a:endParaRPr>
          </a:p>
        </p:txBody>
      </p:sp>
      <p:cxnSp>
        <p:nvCxnSpPr>
          <p:cNvPr id="8" name="직선 화살표 연결선 7"/>
          <p:cNvCxnSpPr>
            <a:cxnSpLocks/>
            <a:stCxn id="7" idx="0"/>
          </p:cNvCxnSpPr>
          <p:nvPr/>
        </p:nvCxnSpPr>
        <p:spPr>
          <a:xfrm flipV="1">
            <a:off x="6345757" y="4715010"/>
            <a:ext cx="726759" cy="3068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56133" y="5021877"/>
            <a:ext cx="497924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000" b="1"/>
            </a:lvl1pPr>
          </a:lstStyle>
          <a:p>
            <a:r>
              <a:rPr lang="ko-KR" altLang="en-US" sz="1800" dirty="0">
                <a:latin typeface="+mn-ea"/>
              </a:rPr>
              <a:t>정해진 문법에 맞게 명령을 입력하면 </a:t>
            </a:r>
            <a:endParaRPr lang="en-US" altLang="ko-KR" sz="1800" dirty="0">
              <a:latin typeface="+mn-ea"/>
            </a:endParaRPr>
          </a:p>
          <a:p>
            <a:r>
              <a:rPr lang="ko-KR" altLang="en-US" sz="1800" dirty="0">
                <a:latin typeface="+mn-ea"/>
              </a:rPr>
              <a:t>컴퓨터는 이 코드를 실행하여 결과를 보여준다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64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컴파일 방식</a:t>
            </a:r>
            <a:endParaRPr lang="en-US" altLang="ko-KR" dirty="0"/>
          </a:p>
          <a:p>
            <a:pPr lvl="1"/>
            <a:r>
              <a:rPr lang="ko-KR" altLang="en-US" dirty="0"/>
              <a:t>소스 코드를 기계어로 번역한 후 이 기계어 명령을 실행하는 방식</a:t>
            </a:r>
            <a:endParaRPr lang="en-US" altLang="ko-KR" dirty="0"/>
          </a:p>
          <a:p>
            <a:pPr lvl="1"/>
            <a:r>
              <a:rPr lang="en-US" altLang="ko-KR" dirty="0"/>
              <a:t>C, C++, </a:t>
            </a:r>
            <a:r>
              <a:rPr lang="ko-KR" altLang="en-US" dirty="0"/>
              <a:t>파스칼 등의 언어가 있음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E59F51-8622-D061-AF1A-F573F7CD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497" y="2621476"/>
            <a:ext cx="9631119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7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인터프리터 방식</a:t>
            </a:r>
            <a:endParaRPr lang="en-US" altLang="ko-KR" dirty="0"/>
          </a:p>
          <a:p>
            <a:pPr lvl="1"/>
            <a:r>
              <a:rPr lang="ko-KR" altLang="en-US" dirty="0"/>
              <a:t>프로그램 명령어를 한 번에 한 줄씩 읽어 번역한 후 바로 실행</a:t>
            </a:r>
            <a:endParaRPr lang="en-US" altLang="ko-KR" dirty="0"/>
          </a:p>
          <a:p>
            <a:pPr lvl="1"/>
            <a:r>
              <a:rPr lang="ko-KR" altLang="en-US" dirty="0"/>
              <a:t>파이썬</a:t>
            </a:r>
            <a:r>
              <a:rPr lang="en-US" altLang="ko-KR" dirty="0"/>
              <a:t>, BASIC </a:t>
            </a:r>
            <a:r>
              <a:rPr lang="ko-KR" altLang="en-US" dirty="0"/>
              <a:t>등의 언어가 있음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49FF2C-33E3-151B-283B-B4B6ADA8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50" y="2704231"/>
            <a:ext cx="9485557" cy="306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4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527D50-B439-B852-A275-9F535F9E9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인터프리터 방식과 컴파일 방식의 비교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48B6855-7B9F-ED17-5618-602F9FDC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graphicFrame>
        <p:nvGraphicFramePr>
          <p:cNvPr id="8" name="내용 개체 틀 4">
            <a:extLst>
              <a:ext uri="{FF2B5EF4-FFF2-40B4-BE49-F238E27FC236}">
                <a16:creationId xmlns:a16="http://schemas.microsoft.com/office/drawing/2014/main" id="{D6F82F46-8F2F-A2AB-C094-2E1C21BAB0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0187140"/>
              </p:ext>
            </p:extLst>
          </p:nvPr>
        </p:nvGraphicFramePr>
        <p:xfrm>
          <a:off x="1008063" y="1744663"/>
          <a:ext cx="10175873" cy="4246560"/>
        </p:xfrm>
        <a:graphic>
          <a:graphicData uri="http://schemas.openxmlformats.org/drawingml/2006/table">
            <a:tbl>
              <a:tblPr/>
              <a:tblGrid>
                <a:gridCol w="1563687">
                  <a:extLst>
                    <a:ext uri="{9D8B030D-6E8A-4147-A177-3AD203B41FA5}">
                      <a16:colId xmlns:a16="http://schemas.microsoft.com/office/drawing/2014/main" val="1753501907"/>
                    </a:ext>
                  </a:extLst>
                </a:gridCol>
                <a:gridCol w="4306093">
                  <a:extLst>
                    <a:ext uri="{9D8B030D-6E8A-4147-A177-3AD203B41FA5}">
                      <a16:colId xmlns:a16="http://schemas.microsoft.com/office/drawing/2014/main" val="1554544499"/>
                    </a:ext>
                  </a:extLst>
                </a:gridCol>
                <a:gridCol w="4306093">
                  <a:extLst>
                    <a:ext uri="{9D8B030D-6E8A-4147-A177-3AD203B41FA5}">
                      <a16:colId xmlns:a16="http://schemas.microsoft.com/office/drawing/2014/main" val="470385304"/>
                    </a:ext>
                  </a:extLst>
                </a:gridCol>
              </a:tblGrid>
              <a:tr h="36671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인터프리터 방식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컴파일 방식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74243"/>
                  </a:ext>
                </a:extLst>
              </a:tr>
              <a:tr h="8227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명령어들을 한번에 한 줄씩 읽어 들여서 실행하는 방식이다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명령을 기계어로 번역하여 실행파일을 생성하고 이것을 동작시키는 방식이다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787367"/>
                  </a:ext>
                </a:extLst>
              </a:tr>
              <a:tr h="11494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컴파일 단계를 거칠 필요가 </a:t>
                      </a: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없기 때문에 코드의 수행 결과를 바로 확인할 수 있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기계어 코드를 바로 실행시키므로 일반적인 경우 속도가 더 빠르다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094523"/>
                  </a:ext>
                </a:extLst>
              </a:tr>
              <a:tr h="11494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시간이 느리다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원시 프로그램의 크기가 크다면 번역 과정에 상당한 시간이 소요된다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코드의 결과를 즉시 확인할 수 없다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9960"/>
                  </a:ext>
                </a:extLst>
              </a:tr>
              <a:tr h="7580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사용되는 언어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파이썬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BASIC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C/C++,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자바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FORTRAN, PASCAL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73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8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28E581-0318-33C0-AF36-4489D0636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파이썬이</a:t>
            </a:r>
            <a:r>
              <a:rPr lang="ko-KR" altLang="en-US" dirty="0"/>
              <a:t> 인기 있는 이유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C2CB993-7EC6-A427-D718-FD12F630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C2ED56C-EFB2-857E-0AD3-E356E2B1DE7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266700" indent="-266700">
              <a:buClrTx/>
              <a:buFont typeface="+mj-lt"/>
              <a:buAutoNum type="arabicPeriod"/>
            </a:pPr>
            <a:r>
              <a:rPr lang="ko-KR" altLang="en-US" dirty="0"/>
              <a:t>직관적이고 단순한 문법</a:t>
            </a:r>
            <a:endParaRPr lang="en-US" altLang="ko-KR" dirty="0"/>
          </a:p>
          <a:p>
            <a:pPr marL="266700" indent="-266700">
              <a:buClrTx/>
              <a:buFont typeface="+mj-lt"/>
              <a:buAutoNum type="arabicPeriod"/>
            </a:pPr>
            <a:r>
              <a:rPr lang="ko-KR" altLang="en-US" dirty="0"/>
              <a:t>배우는데 시간이 비교적 적게 걸림</a:t>
            </a:r>
            <a:endParaRPr lang="en-US" altLang="ko-KR" dirty="0"/>
          </a:p>
          <a:p>
            <a:pPr marL="266700" indent="-266700">
              <a:buClrTx/>
              <a:buFont typeface="+mj-lt"/>
              <a:buAutoNum type="arabicPeriod"/>
            </a:pPr>
            <a:r>
              <a:rPr lang="ko-KR" altLang="en-US" dirty="0"/>
              <a:t>축약된 코딩이 가능함</a:t>
            </a:r>
            <a:endParaRPr lang="en-US" altLang="ko-KR" dirty="0"/>
          </a:p>
          <a:p>
            <a:pPr marL="266700" indent="-266700">
              <a:buClrTx/>
              <a:buFont typeface="+mj-lt"/>
              <a:buAutoNum type="arabicPeriod"/>
            </a:pPr>
            <a:r>
              <a:rPr lang="ko-KR" altLang="en-US" dirty="0"/>
              <a:t>짧은 코딩으로 많은 기능을 수행할 수 있음</a:t>
            </a:r>
            <a:endParaRPr lang="en-US" altLang="ko-KR" dirty="0"/>
          </a:p>
          <a:p>
            <a:pPr marL="266700" indent="-266700">
              <a:buClrTx/>
              <a:buFont typeface="+mj-lt"/>
              <a:buAutoNum type="arabicPeriod"/>
            </a:pPr>
            <a:r>
              <a:rPr lang="ko-KR" altLang="en-US" b="1" dirty="0">
                <a:solidFill>
                  <a:schemeClr val="accent5"/>
                </a:solidFill>
              </a:rPr>
              <a:t>오픈소스</a:t>
            </a:r>
            <a:r>
              <a:rPr lang="en-US" altLang="ko-KR" b="1" baseline="30000" dirty="0">
                <a:solidFill>
                  <a:schemeClr val="accent5"/>
                </a:solidFill>
              </a:rPr>
              <a:t>Open source</a:t>
            </a:r>
            <a:r>
              <a:rPr lang="en-US" altLang="ko-KR" baseline="30000" dirty="0">
                <a:solidFill>
                  <a:srgbClr val="00B0F0"/>
                </a:solidFill>
              </a:rPr>
              <a:t> </a:t>
            </a:r>
            <a:r>
              <a:rPr lang="ko-KR" altLang="en-US" dirty="0"/>
              <a:t>방식을 채택하여 방대한 라이브러리를 무료로 편리하게 이용할 수 있음</a:t>
            </a:r>
            <a:endParaRPr lang="en-US" altLang="ko-KR" dirty="0"/>
          </a:p>
          <a:p>
            <a:pPr marL="266700" indent="-266700">
              <a:buClrTx/>
              <a:buFont typeface="+mj-lt"/>
              <a:buAutoNum type="arabicPeriod"/>
            </a:pPr>
            <a:r>
              <a:rPr lang="ko-KR" altLang="en-US" dirty="0"/>
              <a:t>객체지향 프로그래밍 언어의 특징을 가짐</a:t>
            </a:r>
          </a:p>
        </p:txBody>
      </p:sp>
    </p:spTree>
    <p:extLst>
      <p:ext uri="{BB962C8B-B14F-4D97-AF65-F5344CB8AC3E}">
        <p14:creationId xmlns:p14="http://schemas.microsoft.com/office/powerpoint/2010/main" val="415588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28E581-0318-33C0-AF36-4489D0636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인기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C2CB993-7EC6-A427-D718-FD12F630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파이썬 소개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F55FF1F-D5CB-E544-A314-B0DB38F5F1E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490260" y="1847850"/>
            <a:ext cx="8741486" cy="400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24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홈페이지 접속</a:t>
            </a:r>
            <a:endParaRPr lang="en-US" altLang="ko-KR" dirty="0"/>
          </a:p>
          <a:p>
            <a:pPr lvl="1"/>
            <a:r>
              <a:rPr lang="en-US" altLang="ko-KR" u="sng" dirty="0"/>
              <a:t>http://www.python.org/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altLang="ko-KR" dirty="0"/>
              <a:t>1.3 </a:t>
            </a:r>
            <a:r>
              <a:rPr lang="ko-KR" altLang="en-US" dirty="0"/>
              <a:t>파이썬 설치와 사용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994" y="1056429"/>
            <a:ext cx="6915456" cy="506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40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다운로드 페이지 접속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이 화면과 파이썬 버전은 최신 버전이 아닐 수 있습니다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파이썬 설치와 사용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807" y="2055119"/>
            <a:ext cx="8007282" cy="399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21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또는 </a:t>
            </a:r>
            <a:r>
              <a:rPr lang="en-US" altLang="ko-KR" dirty="0"/>
              <a:t>Google.com</a:t>
            </a:r>
            <a:r>
              <a:rPr lang="ko-KR" altLang="en-US" dirty="0"/>
              <a:t>에 접속하여 “</a:t>
            </a:r>
            <a:r>
              <a:rPr lang="en-US" altLang="ko-KR" dirty="0"/>
              <a:t>python download”</a:t>
            </a:r>
            <a:r>
              <a:rPr lang="ko-KR" altLang="en-US" dirty="0"/>
              <a:t>를 검색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7F96EE-5490-07E4-9FFA-F1FCE88A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파이썬 설치와 사용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422565448" descr="EMB00002cfc3120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039"/>
          <a:stretch/>
        </p:blipFill>
        <p:spPr bwMode="auto">
          <a:xfrm>
            <a:off x="3309621" y="1727125"/>
            <a:ext cx="5196204" cy="408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50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다운로드 페이지에서 </a:t>
            </a:r>
            <a:r>
              <a:rPr lang="en-US" altLang="ko-KR" dirty="0"/>
              <a:t>"Download Python 3.11.4"</a:t>
            </a:r>
            <a:r>
              <a:rPr lang="ko-KR" altLang="en-US"/>
              <a:t>를 </a:t>
            </a:r>
            <a:r>
              <a:rPr lang="ko-KR" altLang="en-US" smtClean="0"/>
              <a:t>선택</a:t>
            </a:r>
            <a:r>
              <a:rPr lang="en-US" altLang="ko-KR" smtClean="0"/>
              <a:t>(</a:t>
            </a:r>
            <a:r>
              <a:rPr lang="ko-KR" altLang="en-US" smtClean="0"/>
              <a:t>최신 버전 다운로드</a:t>
            </a:r>
            <a:r>
              <a:rPr lang="en-US" altLang="ko-KR" smtClean="0"/>
              <a:t>)</a:t>
            </a:r>
            <a:endParaRPr lang="ko-KR" altLang="en-US" dirty="0"/>
          </a:p>
          <a:p>
            <a:r>
              <a:rPr lang="ko-KR" altLang="en-US" dirty="0"/>
              <a:t>운영체제</a:t>
            </a:r>
            <a:r>
              <a:rPr lang="en-US" altLang="ko-KR" dirty="0"/>
              <a:t>(macOS, Windows, Linux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 선택 후 다운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112FBB-4A5B-20DA-61C4-87463553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파이썬 설치와 사용</a:t>
            </a:r>
          </a:p>
        </p:txBody>
      </p:sp>
    </p:spTree>
    <p:extLst>
      <p:ext uri="{BB962C8B-B14F-4D97-AF65-F5344CB8AC3E}">
        <p14:creationId xmlns:p14="http://schemas.microsoft.com/office/powerpoint/2010/main" val="1813782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363" y="2400842"/>
            <a:ext cx="5326332" cy="364539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python-3.11.4.exe </a:t>
            </a:r>
            <a:r>
              <a:rPr lang="ko-KR" altLang="en-US" dirty="0"/>
              <a:t>실행 후</a:t>
            </a:r>
            <a:endParaRPr lang="en-US" altLang="ko-KR" dirty="0"/>
          </a:p>
          <a:p>
            <a:pPr marL="0" indent="0" fontAlgn="base">
              <a:buNone/>
            </a:pPr>
            <a:r>
              <a:rPr lang="ko-KR" altLang="en-US" sz="1800" dirty="0"/>
              <a:t> </a:t>
            </a:r>
            <a:r>
              <a:rPr lang="en-US" altLang="ko-KR" sz="1800" dirty="0"/>
              <a:t>“Install launcher for all users(recommended)“ </a:t>
            </a:r>
          </a:p>
          <a:p>
            <a:pPr marL="0" indent="0" fontAlgn="base">
              <a:buNone/>
            </a:pPr>
            <a:r>
              <a:rPr lang="en-US" altLang="ko-KR" sz="1800" dirty="0"/>
              <a:t> “Add </a:t>
            </a:r>
            <a:r>
              <a:rPr lang="en-US" altLang="ko-KR" sz="1800" dirty="0" err="1"/>
              <a:t>Python.eye</a:t>
            </a:r>
            <a:r>
              <a:rPr lang="en-US" altLang="ko-KR" sz="1800" dirty="0"/>
              <a:t> to PATH“ </a:t>
            </a:r>
            <a:r>
              <a:rPr lang="ko-KR" altLang="en-US" sz="1800" dirty="0"/>
              <a:t>선택 </a:t>
            </a:r>
            <a:endParaRPr lang="en-US" altLang="ko-KR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파이썬 설치와 사용</a:t>
            </a:r>
          </a:p>
        </p:txBody>
      </p:sp>
    </p:spTree>
    <p:extLst>
      <p:ext uri="{BB962C8B-B14F-4D97-AF65-F5344CB8AC3E}">
        <p14:creationId xmlns:p14="http://schemas.microsoft.com/office/powerpoint/2010/main" val="1096114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Install Now"</a:t>
            </a:r>
            <a:r>
              <a:rPr lang="ko-KR" altLang="en-US" dirty="0"/>
              <a:t>를 눌러 설치를 시작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6A238F0-658D-74B9-1CEC-C3471443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파이썬 설치와 사용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429767" y="1216724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/>
              <a:t>설치 완료 화면</a:t>
            </a: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22" y="1660516"/>
            <a:ext cx="8739167" cy="37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99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475" y="1573918"/>
            <a:ext cx="5170325" cy="418101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>
                <a:ea typeface="+mj-ea"/>
              </a:rPr>
              <a:t>시작 버튼을 눌러 “</a:t>
            </a:r>
            <a:r>
              <a:rPr lang="en-US" altLang="ko-KR" dirty="0">
                <a:ea typeface="+mj-ea"/>
              </a:rPr>
              <a:t>id”</a:t>
            </a:r>
            <a:r>
              <a:rPr lang="ko-KR" altLang="en-US" dirty="0">
                <a:ea typeface="+mj-ea"/>
              </a:rPr>
              <a:t>를 검색</a:t>
            </a:r>
            <a:endParaRPr lang="en-US" altLang="ko-KR" dirty="0">
              <a:ea typeface="+mj-ea"/>
            </a:endParaRPr>
          </a:p>
          <a:p>
            <a:r>
              <a:rPr lang="en-US" altLang="ko-KR" dirty="0">
                <a:ea typeface="+mj-ea"/>
              </a:rPr>
              <a:t>IDLE</a:t>
            </a:r>
            <a:r>
              <a:rPr lang="ko-KR" altLang="en-US" dirty="0">
                <a:ea typeface="+mj-ea"/>
              </a:rPr>
              <a:t>을 눌러서 실행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125184" y="5555386"/>
            <a:ext cx="664723" cy="2870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408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A6716FC-AD19-CD0C-E04E-A85B4190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1.4.1 </a:t>
            </a:r>
            <a:r>
              <a:rPr lang="ko-KR" altLang="en-US" dirty="0"/>
              <a:t>윈도우 컴퓨터에서 파이썬 </a:t>
            </a:r>
            <a:r>
              <a:rPr lang="ko-KR" altLang="en-US" dirty="0" err="1"/>
              <a:t>대화창</a:t>
            </a:r>
            <a:r>
              <a:rPr lang="ko-KR" altLang="en-US" dirty="0"/>
              <a:t> 열기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1CE913B-065E-15C2-A457-F32242E8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F68B23-888C-0DC3-60F0-5D588847167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사용자의 입력을 받을 수 있는 </a:t>
            </a:r>
            <a:r>
              <a:rPr lang="ko-KR" altLang="en-US" dirty="0">
                <a:solidFill>
                  <a:srgbClr val="00B0F0"/>
                </a:solidFill>
              </a:rPr>
              <a:t>프롬프트</a:t>
            </a:r>
            <a:r>
              <a:rPr lang="en-US" altLang="ko-KR" baseline="30000" dirty="0">
                <a:solidFill>
                  <a:srgbClr val="00B0F0"/>
                </a:solidFill>
              </a:rPr>
              <a:t>prompt</a:t>
            </a:r>
            <a:r>
              <a:rPr lang="ko-KR" altLang="en-US" dirty="0"/>
              <a:t>에 파이썬 명령어를 준다</a:t>
            </a:r>
            <a:r>
              <a:rPr lang="en-US" altLang="ko-KR" dirty="0"/>
              <a:t>(</a:t>
            </a:r>
            <a:r>
              <a:rPr lang="ko-KR" altLang="en-US" dirty="0"/>
              <a:t>커서가 깜박일 것이다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프롬프트에 </a:t>
            </a:r>
            <a:r>
              <a:rPr lang="en-US" altLang="ko-KR" dirty="0"/>
              <a:t>print('Hello Python!!') </a:t>
            </a:r>
            <a:r>
              <a:rPr lang="ko-KR" altLang="en-US" dirty="0"/>
              <a:t>을 입력 후 </a:t>
            </a:r>
            <a:r>
              <a:rPr lang="ko-KR" altLang="en-US" dirty="0" err="1"/>
              <a:t>엔터키를</a:t>
            </a:r>
            <a:r>
              <a:rPr lang="ko-KR" altLang="en-US" dirty="0"/>
              <a:t> 누르자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프롬프트 아래에 </a:t>
            </a:r>
            <a:r>
              <a:rPr lang="en-US" altLang="ko-KR" dirty="0"/>
              <a:t>Hello Python!!</a:t>
            </a:r>
            <a:r>
              <a:rPr lang="ko-KR" altLang="en-US" dirty="0"/>
              <a:t>이 출력된다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625" y="3713673"/>
            <a:ext cx="8792802" cy="19243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018" y="4066960"/>
            <a:ext cx="1882247" cy="67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&gt;&gt;&gt;</a:t>
            </a:r>
            <a:r>
              <a:rPr lang="ko-KR" altLang="en-US" dirty="0"/>
              <a:t>를</a:t>
            </a:r>
            <a:endParaRPr lang="en-US" altLang="ko-KR" dirty="0"/>
          </a:p>
          <a:p>
            <a:r>
              <a:rPr lang="ko-KR" altLang="en-US" dirty="0"/>
              <a:t>프롬프트라 한다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2567266" y="4424630"/>
            <a:ext cx="374445" cy="502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354525" y="5487309"/>
            <a:ext cx="1125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58740" y="5676904"/>
            <a:ext cx="68830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커서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 flipH="1" flipV="1">
            <a:off x="3467066" y="5515446"/>
            <a:ext cx="135827" cy="128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65494" y="3122107"/>
            <a:ext cx="191219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endParaRPr lang="ko-KR" altLang="en-US" dirty="0"/>
          </a:p>
        </p:txBody>
      </p:sp>
      <p:cxnSp>
        <p:nvCxnSpPr>
          <p:cNvPr id="17" name="직선 화살표 연결선 16"/>
          <p:cNvCxnSpPr>
            <a:stCxn id="16" idx="2"/>
          </p:cNvCxnSpPr>
          <p:nvPr/>
        </p:nvCxnSpPr>
        <p:spPr>
          <a:xfrm flipH="1">
            <a:off x="9758341" y="3491439"/>
            <a:ext cx="363251" cy="2808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90272" y="4886336"/>
            <a:ext cx="640315" cy="2783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엔터키</a:t>
            </a:r>
            <a:endParaRPr lang="ko-KR" altLang="en-US" sz="12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525" y="5219765"/>
            <a:ext cx="66684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20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A6716FC-AD19-CD0C-E04E-A85B4190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1.4.1 </a:t>
            </a:r>
            <a:r>
              <a:rPr lang="ko-KR" altLang="en-US" dirty="0"/>
              <a:t>윈도우 컴퓨터에서 파이썬 </a:t>
            </a:r>
            <a:r>
              <a:rPr lang="ko-KR" altLang="en-US" dirty="0" err="1"/>
              <a:t>대화창</a:t>
            </a:r>
            <a:r>
              <a:rPr lang="ko-KR" altLang="en-US" dirty="0"/>
              <a:t> 열기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1CE913B-065E-15C2-A457-F32242E8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1.4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파이썬 </a:t>
            </a:r>
            <a:r>
              <a:rPr kumimoji="0" lang="ko-KR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대화창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사용하기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F68B23-888C-0DC3-60F0-5D588847167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오류가 날 경우 오류가 발생한 문장과 함께 오류의 내용을 출력</a:t>
            </a:r>
            <a:endParaRPr lang="en-US" altLang="ko-KR" dirty="0"/>
          </a:p>
          <a:p>
            <a:pPr lvl="1"/>
            <a:r>
              <a:rPr lang="en-US" altLang="ko-KR" dirty="0"/>
              <a:t>print(</a:t>
            </a:r>
            <a:r>
              <a:rPr lang="en-US" altLang="ko-KR" dirty="0">
                <a:solidFill>
                  <a:srgbClr val="FF0000"/>
                </a:solidFill>
              </a:rPr>
              <a:t>'</a:t>
            </a:r>
            <a:r>
              <a:rPr lang="en-US" altLang="ko-KR" dirty="0"/>
              <a:t>Hello Python!!</a:t>
            </a:r>
            <a:r>
              <a:rPr lang="en-US" altLang="ko-KR" dirty="0">
                <a:solidFill>
                  <a:srgbClr val="FF0000"/>
                </a:solidFill>
              </a:rPr>
              <a:t>“</a:t>
            </a:r>
            <a:r>
              <a:rPr lang="en-US" altLang="ko-KR" dirty="0"/>
              <a:t>) </a:t>
            </a:r>
            <a:r>
              <a:rPr lang="ko-KR" altLang="en-US" dirty="0"/>
              <a:t>와 같이 큰따옴표로 시작해서 작은따옴표로 끝나거나</a:t>
            </a:r>
            <a:r>
              <a:rPr lang="en-US" altLang="ko-KR" dirty="0"/>
              <a:t>, </a:t>
            </a:r>
            <a:r>
              <a:rPr lang="ko-KR" altLang="en-US" dirty="0"/>
              <a:t>반대로 작은따옴표로 시작해 큰따옴표로 끝나는 경우에는 잘못된 명령으로 인식해서 오류가 발생</a:t>
            </a:r>
            <a:endParaRPr lang="en-US" altLang="ko-KR" dirty="0"/>
          </a:p>
          <a:p>
            <a:pPr lvl="1"/>
            <a:r>
              <a:rPr lang="ko-KR" altLang="en-US" dirty="0"/>
              <a:t>들여쓰기와 대소문자에도 민감한 특징이 있음</a:t>
            </a:r>
            <a:endParaRPr lang="en-US" altLang="ko-KR" dirty="0"/>
          </a:p>
          <a:p>
            <a:pPr lvl="1"/>
            <a:r>
              <a:rPr lang="ko-KR" altLang="en-US" dirty="0"/>
              <a:t>대화창을 종료하고 싶으면 키보드의 </a:t>
            </a:r>
            <a:r>
              <a:rPr lang="en-US" altLang="ko-KR" dirty="0"/>
              <a:t>Control </a:t>
            </a:r>
            <a:r>
              <a:rPr lang="ko-KR" altLang="en-US" dirty="0"/>
              <a:t>키와 ‘</a:t>
            </a:r>
            <a:r>
              <a:rPr lang="en-US" altLang="ko-KR" dirty="0"/>
              <a:t>Z'</a:t>
            </a:r>
            <a:r>
              <a:rPr lang="ko-KR" altLang="en-US" dirty="0"/>
              <a:t>키를 입력하거나</a:t>
            </a:r>
            <a:r>
              <a:rPr lang="en-US" altLang="ko-KR" dirty="0"/>
              <a:t>(^Z </a:t>
            </a:r>
            <a:r>
              <a:rPr lang="ko-KR" altLang="en-US" dirty="0"/>
              <a:t>로 표기함</a:t>
            </a:r>
            <a:r>
              <a:rPr lang="en-US" altLang="ko-KR" dirty="0"/>
              <a:t>) </a:t>
            </a:r>
            <a:r>
              <a:rPr lang="ko-KR" altLang="en-US" dirty="0"/>
              <a:t>또는 </a:t>
            </a:r>
            <a:r>
              <a:rPr lang="en-US" altLang="ko-KR" dirty="0"/>
              <a:t>exit() </a:t>
            </a:r>
            <a:r>
              <a:rPr lang="ko-KR" altLang="en-US" dirty="0"/>
              <a:t>함수를 호출</a:t>
            </a:r>
            <a:r>
              <a:rPr lang="en-US" altLang="ko-KR" dirty="0"/>
              <a:t>(</a:t>
            </a:r>
            <a:r>
              <a:rPr lang="ko-KR" altLang="en-US" dirty="0" err="1"/>
              <a:t>파이썬의</a:t>
            </a:r>
            <a:r>
              <a:rPr lang="ko-KR" altLang="en-US" dirty="0"/>
              <a:t> 대화창이 종료되면 그 동안 입력한 모든 내용은 저장되지 않고 사라지므로 주의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90" y="3845436"/>
            <a:ext cx="7206736" cy="2348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8433" y="4176424"/>
            <a:ext cx="130035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+mn-ea"/>
              </a:rPr>
              <a:t>오류 발생</a:t>
            </a:r>
            <a:endParaRPr lang="ko-KR" altLang="en-US" dirty="0">
              <a:latin typeface="+mn-ea"/>
            </a:endParaRPr>
          </a:p>
        </p:txBody>
      </p:sp>
      <p:cxnSp>
        <p:nvCxnSpPr>
          <p:cNvPr id="15" name="직선 화살표 연결선 14"/>
          <p:cNvCxnSpPr>
            <a:stCxn id="3" idx="2"/>
          </p:cNvCxnSpPr>
          <p:nvPr/>
        </p:nvCxnSpPr>
        <p:spPr>
          <a:xfrm>
            <a:off x="2058611" y="4576534"/>
            <a:ext cx="1093400" cy="702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999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A6716FC-AD19-CD0C-E04E-A85B4190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1.4.2 macOS</a:t>
            </a:r>
            <a:r>
              <a:rPr lang="ko-KR" altLang="en-US" dirty="0"/>
              <a:t>와 윈도우에서 파이썬 실행하기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1CE913B-065E-15C2-A457-F32242E8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109986" y="2896434"/>
            <a:ext cx="5317067" cy="39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rgbClr val="38572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macOS </a:t>
            </a:r>
            <a:r>
              <a:rPr lang="ko-KR" altLang="en-US" sz="1800" dirty="0"/>
              <a:t>운영체제의 터미널과 파이썬 대화형 모드</a:t>
            </a:r>
            <a:endParaRPr lang="ko-KR" altLang="en-US" sz="1700" dirty="0"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109986" y="5601042"/>
            <a:ext cx="567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윈도우 운영체제의 명령처리기와 파이썬 대화형 모드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834491"/>
            <a:ext cx="8897592" cy="103837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86" y="3590986"/>
            <a:ext cx="8811855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23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548" y="3791329"/>
            <a:ext cx="5288027" cy="239816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1.4.3 </a:t>
            </a:r>
            <a:r>
              <a:rPr lang="ko-KR" altLang="en-US" dirty="0"/>
              <a:t>윈도우 컴퓨터에서 파이썬 프로그램 작성하기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000" dirty="0"/>
              <a:t>C: </a:t>
            </a:r>
            <a:r>
              <a:rPr lang="ko-KR" altLang="en-US" sz="2000" dirty="0"/>
              <a:t>드라이버 아래에 </a:t>
            </a:r>
            <a:r>
              <a:rPr lang="en-US" altLang="ko-KR" sz="2000" dirty="0"/>
              <a:t>workspace</a:t>
            </a:r>
            <a:r>
              <a:rPr lang="ko-KR" altLang="en-US" sz="2000" dirty="0"/>
              <a:t>라는 이름의 폴더 생성</a:t>
            </a:r>
            <a:endParaRPr lang="en-US" altLang="ko-KR" sz="2000" dirty="0"/>
          </a:p>
          <a:p>
            <a:pPr>
              <a:lnSpc>
                <a:spcPct val="90000"/>
              </a:lnSpc>
            </a:pPr>
            <a:r>
              <a:rPr lang="ko-KR" altLang="en-US" sz="2000" dirty="0"/>
              <a:t>이 폴더 아래에 </a:t>
            </a:r>
            <a:r>
              <a:rPr lang="en-US" altLang="ko-KR" sz="2000" dirty="0"/>
              <a:t>hello.py</a:t>
            </a:r>
            <a:r>
              <a:rPr lang="ko-KR" altLang="en-US" sz="2000" dirty="0"/>
              <a:t>라는 프로그램을 만들기</a:t>
            </a:r>
          </a:p>
          <a:p>
            <a:pPr>
              <a:lnSpc>
                <a:spcPct val="90000"/>
              </a:lnSpc>
            </a:pPr>
            <a:r>
              <a:rPr lang="en-US" altLang="ko-KR" sz="2000" dirty="0"/>
              <a:t>Windows </a:t>
            </a:r>
            <a:r>
              <a:rPr lang="ko-KR" altLang="en-US" sz="2000" dirty="0"/>
              <a:t>명령 처리기에서 다음 명령을 순차적으로 입력</a:t>
            </a:r>
            <a:endParaRPr lang="en-US" altLang="ko-KR" sz="2000" dirty="0"/>
          </a:p>
          <a:p>
            <a:pPr>
              <a:lnSpc>
                <a:spcPct val="90000"/>
              </a:lnSpc>
            </a:pPr>
            <a:r>
              <a:rPr lang="ko-KR" altLang="en-US" sz="2000" dirty="0"/>
              <a:t>메모장을 열어서 </a:t>
            </a:r>
            <a:r>
              <a:rPr lang="en-US" altLang="ko-KR" sz="2000" dirty="0"/>
              <a:t>hello.py </a:t>
            </a:r>
            <a:r>
              <a:rPr lang="ko-KR" altLang="en-US" sz="2000" dirty="0"/>
              <a:t>프로그램을 작성해 보기</a:t>
            </a:r>
          </a:p>
          <a:p>
            <a:pPr>
              <a:lnSpc>
                <a:spcPct val="90000"/>
              </a:lnSpc>
            </a:pPr>
            <a:r>
              <a:rPr lang="en-US" altLang="ko-KR" sz="2000" dirty="0"/>
              <a:t>notepad hello.py</a:t>
            </a:r>
            <a:r>
              <a:rPr lang="ko-KR" altLang="en-US" sz="2000" dirty="0"/>
              <a:t>를 입력</a:t>
            </a:r>
            <a:endParaRPr lang="en-US" altLang="ko-KR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2000" b="1" kern="0" dirty="0">
                <a:solidFill>
                  <a:srgbClr val="FF0000"/>
                </a:solidFill>
                <a:ea typeface="D2Coding" panose="020B0609020101020101" pitchFamily="49" charset="-127"/>
              </a:rPr>
              <a:t>(</a:t>
            </a:r>
            <a:r>
              <a:rPr lang="ko-KR" altLang="en-US" sz="2000" b="1" kern="0" dirty="0">
                <a:solidFill>
                  <a:srgbClr val="FF0000"/>
                </a:solidFill>
                <a:ea typeface="D2Coding" panose="020B0609020101020101" pitchFamily="49" charset="-127"/>
              </a:rPr>
              <a:t>주의 </a:t>
            </a:r>
            <a:r>
              <a:rPr lang="en-US" altLang="ko-KR" sz="2000" b="1" kern="0" dirty="0">
                <a:solidFill>
                  <a:srgbClr val="FF0000"/>
                </a:solidFill>
                <a:ea typeface="D2Coding" panose="020B0609020101020101" pitchFamily="49" charset="-127"/>
              </a:rPr>
              <a:t>: </a:t>
            </a:r>
            <a:r>
              <a:rPr lang="ko-KR" altLang="en-US" sz="2000" b="1" kern="0" dirty="0" err="1">
                <a:solidFill>
                  <a:srgbClr val="FF0000"/>
                </a:solidFill>
                <a:ea typeface="D2Coding" panose="020B0609020101020101" pitchFamily="49" charset="-127"/>
              </a:rPr>
              <a:t>역슬래시</a:t>
            </a:r>
            <a:r>
              <a:rPr lang="ko-KR" altLang="en-US" sz="2000" b="1" kern="0" dirty="0">
                <a:solidFill>
                  <a:srgbClr val="FF0000"/>
                </a:solidFill>
                <a:ea typeface="D2Coding" panose="020B0609020101020101" pitchFamily="49" charset="-127"/>
              </a:rPr>
              <a:t> </a:t>
            </a:r>
            <a:r>
              <a:rPr lang="ko-KR" altLang="en-US" sz="2000" b="1" kern="0">
                <a:solidFill>
                  <a:srgbClr val="FF0000"/>
                </a:solidFill>
                <a:ea typeface="D2Coding" panose="020B0609020101020101" pitchFamily="49" charset="-127"/>
              </a:rPr>
              <a:t>기호 </a:t>
            </a:r>
            <a:r>
              <a:rPr lang="en-US" altLang="ko-KR" b="1" kern="0" smtClean="0">
                <a:solidFill>
                  <a:srgbClr val="FF0000"/>
                </a:solidFill>
                <a:latin typeface="Algerian" panose="04020705040A02060702" pitchFamily="82" charset="0"/>
                <a:ea typeface="D2Coding" panose="020B0609020101020101" pitchFamily="49" charset="-127"/>
              </a:rPr>
              <a:t> \</a:t>
            </a:r>
            <a:r>
              <a:rPr lang="ko-KR" altLang="en-US" sz="2000" b="1" kern="0" smtClean="0">
                <a:solidFill>
                  <a:srgbClr val="FF0000"/>
                </a:solidFill>
                <a:ea typeface="D2Coding" panose="020B0609020101020101" pitchFamily="49" charset="-127"/>
              </a:rPr>
              <a:t>는 </a:t>
            </a:r>
            <a:r>
              <a:rPr lang="ko-KR" altLang="en-US" sz="2000" b="1" kern="0" dirty="0">
                <a:solidFill>
                  <a:srgbClr val="FF0000"/>
                </a:solidFill>
                <a:ea typeface="D2Coding" panose="020B0609020101020101" pitchFamily="49" charset="-127"/>
              </a:rPr>
              <a:t>한글 윈도우에서 ₩로 나타남</a:t>
            </a:r>
            <a:r>
              <a:rPr lang="en-US" altLang="ko-KR" sz="2000" b="1" kern="0" dirty="0">
                <a:solidFill>
                  <a:srgbClr val="FF0000"/>
                </a:solidFill>
                <a:ea typeface="D2Coding" panose="020B0609020101020101" pitchFamily="49" charset="-127"/>
              </a:rPr>
              <a:t>)</a:t>
            </a:r>
            <a:endParaRPr lang="ko-KR" altLang="en-US" sz="2000" kern="0" dirty="0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0907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1.4.3 </a:t>
            </a:r>
            <a:r>
              <a:rPr lang="ko-KR" altLang="en-US" dirty="0"/>
              <a:t>윈도우 컴퓨터에서 파이썬 프로그램 작성하기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메모장의 </a:t>
            </a:r>
            <a:r>
              <a:rPr lang="en-US" altLang="ko-KR" dirty="0"/>
              <a:t>"hello.py </a:t>
            </a:r>
            <a:r>
              <a:rPr lang="ko-KR" altLang="en-US" dirty="0"/>
              <a:t>파일을 찾을 수 없습니다</a:t>
            </a:r>
            <a:r>
              <a:rPr lang="en-US" altLang="ko-KR" dirty="0"/>
              <a:t>. </a:t>
            </a:r>
            <a:r>
              <a:rPr lang="ko-KR" altLang="en-US" dirty="0"/>
              <a:t>새 파일을 </a:t>
            </a:r>
            <a:r>
              <a:rPr lang="ko-KR" altLang="en-US" dirty="0" err="1"/>
              <a:t>만드시겠습니까</a:t>
            </a:r>
            <a:r>
              <a:rPr lang="en-US" altLang="ko-KR" dirty="0"/>
              <a:t>?“ </a:t>
            </a:r>
            <a:r>
              <a:rPr lang="ko-KR" altLang="en-US" dirty="0"/>
              <a:t>대화창의 ”예</a:t>
            </a:r>
            <a:r>
              <a:rPr lang="en-US" altLang="ko-KR" dirty="0"/>
              <a:t>(Y)" </a:t>
            </a:r>
            <a:r>
              <a:rPr lang="ko-KR" altLang="en-US" dirty="0"/>
              <a:t>버튼을 선택</a:t>
            </a:r>
            <a:endParaRPr lang="en-US" altLang="ko-KR" dirty="0"/>
          </a:p>
          <a:p>
            <a:r>
              <a:rPr lang="ko-KR" altLang="en-US" dirty="0"/>
              <a:t>메모장을 열어 다음과 같은 </a:t>
            </a:r>
            <a:r>
              <a:rPr lang="en-US" altLang="ko-KR" dirty="0"/>
              <a:t>hello.py </a:t>
            </a:r>
            <a:r>
              <a:rPr lang="ko-KR" altLang="en-US" dirty="0"/>
              <a:t>작성</a:t>
            </a:r>
            <a:endParaRPr lang="en-US" altLang="ko-K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3109479"/>
            <a:ext cx="10292075" cy="26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12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1.4.3 </a:t>
            </a:r>
            <a:r>
              <a:rPr lang="ko-KR" altLang="en-US" dirty="0"/>
              <a:t>윈도우 컴퓨터에서 파이썬 프로그램 작성하기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z="2000" dirty="0" err="1"/>
              <a:t>dir</a:t>
            </a:r>
            <a:r>
              <a:rPr lang="en-US" altLang="ko-KR" sz="2000" dirty="0"/>
              <a:t> </a:t>
            </a:r>
            <a:r>
              <a:rPr lang="ko-KR" altLang="en-US" sz="2000" dirty="0"/>
              <a:t>명령으로 현재 폴더에 </a:t>
            </a:r>
            <a:r>
              <a:rPr lang="en-US" altLang="ko-KR" sz="2000" dirty="0"/>
              <a:t>hello.py </a:t>
            </a:r>
            <a:r>
              <a:rPr lang="ko-KR" altLang="en-US" sz="2000" dirty="0"/>
              <a:t>파일이 있는지 확인</a:t>
            </a:r>
          </a:p>
          <a:p>
            <a:r>
              <a:rPr lang="ko-KR" altLang="en-US" sz="2000" dirty="0"/>
              <a:t>인터프리터 실행을 위해</a:t>
            </a:r>
            <a:r>
              <a:rPr lang="en-US" altLang="ko-KR" sz="2000" dirty="0">
                <a:solidFill>
                  <a:schemeClr val="accent1"/>
                </a:solidFill>
              </a:rPr>
              <a:t> python hello.py</a:t>
            </a:r>
            <a:r>
              <a:rPr lang="ko-KR" altLang="en-US" sz="2000" dirty="0"/>
              <a:t>를 입력</a:t>
            </a:r>
          </a:p>
          <a:p>
            <a:r>
              <a:rPr lang="ko-KR" altLang="en-US" sz="2000" dirty="0"/>
              <a:t>파이썬 인터프리터의 이름은 </a:t>
            </a:r>
            <a:r>
              <a:rPr lang="en-US" altLang="ko-KR" sz="2000" dirty="0"/>
              <a:t>"python" </a:t>
            </a:r>
            <a:r>
              <a:rPr lang="ko-KR" altLang="en-US" sz="2000" dirty="0"/>
              <a:t>혹은 </a:t>
            </a:r>
            <a:r>
              <a:rPr lang="en-US" altLang="ko-KR" sz="2000" dirty="0"/>
              <a:t>"</a:t>
            </a:r>
            <a:r>
              <a:rPr lang="en-US" altLang="ko-KR" sz="2000" dirty="0" err="1"/>
              <a:t>py</a:t>
            </a:r>
            <a:r>
              <a:rPr lang="en-US" altLang="ko-KR" sz="2000" dirty="0"/>
              <a:t>", "python3" </a:t>
            </a:r>
            <a:r>
              <a:rPr lang="ko-KR" altLang="en-US" sz="2000" dirty="0"/>
              <a:t>등을 사용하는 데</a:t>
            </a:r>
            <a:r>
              <a:rPr lang="en-US" altLang="ko-KR" sz="2000" dirty="0"/>
              <a:t>, </a:t>
            </a:r>
            <a:r>
              <a:rPr lang="ko-KR" altLang="en-US" sz="2000" dirty="0"/>
              <a:t>버전에 따라 </a:t>
            </a:r>
            <a:r>
              <a:rPr lang="en-US" altLang="ko-KR" sz="2000" dirty="0"/>
              <a:t>"python"</a:t>
            </a:r>
            <a:r>
              <a:rPr lang="ko-KR" altLang="en-US" sz="2000" dirty="0"/>
              <a:t>이 동작하지 않으면 </a:t>
            </a:r>
            <a:r>
              <a:rPr lang="en-US" altLang="ko-KR" sz="2000" dirty="0"/>
              <a:t>"</a:t>
            </a:r>
            <a:r>
              <a:rPr lang="en-US" altLang="ko-KR" sz="2000" dirty="0" err="1"/>
              <a:t>py</a:t>
            </a:r>
            <a:r>
              <a:rPr lang="en-US" altLang="ko-KR" sz="2000" dirty="0"/>
              <a:t> hello.py" </a:t>
            </a:r>
            <a:r>
              <a:rPr lang="ko-KR" altLang="en-US" sz="2000" dirty="0"/>
              <a:t>혹은 </a:t>
            </a:r>
            <a:r>
              <a:rPr lang="en-US" altLang="ko-KR" sz="2000" dirty="0"/>
              <a:t>"python3 hello.py"</a:t>
            </a:r>
            <a:r>
              <a:rPr lang="ko-KR" altLang="en-US" sz="2000" dirty="0"/>
              <a:t>를 입력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11092"/>
          <a:stretch/>
        </p:blipFill>
        <p:spPr>
          <a:xfrm>
            <a:off x="3291320" y="3472135"/>
            <a:ext cx="4947806" cy="276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29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1.4.4 </a:t>
            </a:r>
            <a:r>
              <a:rPr lang="ko-KR" altLang="en-US" dirty="0"/>
              <a:t>윈도우의 통합 개발 환경 사용하기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IDLE?</a:t>
            </a:r>
          </a:p>
          <a:p>
            <a:r>
              <a:rPr lang="en-US" altLang="ko-KR" dirty="0"/>
              <a:t>Integrated Development and Learning Environment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약자</a:t>
            </a:r>
            <a:endParaRPr lang="en-US" altLang="ko-KR" dirty="0"/>
          </a:p>
          <a:p>
            <a:r>
              <a:rPr lang="ko-KR" altLang="en-US" dirty="0"/>
              <a:t>통합적 개발</a:t>
            </a:r>
            <a:r>
              <a:rPr lang="en-US" altLang="ko-KR" dirty="0"/>
              <a:t>/</a:t>
            </a:r>
            <a:r>
              <a:rPr lang="ko-KR" altLang="en-US" dirty="0"/>
              <a:t>학습 환경</a:t>
            </a:r>
            <a:endParaRPr lang="en-US" altLang="ko-KR" dirty="0"/>
          </a:p>
          <a:p>
            <a:pPr lvl="1"/>
            <a:r>
              <a:rPr lang="en-US" altLang="ko-KR" dirty="0"/>
              <a:t>integrated development environment for Python</a:t>
            </a:r>
          </a:p>
          <a:p>
            <a:pPr lvl="1"/>
            <a:r>
              <a:rPr lang="ko-KR" altLang="en-US" dirty="0"/>
              <a:t>파이썬 프로그램의 편집과 실행을 대화창에서 하는 것보다 쉽게 하도록 하기 위해서 사용</a:t>
            </a:r>
            <a:endParaRPr lang="en-US" altLang="ko-K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077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1.4.4 </a:t>
            </a:r>
            <a:r>
              <a:rPr lang="ko-KR" altLang="en-US" dirty="0"/>
              <a:t>윈도우의 통합 개발 환경 사용하기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mtClean="0"/>
              <a:t>시작 메뉴의 </a:t>
            </a:r>
            <a:r>
              <a:rPr lang="ko-KR" altLang="en-US" dirty="0"/>
              <a:t>“모든 </a:t>
            </a:r>
            <a:r>
              <a:rPr lang="ko-KR" altLang="en-US" dirty="0" err="1"/>
              <a:t>프로그램”에서</a:t>
            </a:r>
            <a:r>
              <a:rPr lang="ko-KR" altLang="en-US" dirty="0"/>
              <a:t> </a:t>
            </a:r>
            <a:r>
              <a:rPr lang="en-US" altLang="ko-KR" dirty="0"/>
              <a:t>Python 3.11</a:t>
            </a:r>
            <a:r>
              <a:rPr lang="ko-KR" altLang="en-US" dirty="0"/>
              <a:t> 검색 후 제일 상단의 </a:t>
            </a:r>
            <a:r>
              <a:rPr lang="en-US" altLang="ko-KR" dirty="0"/>
              <a:t>IDLE (</a:t>
            </a:r>
            <a:r>
              <a:rPr lang="en-US" altLang="ko-KR"/>
              <a:t>Python </a:t>
            </a:r>
            <a:r>
              <a:rPr lang="en-US" altLang="ko-KR" smtClean="0"/>
              <a:t>3.11 64-bit</a:t>
            </a:r>
            <a:r>
              <a:rPr lang="en-US" altLang="ko-KR" dirty="0"/>
              <a:t>)</a:t>
            </a:r>
            <a:r>
              <a:rPr lang="ko-KR" altLang="en-US" dirty="0"/>
              <a:t>를 선택</a:t>
            </a:r>
            <a:endParaRPr lang="en-US" altLang="ko-KR" dirty="0"/>
          </a:p>
          <a:p>
            <a:r>
              <a:rPr lang="ko-KR" altLang="en-US" dirty="0"/>
              <a:t>이와 같은 파이썬 대화창을 </a:t>
            </a:r>
            <a:r>
              <a:rPr lang="ko-KR" altLang="en-US" b="1" dirty="0"/>
              <a:t>파이썬 쉘</a:t>
            </a:r>
            <a:r>
              <a:rPr lang="en-US" altLang="ko-KR" b="1" baseline="30000" dirty="0">
                <a:solidFill>
                  <a:schemeClr val="accent1"/>
                </a:solidFill>
              </a:rPr>
              <a:t>python shell</a:t>
            </a:r>
            <a:r>
              <a:rPr lang="ko-KR" altLang="en-US" baseline="30000" dirty="0"/>
              <a:t> </a:t>
            </a:r>
            <a:r>
              <a:rPr lang="ko-KR" altLang="en-US" dirty="0"/>
              <a:t>혹은 </a:t>
            </a:r>
            <a:r>
              <a:rPr lang="ko-KR" altLang="en-US" b="1" dirty="0"/>
              <a:t>파이썬 대화식 쉘</a:t>
            </a:r>
            <a:r>
              <a:rPr lang="en-US" altLang="ko-KR" b="1" baseline="30000" dirty="0">
                <a:solidFill>
                  <a:schemeClr val="accent1"/>
                </a:solidFill>
              </a:rPr>
              <a:t>python interactive shell</a:t>
            </a:r>
            <a:r>
              <a:rPr lang="ko-KR" altLang="en-US" dirty="0"/>
              <a:t>이라고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  <p:sp>
        <p:nvSpPr>
          <p:cNvPr id="6" name="오른쪽 화살표 6"/>
          <p:cNvSpPr/>
          <p:nvPr/>
        </p:nvSpPr>
        <p:spPr>
          <a:xfrm>
            <a:off x="5403558" y="4627163"/>
            <a:ext cx="375348" cy="3633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85" y="3580516"/>
            <a:ext cx="3807334" cy="245659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672" y="3777698"/>
            <a:ext cx="4780894" cy="206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02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1.4.4 </a:t>
            </a:r>
            <a:r>
              <a:rPr lang="ko-KR" altLang="en-US" dirty="0"/>
              <a:t>윈도우의 통합 개발 환경 사용하기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/>
              <a:t>“</a:t>
            </a:r>
            <a:r>
              <a:rPr lang="en-US" altLang="ko-KR" b="1" dirty="0"/>
              <a:t>welcome.py"</a:t>
            </a:r>
            <a:r>
              <a:rPr lang="ko-KR" altLang="en-US" b="1" dirty="0"/>
              <a:t>라는 이름의 파일 만들기</a:t>
            </a:r>
            <a:endParaRPr lang="en-US" altLang="ko-KR" b="1" dirty="0"/>
          </a:p>
          <a:p>
            <a:r>
              <a:rPr lang="ko-KR" altLang="en-US" dirty="0"/>
              <a:t>“</a:t>
            </a:r>
            <a:r>
              <a:rPr lang="en-US" altLang="ko-KR" dirty="0"/>
              <a:t>File” </a:t>
            </a:r>
            <a:r>
              <a:rPr lang="ko-KR" altLang="en-US" dirty="0"/>
              <a:t>메뉴를 이용해 “</a:t>
            </a:r>
            <a:r>
              <a:rPr lang="en-US" altLang="ko-KR" dirty="0"/>
              <a:t>New”</a:t>
            </a:r>
            <a:r>
              <a:rPr lang="ko-KR" altLang="en-US" dirty="0"/>
              <a:t>를 선택</a:t>
            </a:r>
          </a:p>
          <a:p>
            <a:r>
              <a:rPr lang="ko-KR" altLang="en-US" dirty="0"/>
              <a:t>새로운 파일 만든 후 </a:t>
            </a:r>
            <a:r>
              <a:rPr lang="en-US" altLang="ko-KR" dirty="0"/>
              <a:t>Run </a:t>
            </a:r>
            <a:r>
              <a:rPr lang="ko-KR" altLang="en-US" dirty="0"/>
              <a:t>메뉴의  “</a:t>
            </a:r>
            <a:r>
              <a:rPr lang="en-US" altLang="ko-KR" dirty="0"/>
              <a:t>Run Module" </a:t>
            </a:r>
            <a:r>
              <a:rPr lang="ko-KR" altLang="en-US" dirty="0"/>
              <a:t>메뉴 실행 또는 단축 키 </a:t>
            </a:r>
            <a:r>
              <a:rPr lang="en-US" altLang="ko-KR" dirty="0"/>
              <a:t>F5 </a:t>
            </a:r>
            <a:r>
              <a:rPr lang="ko-KR" altLang="en-US" dirty="0"/>
              <a:t>입력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A67226C-E929-6B2A-D555-68145365B353}"/>
              </a:ext>
            </a:extLst>
          </p:cNvPr>
          <p:cNvGrpSpPr/>
          <p:nvPr/>
        </p:nvGrpSpPr>
        <p:grpSpPr>
          <a:xfrm>
            <a:off x="1621894" y="3308976"/>
            <a:ext cx="8745012" cy="2812009"/>
            <a:chOff x="580062" y="2603810"/>
            <a:chExt cx="11221313" cy="3941740"/>
          </a:xfrm>
        </p:grpSpPr>
        <p:sp>
          <p:nvSpPr>
            <p:cNvPr id="12" name="TextBox 11"/>
            <p:cNvSpPr txBox="1"/>
            <p:nvPr/>
          </p:nvSpPr>
          <p:spPr>
            <a:xfrm>
              <a:off x="8036389" y="4653723"/>
              <a:ext cx="2912533" cy="517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+mn-ea"/>
                </a:rPr>
                <a:t>실행 결과</a:t>
              </a:r>
            </a:p>
          </p:txBody>
        </p:sp>
        <p:sp>
          <p:nvSpPr>
            <p:cNvPr id="13" name="오른쪽 화살표 9"/>
            <p:cNvSpPr/>
            <p:nvPr/>
          </p:nvSpPr>
          <p:spPr>
            <a:xfrm>
              <a:off x="5571066" y="3684897"/>
              <a:ext cx="495300" cy="43815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0062" y="5725840"/>
              <a:ext cx="5160337" cy="8197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hello.py </a:t>
              </a:r>
              <a:r>
                <a:rPr lang="ko-KR" altLang="en-US" sz="1600" b="1" dirty="0"/>
                <a:t>가 있으므로 </a:t>
              </a:r>
              <a:r>
                <a:rPr lang="en-US" altLang="ko-KR" sz="1600" b="1" dirty="0"/>
                <a:t>welcome.py</a:t>
              </a:r>
              <a:r>
                <a:rPr lang="ko-KR" altLang="en-US" sz="1600" b="1" dirty="0"/>
                <a:t>라고 파일 이름을 짓고</a:t>
              </a:r>
              <a:endParaRPr lang="ko-KR" altLang="en-US" sz="1400" dirty="0"/>
            </a:p>
          </p:txBody>
        </p:sp>
        <p:cxnSp>
          <p:nvCxnSpPr>
            <p:cNvPr id="15" name="직선 화살표 연결선 14"/>
            <p:cNvCxnSpPr>
              <a:cxnSpLocks/>
            </p:cNvCxnSpPr>
            <p:nvPr/>
          </p:nvCxnSpPr>
          <p:spPr>
            <a:xfrm flipV="1">
              <a:off x="2270503" y="5221854"/>
              <a:ext cx="286158" cy="49969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167965" y="5651964"/>
              <a:ext cx="5160337" cy="4745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Run </a:t>
              </a:r>
              <a:r>
                <a:rPr lang="ko-KR" altLang="en-US" sz="1600" b="1" dirty="0"/>
                <a:t>메뉴의 </a:t>
              </a:r>
              <a:r>
                <a:rPr lang="en-US" altLang="ko-KR" sz="1600" b="1" dirty="0"/>
                <a:t>Run Module </a:t>
              </a:r>
              <a:r>
                <a:rPr lang="ko-KR" altLang="en-US" sz="1600" b="1" dirty="0"/>
                <a:t>실행</a:t>
              </a:r>
              <a:endParaRPr lang="ko-KR" altLang="en-US" sz="1400" dirty="0"/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 flipV="1">
              <a:off x="7102379" y="4811829"/>
              <a:ext cx="342900" cy="8200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7015" y="2603810"/>
              <a:ext cx="5103384" cy="2622602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6366" y="2801196"/>
              <a:ext cx="5735009" cy="18324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7454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1.4.4 </a:t>
            </a:r>
            <a:r>
              <a:rPr lang="ko-KR" altLang="en-US" dirty="0"/>
              <a:t>윈도우의 통합 개발 환경 사용하기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64B2A1-637A-DA4A-86AC-B2AECE67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ko-KR" altLang="en-US" dirty="0"/>
              <a:t>파이썬 </a:t>
            </a:r>
            <a:r>
              <a:rPr lang="ko-KR" altLang="en-US" dirty="0" err="1"/>
              <a:t>대화창</a:t>
            </a:r>
            <a:r>
              <a:rPr lang="ko-KR" altLang="en-US" dirty="0"/>
              <a:t> 사용하기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EE8A5-657A-1A80-BD6F-1F4E8F8F20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/>
              <a:t>파이썬 </a:t>
            </a:r>
            <a:r>
              <a:rPr lang="en-US" altLang="ko-KR" b="1" dirty="0"/>
              <a:t>2, 3</a:t>
            </a:r>
            <a:r>
              <a:rPr lang="ko-KR" altLang="en-US" b="1" dirty="0"/>
              <a:t>의 차이</a:t>
            </a:r>
            <a:endParaRPr lang="en-US" altLang="ko-KR" b="1" dirty="0"/>
          </a:p>
          <a:p>
            <a:r>
              <a:rPr lang="en-US" altLang="ko-KR" dirty="0"/>
              <a:t>print</a:t>
            </a:r>
            <a:r>
              <a:rPr lang="ko-KR" altLang="en-US" dirty="0"/>
              <a:t>에서 </a:t>
            </a:r>
            <a:r>
              <a:rPr lang="en-US" altLang="ko-KR" dirty="0"/>
              <a:t>print() </a:t>
            </a:r>
            <a:r>
              <a:rPr lang="ko-KR" altLang="en-US" dirty="0"/>
              <a:t>함수로 변화</a:t>
            </a:r>
          </a:p>
          <a:p>
            <a:r>
              <a:rPr lang="ko-KR" altLang="en-US" dirty="0"/>
              <a:t>표준 라이브러리의 재배치 </a:t>
            </a:r>
          </a:p>
          <a:p>
            <a:r>
              <a:rPr lang="ko-KR" altLang="en-US" dirty="0"/>
              <a:t>스트링 </a:t>
            </a:r>
            <a:r>
              <a:rPr lang="ko-KR" altLang="en-US" dirty="0" err="1"/>
              <a:t>포매팅</a:t>
            </a:r>
            <a:r>
              <a:rPr lang="ko-KR" altLang="en-US" dirty="0"/>
              <a:t> 기능이 다양해짐  </a:t>
            </a:r>
          </a:p>
          <a:p>
            <a:r>
              <a:rPr lang="ko-KR" altLang="en-US" dirty="0" err="1"/>
              <a:t>딕셔너리</a:t>
            </a:r>
            <a:r>
              <a:rPr lang="en-US" altLang="ko-KR" dirty="0"/>
              <a:t>, </a:t>
            </a:r>
            <a:r>
              <a:rPr lang="ko-KR" altLang="en-US" dirty="0"/>
              <a:t>문자형에 구성 요소 변경 </a:t>
            </a:r>
          </a:p>
          <a:p>
            <a:r>
              <a:rPr lang="ko-KR" altLang="en-US" dirty="0"/>
              <a:t>함수 표기법의 변화 </a:t>
            </a:r>
          </a:p>
          <a:p>
            <a:r>
              <a:rPr lang="ko-KR" altLang="en-US" dirty="0"/>
              <a:t>유니코드 지원 등</a:t>
            </a:r>
          </a:p>
          <a:p>
            <a:endParaRPr lang="ko-KR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606592" y="542029"/>
            <a:ext cx="109788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13830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000" dirty="0"/>
              <a:t>문자열이나 </a:t>
            </a:r>
            <a:r>
              <a:rPr lang="ko-KR" altLang="en-US" sz="2000" dirty="0" err="1"/>
              <a:t>수치값을</a:t>
            </a:r>
            <a:r>
              <a:rPr lang="ko-KR" altLang="en-US" sz="2000" dirty="0"/>
              <a:t> 화면상에 출력하는 중요한 일을 하는 함수인 </a:t>
            </a:r>
            <a:r>
              <a:rPr lang="en-US" altLang="ko-KR" sz="2000" dirty="0"/>
              <a:t>print()</a:t>
            </a:r>
            <a:r>
              <a:rPr lang="ko-KR" altLang="en-US" sz="2000" dirty="0"/>
              <a:t>에 대해 알아봅시다</a:t>
            </a:r>
            <a:endParaRPr lang="en-US" altLang="ko-KR" sz="2000" dirty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/>
          </a:p>
          <a:p>
            <a:pPr marL="0" indent="0" fontAlgn="base">
              <a:buNone/>
            </a:pPr>
            <a:endParaRPr lang="en-US" altLang="ko-KR" sz="3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Hello World </a:t>
            </a:r>
            <a:r>
              <a:rPr lang="ko-KR" altLang="en-US" dirty="0"/>
              <a:t>출력하기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44799" y="1947333"/>
            <a:ext cx="22259599" cy="69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005" y="2319455"/>
            <a:ext cx="6209649" cy="264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004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print('Hello World')</a:t>
            </a:r>
            <a:r>
              <a:rPr lang="ko-KR" altLang="en-US" dirty="0"/>
              <a:t>와 같은 코드를 </a:t>
            </a:r>
            <a:r>
              <a:rPr lang="ko-KR" altLang="en-US" b="1" dirty="0" err="1"/>
              <a:t>표현문</a:t>
            </a:r>
            <a:r>
              <a:rPr lang="en-US" altLang="ko-KR" b="1" baseline="30000" dirty="0">
                <a:solidFill>
                  <a:schemeClr val="accent5"/>
                </a:solidFill>
              </a:rPr>
              <a:t>expression</a:t>
            </a:r>
            <a:r>
              <a:rPr lang="en-US" altLang="ko-KR" b="1" baseline="30000" dirty="0"/>
              <a:t> </a:t>
            </a:r>
            <a:r>
              <a:rPr lang="en-US" altLang="ko-KR" b="1" baseline="30000" dirty="0">
                <a:solidFill>
                  <a:schemeClr val="accent5"/>
                </a:solidFill>
              </a:rPr>
              <a:t>statement</a:t>
            </a:r>
            <a:r>
              <a:rPr lang="en-US" altLang="ko-KR" b="1" dirty="0"/>
              <a:t> </a:t>
            </a:r>
            <a:r>
              <a:rPr lang="ko-KR" altLang="en-US" b="1" dirty="0"/>
              <a:t>혹은 표현식</a:t>
            </a:r>
            <a:r>
              <a:rPr lang="ko-KR" altLang="en-US" dirty="0"/>
              <a:t>이라고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표현식은 간단하게 </a:t>
            </a:r>
            <a:r>
              <a:rPr lang="ko-KR" altLang="en-US" b="1" dirty="0"/>
              <a:t>문장</a:t>
            </a:r>
            <a:r>
              <a:rPr lang="en-US" altLang="ko-KR" b="1" baseline="30000" dirty="0">
                <a:solidFill>
                  <a:schemeClr val="accent5"/>
                </a:solidFill>
              </a:rPr>
              <a:t>statement</a:t>
            </a:r>
            <a:r>
              <a:rPr lang="ko-KR" altLang="en-US" dirty="0"/>
              <a:t>이라고 부르기도 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1D32B5C-4AF9-64B3-E94C-D752F2C9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Hello World </a:t>
            </a:r>
            <a:r>
              <a:rPr lang="ko-KR" altLang="en-US" dirty="0"/>
              <a:t>출력하기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88" y="2341180"/>
            <a:ext cx="8916644" cy="14575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82" y="3917579"/>
            <a:ext cx="895475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035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+mn-ea"/>
              </a:rPr>
              <a:t>print_hello_3.py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Hello World </a:t>
            </a:r>
            <a:r>
              <a:rPr lang="ko-KR" altLang="en-US" dirty="0"/>
              <a:t>출력하기</a:t>
            </a:r>
            <a:endParaRPr lang="ko-KR" altLang="en-US" dirty="0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9B4AD7-6525-1A84-60B7-5F7F62A49E9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Hello World!</a:t>
            </a:r>
            <a:r>
              <a:rPr lang="ko-KR" altLang="en-US" dirty="0"/>
              <a:t>를 세 줄에 걸쳐 반복시키기 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3858" r="9348" b="5736"/>
          <a:stretch/>
        </p:blipFill>
        <p:spPr>
          <a:xfrm>
            <a:off x="1109986" y="2166545"/>
            <a:ext cx="8919839" cy="392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15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47" y="1655389"/>
            <a:ext cx="8915652" cy="426276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256A5-F535-2FD3-45CC-B9C675039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문자열과 숫자 출력하기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1.5 Hello World </a:t>
            </a:r>
            <a:r>
              <a:rPr lang="ko-KR" altLang="en-US" dirty="0"/>
              <a:t>출력하기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8389" y="3481640"/>
            <a:ext cx="4922310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쉼표로 구분되어 있을 경우 공백을 삽입하고</a:t>
            </a:r>
            <a:endParaRPr lang="en-US" altLang="ko-KR" dirty="0"/>
          </a:p>
          <a:p>
            <a:r>
              <a:rPr lang="ko-KR" altLang="en-US" dirty="0"/>
              <a:t>다음 문자열을 출력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8389" y="4415241"/>
            <a:ext cx="3960284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덧셈 기호로 문자열을 연결할 경우 </a:t>
            </a:r>
            <a:endParaRPr lang="en-US" altLang="ko-KR" dirty="0"/>
          </a:p>
          <a:p>
            <a:r>
              <a:rPr lang="ko-KR" altLang="en-US" dirty="0"/>
              <a:t>공백이 삽입되지 않음</a:t>
            </a:r>
          </a:p>
        </p:txBody>
      </p:sp>
      <p:cxnSp>
        <p:nvCxnSpPr>
          <p:cNvPr id="8" name="직선 화살표 연결선 7"/>
          <p:cNvCxnSpPr>
            <a:cxnSpLocks/>
          </p:cNvCxnSpPr>
          <p:nvPr/>
        </p:nvCxnSpPr>
        <p:spPr>
          <a:xfrm flipH="1" flipV="1">
            <a:off x="3258164" y="3294248"/>
            <a:ext cx="1800225" cy="4947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cxnSpLocks/>
          </p:cNvCxnSpPr>
          <p:nvPr/>
        </p:nvCxnSpPr>
        <p:spPr>
          <a:xfrm flipH="1" flipV="1">
            <a:off x="3258164" y="4115609"/>
            <a:ext cx="1800226" cy="633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75199" y="5578474"/>
            <a:ext cx="362902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2 + 4 </a:t>
            </a:r>
            <a:r>
              <a:rPr lang="ko-KR" altLang="en-US" dirty="0"/>
              <a:t>연산의 결과가 출력됨</a:t>
            </a:r>
          </a:p>
        </p:txBody>
      </p:sp>
      <p:cxnSp>
        <p:nvCxnSpPr>
          <p:cNvPr id="11" name="직선 화살표 연결선 10"/>
          <p:cNvCxnSpPr>
            <a:cxnSpLocks/>
          </p:cNvCxnSpPr>
          <p:nvPr/>
        </p:nvCxnSpPr>
        <p:spPr>
          <a:xfrm flipH="1" flipV="1">
            <a:off x="2584007" y="5293474"/>
            <a:ext cx="1491192" cy="4702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579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256A5-F535-2FD3-45CC-B9C675039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문자열과 숫자 출력하기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1.5 Hello World </a:t>
            </a:r>
            <a:r>
              <a:rPr lang="ko-KR" altLang="en-US" dirty="0"/>
              <a:t>출력하기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1125966-25A4-6EEE-C45E-1FE992C838CE}"/>
              </a:ext>
            </a:extLst>
          </p:cNvPr>
          <p:cNvGrpSpPr/>
          <p:nvPr/>
        </p:nvGrpSpPr>
        <p:grpSpPr>
          <a:xfrm>
            <a:off x="1113115" y="1644059"/>
            <a:ext cx="8403266" cy="4536428"/>
            <a:chOff x="1007434" y="1614282"/>
            <a:chExt cx="9390597" cy="543665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b="3583"/>
            <a:stretch/>
          </p:blipFill>
          <p:spPr>
            <a:xfrm>
              <a:off x="1007434" y="1614282"/>
              <a:ext cx="8859486" cy="383931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939751" y="2615912"/>
              <a:ext cx="6458280" cy="7745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print() </a:t>
              </a:r>
              <a:r>
                <a:rPr lang="ko-KR" altLang="en-US" dirty="0"/>
                <a:t>함수를 사용하지 않을 경우에도 연산의 결과가</a:t>
              </a:r>
              <a:endParaRPr lang="en-US" altLang="ko-KR" dirty="0"/>
            </a:p>
            <a:p>
              <a:r>
                <a:rPr lang="ko-KR" altLang="en-US" dirty="0"/>
                <a:t>출력됨</a:t>
              </a:r>
              <a:r>
                <a:rPr lang="en-US" altLang="ko-KR" dirty="0"/>
                <a:t>, </a:t>
              </a:r>
              <a:r>
                <a:rPr lang="ko-KR" altLang="en-US" dirty="0" err="1"/>
                <a:t>대화창을</a:t>
              </a:r>
              <a:r>
                <a:rPr lang="ko-KR" altLang="en-US" dirty="0"/>
                <a:t> 간단한 계산기로 사용할 수 있음</a:t>
              </a:r>
            </a:p>
          </p:txBody>
        </p:sp>
        <p:cxnSp>
          <p:nvCxnSpPr>
            <p:cNvPr id="13" name="직선 화살표 연결선 12"/>
            <p:cNvCxnSpPr>
              <a:cxnSpLocks/>
              <a:stCxn id="12" idx="1"/>
            </p:cNvCxnSpPr>
            <p:nvPr/>
          </p:nvCxnSpPr>
          <p:spPr>
            <a:xfrm flipH="1">
              <a:off x="2646169" y="3003209"/>
              <a:ext cx="1293582" cy="11358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244251" y="3420618"/>
              <a:ext cx="7079270" cy="44262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대화창에</a:t>
              </a:r>
              <a:r>
                <a:rPr lang="ko-KR" altLang="en-US" dirty="0"/>
                <a:t> 입력한 </a:t>
              </a:r>
              <a:r>
                <a:rPr lang="en-US" altLang="ko-KR" dirty="0"/>
                <a:t>10 + 20</a:t>
              </a:r>
              <a:r>
                <a:rPr lang="ko-KR" altLang="en-US" dirty="0"/>
                <a:t>의 결과 </a:t>
              </a:r>
              <a:r>
                <a:rPr lang="en-US" altLang="ko-KR" dirty="0"/>
                <a:t>30</a:t>
              </a:r>
              <a:r>
                <a:rPr lang="ko-KR" altLang="en-US" dirty="0"/>
                <a:t>이 아래 줄에 출력됨</a:t>
              </a:r>
            </a:p>
          </p:txBody>
        </p:sp>
        <p:cxnSp>
          <p:nvCxnSpPr>
            <p:cNvPr id="15" name="직선 화살표 연결선 14"/>
            <p:cNvCxnSpPr>
              <a:cxnSpLocks/>
              <a:stCxn id="14" idx="1"/>
            </p:cNvCxnSpPr>
            <p:nvPr/>
          </p:nvCxnSpPr>
          <p:spPr>
            <a:xfrm flipH="1" flipV="1">
              <a:off x="2048087" y="3533937"/>
              <a:ext cx="1196164" cy="1079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3"/>
            <a:srcRect t="10423"/>
            <a:stretch/>
          </p:blipFill>
          <p:spPr>
            <a:xfrm>
              <a:off x="1036013" y="5434417"/>
              <a:ext cx="8830907" cy="1616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6671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39110-2BF5-A3A2-3F7F-D7A71ED4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</a:t>
            </a:r>
            <a:r>
              <a:rPr lang="en-US" altLang="ko-KR" dirty="0"/>
              <a:t>x, y</a:t>
            </a:r>
            <a:r>
              <a:rPr lang="ko-KR" altLang="en-US" dirty="0"/>
              <a:t>를 사용하여 연산을 할 수 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1.5 Hello World </a:t>
            </a:r>
            <a:r>
              <a:rPr lang="ko-KR" altLang="en-US" dirty="0"/>
              <a:t>출력하기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294E14-A5AF-0096-2809-303F8779C276}"/>
              </a:ext>
            </a:extLst>
          </p:cNvPr>
          <p:cNvGrpSpPr/>
          <p:nvPr/>
        </p:nvGrpSpPr>
        <p:grpSpPr>
          <a:xfrm>
            <a:off x="1122938" y="1662308"/>
            <a:ext cx="8439332" cy="4357144"/>
            <a:chOff x="826559" y="1213537"/>
            <a:chExt cx="9557844" cy="549076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6559" y="1213537"/>
              <a:ext cx="8135657" cy="5394674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048123" y="2423248"/>
              <a:ext cx="5169147" cy="4654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</a:lstStyle>
            <a:p>
              <a:r>
                <a:rPr lang="ko-KR" altLang="en-US" dirty="0"/>
                <a:t>변수는 특정한 값을 저장하는 기능을 한다</a:t>
              </a: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 flipV="1">
              <a:off x="2302933" y="2333121"/>
              <a:ext cx="1745192" cy="2747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33218" y="2918717"/>
              <a:ext cx="6651185" cy="81449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</a:lstStyle>
            <a:p>
              <a:r>
                <a:rPr lang="en-US" altLang="ko-KR" dirty="0"/>
                <a:t>x + y </a:t>
              </a:r>
              <a:r>
                <a:rPr lang="ko-KR" altLang="en-US" dirty="0"/>
                <a:t>연산은 </a:t>
              </a:r>
              <a:r>
                <a:rPr lang="en-US" altLang="ko-KR" dirty="0"/>
                <a:t>x </a:t>
              </a:r>
              <a:r>
                <a:rPr lang="ko-KR" altLang="en-US" dirty="0"/>
                <a:t>변수</a:t>
              </a:r>
              <a:r>
                <a:rPr lang="en-US" altLang="ko-KR" dirty="0"/>
                <a:t>, y </a:t>
              </a:r>
              <a:r>
                <a:rPr lang="ko-KR" altLang="en-US" dirty="0"/>
                <a:t>변수가 저장해둔 값을 불러와서</a:t>
              </a:r>
              <a:endParaRPr lang="en-US" altLang="ko-KR" dirty="0"/>
            </a:p>
            <a:p>
              <a:r>
                <a:rPr lang="ko-KR" altLang="en-US" dirty="0"/>
                <a:t>이 값 </a:t>
              </a:r>
              <a:r>
                <a:rPr lang="en-US" altLang="ko-KR" dirty="0"/>
                <a:t>100, 200</a:t>
              </a:r>
              <a:r>
                <a:rPr lang="ko-KR" altLang="en-US" dirty="0"/>
                <a:t>을 연산한다</a:t>
              </a: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 flipV="1">
              <a:off x="2047876" y="2667930"/>
              <a:ext cx="1685343" cy="4594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933824" y="5482021"/>
              <a:ext cx="4079654" cy="4654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</a:lstStyle>
            <a:p>
              <a:r>
                <a:rPr lang="ko-KR" altLang="en-US" dirty="0"/>
                <a:t>새로운 변수의 생성과 값의 저장</a:t>
              </a:r>
            </a:p>
          </p:txBody>
        </p:sp>
        <p:cxnSp>
          <p:nvCxnSpPr>
            <p:cNvPr id="13" name="직선 화살표 연결선 12"/>
            <p:cNvCxnSpPr>
              <a:cxnSpLocks/>
              <a:stCxn id="12" idx="1"/>
            </p:cNvCxnSpPr>
            <p:nvPr/>
          </p:nvCxnSpPr>
          <p:spPr>
            <a:xfrm flipH="1" flipV="1">
              <a:off x="2133601" y="5666687"/>
              <a:ext cx="1800223" cy="4804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933824" y="6238879"/>
              <a:ext cx="5676189" cy="4654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**</a:t>
              </a:r>
              <a:r>
                <a:rPr lang="ko-KR" altLang="en-US" dirty="0"/>
                <a:t>는 제곱 연산을 수행하여 </a:t>
              </a:r>
              <a:r>
                <a:rPr lang="en-US" altLang="ko-KR" dirty="0"/>
                <a:t>5</a:t>
              </a:r>
              <a:r>
                <a:rPr lang="ko-KR" altLang="en-US" dirty="0"/>
                <a:t>의 </a:t>
              </a:r>
              <a:r>
                <a:rPr lang="en-US" altLang="ko-KR" dirty="0"/>
                <a:t>2 </a:t>
              </a:r>
              <a:r>
                <a:rPr lang="ko-KR" altLang="en-US" dirty="0"/>
                <a:t>제곱을 수행</a:t>
              </a: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 flipH="1" flipV="1">
              <a:off x="2218267" y="5966967"/>
              <a:ext cx="1715558" cy="4565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5613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1.6.1 </a:t>
            </a:r>
            <a:r>
              <a:rPr lang="ko-KR" altLang="en-US" dirty="0"/>
              <a:t>로컬 환경과 가상환경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5E8D00-BC58-39BC-27E8-B24C4B849CA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로컬 환경은 로컬 컴퓨터에 직접 </a:t>
            </a:r>
            <a:r>
              <a:rPr lang="ko-KR" altLang="en-US" dirty="0" err="1"/>
              <a:t>파이썬을</a:t>
            </a:r>
            <a:r>
              <a:rPr lang="ko-KR" altLang="en-US" dirty="0"/>
              <a:t> 설치하여 사용하는 방식</a:t>
            </a:r>
          </a:p>
          <a:p>
            <a:r>
              <a:rPr lang="ko-KR" altLang="en-US" dirty="0"/>
              <a:t>로컬 환경의 문제점은 여러 프로젝트를 동시에 진행할 때 각각의 프로젝트들이 사용하는 패키지가 충돌하여 일부 프로젝트가 제대로 동 작하지 않는 일이 발생할 수 있음</a:t>
            </a:r>
            <a:r>
              <a:rPr lang="en-US" altLang="ko-KR" dirty="0"/>
              <a:t>.</a:t>
            </a:r>
          </a:p>
          <a:p>
            <a:r>
              <a:rPr lang="ko-KR" altLang="en-US" b="1" dirty="0">
                <a:solidFill>
                  <a:schemeClr val="accent5"/>
                </a:solidFill>
              </a:rPr>
              <a:t>가상 환경</a:t>
            </a:r>
            <a:r>
              <a:rPr lang="en-US" altLang="ko-KR" b="1" baseline="30000" dirty="0">
                <a:solidFill>
                  <a:schemeClr val="accent5"/>
                </a:solidFill>
              </a:rPr>
              <a:t>virtual environments</a:t>
            </a:r>
            <a:r>
              <a:rPr lang="ko-KR" altLang="en-US" dirty="0"/>
              <a:t>은 프로젝트마다 독립적인 파이썬 환경을 구축하여 패키지 충돌을 피함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virtualenv</a:t>
            </a:r>
            <a:r>
              <a:rPr lang="ko-KR" altLang="en-US" dirty="0"/>
              <a:t>나 </a:t>
            </a:r>
            <a:r>
              <a:rPr lang="en-US" altLang="ko-KR" dirty="0" err="1"/>
              <a:t>venv</a:t>
            </a:r>
            <a:r>
              <a:rPr lang="ko-KR" altLang="en-US" dirty="0"/>
              <a:t>과 같은 도구를 사용하여 가상 환경을 생성하고 활성화할 수 있는데</a:t>
            </a:r>
            <a:r>
              <a:rPr lang="en-US" altLang="ko-KR" dirty="0"/>
              <a:t>, </a:t>
            </a:r>
            <a:r>
              <a:rPr lang="ko-KR" altLang="en-US" dirty="0"/>
              <a:t>이를 통해 프로젝트별로 필요한 패키지를 설치하고 관리할 수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22176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1.6.1 </a:t>
            </a:r>
            <a:r>
              <a:rPr lang="ko-KR" altLang="en-US" dirty="0"/>
              <a:t>로컬 환경과 가상환경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5E8D00-BC58-39BC-27E8-B24C4B849CA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virtualenv</a:t>
            </a:r>
            <a:r>
              <a:rPr lang="en-US" altLang="ko-KR" dirty="0"/>
              <a:t>: </a:t>
            </a:r>
            <a:r>
              <a:rPr lang="ko-KR" altLang="en-US" dirty="0"/>
              <a:t>가상 환경을 생성하고 관리하는 데 사용되는 파이썬 패키지로 명령어를 통해 가상 환경을 만들고 활성화하며</a:t>
            </a:r>
            <a:r>
              <a:rPr lang="en-US" altLang="ko-KR" dirty="0"/>
              <a:t>, </a:t>
            </a:r>
            <a:r>
              <a:rPr lang="ko-KR" altLang="en-US" dirty="0"/>
              <a:t>해당 환경에서 필요한 패키지를 설치하고 관리할 수 있음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venv</a:t>
            </a:r>
            <a:r>
              <a:rPr lang="en-US" altLang="ko-KR" dirty="0"/>
              <a:t>: </a:t>
            </a:r>
            <a:r>
              <a:rPr lang="ko-KR" altLang="en-US" dirty="0"/>
              <a:t>파이썬 </a:t>
            </a:r>
            <a:r>
              <a:rPr lang="en-US" altLang="ko-KR" dirty="0"/>
              <a:t>3.3 </a:t>
            </a:r>
            <a:r>
              <a:rPr lang="ko-KR" altLang="en-US" dirty="0"/>
              <a:t>이상 버전부터 기본으로 제공되는 가상 환경 모듈로 </a:t>
            </a:r>
            <a:r>
              <a:rPr lang="en-US" altLang="ko-KR" dirty="0" err="1"/>
              <a:t>virtualenv</a:t>
            </a:r>
            <a:r>
              <a:rPr lang="ko-KR" altLang="en-US" dirty="0"/>
              <a:t>와 유사한 기능을 제공함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8772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1.6.1 </a:t>
            </a:r>
            <a:r>
              <a:rPr lang="ko-KR" altLang="en-US" dirty="0"/>
              <a:t>로컬 환경과 가상환경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5E8D00-BC58-39BC-27E8-B24C4B849CA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파이썬 인터프리터를 설치하면 자공으로 제공되는 </a:t>
            </a:r>
            <a:r>
              <a:rPr lang="en-US" altLang="ko-KR" dirty="0" err="1"/>
              <a:t>venv</a:t>
            </a:r>
            <a:r>
              <a:rPr lang="ko-KR" altLang="en-US" dirty="0"/>
              <a:t>를 이용</a:t>
            </a:r>
          </a:p>
          <a:p>
            <a:r>
              <a:rPr lang="en-US" altLang="ko-KR" dirty="0"/>
              <a:t>Python –m </a:t>
            </a:r>
            <a:r>
              <a:rPr lang="en-US" altLang="ko-KR" dirty="0" err="1"/>
              <a:t>venv</a:t>
            </a:r>
            <a:r>
              <a:rPr lang="en-US" altLang="ko-KR" dirty="0"/>
              <a:t> </a:t>
            </a:r>
            <a:r>
              <a:rPr lang="en-US" altLang="ko-KR" dirty="0" err="1"/>
              <a:t>myVirtualEnv</a:t>
            </a:r>
            <a:r>
              <a:rPr lang="ko-KR" altLang="en-US" dirty="0"/>
              <a:t>라고 명령 프롬프트에 입력하고 위치를 살펴보면 </a:t>
            </a:r>
            <a:r>
              <a:rPr lang="en-US" altLang="ko-KR" dirty="0" err="1"/>
              <a:t>myVirtualEnv</a:t>
            </a:r>
            <a:r>
              <a:rPr lang="ko-KR" altLang="en-US" dirty="0"/>
              <a:t>라는 폴더가 생성됨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생성된 가상환경을 활성화하기 위해 </a:t>
            </a:r>
            <a:r>
              <a:rPr lang="en-US" altLang="ko-KR" dirty="0"/>
              <a:t>Scripts</a:t>
            </a:r>
            <a:r>
              <a:rPr lang="ko-KR" altLang="en-US" dirty="0"/>
              <a:t>폴더의 </a:t>
            </a:r>
            <a:r>
              <a:rPr lang="en-US" altLang="ko-KR" dirty="0"/>
              <a:t>activate</a:t>
            </a:r>
            <a:r>
              <a:rPr lang="ko-KR" altLang="en-US" dirty="0"/>
              <a:t>를 실행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E26F3B-C5B4-6B1E-9FD5-BE5CB76E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0" y="3310260"/>
            <a:ext cx="5041899" cy="287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26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1.6.1 </a:t>
            </a:r>
            <a:r>
              <a:rPr lang="ko-KR" altLang="en-US" dirty="0"/>
              <a:t>로컬 환경과 가상환경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5E8D00-BC58-39BC-27E8-B24C4B849CA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pc="-40" dirty="0"/>
              <a:t>가상환경의 프롬프트가 나타나고 이 환경 내에서만 사용할 패키지들을 설치할 수 있음</a:t>
            </a:r>
            <a:r>
              <a:rPr lang="en-US" altLang="ko-KR" spc="-40" dirty="0"/>
              <a:t>.</a:t>
            </a:r>
          </a:p>
          <a:p>
            <a:r>
              <a:rPr lang="ko-KR" altLang="en-US" dirty="0"/>
              <a:t>이는 다른 프로젝트에 영향을 미치지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가상환경을 종료하기 위해선 </a:t>
            </a:r>
            <a:r>
              <a:rPr lang="en-US" altLang="ko-KR" dirty="0"/>
              <a:t>deactivate</a:t>
            </a:r>
            <a:r>
              <a:rPr lang="ko-KR" altLang="en-US" dirty="0"/>
              <a:t>를 입력해야 함</a:t>
            </a:r>
            <a:r>
              <a:rPr lang="en-US" altLang="ko-KR" dirty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08" y="3041524"/>
            <a:ext cx="5045092" cy="315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678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1.6.2 </a:t>
            </a:r>
            <a:r>
              <a:rPr lang="ko-KR" altLang="en-US" dirty="0"/>
              <a:t>통합 개발 환경과 아나콘다</a:t>
            </a:r>
            <a:endParaRPr lang="en-US" altLang="ko-KR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CF4DE5-351A-F94B-49E5-6038FE759AB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Visual Studio Code</a:t>
            </a:r>
          </a:p>
          <a:p>
            <a:r>
              <a:rPr lang="en-US" altLang="ko-KR" dirty="0"/>
              <a:t>Microsoft</a:t>
            </a:r>
            <a:r>
              <a:rPr lang="ko-KR" altLang="en-US" dirty="0"/>
              <a:t>에서 개발한 무료 및 오픈 소스의 경량 통합 개발 환경</a:t>
            </a:r>
          </a:p>
          <a:p>
            <a:r>
              <a:rPr lang="ko-KR" altLang="en-US" dirty="0"/>
              <a:t>다양한 프로그래밍 언어와 프레임워크를 지원하고 확장 가능한 기능을 제공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470" y="3083094"/>
            <a:ext cx="5305980" cy="30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7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1.6.2 </a:t>
            </a:r>
            <a:r>
              <a:rPr lang="ko-KR" altLang="en-US" dirty="0"/>
              <a:t>통합 개발 환경과 아나콘다</a:t>
            </a:r>
            <a:endParaRPr lang="en-US" altLang="ko-KR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CF4DE5-351A-F94B-49E5-6038FE759AB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Visual Studio Code</a:t>
            </a:r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 err="1"/>
              <a:t>경량성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빠르고 가벼운 편집기</a:t>
            </a:r>
            <a:r>
              <a:rPr lang="en-US" altLang="ko-KR" dirty="0"/>
              <a:t>, </a:t>
            </a:r>
            <a:r>
              <a:rPr lang="ko-KR" altLang="en-US" dirty="0"/>
              <a:t>시스템 자원 적게 사용</a:t>
            </a:r>
          </a:p>
          <a:p>
            <a:pPr lvl="1"/>
            <a:r>
              <a:rPr lang="ko-KR" altLang="en-US" dirty="0"/>
              <a:t>다양한 언어 지원 </a:t>
            </a:r>
            <a:r>
              <a:rPr lang="en-US" altLang="ko-KR" dirty="0"/>
              <a:t>: </a:t>
            </a:r>
            <a:r>
              <a:rPr lang="ko-KR" altLang="en-US" dirty="0"/>
              <a:t>다양한 프로그래밍 언어와 마크업 언어 지원</a:t>
            </a:r>
            <a:r>
              <a:rPr lang="en-US" altLang="ko-KR" dirty="0"/>
              <a:t>, </a:t>
            </a:r>
            <a:r>
              <a:rPr lang="ko-KR" altLang="en-US" dirty="0"/>
              <a:t>문법 강조</a:t>
            </a:r>
            <a:r>
              <a:rPr lang="en-US" altLang="ko-KR" dirty="0"/>
              <a:t>, </a:t>
            </a:r>
            <a:r>
              <a:rPr lang="ko-KR" altLang="en-US" dirty="0"/>
              <a:t>자동완성 제공</a:t>
            </a:r>
          </a:p>
          <a:p>
            <a:pPr lvl="1"/>
            <a:r>
              <a:rPr lang="ko-KR" altLang="en-US" dirty="0"/>
              <a:t>확장성 </a:t>
            </a:r>
            <a:r>
              <a:rPr lang="en-US" altLang="ko-KR" dirty="0"/>
              <a:t>: </a:t>
            </a:r>
            <a:r>
              <a:rPr lang="ko-KR" altLang="en-US" dirty="0"/>
              <a:t>확장 가능한 환경 제공</a:t>
            </a:r>
            <a:r>
              <a:rPr lang="en-US" altLang="ko-KR" dirty="0"/>
              <a:t>, </a:t>
            </a:r>
            <a:r>
              <a:rPr lang="ko-KR" altLang="en-US" dirty="0"/>
              <a:t>다양한 기능 추가 또는 사용자 맞춤 설정 가능</a:t>
            </a:r>
          </a:p>
          <a:p>
            <a:pPr lvl="1"/>
            <a:r>
              <a:rPr lang="ko-KR" altLang="en-US" dirty="0"/>
              <a:t>통합 디버깅 </a:t>
            </a:r>
            <a:r>
              <a:rPr lang="en-US" altLang="ko-KR" dirty="0"/>
              <a:t>: </a:t>
            </a:r>
            <a:r>
              <a:rPr lang="ko-KR" altLang="en-US" dirty="0"/>
              <a:t>내장된 디버깅 기능을 사용해 코드를 디버깅하고 실행 중인 프로세스 모니터링 가능</a:t>
            </a:r>
          </a:p>
          <a:p>
            <a:pPr lvl="1"/>
            <a:r>
              <a:rPr lang="ko-KR" altLang="en-US" dirty="0"/>
              <a:t>코드 작성 보조 </a:t>
            </a:r>
            <a:r>
              <a:rPr lang="en-US" altLang="ko-KR" dirty="0"/>
              <a:t>: </a:t>
            </a:r>
            <a:r>
              <a:rPr lang="ko-KR" altLang="en-US" dirty="0"/>
              <a:t>자동 완성</a:t>
            </a:r>
            <a:r>
              <a:rPr lang="en-US" altLang="ko-KR" dirty="0"/>
              <a:t>, </a:t>
            </a:r>
            <a:r>
              <a:rPr lang="ko-KR" altLang="en-US" dirty="0"/>
              <a:t>코드 제안</a:t>
            </a:r>
            <a:r>
              <a:rPr lang="en-US" altLang="ko-KR" dirty="0"/>
              <a:t>, </a:t>
            </a:r>
            <a:r>
              <a:rPr lang="ko-KR" altLang="en-US" dirty="0"/>
              <a:t>문서 형식 맞춤 등의 기능을 통해 코드 작성 속도 향상 가능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800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1.6.2 </a:t>
            </a:r>
            <a:r>
              <a:rPr lang="ko-KR" altLang="en-US" dirty="0"/>
              <a:t>통합 개발 환경과 아나콘다</a:t>
            </a:r>
            <a:endParaRPr lang="en-US" altLang="ko-KR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CF4DE5-351A-F94B-49E5-6038FE759AB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/>
              <a:t>아나콘다</a:t>
            </a:r>
            <a:r>
              <a:rPr lang="en-US" altLang="ko-KR" b="1" dirty="0"/>
              <a:t>, Anaconda</a:t>
            </a:r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개발단계에서 </a:t>
            </a:r>
            <a:r>
              <a:rPr lang="ko-KR" altLang="en-US" dirty="0" err="1"/>
              <a:t>파이썬을</a:t>
            </a:r>
            <a:r>
              <a:rPr lang="ko-KR" altLang="en-US" dirty="0"/>
              <a:t> 활용하는 것을 주요 목표로 삼은 도구</a:t>
            </a:r>
          </a:p>
          <a:p>
            <a:pPr lvl="1"/>
            <a:r>
              <a:rPr lang="ko-KR" altLang="en-US" dirty="0"/>
              <a:t>데이터 과학 및 과학적인 컴퓨팅을 위한 파이썬 </a:t>
            </a:r>
            <a:r>
              <a:rPr lang="ko-KR" altLang="en-US" dirty="0" err="1"/>
              <a:t>배포판</a:t>
            </a:r>
            <a:endParaRPr lang="ko-KR" altLang="en-US" dirty="0"/>
          </a:p>
          <a:p>
            <a:pPr lvl="1"/>
            <a:r>
              <a:rPr lang="ko-KR" altLang="en-US" dirty="0"/>
              <a:t>범용 </a:t>
            </a:r>
            <a:r>
              <a:rPr lang="en-US" altLang="ko-KR" dirty="0"/>
              <a:t>IDE</a:t>
            </a:r>
            <a:r>
              <a:rPr lang="ko-KR" altLang="en-US" dirty="0"/>
              <a:t>와 달리 데이터 과학에 필요한 패키지들을 미리 포함하고 있어</a:t>
            </a:r>
            <a:r>
              <a:rPr lang="en-US" altLang="ko-KR" dirty="0"/>
              <a:t>, </a:t>
            </a:r>
            <a:r>
              <a:rPr lang="ko-KR" altLang="en-US" dirty="0"/>
              <a:t>데이터 분석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/>
              <a:t>딥러닝 등을 더 쉽게 수행할 수 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4738ED-6A05-9A1F-E9C4-67D060FD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599" y="3810000"/>
            <a:ext cx="4060264" cy="23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99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1.6.3 </a:t>
            </a:r>
            <a:r>
              <a:rPr lang="en-US" altLang="ko-KR" dirty="0" err="1"/>
              <a:t>Jupyter</a:t>
            </a:r>
            <a:r>
              <a:rPr lang="en-US" altLang="ko-KR" dirty="0"/>
              <a:t> </a:t>
            </a:r>
            <a:r>
              <a:rPr lang="ko-KR" altLang="en-US" dirty="0"/>
              <a:t>노트북과 온라인 개발환경</a:t>
            </a:r>
            <a:endParaRPr lang="en-US" altLang="ko-KR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CF4DE5-351A-F94B-49E5-6038FE759AB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 err="1"/>
              <a:t>Jupyter</a:t>
            </a:r>
            <a:r>
              <a:rPr lang="en-US" altLang="ko-KR" b="1" dirty="0"/>
              <a:t> </a:t>
            </a:r>
            <a:r>
              <a:rPr lang="ko-KR" altLang="en-US" b="1" dirty="0"/>
              <a:t>노트북</a:t>
            </a:r>
            <a:endParaRPr lang="en-US" altLang="ko-KR" b="1" dirty="0"/>
          </a:p>
          <a:p>
            <a:r>
              <a:rPr lang="ko-KR" altLang="en-US" dirty="0"/>
              <a:t>대화형 컴퓨팅과 데이터 분석을 위한 오픈 소스 웹 애플리케이션</a:t>
            </a:r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대화형 환경 </a:t>
            </a:r>
            <a:r>
              <a:rPr lang="en-US" altLang="ko-KR" dirty="0"/>
              <a:t>: </a:t>
            </a:r>
            <a:r>
              <a:rPr lang="ko-KR" altLang="en-US" dirty="0"/>
              <a:t>코드 셀과 텍스트 셀을 함께 사용하여 코드 실행</a:t>
            </a:r>
            <a:r>
              <a:rPr lang="en-US" altLang="ko-KR" dirty="0"/>
              <a:t>, </a:t>
            </a:r>
            <a:r>
              <a:rPr lang="ko-KR" altLang="en-US" dirty="0"/>
              <a:t>결과 실시간 확인 가능</a:t>
            </a:r>
          </a:p>
          <a:p>
            <a:pPr lvl="1"/>
            <a:r>
              <a:rPr lang="ko-KR" altLang="en-US" dirty="0"/>
              <a:t>셀 방식의 실행 </a:t>
            </a:r>
            <a:r>
              <a:rPr lang="en-US" altLang="ko-KR" dirty="0"/>
              <a:t>: </a:t>
            </a:r>
            <a:r>
              <a:rPr lang="ko-KR" altLang="en-US" dirty="0"/>
              <a:t>각 셀 개별적 실행</a:t>
            </a:r>
            <a:r>
              <a:rPr lang="en-US" altLang="ko-KR" dirty="0"/>
              <a:t>, </a:t>
            </a:r>
            <a:r>
              <a:rPr lang="ko-KR" altLang="en-US" dirty="0"/>
              <a:t>이전 셀 결과를 사용해 다음 셀 실행 가능</a:t>
            </a:r>
          </a:p>
          <a:p>
            <a:pPr lvl="1"/>
            <a:r>
              <a:rPr lang="ko-KR" altLang="en-US" dirty="0"/>
              <a:t>멀티미디어 지원 </a:t>
            </a:r>
            <a:r>
              <a:rPr lang="en-US" altLang="ko-KR" dirty="0"/>
              <a:t>: </a:t>
            </a:r>
            <a:r>
              <a:rPr lang="ko-KR" altLang="en-US" dirty="0" err="1"/>
              <a:t>코드뿐만</a:t>
            </a:r>
            <a:r>
              <a:rPr lang="ko-KR" altLang="en-US" dirty="0"/>
              <a:t> 아니라 이미지</a:t>
            </a:r>
            <a:r>
              <a:rPr lang="en-US" altLang="ko-KR" dirty="0"/>
              <a:t>, </a:t>
            </a:r>
            <a:r>
              <a:rPr lang="ko-KR" altLang="en-US" dirty="0"/>
              <a:t>수식</a:t>
            </a:r>
            <a:r>
              <a:rPr lang="en-US" altLang="ko-KR" dirty="0"/>
              <a:t>, </a:t>
            </a:r>
            <a:r>
              <a:rPr lang="ko-KR" altLang="en-US" dirty="0"/>
              <a:t>그래프 등 다양한 미디어 삽입 가능</a:t>
            </a:r>
          </a:p>
          <a:p>
            <a:pPr lvl="1"/>
            <a:r>
              <a:rPr lang="ko-KR" altLang="en-US" dirty="0"/>
              <a:t>데이터 시각화 </a:t>
            </a:r>
            <a:r>
              <a:rPr lang="en-US" altLang="ko-KR" dirty="0"/>
              <a:t>: </a:t>
            </a:r>
            <a:r>
              <a:rPr lang="ko-KR" altLang="en-US" dirty="0"/>
              <a:t>다양한 시각화 라이브러리를 활용해 데이터 시각화</a:t>
            </a:r>
            <a:r>
              <a:rPr lang="en-US" altLang="ko-KR" dirty="0"/>
              <a:t>, </a:t>
            </a:r>
            <a:r>
              <a:rPr lang="ko-KR" altLang="en-US" dirty="0"/>
              <a:t>그래프 생성 가능</a:t>
            </a:r>
          </a:p>
          <a:p>
            <a:pPr lvl="1"/>
            <a:r>
              <a:rPr lang="ko-KR" altLang="en-US" dirty="0"/>
              <a:t>문서화 및 공유 </a:t>
            </a:r>
            <a:r>
              <a:rPr lang="en-US" altLang="ko-KR" dirty="0"/>
              <a:t>: </a:t>
            </a:r>
            <a:r>
              <a:rPr lang="ko-KR" altLang="en-US" dirty="0"/>
              <a:t>코드와 텍스트를 함께 사용해 프로젝트의 설명서나 리포트를 작성하고 결과물 쉽게 공유 가능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14715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1.6.3 </a:t>
            </a:r>
            <a:r>
              <a:rPr lang="en-US" altLang="ko-KR" dirty="0" err="1"/>
              <a:t>Jupyter</a:t>
            </a:r>
            <a:r>
              <a:rPr lang="en-US" altLang="ko-KR" dirty="0"/>
              <a:t> </a:t>
            </a:r>
            <a:r>
              <a:rPr lang="ko-KR" altLang="en-US" dirty="0"/>
              <a:t>노트북과 온라인 개발환경</a:t>
            </a:r>
            <a:endParaRPr lang="en-US" altLang="ko-KR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다양한 파이썬 사용 환경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CF4DE5-351A-F94B-49E5-6038FE759AB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/>
              <a:t>구글 </a:t>
            </a:r>
            <a:r>
              <a:rPr lang="ko-KR" altLang="en-US" b="1" dirty="0" err="1"/>
              <a:t>코랩</a:t>
            </a:r>
            <a:r>
              <a:rPr lang="en-US" altLang="ko-KR" b="1" dirty="0"/>
              <a:t>, Google </a:t>
            </a:r>
            <a:r>
              <a:rPr lang="en-US" altLang="ko-KR" b="1" dirty="0" err="1"/>
              <a:t>Colab</a:t>
            </a:r>
            <a:endParaRPr lang="en-US" altLang="ko-KR" b="1" dirty="0"/>
          </a:p>
          <a:p>
            <a:r>
              <a:rPr lang="ko-KR" altLang="en-US" dirty="0"/>
              <a:t>웹 브라우저를 통해 파이썬 코드를 작성하고 실행할 수 있는 온라인 </a:t>
            </a:r>
            <a:r>
              <a:rPr lang="en-US" altLang="ko-KR" dirty="0"/>
              <a:t>IDE</a:t>
            </a:r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무료 및 클라우드 기반의 접근 편의성 </a:t>
            </a:r>
            <a:r>
              <a:rPr lang="en-US" altLang="ko-KR" dirty="0"/>
              <a:t>: </a:t>
            </a:r>
            <a:r>
              <a:rPr lang="ko-KR" altLang="en-US" dirty="0" err="1"/>
              <a:t>코랩은</a:t>
            </a:r>
            <a:r>
              <a:rPr lang="ko-KR" altLang="en-US" dirty="0"/>
              <a:t> 무료로 제공</a:t>
            </a:r>
            <a:r>
              <a:rPr lang="en-US" altLang="ko-KR" dirty="0"/>
              <a:t>, </a:t>
            </a:r>
            <a:r>
              <a:rPr lang="ko-KR" altLang="en-US" dirty="0"/>
              <a:t>구글의 클라우드 인프라를 기반으로 동작하므로 별도의 설치과정 없이 웹 브라우저에서 바로 사용 가능</a:t>
            </a:r>
          </a:p>
          <a:p>
            <a:pPr lvl="1"/>
            <a:r>
              <a:rPr lang="en-US" altLang="ko-KR" dirty="0"/>
              <a:t>GPU </a:t>
            </a:r>
            <a:r>
              <a:rPr lang="ko-KR" altLang="en-US" dirty="0"/>
              <a:t>및 </a:t>
            </a:r>
            <a:r>
              <a:rPr lang="en-US" altLang="ko-KR" dirty="0"/>
              <a:t>TPU </a:t>
            </a:r>
            <a:r>
              <a:rPr lang="ko-KR" altLang="en-US" dirty="0"/>
              <a:t>지원 </a:t>
            </a:r>
            <a:r>
              <a:rPr lang="en-US" altLang="ko-KR" dirty="0"/>
              <a:t>: GPU</a:t>
            </a:r>
            <a:r>
              <a:rPr lang="ko-KR" altLang="en-US" dirty="0"/>
              <a:t>와 </a:t>
            </a:r>
            <a:r>
              <a:rPr lang="en-US" altLang="ko-KR" dirty="0"/>
              <a:t>TPU</a:t>
            </a:r>
            <a:r>
              <a:rPr lang="ko-KR" altLang="en-US" dirty="0"/>
              <a:t>를 사용해 빠른 수치 계산과 딥러닝 모델 학습 가능</a:t>
            </a:r>
          </a:p>
          <a:p>
            <a:pPr lvl="1"/>
            <a:r>
              <a:rPr lang="ko-KR" altLang="en-US" dirty="0"/>
              <a:t>사전 설치된 라이브러리 </a:t>
            </a:r>
            <a:r>
              <a:rPr lang="en-US" altLang="ko-KR" dirty="0"/>
              <a:t>: </a:t>
            </a:r>
            <a:r>
              <a:rPr lang="ko-KR" altLang="en-US" dirty="0"/>
              <a:t>다양한 데이터 분석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/>
              <a:t>딥러닝 라이브러리를 사전에 설치하여 제공함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주피터 노트북 호환 </a:t>
            </a:r>
            <a:r>
              <a:rPr lang="en-US" altLang="ko-KR" dirty="0"/>
              <a:t>: </a:t>
            </a:r>
            <a:r>
              <a:rPr lang="ko-KR" altLang="en-US" dirty="0"/>
              <a:t>주피터노트북에서 작성된 코드를 그대로 실행할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데이터 시각화와 문서화 </a:t>
            </a:r>
            <a:r>
              <a:rPr lang="en-US" altLang="ko-KR" dirty="0"/>
              <a:t>: </a:t>
            </a:r>
            <a:r>
              <a:rPr lang="ko-KR" altLang="en-US" dirty="0"/>
              <a:t>풍부한 기능을 제공하고 코드와 결과물을 함께 포함하여 보기 좋은 문서를 작성하고 공유할 수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35715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4845911" y="1144617"/>
            <a:ext cx="6819099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4645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13172</TotalTime>
  <Words>2008</Words>
  <Application>Microsoft Office PowerPoint</Application>
  <PresentationFormat>와이드스크린</PresentationFormat>
  <Paragraphs>294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D2Coding</vt:lpstr>
      <vt:lpstr>맑은 고딕</vt:lpstr>
      <vt:lpstr>Algerian</vt:lpstr>
      <vt:lpstr>Arial</vt:lpstr>
      <vt:lpstr>Office 테마</vt:lpstr>
      <vt:lpstr>PowerPoint 프레젠테이션</vt:lpstr>
      <vt:lpstr>PowerPoint 프레젠테이션</vt:lpstr>
      <vt:lpstr>1.1 일상 생활에서 느끼는 프로그램과 소프트웨어</vt:lpstr>
      <vt:lpstr>1.1 일상 생활에서 느끼는 프로그램과 소프트웨어</vt:lpstr>
      <vt:lpstr>1.1 일상 생활에서 느끼는 프로그램과 소프트웨어</vt:lpstr>
      <vt:lpstr>1.1 일상 생활에서 느끼는 프로그램과 소프트웨어</vt:lpstr>
      <vt:lpstr>1.1 일상 생활에서 느끼는 프로그램과 소프트웨어</vt:lpstr>
      <vt:lpstr>1.1 일상 생활에서 느끼는 프로그램과 소프트웨어</vt:lpstr>
      <vt:lpstr>1.1 일상 생활에서 느끼는 프로그램과 소프트웨어</vt:lpstr>
      <vt:lpstr>1.1 일상 생활에서 느끼는 프로그램과 소프트웨어</vt:lpstr>
      <vt:lpstr>1.2 파이썬 소개</vt:lpstr>
      <vt:lpstr>1.2 파이썬 소개</vt:lpstr>
      <vt:lpstr>1.2 파이썬 소개</vt:lpstr>
      <vt:lpstr>1.2 파이썬 소개</vt:lpstr>
      <vt:lpstr>1.2 파이썬 소개</vt:lpstr>
      <vt:lpstr>1.2 파이썬 소개</vt:lpstr>
      <vt:lpstr>1.2 파이썬 소개</vt:lpstr>
      <vt:lpstr>1.2 파이썬 소개</vt:lpstr>
      <vt:lpstr>1.3 파이썬 설치와 사용</vt:lpstr>
      <vt:lpstr>1.3 파이썬 설치와 사용</vt:lpstr>
      <vt:lpstr>1.3 파이썬 설치와 사용</vt:lpstr>
      <vt:lpstr>1.3 파이썬 설치와 사용</vt:lpstr>
      <vt:lpstr>1.3 파이썬 설치와 사용</vt:lpstr>
      <vt:lpstr>1.3 파이썬 설치와 사용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1.4 파이썬 대화창 사용하기</vt:lpstr>
      <vt:lpstr>1.5 Hello World 출력하기</vt:lpstr>
      <vt:lpstr>1.5 Hello World 출력하기</vt:lpstr>
      <vt:lpstr>1.5 Hello World 출력하기</vt:lpstr>
      <vt:lpstr>1.5 Hello World 출력하기</vt:lpstr>
      <vt:lpstr>1.5 Hello World 출력하기</vt:lpstr>
      <vt:lpstr>1.5 Hello World 출력하기</vt:lpstr>
      <vt:lpstr>1.6 다양한 파이썬 사용 환경</vt:lpstr>
      <vt:lpstr>1.6 다양한 파이썬 사용 환경</vt:lpstr>
      <vt:lpstr>1.6 다양한 파이썬 사용 환경</vt:lpstr>
      <vt:lpstr>1.6 다양한 파이썬 사용 환경</vt:lpstr>
      <vt:lpstr>1.6 다양한 파이썬 사용 환경</vt:lpstr>
      <vt:lpstr>1.6 다양한 파이썬 사용 환경</vt:lpstr>
      <vt:lpstr>1.6 다양한 파이썬 사용 환경</vt:lpstr>
      <vt:lpstr>1.6 다양한 파이썬 사용 환경</vt:lpstr>
      <vt:lpstr>1.6 다양한 파이썬 사용 환경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USER</cp:lastModifiedBy>
  <cp:revision>145</cp:revision>
  <dcterms:created xsi:type="dcterms:W3CDTF">2019-07-01T11:22:40Z</dcterms:created>
  <dcterms:modified xsi:type="dcterms:W3CDTF">2024-07-31T13:20:15Z</dcterms:modified>
</cp:coreProperties>
</file>