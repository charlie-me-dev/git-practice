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8" r:id="rId2"/>
    <p:sldId id="257" r:id="rId3"/>
    <p:sldId id="258" r:id="rId4"/>
    <p:sldId id="365" r:id="rId5"/>
    <p:sldId id="259" r:id="rId6"/>
    <p:sldId id="260" r:id="rId7"/>
    <p:sldId id="261" r:id="rId8"/>
    <p:sldId id="262" r:id="rId9"/>
    <p:sldId id="344" r:id="rId10"/>
    <p:sldId id="345" r:id="rId11"/>
    <p:sldId id="397" r:id="rId12"/>
    <p:sldId id="398" r:id="rId13"/>
    <p:sldId id="399" r:id="rId14"/>
    <p:sldId id="347" r:id="rId15"/>
    <p:sldId id="400" r:id="rId16"/>
    <p:sldId id="401" r:id="rId17"/>
    <p:sldId id="265" r:id="rId18"/>
    <p:sldId id="266" r:id="rId19"/>
    <p:sldId id="402" r:id="rId20"/>
    <p:sldId id="349" r:id="rId21"/>
    <p:sldId id="403" r:id="rId22"/>
    <p:sldId id="404" r:id="rId23"/>
    <p:sldId id="367" r:id="rId24"/>
    <p:sldId id="268" r:id="rId25"/>
    <p:sldId id="405" r:id="rId26"/>
    <p:sldId id="406" r:id="rId27"/>
    <p:sldId id="369" r:id="rId28"/>
    <p:sldId id="407" r:id="rId29"/>
    <p:sldId id="273" r:id="rId30"/>
    <p:sldId id="274" r:id="rId31"/>
    <p:sldId id="275" r:id="rId32"/>
    <p:sldId id="277" r:id="rId33"/>
    <p:sldId id="278" r:id="rId34"/>
    <p:sldId id="352" r:id="rId35"/>
    <p:sldId id="408" r:id="rId36"/>
    <p:sldId id="409" r:id="rId37"/>
    <p:sldId id="276" r:id="rId38"/>
    <p:sldId id="410" r:id="rId39"/>
    <p:sldId id="279" r:id="rId40"/>
    <p:sldId id="280" r:id="rId41"/>
    <p:sldId id="281" r:id="rId42"/>
    <p:sldId id="411" r:id="rId43"/>
    <p:sldId id="412" r:id="rId44"/>
    <p:sldId id="282" r:id="rId45"/>
    <p:sldId id="283" r:id="rId46"/>
    <p:sldId id="286" r:id="rId47"/>
    <p:sldId id="413" r:id="rId48"/>
    <p:sldId id="414" r:id="rId49"/>
    <p:sldId id="415" r:id="rId50"/>
    <p:sldId id="416" r:id="rId51"/>
    <p:sldId id="285" r:id="rId52"/>
    <p:sldId id="290" r:id="rId53"/>
    <p:sldId id="288" r:id="rId54"/>
    <p:sldId id="291" r:id="rId55"/>
    <p:sldId id="375" r:id="rId56"/>
    <p:sldId id="417" r:id="rId57"/>
    <p:sldId id="396" r:id="rId5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3" clrIdx="0">
    <p:extLst>
      <p:ext uri="{19B8F6BF-5375-455C-9EA6-DF929625EA0E}">
        <p15:presenceInfo xmlns:p15="http://schemas.microsoft.com/office/powerpoint/2012/main" userId="dongupa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99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4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3495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36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4285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 dirty="0" smtClean="0">
                <a:solidFill>
                  <a:schemeClr val="accent6">
                    <a:lumMod val="50000"/>
                  </a:schemeClr>
                </a:solidFill>
              </a:rPr>
              <a:t>3</a:t>
            </a:r>
            <a:r>
              <a:rPr lang="ko-KR" altLang="en-US" sz="3600" b="1" dirty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dirty="0"/>
              <a:t> </a:t>
            </a:r>
            <a:r>
              <a:rPr lang="ko-KR" altLang="en-US" sz="3600" b="1" dirty="0" err="1" smtClean="0"/>
              <a:t>조건문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2631243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540158" y="517586"/>
            <a:ext cx="11054621" cy="5777447"/>
            <a:chOff x="1043098" y="4462353"/>
            <a:chExt cx="6985286" cy="1832681"/>
          </a:xfrm>
        </p:grpSpPr>
        <p:sp>
          <p:nvSpPr>
            <p:cNvPr id="7" name="모서리가 둥근 직사각형 2"/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" name="그룹 7"/>
            <p:cNvGrpSpPr/>
            <p:nvPr/>
          </p:nvGrpSpPr>
          <p:grpSpPr>
            <a:xfrm>
              <a:off x="1043608" y="4481073"/>
              <a:ext cx="6984776" cy="1813961"/>
              <a:chOff x="643260" y="2641203"/>
              <a:chExt cx="6984776" cy="1813961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 dirty="0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0" name="직사각형 32"/>
              <p:cNvSpPr/>
              <p:nvPr/>
            </p:nvSpPr>
            <p:spPr>
              <a:xfrm>
                <a:off x="643260" y="2806369"/>
                <a:ext cx="6984776" cy="1648795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" name="직사각형 23"/>
              <p:cNvSpPr>
                <a:spLocks noChangeArrowheads="1"/>
              </p:cNvSpPr>
              <p:nvPr/>
            </p:nvSpPr>
            <p:spPr bwMode="auto">
              <a:xfrm>
                <a:off x="859284" y="2856461"/>
                <a:ext cx="6696744" cy="566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순차적 실행과 </a:t>
                </a:r>
                <a:r>
                  <a:rPr lang="ko-KR" altLang="en-US" sz="1600" dirty="0" err="1"/>
                  <a:t>조건문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반복문과</a:t>
                </a:r>
                <a:r>
                  <a:rPr lang="ko-KR" altLang="en-US" sz="1600" dirty="0"/>
                  <a:t> 같은 제어문의 차이를 이해하고 활용할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 err="1"/>
                  <a:t>조건문의</a:t>
                </a:r>
                <a:r>
                  <a:rPr lang="ko-KR" altLang="en-US" sz="1600" dirty="0"/>
                  <a:t> 개념과 사용법에 대해 이해한다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조건식에 대해 알아보고 복잡한 조건식을 구성할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블록과 들여쓰기에 대해 이해하고 중첩된 블록을 구성할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 dirty="0"/>
                  <a:t>if </a:t>
                </a:r>
                <a:r>
                  <a:rPr lang="ko-KR" altLang="en-US" sz="1600" dirty="0"/>
                  <a:t>문과 </a:t>
                </a:r>
                <a:r>
                  <a:rPr lang="en-US" altLang="ko-KR" sz="1600" dirty="0"/>
                  <a:t>if-else </a:t>
                </a:r>
                <a:r>
                  <a:rPr lang="ko-KR" altLang="en-US" sz="1600" dirty="0"/>
                  <a:t>문 등 다양한 </a:t>
                </a:r>
                <a:r>
                  <a:rPr lang="ko-KR" altLang="en-US" sz="1600" dirty="0" err="1"/>
                  <a:t>조건문에</a:t>
                </a:r>
                <a:r>
                  <a:rPr lang="ko-KR" altLang="en-US" sz="1600" dirty="0"/>
                  <a:t> 대해 이해한다</a:t>
                </a:r>
                <a:r>
                  <a:rPr lang="en-US" altLang="ko-KR" sz="1600" dirty="0"/>
                  <a:t>. </a:t>
                </a:r>
                <a:endParaRPr lang="en-US" altLang="ko-KR" sz="1600" spc="-1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2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14" y="2753014"/>
            <a:ext cx="8169280" cy="276725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순차적 구조</a:t>
            </a:r>
            <a:endParaRPr lang="en-US" altLang="ko-KR" dirty="0"/>
          </a:p>
          <a:p>
            <a:pPr lvl="1"/>
            <a:r>
              <a:rPr lang="ko-KR" altLang="en-US" dirty="0"/>
              <a:t>먼저 나타나는 순서에 따라 실행되는 프로그래밍 언어의 문장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 err="1"/>
              <a:t>순차문</a:t>
            </a:r>
            <a:r>
              <a:rPr lang="en-US" altLang="ko-KR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sequential statements</a:t>
            </a:r>
            <a:endParaRPr lang="ko-KR" altLang="en-US" b="1" baseline="30000" dirty="0">
              <a:solidFill>
                <a:schemeClr val="accent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아래쪽 화살표 3"/>
          <p:cNvSpPr/>
          <p:nvPr/>
        </p:nvSpPr>
        <p:spPr>
          <a:xfrm>
            <a:off x="423333" y="3347691"/>
            <a:ext cx="330200" cy="193550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t="306" r="28332" b="16358"/>
          <a:stretch/>
        </p:blipFill>
        <p:spPr>
          <a:xfrm>
            <a:off x="7488881" y="4226854"/>
            <a:ext cx="3183267" cy="1800312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7488881" y="3057304"/>
            <a:ext cx="4056112" cy="1948327"/>
            <a:chOff x="7488881" y="3200739"/>
            <a:chExt cx="4056112" cy="1948327"/>
          </a:xfrm>
        </p:grpSpPr>
        <p:sp>
          <p:nvSpPr>
            <p:cNvPr id="9" name="TextBox 8"/>
            <p:cNvSpPr txBox="1"/>
            <p:nvPr/>
          </p:nvSpPr>
          <p:spPr>
            <a:xfrm>
              <a:off x="7488881" y="3200739"/>
              <a:ext cx="4056112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0000"/>
                  </a:solidFill>
                </a:rPr>
                <a:t>변수의 값은 실행 순서에 따라 순차적으로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100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에서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200, 300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으로 변한다</a:t>
              </a:r>
              <a:endParaRPr lang="ko-KR" altLang="en-US" sz="1400" dirty="0"/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 flipH="1">
              <a:off x="8001825" y="3785514"/>
              <a:ext cx="485470" cy="13635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719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EB60B-8F77-7C1B-8FFD-6C3BBFDF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 err="1"/>
              <a:t>순차문</a:t>
            </a:r>
            <a:r>
              <a:rPr lang="en-US" altLang="ko-KR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sequential statements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177" y="1512916"/>
            <a:ext cx="6677134" cy="3683144"/>
          </a:xfrm>
          <a:prstGeom prst="rect">
            <a:avLst/>
          </a:prstGeom>
        </p:spPr>
      </p:pic>
      <p:sp>
        <p:nvSpPr>
          <p:cNvPr id="7" name="아래쪽 화살표 2"/>
          <p:cNvSpPr/>
          <p:nvPr/>
        </p:nvSpPr>
        <p:spPr>
          <a:xfrm>
            <a:off x="2842183" y="1582189"/>
            <a:ext cx="237066" cy="309638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825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순차문</a:t>
            </a:r>
            <a:r>
              <a:rPr lang="en-US" altLang="ko-KR" sz="2400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sequential statements</a:t>
            </a:r>
            <a:r>
              <a:rPr lang="ko-KR" altLang="en-US" sz="2400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dirty="0"/>
              <a:t>이외의 </a:t>
            </a:r>
            <a:r>
              <a:rPr lang="ko-KR" altLang="en-US" dirty="0" err="1"/>
              <a:t>흐름문</a:t>
            </a:r>
            <a:r>
              <a:rPr lang="en-US" altLang="ko-KR" sz="2400" b="1" baseline="300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flow statements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 err="1"/>
              <a:t>순차문</a:t>
            </a:r>
            <a:r>
              <a:rPr lang="en-US" altLang="ko-KR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sequential statements</a:t>
            </a:r>
            <a:endParaRPr lang="ko-KR" altLang="en-US" sz="3200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9C63473-133B-EA19-6953-320B34F1BA1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제어문</a:t>
            </a:r>
            <a:r>
              <a:rPr lang="en-US" altLang="ko-KR" b="1" baseline="30000" dirty="0">
                <a:solidFill>
                  <a:schemeClr val="accent5"/>
                </a:solidFill>
              </a:rPr>
              <a:t>control statements </a:t>
            </a:r>
            <a:r>
              <a:rPr lang="en-US" altLang="ko-KR" dirty="0"/>
              <a:t>: </a:t>
            </a:r>
            <a:r>
              <a:rPr lang="ko-KR" altLang="en-US" dirty="0"/>
              <a:t>프로그램의 흐름을 제어하는 역할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chemeClr val="accent5"/>
                </a:solidFill>
              </a:rPr>
              <a:t>조건문</a:t>
            </a:r>
            <a:r>
              <a:rPr lang="en-US" altLang="ko-KR" b="1" baseline="30000" dirty="0">
                <a:solidFill>
                  <a:schemeClr val="accent5"/>
                </a:solidFill>
              </a:rPr>
              <a:t>conditional statements</a:t>
            </a:r>
          </a:p>
          <a:p>
            <a:pPr marL="358775" lvl="4" indent="179388">
              <a:spcBef>
                <a:spcPts val="1000"/>
              </a:spcBef>
            </a:pPr>
            <a:r>
              <a:rPr lang="en-US" altLang="ko-KR" dirty="0"/>
              <a:t>if </a:t>
            </a:r>
            <a:r>
              <a:rPr lang="ko-KR" altLang="en-US" dirty="0"/>
              <a:t>문</a:t>
            </a:r>
            <a:r>
              <a:rPr lang="en-US" altLang="ko-KR" dirty="0"/>
              <a:t>, if-else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 err="1">
                <a:solidFill>
                  <a:schemeClr val="accent5"/>
                </a:solidFill>
              </a:rPr>
              <a:t>반복문</a:t>
            </a:r>
            <a:endParaRPr lang="en-US" altLang="ko-KR" dirty="0">
              <a:solidFill>
                <a:schemeClr val="accent5"/>
              </a:solidFill>
            </a:endParaRPr>
          </a:p>
          <a:p>
            <a:pPr marL="538163" lvl="4" indent="-179388">
              <a:spcBef>
                <a:spcPts val="1000"/>
              </a:spcBef>
            </a:pPr>
            <a:r>
              <a:rPr lang="en-US" altLang="ko-KR" dirty="0"/>
              <a:t>for </a:t>
            </a:r>
            <a:r>
              <a:rPr lang="ko-KR" altLang="en-US" dirty="0"/>
              <a:t>문</a:t>
            </a:r>
            <a:r>
              <a:rPr lang="en-US" altLang="ko-KR" dirty="0"/>
              <a:t>, while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chemeClr val="accent5"/>
                </a:solidFill>
              </a:rPr>
              <a:t>반복문의 흐름 변경</a:t>
            </a:r>
            <a:endParaRPr lang="en-US" altLang="ko-KR" dirty="0">
              <a:solidFill>
                <a:schemeClr val="accent5"/>
              </a:solidFill>
            </a:endParaRPr>
          </a:p>
          <a:p>
            <a:pPr marL="538163" lvl="4" indent="-179388">
              <a:spcBef>
                <a:spcPts val="1000"/>
              </a:spcBef>
            </a:pPr>
            <a:r>
              <a:rPr lang="en-US" altLang="ko-KR" dirty="0"/>
              <a:t>Break </a:t>
            </a:r>
            <a:r>
              <a:rPr lang="ko-KR" altLang="en-US" dirty="0"/>
              <a:t>문</a:t>
            </a:r>
            <a:r>
              <a:rPr lang="en-US" altLang="ko-KR" dirty="0"/>
              <a:t>, continue </a:t>
            </a:r>
            <a:r>
              <a:rPr lang="ko-KR" altLang="en-US" dirty="0"/>
              <a:t>문</a:t>
            </a:r>
          </a:p>
          <a:p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5141430" y="2209882"/>
            <a:ext cx="6000404" cy="1346725"/>
            <a:chOff x="5544589" y="2685011"/>
            <a:chExt cx="6000404" cy="1346725"/>
          </a:xfrm>
        </p:grpSpPr>
        <p:sp>
          <p:nvSpPr>
            <p:cNvPr id="5" name="TextBox 4"/>
            <p:cNvSpPr txBox="1"/>
            <p:nvPr/>
          </p:nvSpPr>
          <p:spPr>
            <a:xfrm>
              <a:off x="7488881" y="3200739"/>
              <a:ext cx="4056112" cy="8309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0000"/>
                  </a:solidFill>
                </a:rPr>
                <a:t>순차적 </a:t>
              </a:r>
              <a:r>
                <a:rPr lang="ko-KR" altLang="en-US" sz="1600" b="1" dirty="0" err="1">
                  <a:solidFill>
                    <a:srgbClr val="FF0000"/>
                  </a:solidFill>
                </a:rPr>
                <a:t>실행문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 말고도 조건문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, </a:t>
              </a:r>
              <a:r>
                <a:rPr lang="ko-KR" altLang="en-US" sz="1600" b="1" dirty="0" err="1">
                  <a:solidFill>
                    <a:srgbClr val="FF0000"/>
                  </a:solidFill>
                </a:rPr>
                <a:t>제어문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 등의 다양한 문장으로 복잡한 일을 수행할 수 있다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.</a:t>
              </a:r>
              <a:endParaRPr lang="ko-KR" altLang="en-US" sz="1400" dirty="0"/>
            </a:p>
          </p:txBody>
        </p:sp>
        <p:cxnSp>
          <p:nvCxnSpPr>
            <p:cNvPr id="6" name="직선 화살표 연결선 5"/>
            <p:cNvCxnSpPr/>
            <p:nvPr/>
          </p:nvCxnSpPr>
          <p:spPr>
            <a:xfrm flipH="1" flipV="1">
              <a:off x="5544589" y="2685011"/>
              <a:ext cx="1944292" cy="6345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1853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9000"/>
          <a:stretch/>
        </p:blipFill>
        <p:spPr>
          <a:xfrm>
            <a:off x="2239056" y="2761123"/>
            <a:ext cx="7119159" cy="323584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조건문</a:t>
            </a:r>
            <a:r>
              <a:rPr lang="en-US" altLang="ko-KR" b="1" baseline="30000" dirty="0">
                <a:solidFill>
                  <a:schemeClr val="accent5"/>
                </a:solidFill>
              </a:rPr>
              <a:t>conditional statements</a:t>
            </a:r>
          </a:p>
          <a:p>
            <a:pPr lvl="1"/>
            <a:r>
              <a:rPr lang="ko-KR" altLang="en-US" dirty="0"/>
              <a:t>특정한 조건에 따라 실행 내용이 달라지는 문장 형태</a:t>
            </a:r>
            <a:endParaRPr lang="en-US" altLang="ko-KR" dirty="0"/>
          </a:p>
          <a:p>
            <a:pPr lvl="1"/>
            <a:r>
              <a:rPr lang="en-US" dirty="0" err="1"/>
              <a:t>조건식은</a:t>
            </a:r>
            <a:r>
              <a:rPr lang="en-US" dirty="0"/>
              <a:t> True </a:t>
            </a:r>
            <a:r>
              <a:rPr lang="en-US" dirty="0" err="1"/>
              <a:t>혹은</a:t>
            </a:r>
            <a:r>
              <a:rPr lang="en-US" dirty="0"/>
              <a:t> </a:t>
            </a:r>
            <a:r>
              <a:rPr lang="en-US" dirty="0" err="1"/>
              <a:t>False를</a:t>
            </a:r>
            <a:r>
              <a:rPr lang="en-US" dirty="0"/>
              <a:t> </a:t>
            </a:r>
            <a:r>
              <a:rPr lang="en-US" dirty="0" err="1"/>
              <a:t>반환</a:t>
            </a:r>
            <a:endParaRPr lang="en-US" dirty="0"/>
          </a:p>
          <a:p>
            <a:pPr lvl="1"/>
            <a:r>
              <a:rPr lang="en-US" dirty="0"/>
              <a:t>True</a:t>
            </a:r>
            <a:r>
              <a:rPr lang="ko-KR" altLang="en-US" dirty="0"/>
              <a:t>면 </a:t>
            </a:r>
            <a:r>
              <a:rPr lang="ko-KR" altLang="en-US" dirty="0" err="1"/>
              <a:t>실행문</a:t>
            </a:r>
            <a:r>
              <a:rPr lang="ko-KR" altLang="en-US" dirty="0"/>
              <a:t> </a:t>
            </a:r>
            <a:r>
              <a:rPr lang="en-US" altLang="ko-KR" dirty="0"/>
              <a:t>1, False</a:t>
            </a:r>
            <a:r>
              <a:rPr lang="ko-KR" altLang="en-US" dirty="0"/>
              <a:t>면 </a:t>
            </a:r>
            <a:r>
              <a:rPr lang="ko-KR" altLang="en-US" dirty="0" err="1"/>
              <a:t>실행문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를 실행</a:t>
            </a:r>
            <a:endParaRPr 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 err="1"/>
              <a:t>조건문</a:t>
            </a:r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6606988" y="2047153"/>
            <a:ext cx="5065059" cy="1081291"/>
            <a:chOff x="6873886" y="1301216"/>
            <a:chExt cx="7018587" cy="1498331"/>
          </a:xfrm>
        </p:grpSpPr>
        <p:sp>
          <p:nvSpPr>
            <p:cNvPr id="18" name="TextBox 17"/>
            <p:cNvSpPr txBox="1"/>
            <p:nvPr/>
          </p:nvSpPr>
          <p:spPr>
            <a:xfrm>
              <a:off x="7285639" y="1301216"/>
              <a:ext cx="6606834" cy="11941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흐름도 </a:t>
              </a:r>
              <a:r>
                <a:rPr lang="en-US" altLang="ko-KR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ko-KR" altLang="en-US" sz="1600" b="1" dirty="0">
                  <a:solidFill>
                    <a:srgbClr val="FF0000"/>
                  </a:solidFill>
                </a:rPr>
                <a:t>이와 같은 작업의 흐름을 나타내는 그림을 흐름도라고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한다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.</a:t>
              </a:r>
              <a:endParaRPr lang="ko-KR" altLang="en-US" sz="1400" dirty="0"/>
            </a:p>
          </p:txBody>
        </p:sp>
        <p:cxnSp>
          <p:nvCxnSpPr>
            <p:cNvPr id="19" name="직선 화살표 연결선 18"/>
            <p:cNvCxnSpPr>
              <a:cxnSpLocks/>
              <a:stCxn id="18" idx="2"/>
            </p:cNvCxnSpPr>
            <p:nvPr/>
          </p:nvCxnSpPr>
          <p:spPr>
            <a:xfrm flipH="1">
              <a:off x="6873886" y="2495365"/>
              <a:ext cx="3715170" cy="3041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9342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조건문의 구체적 상황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A24F74-D628-D5C4-D0CB-AC720C27AD8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상황 </a:t>
            </a:r>
            <a:r>
              <a:rPr lang="en-US" altLang="ko-KR" dirty="0"/>
              <a:t>1 : </a:t>
            </a:r>
            <a:r>
              <a:rPr lang="ko-KR" altLang="en-US" dirty="0"/>
              <a:t>나이가 </a:t>
            </a:r>
            <a:r>
              <a:rPr lang="en-US" altLang="ko-KR" dirty="0"/>
              <a:t>20</a:t>
            </a:r>
            <a:r>
              <a:rPr lang="ko-KR" altLang="en-US" dirty="0"/>
              <a:t>세 미만이면 ‘청소년 </a:t>
            </a:r>
            <a:r>
              <a:rPr lang="ko-KR" altLang="en-US" dirty="0" err="1"/>
              <a:t>할인’을</a:t>
            </a:r>
            <a:r>
              <a:rPr lang="ko-KR" altLang="en-US" dirty="0"/>
              <a:t> 출력하는 기능</a:t>
            </a:r>
          </a:p>
          <a:p>
            <a:pPr fontAlgn="base"/>
            <a:r>
              <a:rPr lang="ko-KR" altLang="en-US" dirty="0"/>
              <a:t>상황 </a:t>
            </a:r>
            <a:r>
              <a:rPr lang="en-US" altLang="ko-KR" dirty="0"/>
              <a:t>2 : 1,000</a:t>
            </a:r>
            <a:r>
              <a:rPr lang="ko-KR" altLang="en-US" dirty="0"/>
              <a:t>걸음 이상을 걸으면 ‘목표 달성</a:t>
            </a:r>
            <a:r>
              <a:rPr lang="en-US" altLang="ko-KR" dirty="0"/>
              <a:t>’</a:t>
            </a:r>
            <a:r>
              <a:rPr lang="ko-KR" altLang="en-US" dirty="0"/>
              <a:t>을 출력하는 기능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73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603" y="1940452"/>
            <a:ext cx="6435230" cy="304183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78AA3B-2F3E-7406-40C3-E913EB76F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 </a:t>
            </a:r>
            <a:r>
              <a:rPr lang="ko-KR" altLang="en-US" dirty="0"/>
              <a:t>조건문의 사용법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07437" y="5394702"/>
            <a:ext cx="3478837" cy="33855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 err="1">
                <a:solidFill>
                  <a:srgbClr val="FF0000"/>
                </a:solidFill>
              </a:rPr>
              <a:t>파이썬은</a:t>
            </a:r>
            <a:r>
              <a:rPr lang="ko-KR" altLang="en-US" sz="1600" b="1" dirty="0">
                <a:solidFill>
                  <a:srgbClr val="FF0000"/>
                </a:solidFill>
              </a:rPr>
              <a:t> 들여쓰기가 아주 중요하다</a:t>
            </a:r>
            <a:endParaRPr lang="ko-KR" altLang="en-US" sz="1400" dirty="0"/>
          </a:p>
        </p:txBody>
      </p:sp>
      <p:cxnSp>
        <p:nvCxnSpPr>
          <p:cNvPr id="7" name="직선 화살표 연결선 6"/>
          <p:cNvCxnSpPr>
            <a:cxnSpLocks/>
            <a:stCxn id="6" idx="0"/>
          </p:cNvCxnSpPr>
          <p:nvPr/>
        </p:nvCxnSpPr>
        <p:spPr>
          <a:xfrm flipH="1" flipV="1">
            <a:off x="1913469" y="4419600"/>
            <a:ext cx="833387" cy="975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309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if </a:t>
            </a:r>
            <a:r>
              <a:rPr lang="ko-KR" altLang="en-US" dirty="0"/>
              <a:t>조건문의 사용법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89365A4-6581-2055-8C1E-A5FD47DB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4FC3E5-E250-E0FF-2BEF-91316C6F40F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상황 </a:t>
            </a:r>
            <a:r>
              <a:rPr lang="en-US" altLang="ko-KR" dirty="0"/>
              <a:t>1) -</a:t>
            </a:r>
            <a:r>
              <a:rPr lang="ko-KR" altLang="en-US" dirty="0"/>
              <a:t> 콜론</a:t>
            </a:r>
            <a:r>
              <a:rPr lang="en-US" altLang="ko-KR" dirty="0"/>
              <a:t>(:)</a:t>
            </a:r>
            <a:r>
              <a:rPr lang="ko-KR" altLang="en-US" dirty="0"/>
              <a:t>앞에 나타나는 조건문 절에서 </a:t>
            </a:r>
            <a:r>
              <a:rPr lang="en-US" altLang="ko-KR" dirty="0"/>
              <a:t>&lt; </a:t>
            </a:r>
            <a:r>
              <a:rPr lang="ko-KR" altLang="en-US" dirty="0"/>
              <a:t>연산자를 이용해 나이</a:t>
            </a:r>
            <a:r>
              <a:rPr lang="en-US" altLang="ko-KR" dirty="0"/>
              <a:t>(age)</a:t>
            </a:r>
            <a:r>
              <a:rPr lang="ko-KR" altLang="en-US" dirty="0"/>
              <a:t>가 </a:t>
            </a:r>
            <a:r>
              <a:rPr lang="en-US" altLang="ko-KR" dirty="0"/>
              <a:t>20</a:t>
            </a:r>
            <a:r>
              <a:rPr lang="ko-KR" altLang="en-US" dirty="0"/>
              <a:t>세 미만인 경우에만 </a:t>
            </a:r>
            <a:r>
              <a:rPr lang="en-US" altLang="ko-KR" dirty="0"/>
              <a:t>print(‘</a:t>
            </a:r>
            <a:r>
              <a:rPr lang="ko-KR" altLang="en-US" dirty="0"/>
              <a:t>청소년 할인’</a:t>
            </a:r>
            <a:r>
              <a:rPr lang="en-US" altLang="ko-KR" dirty="0"/>
              <a:t>)</a:t>
            </a:r>
            <a:r>
              <a:rPr lang="ko-KR" altLang="en-US" dirty="0"/>
              <a:t>이라는 코드를 실행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상황 </a:t>
            </a:r>
            <a:r>
              <a:rPr lang="en-US" altLang="ko-KR" dirty="0"/>
              <a:t>2) -</a:t>
            </a:r>
            <a:r>
              <a:rPr lang="ko-KR" altLang="en-US" dirty="0"/>
              <a:t> 조건문 절에서 </a:t>
            </a:r>
            <a:r>
              <a:rPr lang="en-US" altLang="ko-KR" dirty="0"/>
              <a:t>&gt;= </a:t>
            </a:r>
            <a:r>
              <a:rPr lang="ko-KR" altLang="en-US" dirty="0"/>
              <a:t>연산자를 이용해 걸음</a:t>
            </a:r>
            <a:r>
              <a:rPr lang="en-US" altLang="ko-KR" dirty="0"/>
              <a:t>(</a:t>
            </a:r>
            <a:r>
              <a:rPr lang="en-US" altLang="ko-KR" dirty="0" err="1"/>
              <a:t>walk_count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r>
              <a:rPr lang="en-US" altLang="ko-KR" dirty="0"/>
              <a:t>1,000 </a:t>
            </a:r>
            <a:r>
              <a:rPr lang="ko-KR" altLang="en-US" dirty="0"/>
              <a:t>이상이 되면 </a:t>
            </a:r>
            <a:r>
              <a:rPr lang="en-US" altLang="ko-KR" dirty="0"/>
              <a:t>print(‘</a:t>
            </a:r>
            <a:r>
              <a:rPr lang="ko-KR" altLang="en-US" dirty="0"/>
              <a:t>목표 달성’</a:t>
            </a:r>
            <a:r>
              <a:rPr lang="en-US" altLang="ko-KR" dirty="0"/>
              <a:t>)</a:t>
            </a:r>
            <a:r>
              <a:rPr lang="ko-KR" altLang="en-US" dirty="0"/>
              <a:t>이라는 코드를 실행</a:t>
            </a:r>
          </a:p>
          <a:p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57" y="1887763"/>
            <a:ext cx="8820283" cy="198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57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643A3-71C6-8D4D-647F-18FE2EA90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상황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  <a:endParaRPr 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2BB3589-D87A-DF5B-A014-33A4DE5C2978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07437" y="1787156"/>
            <a:ext cx="9230257" cy="346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79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05B82A-737F-8125-78CC-E25E70480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상황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2D56EF7-237F-F70F-8CE8-B732D9C5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03D07C-7D36-38E7-BB51-FBBF43DA52A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800165" y="1700809"/>
            <a:ext cx="5281849" cy="4345428"/>
          </a:xfrm>
        </p:spPr>
        <p:txBody>
          <a:bodyPr/>
          <a:lstStyle/>
          <a:p>
            <a:r>
              <a:rPr lang="en-US" altLang="ko-KR" dirty="0"/>
              <a:t>age</a:t>
            </a:r>
            <a:r>
              <a:rPr lang="ko-KR" altLang="en-US" dirty="0"/>
              <a:t>값에 </a:t>
            </a:r>
            <a:r>
              <a:rPr lang="en-US" altLang="ko-KR" dirty="0"/>
              <a:t>18</a:t>
            </a:r>
            <a:r>
              <a:rPr lang="ko-KR" altLang="en-US" dirty="0"/>
              <a:t>을 할당하면 </a:t>
            </a:r>
            <a:r>
              <a:rPr lang="en-US" altLang="ko-KR" dirty="0"/>
              <a:t>age&lt;20 </a:t>
            </a:r>
            <a:r>
              <a:rPr lang="ko-KR" altLang="en-US" dirty="0"/>
              <a:t>이라는 조건문이 참</a:t>
            </a:r>
            <a:r>
              <a:rPr lang="en-US" altLang="ko-KR" dirty="0"/>
              <a:t>(True)</a:t>
            </a:r>
            <a:r>
              <a:rPr lang="ko-KR" altLang="en-US" dirty="0"/>
              <a:t>이 되므로 </a:t>
            </a:r>
            <a:r>
              <a:rPr lang="en-US" altLang="ko-KR" dirty="0"/>
              <a:t>‘</a:t>
            </a:r>
            <a:r>
              <a:rPr lang="ko-KR" altLang="en-US" dirty="0"/>
              <a:t>청소년 할인</a:t>
            </a:r>
            <a:r>
              <a:rPr lang="en-US" altLang="ko-KR" dirty="0"/>
              <a:t>‘</a:t>
            </a:r>
            <a:r>
              <a:rPr lang="ko-KR" altLang="en-US" dirty="0"/>
              <a:t>이 화면에 출력</a:t>
            </a:r>
            <a:endParaRPr lang="en-US" altLang="ko-KR" dirty="0"/>
          </a:p>
          <a:p>
            <a:r>
              <a:rPr lang="en-US" altLang="ko-KR" dirty="0"/>
              <a:t>age </a:t>
            </a:r>
            <a:r>
              <a:rPr lang="ko-KR" altLang="en-US" dirty="0"/>
              <a:t>값이 </a:t>
            </a:r>
            <a:r>
              <a:rPr lang="en-US" altLang="ko-KR" dirty="0"/>
              <a:t>20 </a:t>
            </a:r>
            <a:r>
              <a:rPr lang="ko-KR" altLang="en-US" dirty="0"/>
              <a:t>이상이 되면 아무런 출력을 내보내지 않음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1805165"/>
            <a:ext cx="4537862" cy="399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25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05B82A-737F-8125-78CC-E25E70480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상황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2D56EF7-237F-F70F-8CE8-B732D9C5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F3D3F52-2C23-16E6-5177-C871F8354EF6}"/>
              </a:ext>
            </a:extLst>
          </p:cNvPr>
          <p:cNvGrpSpPr/>
          <p:nvPr/>
        </p:nvGrpSpPr>
        <p:grpSpPr>
          <a:xfrm>
            <a:off x="2842614" y="1792476"/>
            <a:ext cx="5880045" cy="4033572"/>
            <a:chOff x="1713061" y="650438"/>
            <a:chExt cx="8289786" cy="5686598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3061" y="1728739"/>
              <a:ext cx="8289786" cy="4608297"/>
            </a:xfrm>
            <a:prstGeom prst="rect">
              <a:avLst/>
            </a:prstGeom>
          </p:spPr>
        </p:pic>
        <p:cxnSp>
          <p:nvCxnSpPr>
            <p:cNvPr id="10" name="직선 화살표 연결선 9"/>
            <p:cNvCxnSpPr/>
            <p:nvPr/>
          </p:nvCxnSpPr>
          <p:spPr>
            <a:xfrm flipH="1">
              <a:off x="5063067" y="1056840"/>
              <a:ext cx="1504897" cy="55288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/>
            <p:cNvCxnSpPr/>
            <p:nvPr/>
          </p:nvCxnSpPr>
          <p:spPr>
            <a:xfrm>
              <a:off x="6638001" y="1050548"/>
              <a:ext cx="1930266" cy="76131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531887" y="650438"/>
              <a:ext cx="6154995" cy="4772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FF0000"/>
                  </a:solidFill>
                </a:rPr>
                <a:t>age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변수의 값에 따라 다른 흐름으로 이동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253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05B82A-737F-8125-78CC-E25E70480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상황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2D56EF7-237F-F70F-8CE8-B732D9C5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7" y="1916832"/>
            <a:ext cx="7966999" cy="2969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75813" y="3791601"/>
            <a:ext cx="3770584" cy="3077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</a:rPr>
              <a:t>age </a:t>
            </a:r>
            <a:r>
              <a:rPr lang="ko-KR" altLang="en-US" sz="1400" b="1" dirty="0">
                <a:solidFill>
                  <a:srgbClr val="FF0000"/>
                </a:solidFill>
              </a:rPr>
              <a:t>변수의 값이 </a:t>
            </a:r>
            <a:r>
              <a:rPr lang="en-US" altLang="ko-KR" sz="1400" b="1" dirty="0">
                <a:solidFill>
                  <a:srgbClr val="FF0000"/>
                </a:solidFill>
              </a:rPr>
              <a:t>24</a:t>
            </a:r>
            <a:r>
              <a:rPr lang="ko-KR" altLang="en-US" sz="1400" b="1" dirty="0">
                <a:solidFill>
                  <a:srgbClr val="FF0000"/>
                </a:solidFill>
              </a:rPr>
              <a:t>이면 아무런 출력도 없음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5694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상황 </a:t>
            </a:r>
            <a:r>
              <a:rPr lang="en-US" altLang="ko-KR" dirty="0"/>
              <a:t>2</a:t>
            </a:r>
            <a:endParaRPr lang="en-US" dirty="0"/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21B708-56B3-E881-F0BB-64FD25BBA22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걸음걸이 수</a:t>
            </a:r>
            <a:r>
              <a:rPr lang="en-US" altLang="ko-KR" dirty="0"/>
              <a:t>(</a:t>
            </a:r>
            <a:r>
              <a:rPr lang="en-US" altLang="ko-KR" dirty="0" err="1"/>
              <a:t>walk_count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en-US" altLang="ko-KR" dirty="0"/>
              <a:t>1,000 </a:t>
            </a:r>
            <a:r>
              <a:rPr lang="ko-KR" altLang="en-US" dirty="0"/>
              <a:t>이상인 경우에 ‘</a:t>
            </a:r>
            <a:r>
              <a:rPr lang="ko-KR" altLang="en-US" dirty="0" err="1"/>
              <a:t>목표달성’을</a:t>
            </a:r>
            <a:r>
              <a:rPr lang="ko-KR" altLang="en-US" dirty="0"/>
              <a:t> 출력하는 프로그램</a:t>
            </a:r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3549470-00E1-C6B8-05E5-DAB9D7C3B695}"/>
              </a:ext>
            </a:extLst>
          </p:cNvPr>
          <p:cNvGrpSpPr/>
          <p:nvPr/>
        </p:nvGrpSpPr>
        <p:grpSpPr>
          <a:xfrm>
            <a:off x="1291374" y="2473572"/>
            <a:ext cx="8779203" cy="3237636"/>
            <a:chOff x="819150" y="2497902"/>
            <a:chExt cx="9420046" cy="347396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9150" y="2497902"/>
              <a:ext cx="9420046" cy="2116960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" y="4894082"/>
              <a:ext cx="9420046" cy="1077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659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상황 </a:t>
            </a:r>
            <a:r>
              <a:rPr lang="en-US" altLang="ko-KR" dirty="0"/>
              <a:t>2</a:t>
            </a:r>
            <a:endParaRPr lang="en-US" dirty="0"/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  <a:endParaRPr 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21B708-56B3-E881-F0BB-64FD25BBA22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첫 줄을 </a:t>
            </a:r>
            <a:r>
              <a:rPr lang="en-US" altLang="ko-KR" dirty="0" err="1"/>
              <a:t>walk_count</a:t>
            </a:r>
            <a:r>
              <a:rPr lang="en-US" altLang="ko-KR" dirty="0"/>
              <a:t> = 800</a:t>
            </a:r>
            <a:r>
              <a:rPr lang="ko-KR" altLang="en-US" dirty="0"/>
              <a:t>과 같이 수정한다면 아무런 출력결과를 볼 수 없음</a:t>
            </a:r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329" y="3995528"/>
            <a:ext cx="8681387" cy="1013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55142" y="3331479"/>
            <a:ext cx="5614037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if </a:t>
            </a:r>
            <a:r>
              <a:rPr lang="ko-KR" altLang="en-US" sz="1600" b="1" dirty="0">
                <a:solidFill>
                  <a:srgbClr val="FF0000"/>
                </a:solidFill>
              </a:rPr>
              <a:t>문의 조건을 만족하지 않을 경우 아무것도 출력되지 않음</a:t>
            </a:r>
            <a:endParaRPr lang="ko-KR" altLang="en-US" sz="1400" dirty="0"/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2285851" y="3531534"/>
            <a:ext cx="669291" cy="4639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29" y="2380861"/>
            <a:ext cx="8681387" cy="65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9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상황 </a:t>
            </a:r>
            <a:r>
              <a:rPr lang="en-US" altLang="ko-KR" dirty="0"/>
              <a:t>2</a:t>
            </a:r>
            <a:endParaRPr lang="en-US" dirty="0"/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  <a:endParaRPr lang="en-US" dirty="0"/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901281" y="1700213"/>
            <a:ext cx="4346575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0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3.2.1 </a:t>
            </a:r>
            <a:r>
              <a:rPr lang="ko-KR" altLang="en-US" dirty="0"/>
              <a:t>조건문과 블록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95C95-1BFD-9FBC-9E96-E2AFBA04FDD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블록</a:t>
            </a:r>
            <a:r>
              <a:rPr lang="en-US" altLang="ko-KR" b="1" baseline="30000" dirty="0">
                <a:solidFill>
                  <a:schemeClr val="accent5"/>
                </a:solidFill>
              </a:rPr>
              <a:t>block</a:t>
            </a:r>
          </a:p>
          <a:p>
            <a:pPr lvl="1"/>
            <a:r>
              <a:rPr lang="ko-KR" altLang="en-US" dirty="0"/>
              <a:t>어떤 조건을 만족하는 경우에 특정한 코드를 선택적으로 실행하는 구조</a:t>
            </a:r>
            <a:endParaRPr lang="en-US" altLang="ko-KR" dirty="0"/>
          </a:p>
          <a:p>
            <a:pPr lvl="1"/>
            <a:r>
              <a:rPr lang="ko-KR" altLang="en-US" dirty="0"/>
              <a:t>이때 실행될 코드 덩어리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블록은 반드시 들여쓰기</a:t>
            </a:r>
            <a:r>
              <a:rPr lang="ko-KR" altLang="en-US" dirty="0"/>
              <a:t>를 해야 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26C0579-6FF7-ED72-107E-012C3FBE2C5B}"/>
              </a:ext>
            </a:extLst>
          </p:cNvPr>
          <p:cNvGrpSpPr/>
          <p:nvPr/>
        </p:nvGrpSpPr>
        <p:grpSpPr>
          <a:xfrm>
            <a:off x="1067257" y="3125809"/>
            <a:ext cx="10609334" cy="2991461"/>
            <a:chOff x="1067257" y="3125809"/>
            <a:chExt cx="10609334" cy="299146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93159" y="4916647"/>
              <a:ext cx="5983432" cy="1200623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7257" y="3125809"/>
              <a:ext cx="5553191" cy="1790837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863764" y="3806282"/>
              <a:ext cx="4778735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0000"/>
                  </a:solidFill>
                </a:rPr>
                <a:t>들여쓰기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(indentation)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블록이 필요하다는 의미임</a:t>
              </a:r>
              <a:endParaRPr lang="ko-KR" altLang="en-US" sz="1400" dirty="0"/>
            </a:p>
          </p:txBody>
        </p:sp>
        <p:cxnSp>
          <p:nvCxnSpPr>
            <p:cNvPr id="10" name="직선 화살표 연결선 9"/>
            <p:cNvCxnSpPr>
              <a:cxnSpLocks/>
              <a:stCxn id="9" idx="2"/>
              <a:endCxn id="5" idx="0"/>
            </p:cNvCxnSpPr>
            <p:nvPr/>
          </p:nvCxnSpPr>
          <p:spPr>
            <a:xfrm flipH="1">
              <a:off x="8684875" y="4144836"/>
              <a:ext cx="568257" cy="7718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771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518" y="2656044"/>
            <a:ext cx="9477763" cy="332743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들여쓰기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8855B03-83F3-F5E6-1E69-5240392B521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FF0000"/>
                </a:solidFill>
              </a:rPr>
              <a:t>파이썬은</a:t>
            </a:r>
            <a:r>
              <a:rPr lang="ko-KR" altLang="en-US" dirty="0">
                <a:solidFill>
                  <a:srgbClr val="FF0000"/>
                </a:solidFill>
              </a:rPr>
              <a:t> 들여쓰기가 매우 중요한 의미를 가지는 프로그래밍 언어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C/C++</a:t>
            </a:r>
            <a:r>
              <a:rPr lang="ko-KR" altLang="en-US" dirty="0"/>
              <a:t>이나 </a:t>
            </a:r>
            <a:r>
              <a:rPr lang="en-US" altLang="ko-KR" dirty="0"/>
              <a:t>Java, Pascal </a:t>
            </a:r>
            <a:r>
              <a:rPr lang="ko-KR" altLang="en-US" dirty="0"/>
              <a:t>등 전통적인 프로그래밍 언어와 다른 특징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738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들여쓰기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745707"/>
            <a:ext cx="10015538" cy="425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50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들여쓰기</a:t>
            </a:r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4BE94B-E52B-3011-C338-F26D6FBF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5F3FB4-A8A0-4DD5-824D-088F524BA14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/>
              <a:t>블록</a:t>
            </a:r>
            <a:r>
              <a:rPr lang="ko-KR" altLang="en-US" dirty="0"/>
              <a:t>은 흔히 </a:t>
            </a:r>
            <a:r>
              <a:rPr lang="ko-KR" altLang="en-US" b="1" dirty="0"/>
              <a:t>코드 블록</a:t>
            </a:r>
            <a:r>
              <a:rPr lang="ko-KR" altLang="en-US" dirty="0"/>
              <a:t>이라고도 함</a:t>
            </a:r>
            <a:endParaRPr lang="en-US" altLang="ko-KR" dirty="0"/>
          </a:p>
          <a:p>
            <a:r>
              <a:rPr lang="ko-KR" altLang="en-US" dirty="0"/>
              <a:t>소스 코드에서 함께 묶을 수 있는 코드의 덩어리를 말한다</a:t>
            </a:r>
          </a:p>
          <a:p>
            <a:r>
              <a:rPr lang="ko-KR" altLang="en-US" dirty="0" err="1"/>
              <a:t>파이썬은</a:t>
            </a:r>
            <a:r>
              <a:rPr lang="ko-KR" altLang="en-US" dirty="0"/>
              <a:t> </a:t>
            </a:r>
            <a:r>
              <a:rPr lang="en-US" altLang="ko-KR" dirty="0"/>
              <a:t>if</a:t>
            </a:r>
            <a:r>
              <a:rPr lang="ko-KR" altLang="en-US" dirty="0"/>
              <a:t>문 다음에 </a:t>
            </a:r>
            <a:r>
              <a:rPr lang="en-US" altLang="ko-KR" dirty="0"/>
              <a:t>:(</a:t>
            </a:r>
            <a:r>
              <a:rPr lang="ko-KR" altLang="en-US" dirty="0"/>
              <a:t>콜론</a:t>
            </a:r>
            <a:r>
              <a:rPr lang="en-US" altLang="ko-KR" dirty="0"/>
              <a:t>)</a:t>
            </a:r>
            <a:r>
              <a:rPr lang="ko-KR" altLang="en-US" dirty="0"/>
              <a:t>이 나오면 다음에 들여쓰기 코드 블록이 나와야 하며 </a:t>
            </a:r>
            <a:r>
              <a:rPr lang="en-US" altLang="ko-KR" dirty="0"/>
              <a:t>for, while, def, class </a:t>
            </a:r>
            <a:r>
              <a:rPr lang="ko-KR" altLang="en-US" dirty="0"/>
              <a:t>등에서도 코드 블록이 사용됨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9000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들여쓰기</a:t>
            </a:r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4BE94B-E52B-3011-C338-F26D6FBF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5F3FB4-A8A0-4DD5-824D-088F524BA14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들여쓰기 코드 </a:t>
            </a:r>
            <a:r>
              <a:rPr lang="en-US" altLang="ko-KR" dirty="0"/>
              <a:t>5]</a:t>
            </a:r>
            <a:r>
              <a:rPr lang="ko-KR" altLang="en-US" dirty="0"/>
              <a:t>와 같이 동일한 </a:t>
            </a:r>
            <a:r>
              <a:rPr lang="ko-KR" altLang="en-US" dirty="0" err="1"/>
              <a:t>블럭에</a:t>
            </a:r>
            <a:r>
              <a:rPr lang="ko-KR" altLang="en-US" dirty="0"/>
              <a:t> 대해 들여쓰기의 정도</a:t>
            </a:r>
            <a:r>
              <a:rPr lang="en-US" altLang="ko-KR" dirty="0"/>
              <a:t>(</a:t>
            </a:r>
            <a:r>
              <a:rPr lang="ko-KR" altLang="en-US" dirty="0"/>
              <a:t>칸 수</a:t>
            </a:r>
            <a:r>
              <a:rPr lang="en-US" altLang="ko-KR" dirty="0"/>
              <a:t>)</a:t>
            </a:r>
            <a:r>
              <a:rPr lang="ko-KR" altLang="en-US" dirty="0"/>
              <a:t>가 일정하지 않으면 “</a:t>
            </a:r>
            <a:r>
              <a:rPr lang="en-US" altLang="ko-KR" dirty="0" err="1"/>
              <a:t>IndentationError</a:t>
            </a:r>
            <a:r>
              <a:rPr lang="en-US" altLang="ko-KR" dirty="0"/>
              <a:t>: unexpected indent”</a:t>
            </a:r>
            <a:r>
              <a:rPr lang="ko-KR" altLang="en-US" dirty="0"/>
              <a:t>라는 들여쓰기 오류가 발생</a:t>
            </a:r>
            <a:endParaRPr lang="en-US" altLang="ko-KR" dirty="0"/>
          </a:p>
          <a:p>
            <a:r>
              <a:rPr lang="ko-KR" altLang="en-US" dirty="0"/>
              <a:t>동일한 코드 블록에서는 들여쓰기의 칸 수를 반드시 일치시켜야 함</a:t>
            </a:r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스페이스</a:t>
            </a:r>
            <a:r>
              <a:rPr lang="en-US" altLang="ko-KR" sz="1600" dirty="0">
                <a:solidFill>
                  <a:srgbClr val="FF0000"/>
                </a:solidFill>
              </a:rPr>
              <a:t>space</a:t>
            </a:r>
            <a:r>
              <a:rPr lang="en-US" altLang="ko-KR" dirty="0">
                <a:solidFill>
                  <a:srgbClr val="FF0000"/>
                </a:solidFill>
              </a:rPr>
              <a:t> 4</a:t>
            </a:r>
            <a:r>
              <a:rPr lang="ko-KR" altLang="en-US" dirty="0">
                <a:solidFill>
                  <a:srgbClr val="FF0000"/>
                </a:solidFill>
              </a:rPr>
              <a:t>칸을 권장</a:t>
            </a:r>
          </a:p>
          <a:p>
            <a:pPr marL="0" indent="0">
              <a:buNone/>
            </a:pPr>
            <a:endParaRPr lang="ko-KR" altLang="en-US" dirty="0"/>
          </a:p>
          <a:p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772" y="3525037"/>
            <a:ext cx="7933734" cy="2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3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블록의 규칙</a:t>
            </a:r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4BE94B-E52B-3011-C338-F26D6FBF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598734"/>
            <a:ext cx="10015538" cy="254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ECFD85-F35E-B489-9DB9-373774FA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064759" y="1128713"/>
            <a:ext cx="6019620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6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5B7009-0456-F112-313B-A9074C99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3.2.2 </a:t>
            </a:r>
            <a:r>
              <a:rPr lang="ko-KR" altLang="en-US" dirty="0"/>
              <a:t>대화형 모드의 블록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246200"/>
            <a:ext cx="10015538" cy="32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7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5B7009-0456-F112-313B-A9074C99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의 배수 판단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57" y="1616868"/>
            <a:ext cx="9601787" cy="216814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r="9086"/>
          <a:stretch/>
        </p:blipFill>
        <p:spPr>
          <a:xfrm>
            <a:off x="1034574" y="4230773"/>
            <a:ext cx="4325283" cy="171152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rcRect r="7703"/>
          <a:stretch/>
        </p:blipFill>
        <p:spPr>
          <a:xfrm>
            <a:off x="5583029" y="4230773"/>
            <a:ext cx="5028624" cy="158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65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5B7009-0456-F112-313B-A9074C99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과 </a:t>
            </a:r>
            <a:r>
              <a:rPr lang="en-US" altLang="ko-KR" dirty="0"/>
              <a:t>5</a:t>
            </a:r>
            <a:r>
              <a:rPr lang="ko-KR" altLang="en-US" dirty="0"/>
              <a:t>의 배수 판단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68" y="1700808"/>
            <a:ext cx="10155195" cy="416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7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25265B4-A829-BC49-6FCE-88B9E0A764CB}"/>
              </a:ext>
            </a:extLst>
          </p:cNvPr>
          <p:cNvGrpSpPr/>
          <p:nvPr/>
        </p:nvGrpSpPr>
        <p:grpSpPr>
          <a:xfrm>
            <a:off x="904883" y="1181280"/>
            <a:ext cx="9331856" cy="4855186"/>
            <a:chOff x="1076168" y="746653"/>
            <a:chExt cx="10012152" cy="520913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6170" y="746653"/>
              <a:ext cx="10012150" cy="4278082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168" y="4093685"/>
              <a:ext cx="10012152" cy="1862099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9472C24-4867-8A96-55F2-56BE0505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96598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72C24-4867-8A96-55F2-56BE0505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if </a:t>
            </a:r>
            <a:r>
              <a:rPr lang="ko-KR" altLang="en-US" dirty="0"/>
              <a:t>조건문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3" y="1307602"/>
            <a:ext cx="9209275" cy="476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798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576" y="1830079"/>
            <a:ext cx="8311937" cy="405169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52B6E-F43A-B981-1605-EC4A29EBFEC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spc="-40" dirty="0">
                <a:solidFill>
                  <a:schemeClr val="accent5"/>
                </a:solidFill>
              </a:rPr>
              <a:t>상황</a:t>
            </a:r>
            <a:r>
              <a:rPr lang="en-US" altLang="ko-KR" sz="2000" spc="-40" dirty="0">
                <a:solidFill>
                  <a:schemeClr val="accent5"/>
                </a:solidFill>
              </a:rPr>
              <a:t> : </a:t>
            </a:r>
            <a:r>
              <a:rPr lang="ko-KR" altLang="en-US" sz="2000" spc="-40" dirty="0">
                <a:solidFill>
                  <a:schemeClr val="accent5"/>
                </a:solidFill>
              </a:rPr>
              <a:t>시간이 </a:t>
            </a:r>
            <a:r>
              <a:rPr lang="en-US" altLang="ko-KR" sz="2000" spc="-40" dirty="0">
                <a:solidFill>
                  <a:schemeClr val="accent5"/>
                </a:solidFill>
              </a:rPr>
              <a:t>12</a:t>
            </a:r>
            <a:r>
              <a:rPr lang="ko-KR" altLang="en-US" sz="2000" spc="-40" dirty="0">
                <a:solidFill>
                  <a:schemeClr val="accent5"/>
                </a:solidFill>
              </a:rPr>
              <a:t>시가 안 되면 </a:t>
            </a:r>
            <a:r>
              <a:rPr lang="en-US" altLang="ko-KR" sz="2000" spc="-40" dirty="0">
                <a:solidFill>
                  <a:schemeClr val="accent5"/>
                </a:solidFill>
              </a:rPr>
              <a:t>‘</a:t>
            </a:r>
            <a:r>
              <a:rPr lang="ko-KR" altLang="en-US" sz="2000" spc="-40" dirty="0">
                <a:solidFill>
                  <a:schemeClr val="accent5"/>
                </a:solidFill>
              </a:rPr>
              <a:t>오전입니다</a:t>
            </a:r>
            <a:r>
              <a:rPr lang="en-US" altLang="ko-KR" sz="2000" spc="-40" dirty="0">
                <a:solidFill>
                  <a:schemeClr val="accent5"/>
                </a:solidFill>
              </a:rPr>
              <a:t>.’, 12</a:t>
            </a:r>
            <a:r>
              <a:rPr lang="ko-KR" altLang="en-US" sz="2000" spc="-40" dirty="0">
                <a:solidFill>
                  <a:schemeClr val="accent5"/>
                </a:solidFill>
              </a:rPr>
              <a:t>시 이후면 </a:t>
            </a:r>
            <a:r>
              <a:rPr lang="en-US" altLang="ko-KR" sz="2000" spc="-40" dirty="0">
                <a:solidFill>
                  <a:schemeClr val="accent5"/>
                </a:solidFill>
              </a:rPr>
              <a:t>‘</a:t>
            </a:r>
            <a:r>
              <a:rPr lang="ko-KR" altLang="en-US" sz="2000" spc="-40" dirty="0">
                <a:solidFill>
                  <a:schemeClr val="accent5"/>
                </a:solidFill>
              </a:rPr>
              <a:t>오후입니다</a:t>
            </a:r>
            <a:r>
              <a:rPr lang="en-US" altLang="ko-KR" sz="2000" spc="-40" dirty="0">
                <a:solidFill>
                  <a:schemeClr val="accent5"/>
                </a:solidFill>
              </a:rPr>
              <a:t>‘</a:t>
            </a:r>
            <a:r>
              <a:rPr lang="ko-KR" altLang="en-US" sz="2000" spc="-40" dirty="0">
                <a:solidFill>
                  <a:schemeClr val="accent5"/>
                </a:solidFill>
              </a:rPr>
              <a:t>를 출력하는 기능</a:t>
            </a:r>
            <a:endParaRPr lang="en-US" altLang="ko-KR" sz="2000" spc="-40" dirty="0">
              <a:solidFill>
                <a:schemeClr val="accent5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 err="1"/>
              <a:t>조건문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775" y="1839044"/>
            <a:ext cx="3613476" cy="398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6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03B3FE-353B-15AB-5456-31E45A35E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if-else </a:t>
            </a:r>
            <a:r>
              <a:rPr lang="ko-KR" altLang="en-US" dirty="0"/>
              <a:t>문을 이용한 출력 </a:t>
            </a:r>
            <a:r>
              <a:rPr lang="en-US" altLang="ko-KR" dirty="0"/>
              <a:t>: </a:t>
            </a:r>
            <a:r>
              <a:rPr lang="ko-KR" altLang="en-US" dirty="0"/>
              <a:t>배타적 관계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  <a:endParaRPr lang="ko-KR" altLang="en-US" sz="2400" b="1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36351B7-617C-6AF8-BD38-944CF28C6977}"/>
              </a:ext>
            </a:extLst>
          </p:cNvPr>
          <p:cNvGrpSpPr/>
          <p:nvPr/>
        </p:nvGrpSpPr>
        <p:grpSpPr>
          <a:xfrm>
            <a:off x="1102658" y="1733667"/>
            <a:ext cx="8353789" cy="4052828"/>
            <a:chOff x="838200" y="1605365"/>
            <a:chExt cx="8618248" cy="4181130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605365"/>
              <a:ext cx="8618248" cy="4181130"/>
            </a:xfrm>
            <a:prstGeom prst="rect">
              <a:avLst/>
            </a:prstGeom>
          </p:spPr>
        </p:pic>
        <p:sp>
          <p:nvSpPr>
            <p:cNvPr id="11" name="설명선 1 10"/>
            <p:cNvSpPr/>
            <p:nvPr/>
          </p:nvSpPr>
          <p:spPr>
            <a:xfrm>
              <a:off x="3777365" y="2846946"/>
              <a:ext cx="2623435" cy="445877"/>
            </a:xfrm>
            <a:prstGeom prst="borderCallout1">
              <a:avLst>
                <a:gd name="adj1" fmla="val 50374"/>
                <a:gd name="adj2" fmla="val -225"/>
                <a:gd name="adj3" fmla="val 1518"/>
                <a:gd name="adj4" fmla="val -40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배타적인 관계</a:t>
              </a: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770093"/>
            <a:ext cx="4675718" cy="301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3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7CDD9-EBD8-5B58-F543-61E0E67FD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임의의 정수가 음수인지 아닌지 판단하기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5A4C7-8E46-A1D5-A8E3-A64A22CFE9A0}"/>
              </a:ext>
            </a:extLst>
          </p:cNvPr>
          <p:cNvGrpSpPr/>
          <p:nvPr/>
        </p:nvGrpSpPr>
        <p:grpSpPr>
          <a:xfrm>
            <a:off x="1105837" y="1796694"/>
            <a:ext cx="8244351" cy="4000174"/>
            <a:chOff x="1312025" y="1796693"/>
            <a:chExt cx="9278389" cy="450189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2025" y="1796693"/>
              <a:ext cx="9278389" cy="4501891"/>
            </a:xfrm>
            <a:prstGeom prst="rect">
              <a:avLst/>
            </a:prstGeom>
          </p:spPr>
        </p:pic>
        <p:sp>
          <p:nvSpPr>
            <p:cNvPr id="12" name="설명선 1 11"/>
            <p:cNvSpPr/>
            <p:nvPr/>
          </p:nvSpPr>
          <p:spPr>
            <a:xfrm>
              <a:off x="6308592" y="3148073"/>
              <a:ext cx="2586856" cy="409990"/>
            </a:xfrm>
            <a:prstGeom prst="borderCallout1">
              <a:avLst>
                <a:gd name="adj1" fmla="val 50374"/>
                <a:gd name="adj2" fmla="val -225"/>
                <a:gd name="adj3" fmla="val 4667"/>
                <a:gd name="adj4" fmla="val -104549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배타적인 관계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866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36" y="1700808"/>
            <a:ext cx="8755756" cy="4244262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4F6D2-7870-44BB-1C10-2C2890FA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if-else</a:t>
            </a:r>
            <a:r>
              <a:rPr lang="ko-KR" altLang="en-US" sz="2400" dirty="0"/>
              <a:t>문으로 홀수</a:t>
            </a:r>
            <a:r>
              <a:rPr lang="en-US" altLang="ko-KR" sz="2400" dirty="0"/>
              <a:t>/</a:t>
            </a:r>
            <a:r>
              <a:rPr lang="ko-KR" altLang="en-US" sz="2400" dirty="0"/>
              <a:t>짝수를 판별</a:t>
            </a:r>
            <a:r>
              <a:rPr lang="en-US" altLang="ko-KR" sz="2400" dirty="0"/>
              <a:t>(</a:t>
            </a:r>
            <a:r>
              <a:rPr lang="ko-KR" altLang="en-US" sz="2400" dirty="0"/>
              <a:t>배타적 관계</a:t>
            </a:r>
            <a:r>
              <a:rPr lang="en-US" altLang="ko-KR" sz="2400" dirty="0"/>
              <a:t>)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sp>
        <p:nvSpPr>
          <p:cNvPr id="12" name="설명선 1 11"/>
          <p:cNvSpPr/>
          <p:nvPr/>
        </p:nvSpPr>
        <p:spPr>
          <a:xfrm>
            <a:off x="5225495" y="3026369"/>
            <a:ext cx="3168156" cy="519517"/>
          </a:xfrm>
          <a:prstGeom prst="borderCallout1">
            <a:avLst>
              <a:gd name="adj1" fmla="val 50374"/>
              <a:gd name="adj2" fmla="val -225"/>
              <a:gd name="adj3" fmla="val -8271"/>
              <a:gd name="adj4" fmla="val -6563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배타적인 관계</a:t>
            </a:r>
          </a:p>
        </p:txBody>
      </p:sp>
    </p:spTree>
    <p:extLst>
      <p:ext uri="{BB962C8B-B14F-4D97-AF65-F5344CB8AC3E}">
        <p14:creationId xmlns:p14="http://schemas.microsoft.com/office/powerpoint/2010/main" val="98691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DB978AB-4B60-F7FA-38D2-200D808A1454}"/>
              </a:ext>
            </a:extLst>
          </p:cNvPr>
          <p:cNvGrpSpPr/>
          <p:nvPr/>
        </p:nvGrpSpPr>
        <p:grpSpPr>
          <a:xfrm>
            <a:off x="1098308" y="1620997"/>
            <a:ext cx="6962057" cy="4592544"/>
            <a:chOff x="1842378" y="1270605"/>
            <a:chExt cx="7941703" cy="5238771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42378" y="5228228"/>
              <a:ext cx="7941703" cy="1281148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42379" y="1270605"/>
              <a:ext cx="7941702" cy="3910309"/>
            </a:xfrm>
            <a:prstGeom prst="rect">
              <a:avLst/>
            </a:prstGeom>
          </p:spPr>
        </p:pic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C1F3B-C554-F8EB-4D24-2CE12C8F7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if</a:t>
            </a:r>
            <a:r>
              <a:rPr lang="ko-KR" altLang="en-US" sz="2400" dirty="0"/>
              <a:t>문으로 구성된 블록 내 또 다른 </a:t>
            </a:r>
            <a:r>
              <a:rPr lang="en-US" altLang="ko-KR" sz="2400" dirty="0"/>
              <a:t>if</a:t>
            </a:r>
            <a:r>
              <a:rPr lang="ko-KR" altLang="en-US" sz="2400" dirty="0"/>
              <a:t>문이나 </a:t>
            </a:r>
            <a:r>
              <a:rPr lang="en-US" altLang="ko-KR" sz="2400" dirty="0"/>
              <a:t>if-else</a:t>
            </a:r>
            <a:r>
              <a:rPr lang="ko-KR" altLang="en-US" sz="2400" dirty="0"/>
              <a:t> 사용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372350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if</a:t>
            </a:r>
            <a:r>
              <a:rPr lang="ko-KR" altLang="en-US" sz="2400" dirty="0"/>
              <a:t>문으로 구성된 블록 내 또 다른 </a:t>
            </a:r>
            <a:r>
              <a:rPr lang="en-US" altLang="ko-KR" sz="2400" dirty="0"/>
              <a:t>if</a:t>
            </a:r>
            <a:r>
              <a:rPr lang="ko-KR" altLang="en-US" sz="2400" dirty="0"/>
              <a:t>문이나 </a:t>
            </a:r>
            <a:r>
              <a:rPr lang="en-US" altLang="ko-KR" sz="2400" dirty="0"/>
              <a:t>if-else</a:t>
            </a:r>
            <a:r>
              <a:rPr lang="ko-KR" altLang="en-US" sz="2400" dirty="0"/>
              <a:t> 사용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EB2D4A-3854-2E88-BE6D-54A2BA1E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8372399-A5DD-9C57-5648-C94FE66213E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바깥의 </a:t>
            </a:r>
            <a:r>
              <a:rPr lang="en-US" altLang="ko-KR" dirty="0"/>
              <a:t>if-else</a:t>
            </a:r>
            <a:r>
              <a:rPr lang="ko-KR" altLang="en-US" dirty="0"/>
              <a:t>문을 </a:t>
            </a:r>
            <a:r>
              <a:rPr lang="ko-KR" altLang="en-US" b="1" dirty="0"/>
              <a:t>외부 </a:t>
            </a:r>
            <a:r>
              <a:rPr lang="en-US" altLang="ko-KR" b="1" dirty="0"/>
              <a:t>if-else</a:t>
            </a:r>
            <a:r>
              <a:rPr lang="ko-KR" altLang="en-US" b="1" dirty="0"/>
              <a:t>문</a:t>
            </a:r>
            <a:r>
              <a:rPr lang="ko-KR" altLang="en-US" dirty="0"/>
              <a:t>이라고 함</a:t>
            </a:r>
            <a:endParaRPr lang="en-US" altLang="ko-KR" dirty="0"/>
          </a:p>
          <a:p>
            <a:pPr lvl="1"/>
            <a:r>
              <a:rPr lang="ko-KR" altLang="en-US" dirty="0"/>
              <a:t>외부의 </a:t>
            </a:r>
            <a:r>
              <a:rPr lang="en-US" altLang="ko-KR" dirty="0"/>
              <a:t>if-else </a:t>
            </a:r>
            <a:r>
              <a:rPr lang="ko-KR" altLang="en-US" dirty="0"/>
              <a:t>조건문 블록을 살펴보면 </a:t>
            </a:r>
            <a:r>
              <a:rPr lang="en-US" altLang="ko-KR" dirty="0"/>
              <a:t>if</a:t>
            </a:r>
            <a:r>
              <a:rPr lang="ko-KR" altLang="en-US" dirty="0"/>
              <a:t>문은 변수 </a:t>
            </a:r>
            <a:r>
              <a:rPr lang="en-US" altLang="ko-KR" dirty="0"/>
              <a:t>num</a:t>
            </a:r>
            <a:r>
              <a:rPr lang="ko-KR" altLang="en-US" dirty="0"/>
              <a:t>의 값이 </a:t>
            </a:r>
            <a:r>
              <a:rPr lang="en-US" altLang="ko-KR" dirty="0"/>
              <a:t>0</a:t>
            </a:r>
            <a:r>
              <a:rPr lang="ko-KR" altLang="en-US" dirty="0"/>
              <a:t>보다 작을 때</a:t>
            </a:r>
            <a:r>
              <a:rPr lang="en-US" altLang="ko-KR" dirty="0"/>
              <a:t>, </a:t>
            </a:r>
            <a:r>
              <a:rPr lang="ko-KR" altLang="en-US" dirty="0"/>
              <a:t>즉 음수일 때만 실행</a:t>
            </a:r>
          </a:p>
          <a:p>
            <a:pPr lvl="1"/>
            <a:r>
              <a:rPr lang="en-US" altLang="ko-KR" dirty="0"/>
              <a:t>else</a:t>
            </a:r>
            <a:r>
              <a:rPr lang="ko-KR" altLang="en-US" dirty="0"/>
              <a:t>문은 </a:t>
            </a:r>
            <a:r>
              <a:rPr lang="en-US" altLang="ko-KR" dirty="0"/>
              <a:t>num</a:t>
            </a:r>
            <a:r>
              <a:rPr lang="ko-KR" altLang="en-US" dirty="0"/>
              <a:t>의 값이 음수가 아닐 때에만 실행</a:t>
            </a:r>
          </a:p>
          <a:p>
            <a:pPr lvl="1"/>
            <a:endParaRPr lang="ko-KR" altLang="en-US" dirty="0"/>
          </a:p>
          <a:p>
            <a:r>
              <a:rPr lang="en-US" altLang="ko-KR" dirty="0"/>
              <a:t>else</a:t>
            </a:r>
            <a:r>
              <a:rPr lang="ko-KR" altLang="en-US" dirty="0"/>
              <a:t>문 내의 </a:t>
            </a:r>
            <a:r>
              <a:rPr lang="en-US" altLang="ko-KR" dirty="0"/>
              <a:t>if-else</a:t>
            </a:r>
            <a:r>
              <a:rPr lang="ko-KR" altLang="en-US" dirty="0"/>
              <a:t>문을 </a:t>
            </a:r>
            <a:r>
              <a:rPr lang="ko-KR" altLang="en-US" b="1" dirty="0"/>
              <a:t>내부 </a:t>
            </a:r>
            <a:r>
              <a:rPr lang="en-US" altLang="ko-KR" b="1" dirty="0"/>
              <a:t>if-else</a:t>
            </a:r>
            <a:r>
              <a:rPr lang="ko-KR" altLang="en-US" b="1" dirty="0"/>
              <a:t>문</a:t>
            </a:r>
            <a:r>
              <a:rPr lang="ko-KR" altLang="en-US" dirty="0"/>
              <a:t>이라고 함</a:t>
            </a:r>
            <a:endParaRPr lang="en-US" altLang="ko-KR" dirty="0"/>
          </a:p>
          <a:p>
            <a:pPr lvl="1"/>
            <a:r>
              <a:rPr lang="en-US" altLang="ko-KR" dirty="0"/>
              <a:t>if</a:t>
            </a:r>
            <a:r>
              <a:rPr lang="ko-KR" altLang="en-US" dirty="0"/>
              <a:t>문은 변수 </a:t>
            </a:r>
            <a:r>
              <a:rPr lang="en-US" altLang="ko-KR" dirty="0"/>
              <a:t>num</a:t>
            </a:r>
            <a:r>
              <a:rPr lang="ko-KR" altLang="en-US" dirty="0"/>
              <a:t>을 </a:t>
            </a:r>
            <a:r>
              <a:rPr lang="en-US" altLang="ko-KR" dirty="0"/>
              <a:t>2</a:t>
            </a:r>
            <a:r>
              <a:rPr lang="ko-KR" altLang="en-US" dirty="0"/>
              <a:t>로 나누어 나머지가 없을 때</a:t>
            </a:r>
            <a:r>
              <a:rPr lang="en-US" altLang="ko-KR" dirty="0"/>
              <a:t>, </a:t>
            </a:r>
            <a:r>
              <a:rPr lang="ko-KR" altLang="en-US" dirty="0"/>
              <a:t>즉 짝수일 때만 실행</a:t>
            </a:r>
          </a:p>
          <a:p>
            <a:pPr lvl="1"/>
            <a:r>
              <a:rPr lang="ko-KR" altLang="en-US" dirty="0"/>
              <a:t>음수일 때는 </a:t>
            </a:r>
            <a:r>
              <a:rPr lang="en-US" altLang="ko-KR" dirty="0"/>
              <a:t>else</a:t>
            </a:r>
            <a:r>
              <a:rPr lang="ko-KR" altLang="en-US" dirty="0"/>
              <a:t>문 블록이 실행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변수 </a:t>
            </a:r>
            <a:r>
              <a:rPr lang="en-US" altLang="ko-KR" dirty="0"/>
              <a:t>num</a:t>
            </a:r>
            <a:r>
              <a:rPr lang="ko-KR" altLang="en-US" dirty="0"/>
              <a:t>의 값을 </a:t>
            </a:r>
            <a:r>
              <a:rPr lang="en-US" altLang="ko-KR" dirty="0"/>
              <a:t>–100</a:t>
            </a:r>
            <a:r>
              <a:rPr lang="ko-KR" altLang="en-US" dirty="0"/>
              <a:t>으로 바꾸면 다음과 같이 실행됨</a:t>
            </a:r>
          </a:p>
          <a:p>
            <a:endParaRPr lang="en-US" altLang="ko-KR" dirty="0"/>
          </a:p>
          <a:p>
            <a:pPr lvl="1"/>
            <a:endParaRPr lang="ko-KR" altLang="en-US" dirty="0"/>
          </a:p>
          <a:p>
            <a:endParaRPr lang="en-US" altLang="ko-KR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04290"/>
              </p:ext>
            </p:extLst>
          </p:nvPr>
        </p:nvGraphicFramePr>
        <p:xfrm>
          <a:off x="1401561" y="5193506"/>
          <a:ext cx="7083679" cy="882110"/>
        </p:xfrm>
        <a:graphic>
          <a:graphicData uri="http://schemas.openxmlformats.org/drawingml/2006/table">
            <a:tbl>
              <a:tblPr/>
              <a:tblGrid>
                <a:gridCol w="7083679">
                  <a:extLst>
                    <a:ext uri="{9D8B030D-6E8A-4147-A177-3AD203B41FA5}">
                      <a16:colId xmlns:a16="http://schemas.microsoft.com/office/drawing/2014/main" val="236746396"/>
                    </a:ext>
                  </a:extLst>
                </a:gridCol>
              </a:tblGrid>
              <a:tr h="4410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num = -100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으로 수정한 후의 실행 결과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239843"/>
                  </a:ext>
                </a:extLst>
              </a:tr>
              <a:tr h="44105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-100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음수입니다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583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74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if</a:t>
            </a:r>
            <a:r>
              <a:rPr lang="ko-KR" altLang="en-US" sz="2400" dirty="0"/>
              <a:t>문으로 구성된 블록 내 또 다른 </a:t>
            </a:r>
            <a:r>
              <a:rPr lang="en-US" altLang="ko-KR" sz="2400" dirty="0"/>
              <a:t>if</a:t>
            </a:r>
            <a:r>
              <a:rPr lang="ko-KR" altLang="en-US" sz="2400" dirty="0"/>
              <a:t>문이나 </a:t>
            </a:r>
            <a:r>
              <a:rPr lang="en-US" altLang="ko-KR" sz="2400" dirty="0"/>
              <a:t>if-else</a:t>
            </a:r>
            <a:r>
              <a:rPr lang="ko-KR" altLang="en-US" sz="2400" dirty="0"/>
              <a:t> 사용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EB2D4A-3854-2E88-BE6D-54A2BA1E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512170" y="1700213"/>
            <a:ext cx="7124798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4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if</a:t>
            </a:r>
            <a:r>
              <a:rPr lang="ko-KR" altLang="en-US" sz="2400" dirty="0"/>
              <a:t>문으로 구성된 블록 내 또 다른 </a:t>
            </a:r>
            <a:r>
              <a:rPr lang="en-US" altLang="ko-KR" sz="2400" dirty="0"/>
              <a:t>if</a:t>
            </a:r>
            <a:r>
              <a:rPr lang="ko-KR" altLang="en-US" sz="2400" dirty="0"/>
              <a:t>문이나 </a:t>
            </a:r>
            <a:r>
              <a:rPr lang="en-US" altLang="ko-KR" sz="2400" dirty="0"/>
              <a:t>if-else</a:t>
            </a:r>
            <a:r>
              <a:rPr lang="ko-KR" altLang="en-US" sz="2400" dirty="0"/>
              <a:t> 사용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EB2D4A-3854-2E88-BE6D-54A2BA1E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DCC9F28-AB1D-927A-1C77-B5FB2795CCD9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3161273" y="1700213"/>
            <a:ext cx="5826591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4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473" y="2690614"/>
            <a:ext cx="8115127" cy="281653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3.3.1 </a:t>
            </a:r>
            <a:r>
              <a:rPr lang="ko-KR" altLang="en-US" dirty="0"/>
              <a:t>복합 조건식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519181-2397-7B49-25F4-CFF1FCDB77D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더 복잡한 조건을 걸어주기 위해 비교 연산자와 논리 연산자를 조합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31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3.3.1 </a:t>
            </a:r>
            <a:r>
              <a:rPr lang="ko-KR" altLang="en-US" dirty="0"/>
              <a:t>복합 조건식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519181-2397-7B49-25F4-CFF1FCDB77D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비교 연산자는 연산자 왼쪽의 값과 오른쪽의 값이 해당 연산자의 조건을 만족할 시 </a:t>
            </a:r>
            <a:r>
              <a:rPr lang="en-US" altLang="ko-KR" dirty="0"/>
              <a:t>True </a:t>
            </a:r>
            <a:r>
              <a:rPr lang="ko-KR" altLang="en-US" dirty="0"/>
              <a:t>아니면 </a:t>
            </a:r>
            <a:r>
              <a:rPr lang="en-US" altLang="ko-KR" dirty="0"/>
              <a:t>False</a:t>
            </a:r>
            <a:r>
              <a:rPr lang="ko-KR" altLang="en-US" dirty="0"/>
              <a:t>를 반환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799" y="2563126"/>
            <a:ext cx="8707777" cy="348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2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논리 연산 </a:t>
            </a:r>
            <a:r>
              <a:rPr lang="en-US" altLang="ko-KR" dirty="0"/>
              <a:t>and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4FFA42-217C-786B-914D-AAAAF2A52DE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입력 값 중에서 </a:t>
            </a:r>
            <a:r>
              <a:rPr lang="en-US" altLang="ko-KR" dirty="0">
                <a:solidFill>
                  <a:srgbClr val="FF0000"/>
                </a:solidFill>
              </a:rPr>
              <a:t>False </a:t>
            </a:r>
            <a:r>
              <a:rPr lang="ko-KR" altLang="en-US" dirty="0">
                <a:solidFill>
                  <a:srgbClr val="FF0000"/>
                </a:solidFill>
              </a:rPr>
              <a:t>상태에 영향을 받는 특징이 있음</a:t>
            </a:r>
          </a:p>
          <a:p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916" y="2509279"/>
            <a:ext cx="9500062" cy="349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1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495" y="2547394"/>
            <a:ext cx="9673763" cy="351851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ko-KR" altLang="en-US" dirty="0"/>
              <a:t>논리 연산 </a:t>
            </a:r>
            <a:r>
              <a:rPr lang="en-US" altLang="ko-KR" dirty="0"/>
              <a:t>or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C8DD14D-802B-D359-3D17-9B9F63B400C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출력 값이 </a:t>
            </a:r>
            <a:r>
              <a:rPr lang="ko-KR" altLang="en-US" dirty="0">
                <a:solidFill>
                  <a:srgbClr val="FF0000"/>
                </a:solidFill>
              </a:rPr>
              <a:t>입력 값의 </a:t>
            </a:r>
            <a:r>
              <a:rPr lang="en-US" altLang="ko-KR" dirty="0">
                <a:solidFill>
                  <a:srgbClr val="FF0000"/>
                </a:solidFill>
              </a:rPr>
              <a:t>True </a:t>
            </a:r>
            <a:r>
              <a:rPr lang="ko-KR" altLang="en-US" dirty="0">
                <a:solidFill>
                  <a:srgbClr val="FF0000"/>
                </a:solidFill>
              </a:rPr>
              <a:t>상태에 영향을 받음</a:t>
            </a:r>
          </a:p>
          <a:p>
            <a:endParaRPr lang="ko-KR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762" y="2115436"/>
            <a:ext cx="6648932" cy="402061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E0E292-B532-C621-D4CC-BF8FDB81163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sz="2000" dirty="0"/>
              <a:t>변수 </a:t>
            </a:r>
            <a:r>
              <a:rPr lang="en-US" altLang="ko-KR" sz="2000" dirty="0"/>
              <a:t>a</a:t>
            </a:r>
            <a:r>
              <a:rPr lang="ko-KR" altLang="en-US" sz="2000" dirty="0"/>
              <a:t>와 </a:t>
            </a:r>
            <a:r>
              <a:rPr lang="en-US" altLang="ko-KR" sz="2000" dirty="0"/>
              <a:t>b</a:t>
            </a:r>
            <a:r>
              <a:rPr lang="ko-KR" altLang="en-US" sz="2000" dirty="0"/>
              <a:t>에 입력된 값은 각각 </a:t>
            </a:r>
            <a:r>
              <a:rPr lang="en-US" altLang="ko-KR" sz="2000" dirty="0"/>
              <a:t>10, 14</a:t>
            </a:r>
            <a:r>
              <a:rPr lang="ko-KR" altLang="en-US" sz="2000" dirty="0"/>
              <a:t>이므로 두 조건문의 조건식이 모두 참</a:t>
            </a:r>
            <a:r>
              <a:rPr lang="en-US" altLang="ko-KR" sz="2000" dirty="0"/>
              <a:t>(True)</a:t>
            </a:r>
          </a:p>
          <a:p>
            <a:pPr fontAlgn="base"/>
            <a:r>
              <a:rPr lang="ko-KR" altLang="en-US" sz="2000" dirty="0"/>
              <a:t>실행 결과는 두 개의 </a:t>
            </a:r>
            <a:r>
              <a:rPr lang="en-US" altLang="ko-KR" sz="2000" dirty="0"/>
              <a:t>print()</a:t>
            </a:r>
            <a:r>
              <a:rPr lang="ko-KR" altLang="en-US" sz="2000" dirty="0"/>
              <a:t>문이 모두 실행됨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93FE3BB-8655-BCA3-3071-2758FB89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</p:spTree>
    <p:extLst>
      <p:ext uri="{BB962C8B-B14F-4D97-AF65-F5344CB8AC3E}">
        <p14:creationId xmlns:p14="http://schemas.microsoft.com/office/powerpoint/2010/main" val="253294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E0E292-B532-C621-D4CC-BF8FDB81163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(b = 13</a:t>
            </a:r>
            <a:r>
              <a:rPr lang="ko-KR" altLang="en-US" dirty="0"/>
              <a:t>으로 수정하면</a:t>
            </a:r>
            <a:r>
              <a:rPr lang="en-US" altLang="ko-KR" dirty="0"/>
              <a:t>) </a:t>
            </a:r>
            <a:r>
              <a:rPr lang="ko-KR" altLang="en-US" dirty="0"/>
              <a:t>첫 번째 조건문의 조건식을 만족하지 못해 두 번째 조건문 내부의 </a:t>
            </a:r>
            <a:r>
              <a:rPr lang="en-US" altLang="ko-KR" dirty="0"/>
              <a:t>print</a:t>
            </a:r>
            <a:r>
              <a:rPr lang="ko-KR" altLang="en-US" dirty="0"/>
              <a:t>문만 실행됨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93FE3BB-8655-BCA3-3071-2758FB89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65" y="2322271"/>
            <a:ext cx="9173909" cy="180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1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FE3BB-8655-BCA3-3071-2758FB89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955545" y="1128713"/>
            <a:ext cx="6238048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2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3.3.2 </a:t>
            </a:r>
            <a:r>
              <a:rPr lang="ko-KR" altLang="en-US" dirty="0"/>
              <a:t>복합 조건식으로 윤년 검사하기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E98A371-702B-EF55-C155-FE6B5E1EE90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윤년</a:t>
            </a:r>
            <a:r>
              <a:rPr lang="en-US" altLang="ko-KR" b="1" baseline="30000" dirty="0">
                <a:solidFill>
                  <a:schemeClr val="accent5"/>
                </a:solidFill>
              </a:rPr>
              <a:t>leap year</a:t>
            </a:r>
            <a:r>
              <a:rPr lang="ko-KR" altLang="en-US" dirty="0"/>
              <a:t>의 규칙</a:t>
            </a:r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67004"/>
              </p:ext>
            </p:extLst>
          </p:nvPr>
        </p:nvGraphicFramePr>
        <p:xfrm>
          <a:off x="1405270" y="2303929"/>
          <a:ext cx="10177130" cy="2070847"/>
        </p:xfrm>
        <a:graphic>
          <a:graphicData uri="http://schemas.openxmlformats.org/drawingml/2006/table">
            <a:tbl>
              <a:tblPr/>
              <a:tblGrid>
                <a:gridCol w="10177130">
                  <a:extLst>
                    <a:ext uri="{9D8B030D-6E8A-4147-A177-3AD203B41FA5}">
                      <a16:colId xmlns:a16="http://schemas.microsoft.com/office/drawing/2014/main" val="3531267021"/>
                    </a:ext>
                  </a:extLst>
                </a:gridCol>
              </a:tblGrid>
              <a:tr h="207084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1)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연수가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로 나누어 떨어지는 해는 윤년으로 한다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예를 들어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1992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2004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등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).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2)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연수가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의 조건에 만족함에도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으로 나누어 떨어지는 해는 평년으로 한다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예를 들어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1900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2100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2200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2300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등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).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3)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연수가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으로 나누어 떨어지는 해는 무조건 윤년으로 한다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예를 들어 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, 2400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등</a:t>
                      </a:r>
                      <a:r>
                        <a:rPr lang="en-US" altLang="ko-KR" sz="16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).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510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588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CC157-A00B-2BBE-9778-68DDEFEF3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윤년 판별하기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if-else </a:t>
            </a:r>
            <a:r>
              <a:rPr lang="ko-KR" altLang="en-US" dirty="0"/>
              <a:t>조건문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900CCAB-27E8-D8BC-B811-38B29642208F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54969" y="1725613"/>
            <a:ext cx="8839200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1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0953"/>
          <a:stretch/>
        </p:blipFill>
        <p:spPr>
          <a:xfrm>
            <a:off x="1441814" y="2252096"/>
            <a:ext cx="9261413" cy="2707587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ko-KR" altLang="en-US" dirty="0"/>
              <a:t>많은 </a:t>
            </a:r>
            <a:r>
              <a:rPr lang="en-US" altLang="ko-KR" dirty="0"/>
              <a:t>if</a:t>
            </a:r>
            <a:r>
              <a:rPr lang="ko-KR" altLang="en-US" dirty="0"/>
              <a:t>문을 사용해 점수대별로 등급을 나누는 학점 </a:t>
            </a:r>
            <a:r>
              <a:rPr lang="ko-KR" altLang="en-US" dirty="0" err="1"/>
              <a:t>산출기</a:t>
            </a:r>
            <a:endParaRPr lang="en-US" altLang="ko-KR" dirty="0"/>
          </a:p>
          <a:p>
            <a:pPr lvl="1">
              <a:lnSpc>
                <a:spcPct val="130000"/>
              </a:lnSpc>
            </a:pPr>
            <a:r>
              <a:rPr lang="ko-KR" altLang="en-US" dirty="0"/>
              <a:t>여러 개의 </a:t>
            </a:r>
            <a:r>
              <a:rPr lang="en-US" altLang="ko-KR" dirty="0"/>
              <a:t>if</a:t>
            </a:r>
            <a:r>
              <a:rPr lang="ko-KR" altLang="en-US" dirty="0"/>
              <a:t>문과 </a:t>
            </a:r>
            <a:r>
              <a:rPr lang="en-US" altLang="ko-KR" dirty="0"/>
              <a:t>if</a:t>
            </a:r>
            <a:r>
              <a:rPr lang="ko-KR" altLang="en-US" dirty="0"/>
              <a:t>문 내의 </a:t>
            </a:r>
            <a:r>
              <a:rPr lang="en-US" altLang="ko-KR" dirty="0"/>
              <a:t>and </a:t>
            </a:r>
            <a:r>
              <a:rPr lang="ko-KR" altLang="en-US" dirty="0"/>
              <a:t>조건을 적용하여 문제를 해결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67326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787597" y="1128713"/>
            <a:ext cx="6573944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5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85D0D9-B182-68CC-6A6F-F5162391012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spc="-40" dirty="0"/>
              <a:t>이전에 살펴본 간단한 </a:t>
            </a:r>
            <a:r>
              <a:rPr lang="en-US" altLang="ko-KR" spc="-40" dirty="0"/>
              <a:t>if</a:t>
            </a:r>
            <a:r>
              <a:rPr lang="ko-KR" altLang="en-US" spc="-40" dirty="0"/>
              <a:t>문보다 모든 조건식을 전부 다 검사하는 비효율적인 동작을 함</a:t>
            </a:r>
            <a:r>
              <a:rPr lang="en-US" altLang="ko-KR" spc="-40" dirty="0"/>
              <a:t>.</a:t>
            </a:r>
          </a:p>
          <a:p>
            <a:pPr fontAlgn="base"/>
            <a:r>
              <a:rPr lang="ko-KR" altLang="en-US" dirty="0"/>
              <a:t>세 번째 조건문에서 다음과 같은 잘못된 조건식이 들어가도 한눈에 오류를 파악하기가 힘듦</a:t>
            </a:r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r>
              <a:rPr lang="ko-KR" altLang="en-US" dirty="0"/>
              <a:t>각각의 </a:t>
            </a:r>
            <a:r>
              <a:rPr lang="en-US" altLang="ko-KR" dirty="0"/>
              <a:t>if</a:t>
            </a:r>
            <a:r>
              <a:rPr lang="ko-KR" altLang="en-US" dirty="0"/>
              <a:t>문의 의미를 하나하나 파악해야 하기 때문에 오류의 가능성이 높아짐</a:t>
            </a:r>
            <a:endParaRPr lang="en-US" altLang="ko-KR" dirty="0"/>
          </a:p>
          <a:p>
            <a:pPr fontAlgn="base"/>
            <a:r>
              <a:rPr lang="ko-KR" altLang="en-US" dirty="0"/>
              <a:t>이를 해결하기 위하여 다음과 같이 </a:t>
            </a:r>
            <a:r>
              <a:rPr lang="en-US" altLang="ko-KR" dirty="0"/>
              <a:t>if-else </a:t>
            </a:r>
            <a:r>
              <a:rPr lang="ko-KR" altLang="en-US" dirty="0"/>
              <a:t>문을 적용</a:t>
            </a:r>
          </a:p>
          <a:p>
            <a:pPr fontAlgn="base"/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230" y="2355831"/>
            <a:ext cx="9638888" cy="111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93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6F035B2-E299-C2AD-5E46-3DC62FEBA503}"/>
              </a:ext>
            </a:extLst>
          </p:cNvPr>
          <p:cNvGrpSpPr/>
          <p:nvPr/>
        </p:nvGrpSpPr>
        <p:grpSpPr>
          <a:xfrm>
            <a:off x="982786" y="1164967"/>
            <a:ext cx="6863714" cy="4931033"/>
            <a:chOff x="902103" y="122267"/>
            <a:chExt cx="9040199" cy="649466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103" y="122267"/>
              <a:ext cx="9040199" cy="4695071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3"/>
            <a:srcRect t="4194"/>
            <a:stretch/>
          </p:blipFill>
          <p:spPr>
            <a:xfrm>
              <a:off x="902104" y="4372495"/>
              <a:ext cx="9040198" cy="22444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66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85D0D9-B182-68CC-6A6F-F5162391012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이전의 </a:t>
            </a:r>
            <a:r>
              <a:rPr lang="en-US" altLang="ko-KR" dirty="0"/>
              <a:t>if</a:t>
            </a:r>
            <a:r>
              <a:rPr lang="ko-KR" altLang="en-US" dirty="0"/>
              <a:t>문으로만 구성되어 있던 </a:t>
            </a:r>
            <a:r>
              <a:rPr lang="en-US" altLang="ko-KR" dirty="0"/>
              <a:t>[</a:t>
            </a:r>
            <a:r>
              <a:rPr lang="ko-KR" altLang="en-US" dirty="0"/>
              <a:t>코드 </a:t>
            </a:r>
            <a:r>
              <a:rPr lang="en-US" altLang="ko-KR" dirty="0"/>
              <a:t>3-15]</a:t>
            </a:r>
            <a:r>
              <a:rPr lang="ko-KR" altLang="en-US" dirty="0"/>
              <a:t>보다는 읽기가 </a:t>
            </a:r>
            <a:r>
              <a:rPr lang="ko-KR" altLang="en-US" dirty="0" err="1"/>
              <a:t>편해짐</a:t>
            </a:r>
            <a:endParaRPr lang="en-US" altLang="ko-KR" dirty="0"/>
          </a:p>
          <a:p>
            <a:pPr fontAlgn="base"/>
            <a:r>
              <a:rPr lang="ko-KR" altLang="en-US" dirty="0"/>
              <a:t>오류의 가능성도 이전에 비해서 줄어듦</a:t>
            </a:r>
            <a:endParaRPr lang="en-US" altLang="ko-KR" dirty="0"/>
          </a:p>
          <a:p>
            <a:pPr fontAlgn="base"/>
            <a:r>
              <a:rPr lang="en-US" altLang="ko-KR" dirty="0"/>
              <a:t>if-else</a:t>
            </a:r>
            <a:r>
              <a:rPr lang="ko-KR" altLang="en-US" dirty="0"/>
              <a:t>가 조건을 </a:t>
            </a:r>
            <a:r>
              <a:rPr lang="en-US" altLang="ko-KR" dirty="0"/>
              <a:t>2</a:t>
            </a:r>
            <a:r>
              <a:rPr lang="ko-KR" altLang="en-US" dirty="0"/>
              <a:t>개밖에 나타낼 수밖에 없기 때문에 가독성은 여전히 떨어짐</a:t>
            </a:r>
            <a:endParaRPr lang="en-US" altLang="ko-KR" dirty="0"/>
          </a:p>
          <a:p>
            <a:pPr fontAlgn="base"/>
            <a:r>
              <a:rPr lang="ko-KR" altLang="en-US" dirty="0"/>
              <a:t>조건이 여러 개인 경우 </a:t>
            </a:r>
            <a:r>
              <a:rPr lang="en-US" altLang="ko-KR" dirty="0"/>
              <a:t>if</a:t>
            </a:r>
            <a:r>
              <a:rPr lang="ko-KR" altLang="en-US" dirty="0"/>
              <a:t>문에서 </a:t>
            </a:r>
            <a:r>
              <a:rPr lang="en-US" altLang="ko-KR" dirty="0"/>
              <a:t>else</a:t>
            </a:r>
            <a:r>
              <a:rPr lang="ko-KR" altLang="en-US" dirty="0"/>
              <a:t>문까지 가기 전에 조건을 더 걸어줄 수는 없을까</a:t>
            </a:r>
            <a:r>
              <a:rPr lang="en-US" altLang="ko-KR" dirty="0"/>
              <a:t>?</a:t>
            </a:r>
          </a:p>
          <a:p>
            <a:pPr marL="179388" lvl="1" indent="0" fontAlgn="base">
              <a:buNone/>
            </a:pPr>
            <a:r>
              <a:rPr lang="en-US" altLang="ko-KR" dirty="0"/>
              <a:t>-&gt; </a:t>
            </a:r>
            <a:r>
              <a:rPr lang="en-US" altLang="ko-KR" b="1" dirty="0" err="1"/>
              <a:t>elif</a:t>
            </a:r>
            <a:r>
              <a:rPr lang="ko-KR" altLang="en-US" b="1" dirty="0"/>
              <a:t>문</a:t>
            </a:r>
            <a:r>
              <a:rPr lang="ko-KR" altLang="en-US" dirty="0"/>
              <a:t> </a:t>
            </a:r>
            <a:r>
              <a:rPr lang="ko-KR" altLang="en-US" b="1" dirty="0"/>
              <a:t>사용하기</a:t>
            </a:r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ko-KR" altLang="en-US" dirty="0"/>
          </a:p>
          <a:p>
            <a:pPr fontAlgn="base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404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973FD2-5F49-09DF-B213-E29C74964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if-else</a:t>
            </a:r>
            <a:r>
              <a:rPr lang="ko-KR" altLang="en-US" dirty="0"/>
              <a:t>문과 </a:t>
            </a:r>
            <a:r>
              <a:rPr lang="en-US" altLang="ko-KR" dirty="0" err="1"/>
              <a:t>elif</a:t>
            </a:r>
            <a:r>
              <a:rPr lang="ko-KR" altLang="en-US" dirty="0"/>
              <a:t>문의 비교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34F7A3-CB63-48BB-8973-D6CF9D69B18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왼쪽과 오른쪽의 코드는 동일</a:t>
            </a:r>
          </a:p>
          <a:p>
            <a:r>
              <a:rPr lang="ko-KR" altLang="en-US" dirty="0"/>
              <a:t>오른쪽의 코드가 들여쓰기도 더 적게 하고 줄의 수도 더 줄어들어 코드를 이해하기가 더 편리해짐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272" y="1614055"/>
            <a:ext cx="7805469" cy="287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0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764CC-DFA3-AE22-0EE6-5DE99AE3D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if-</a:t>
            </a:r>
            <a:r>
              <a:rPr lang="en-US" altLang="ko-KR" sz="2400" dirty="0" err="1"/>
              <a:t>elif</a:t>
            </a:r>
            <a:r>
              <a:rPr lang="en-US" altLang="ko-KR" sz="2400" dirty="0"/>
              <a:t>-else </a:t>
            </a:r>
            <a:r>
              <a:rPr lang="ko-KR" altLang="en-US" sz="2400" dirty="0"/>
              <a:t>문의 실행 흐름도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4422870" y="1700213"/>
            <a:ext cx="3303397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2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A1E6ADA1-2B51-719D-460A-06A9BD4A911D}"/>
              </a:ext>
            </a:extLst>
          </p:cNvPr>
          <p:cNvGrpSpPr/>
          <p:nvPr/>
        </p:nvGrpSpPr>
        <p:grpSpPr>
          <a:xfrm>
            <a:off x="904883" y="1343479"/>
            <a:ext cx="7782402" cy="4395800"/>
            <a:chOff x="760963" y="381005"/>
            <a:chExt cx="9264185" cy="523276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0963" y="381005"/>
              <a:ext cx="9254234" cy="3015089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3"/>
            <a:srcRect t="4956"/>
            <a:stretch/>
          </p:blipFill>
          <p:spPr>
            <a:xfrm>
              <a:off x="760963" y="3050741"/>
              <a:ext cx="9264185" cy="2563032"/>
            </a:xfrm>
            <a:prstGeom prst="rect">
              <a:avLst/>
            </a:prstGeom>
          </p:spPr>
        </p:pic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93" y="4495856"/>
            <a:ext cx="6169927" cy="162257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234367A-1633-612D-5D09-AB38E64F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52229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E019BF-9425-B9B8-3234-07EC8ED52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if-</a:t>
            </a:r>
            <a:r>
              <a:rPr lang="en-US" altLang="ko-KR" sz="2400" dirty="0" err="1"/>
              <a:t>elif</a:t>
            </a:r>
            <a:r>
              <a:rPr lang="en-US" altLang="ko-KR" sz="2400" dirty="0"/>
              <a:t>-else</a:t>
            </a:r>
            <a:r>
              <a:rPr lang="ko-KR" altLang="en-US" sz="2400" dirty="0"/>
              <a:t>문의 구조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9507200" cy="337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33628" y="1916832"/>
            <a:ext cx="4139099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score </a:t>
            </a:r>
            <a:r>
              <a:rPr lang="ko-KR" altLang="en-US"/>
              <a:t>변수의 값이 </a:t>
            </a:r>
            <a:r>
              <a:rPr lang="en-US" altLang="ko-KR"/>
              <a:t>88</a:t>
            </a:r>
            <a:r>
              <a:rPr lang="ko-KR" altLang="en-US"/>
              <a:t>이면 다음과 같은 실행 흐름을 가지게 된다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37F62E6-B598-35DB-036C-ADD25E24B7BC}"/>
              </a:ext>
            </a:extLst>
          </p:cNvPr>
          <p:cNvGrpSpPr/>
          <p:nvPr/>
        </p:nvGrpSpPr>
        <p:grpSpPr>
          <a:xfrm>
            <a:off x="3703178" y="1466874"/>
            <a:ext cx="5980796" cy="4266382"/>
            <a:chOff x="2402729" y="1295400"/>
            <a:chExt cx="7142873" cy="509534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9536" y="1295400"/>
              <a:ext cx="4276066" cy="5095346"/>
            </a:xfrm>
            <a:prstGeom prst="rect">
              <a:avLst/>
            </a:prstGeom>
          </p:spPr>
        </p:pic>
        <p:cxnSp>
          <p:nvCxnSpPr>
            <p:cNvPr id="8" name="직선 화살표 연결선 7"/>
            <p:cNvCxnSpPr>
              <a:cxnSpLocks/>
              <a:stCxn id="7" idx="2"/>
            </p:cNvCxnSpPr>
            <p:nvPr/>
          </p:nvCxnSpPr>
          <p:spPr>
            <a:xfrm>
              <a:off x="2402729" y="2604699"/>
              <a:ext cx="3243838" cy="5578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010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9882F-3CD9-BD15-3583-8AEEBE5A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406566" y="1128713"/>
            <a:ext cx="9336006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41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9882F-3CD9-BD15-3583-8AEEBE5A4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3.4 if-</a:t>
            </a:r>
            <a:r>
              <a:rPr lang="en-US" altLang="ko-KR" dirty="0" err="1"/>
              <a:t>elif</a:t>
            </a:r>
            <a:r>
              <a:rPr lang="en-US" altLang="ko-KR" dirty="0"/>
              <a:t>-else </a:t>
            </a:r>
            <a:r>
              <a:rPr lang="ko-KR" altLang="en-US" dirty="0"/>
              <a:t>문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835B00F-078F-6487-91A9-3301B314FCFC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457180" y="1128713"/>
            <a:ext cx="9234777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2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4845911" y="1144617"/>
            <a:ext cx="6819099" cy="2387600"/>
          </a:xfrm>
        </p:spPr>
        <p:txBody>
          <a:bodyPr/>
          <a:lstStyle/>
          <a:p>
            <a:r>
              <a:rPr lang="en-US" altLang="ko-KR" dirty="0"/>
              <a:t>Questions?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98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6530</TotalTime>
  <Words>1217</Words>
  <Application>Microsoft Office PowerPoint</Application>
  <PresentationFormat>와이드스크린</PresentationFormat>
  <Paragraphs>200</Paragraphs>
  <Slides>57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1" baseType="lpstr">
      <vt:lpstr>D2Coding</vt:lpstr>
      <vt:lpstr>Arial</vt:lpstr>
      <vt:lpstr>맑은 고딕</vt:lpstr>
      <vt:lpstr>Office 테마</vt:lpstr>
      <vt:lpstr>PowerPoint 프레젠테이션</vt:lpstr>
      <vt:lpstr>PowerPoint 프레젠테이션</vt:lpstr>
      <vt:lpstr>3.1 순차문sequential statements</vt:lpstr>
      <vt:lpstr>3.1 순차문sequential statements</vt:lpstr>
      <vt:lpstr>3.1 순차문sequential statements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3.2 if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3.3 if-else 조건문</vt:lpstr>
      <vt:lpstr>3.4 if-elif-else 문</vt:lpstr>
      <vt:lpstr>3.4 if-elif-else 문</vt:lpstr>
      <vt:lpstr>3.4 if-elif-else 문</vt:lpstr>
      <vt:lpstr>3.4 if-elif-else 문</vt:lpstr>
      <vt:lpstr>3.4 if-elif-else 문</vt:lpstr>
      <vt:lpstr>3.4 if-elif-else 문</vt:lpstr>
      <vt:lpstr>3.4 if-elif-else 문</vt:lpstr>
      <vt:lpstr>3.4 if-elif-else 문</vt:lpstr>
      <vt:lpstr>3.4 if-elif-else 문</vt:lpstr>
      <vt:lpstr>3.4 if-elif-else 문</vt:lpstr>
      <vt:lpstr>3.4 if-elif-else 문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쫄깃한 파이썬</dc:title>
  <dc:creator>dongupak</dc:creator>
  <cp:lastModifiedBy>명하나</cp:lastModifiedBy>
  <cp:revision>199</cp:revision>
  <dcterms:created xsi:type="dcterms:W3CDTF">2019-07-01T11:22:40Z</dcterms:created>
  <dcterms:modified xsi:type="dcterms:W3CDTF">2024-07-31T02:32:08Z</dcterms:modified>
</cp:coreProperties>
</file>