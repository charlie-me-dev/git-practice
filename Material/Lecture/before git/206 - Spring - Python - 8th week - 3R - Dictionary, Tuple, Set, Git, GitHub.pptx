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63" r:id="rId3"/>
    <p:sldId id="264" r:id="rId4"/>
    <p:sldId id="265" r:id="rId5"/>
    <p:sldId id="266" r:id="rId6"/>
    <p:sldId id="272" r:id="rId7"/>
    <p:sldId id="267" r:id="rId8"/>
    <p:sldId id="260" r:id="rId9"/>
    <p:sldId id="256" r:id="rId10"/>
    <p:sldId id="262" r:id="rId11"/>
    <p:sldId id="261" r:id="rId12"/>
    <p:sldId id="270" r:id="rId13"/>
    <p:sldId id="271" r:id="rId14"/>
    <p:sldId id="273" r:id="rId15"/>
    <p:sldId id="274" r:id="rId16"/>
    <p:sldId id="275" r:id="rId17"/>
    <p:sldId id="276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48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153E8-3A06-4581-806A-32EEBCB1EF91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EAF78-44B3-4634-A39C-172426C579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19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301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3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21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arak.yes24.com/blog/nanhmjjang/review-view/12557505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medium.com/@sujanaddy98/how-git-works-a-visual-guide-with-code-b4edf2694298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ko-kr/credentials/certifications/resources/study-guides/gh-900" TargetMode="External"/><Relationship Id="rId3" Type="http://schemas.openxmlformats.org/officeDocument/2006/relationships/hyperlink" Target="https://docs.github.com/ko/get-started" TargetMode="External"/><Relationship Id="rId7" Type="http://schemas.openxmlformats.org/officeDocument/2006/relationships/hyperlink" Target="https://www.youtube.com/playlist?list=PLahhVEj9XNTf5iQVK_80RdvTju7ov6RYy" TargetMode="External"/><Relationship Id="rId2" Type="http://schemas.openxmlformats.org/officeDocument/2006/relationships/hyperlink" Target="https://cs50.harvard.edu/hls/2020/winter/seminars/Git%20and%20GitHub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tlassian.com/git" TargetMode="External"/><Relationship Id="rId5" Type="http://schemas.openxmlformats.org/officeDocument/2006/relationships/hyperlink" Target="https://learn.github.com/" TargetMode="External"/><Relationship Id="rId4" Type="http://schemas.openxmlformats.org/officeDocument/2006/relationships/hyperlink" Target="https://missing-semester-kr.github.io/" TargetMode="External"/><Relationship Id="rId9" Type="http://schemas.openxmlformats.org/officeDocument/2006/relationships/hyperlink" Target="https://twoseed.atlassian.net/wiki/spaces/OPS/pages/666792/Gi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sportskeeda.com/baseball/5-major-achievements-shohei-ohtani-incredible-2024-season-ft-first-50-50-record-mlb-history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superookie.com/contents/58ad51348b129f715f45c49f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6017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100" b="1" kern="0" spc="4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MIDTERM  ·  중간고사를 마치고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74520" y="2000250"/>
            <a:ext cx="868680" cy="868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2256282"/>
            <a:ext cx="356616" cy="356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37660" y="200025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2256282"/>
            <a:ext cx="356616" cy="3566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0" y="2000250"/>
            <a:ext cx="868680" cy="8686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256282"/>
            <a:ext cx="356616" cy="3566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18897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Reset. Restart. Refocus.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57200" y="405765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재설정 · 재시작 · 재집중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57200" y="474345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4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midterm is data, not a verdict.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57200" y="50634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300" i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중간고사는 판정이 아니라 정보입니다.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57200" y="561213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000" dirty="0">
                <a:solidFill>
                  <a:srgbClr val="5B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 &amp; SW Coding  ·  컴퓨팅사고와 SW코딩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2301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8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305181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52978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7477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444169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재설정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9263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GO OF THE PAST  ·  과거 내려놓기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31920" y="1405890"/>
            <a:ext cx="18288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97680" y="140589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result down.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97680" y="204597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5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잠시 내려놓으세요.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0492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317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is a snapshot, not your identity.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26280" y="30243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점수는 한 순간일 뿐, 여러분 자체가 아닙니다.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9072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34175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replaying the exam in your head.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26280" y="37101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장면을 계속 곱씹지 마세요.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7652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26280" y="41033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coast on a good grade either.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526280" y="43959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점수에 안주해서도 안 됩니다.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297680" y="501777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297680" y="5017770"/>
            <a:ext cx="54864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462272" y="506349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grade is information. It is not a judgment of you.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462272" y="533781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점수는 정보입니다. 여러분에 대한 심판이 아닙니다.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38160" y="570357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2301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8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305181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52978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7477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444169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재시작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9263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AGAIN NOW  ·  지금 다시 시작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31920" y="1405890"/>
            <a:ext cx="18288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97680" y="140589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continuing — you're beginning again.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97680" y="204597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5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계속하는 것이 아니라, 다시 시작하는 것입니다.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0492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317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you learned about the course and yourself.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26280" y="30243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수업과 나 자신에 대해 배운 것을 활용하세요.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9072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34175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one weak topic this week — not all at once.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26280" y="37101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주에 부족한 주제 하나만 복습하세요.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7652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26280" y="41033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study habits that actually fit your life.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526280" y="43959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나에게 맞는 공부 습관을 다시 만드세요.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297680" y="501777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297680" y="5017770"/>
            <a:ext cx="54864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462272" y="506349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steady restarts beat dramatic comebacks.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462272" y="533781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극적인 반전보다 작고 꾸준한 재시작이 강합니다.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38160" y="570357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2301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8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3051810"/>
            <a:ext cx="685800" cy="6858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52978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7477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Refocus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444169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재집중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9263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AT WHAT'S AHEAD  ·  앞을 향하여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31920" y="1405890"/>
            <a:ext cx="18288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97680" y="140589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your attention to what matters now.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97680" y="204597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500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중요한 것에 집중하세요.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0492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317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shifts: from syntax to building real projects.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26280" y="30243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수업의 중심이 문법에서 실제 프로젝트로 이동합니다.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9072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34175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proposal &gt; memorizing one more for-loop.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26280" y="37101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제안서가 for문 암기보다 중요합니다.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7652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26280" y="410337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early, debug often, ship something you're proud of.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526280" y="439597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일찍 질문하고, 자주 디버깅하고, 자랑스러운 결과물을 만드세요.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297680" y="501777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297680" y="5017770"/>
            <a:ext cx="54864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defTabSz="914400"/>
            <a:endParaRPr lang="ko-KR" altLang="en-US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462272" y="506349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half rewards builders, not just test-takers.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462272" y="533781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 후반은 시험 잘 보는 사람이 아니라 만드는 사람의 시간입니다.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38160" y="570357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725DB6-3915-9A5C-434A-A8199C335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13" y="0"/>
            <a:ext cx="4677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1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FD9D-980C-FADA-D26F-95B5F256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D2B66-6EDD-9961-78AB-F735B4D3AE5A}"/>
              </a:ext>
            </a:extLst>
          </p:cNvPr>
          <p:cNvSpPr txBox="1"/>
          <p:nvPr/>
        </p:nvSpPr>
        <p:spPr>
          <a:xfrm>
            <a:off x="914400" y="548640"/>
            <a:ext cx="436645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22222"/>
                </a:solidFill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week’s objectives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A5519C-7E6D-DFE3-288D-662BA164522B}"/>
              </a:ext>
            </a:extLst>
          </p:cNvPr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1CC76-2E6E-FE1A-FD75-8E3AED3B3F24}"/>
              </a:ext>
            </a:extLst>
          </p:cNvPr>
          <p:cNvSpPr txBox="1"/>
          <p:nvPr/>
        </p:nvSpPr>
        <p:spPr>
          <a:xfrm>
            <a:off x="1097280" y="2011680"/>
            <a:ext cx="2569934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Git &amp; GitHub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dictionary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tuple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set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 err="1"/>
              <a:t>iterable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zip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onsolas"/>
              </a:defRPr>
            </a:pPr>
            <a:r>
              <a:rPr lang="en-US" dirty="0"/>
              <a:t>Big O</a:t>
            </a:r>
          </a:p>
        </p:txBody>
      </p:sp>
    </p:spTree>
    <p:extLst>
      <p:ext uri="{BB962C8B-B14F-4D97-AF65-F5344CB8AC3E}">
        <p14:creationId xmlns:p14="http://schemas.microsoft.com/office/powerpoint/2010/main" val="1406840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9FD4-EA22-C88C-43B8-9BED8DC7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03A1B-6124-D0EA-E3E8-9AD16B6AA625}"/>
              </a:ext>
            </a:extLst>
          </p:cNvPr>
          <p:cNvSpPr txBox="1"/>
          <p:nvPr/>
        </p:nvSpPr>
        <p:spPr>
          <a:xfrm>
            <a:off x="2979259" y="2194560"/>
            <a:ext cx="318548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22222"/>
                </a:solidFill>
              </a:defRPr>
            </a:pPr>
            <a:r>
              <a:rPr lang="en-US" dirty="0"/>
              <a:t>Git &amp; GitHub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E9657-6BAC-6110-0D31-E081C2AC33C5}"/>
              </a:ext>
            </a:extLst>
          </p:cNvPr>
          <p:cNvSpPr/>
          <p:nvPr/>
        </p:nvSpPr>
        <p:spPr>
          <a:xfrm>
            <a:off x="1828800" y="3657600"/>
            <a:ext cx="54864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9661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0210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rPr lang="en-US" altLang="ko-KR" dirty="0"/>
              <a:t>Real Problem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947135-67F3-4259-6887-675FDF73A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695450"/>
            <a:ext cx="7505700" cy="346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39439A-29D4-0AA2-E562-F772AA728BD2}"/>
              </a:ext>
            </a:extLst>
          </p:cNvPr>
          <p:cNvSpPr txBox="1"/>
          <p:nvPr/>
        </p:nvSpPr>
        <p:spPr>
          <a:xfrm>
            <a:off x="819150" y="5533534"/>
            <a:ext cx="750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: </a:t>
            </a:r>
            <a:r>
              <a:rPr lang="en-US" altLang="ko-KR" dirty="0">
                <a:hlinkClick r:id="rId3"/>
              </a:rPr>
              <a:t>https://sarak.yes24.com/blog/nanhmjjang/review-view/12557505</a:t>
            </a:r>
            <a:endParaRPr lang="en-US" altLang="ko-K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DDB4-E372-2449-491F-7026622D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11DBD7-DAB5-925F-B983-3721CBCC15A3}"/>
              </a:ext>
            </a:extLst>
          </p:cNvPr>
          <p:cNvSpPr txBox="1"/>
          <p:nvPr/>
        </p:nvSpPr>
        <p:spPr>
          <a:xfrm>
            <a:off x="914400" y="548640"/>
            <a:ext cx="478227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rPr lang="en-US" dirty="0"/>
              <a:t>Git solve the problem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E505F-F525-C014-BDE5-87FDE7A31B29}"/>
              </a:ext>
            </a:extLst>
          </p:cNvPr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F1FD-B653-9FF9-D785-81BDE749947E}"/>
              </a:ext>
            </a:extLst>
          </p:cNvPr>
          <p:cNvSpPr txBox="1"/>
          <p:nvPr/>
        </p:nvSpPr>
        <p:spPr>
          <a:xfrm>
            <a:off x="-37707" y="6363093"/>
            <a:ext cx="949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: </a:t>
            </a:r>
            <a:r>
              <a:rPr lang="en-US" altLang="ko-KR" dirty="0">
                <a:hlinkClick r:id="rId2"/>
              </a:rPr>
              <a:t>https://medium.com/@sujanaddy98/how-git-works-a-visual-guide-with-code-b4edf2694298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E3FC36-9EA2-89D6-D218-06C6DC4F9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822" y="1603514"/>
            <a:ext cx="3966355" cy="461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8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FCAC-8147-EEB4-D5CA-57863B7E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F43591-97BC-94D5-4C2E-B8253F524C16}"/>
              </a:ext>
            </a:extLst>
          </p:cNvPr>
          <p:cNvSpPr txBox="1"/>
          <p:nvPr/>
        </p:nvSpPr>
        <p:spPr>
          <a:xfrm>
            <a:off x="914400" y="548640"/>
            <a:ext cx="46743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rPr lang="en-US" dirty="0"/>
              <a:t>Additional Resources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87C59-B4AB-555A-45C9-8BDB88446605}"/>
              </a:ext>
            </a:extLst>
          </p:cNvPr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8E382-B59A-416B-6E90-29A82EF06D50}"/>
              </a:ext>
            </a:extLst>
          </p:cNvPr>
          <p:cNvSpPr txBox="1"/>
          <p:nvPr/>
        </p:nvSpPr>
        <p:spPr>
          <a:xfrm>
            <a:off x="914400" y="1920240"/>
            <a:ext cx="73152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altLang="ko-KR" sz="2600" dirty="0">
                <a:hlinkClick r:id="rId2"/>
              </a:rPr>
              <a:t>Git and GitHub.pdf</a:t>
            </a:r>
            <a:endParaRPr lang="en-US" dirty="0">
              <a:hlinkClick r:id="rId3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dirty="0">
                <a:hlinkClick r:id="rId3"/>
              </a:rPr>
              <a:t>https://docs.github.com/ko/get-started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dirty="0">
                <a:hlinkClick r:id="rId4"/>
              </a:rPr>
              <a:t>https://missing-semester-kr.github.io/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dirty="0">
                <a:hlinkClick r:id="rId5"/>
              </a:rPr>
              <a:t>https://learn.github.com/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dirty="0">
                <a:hlinkClick r:id="rId6"/>
              </a:rPr>
              <a:t>https://www.atlassian.com/git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altLang="ko-KR" sz="2600" dirty="0">
                <a:hlinkClick r:id="rId7"/>
              </a:rPr>
              <a:t>GH-900: GitHub Foundations - YouTube</a:t>
            </a:r>
            <a:endParaRPr lang="en-US" altLang="ko-KR" sz="2600" dirty="0">
              <a:hlinkClick r:id="rId8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ko-KR" altLang="en-US" sz="2600" dirty="0">
                <a:hlinkClick r:id="rId8"/>
              </a:rPr>
              <a:t>시험 </a:t>
            </a:r>
            <a:r>
              <a:rPr lang="en-US" altLang="ko-KR" sz="2600" dirty="0">
                <a:hlinkClick r:id="rId8"/>
              </a:rPr>
              <a:t>GH-900</a:t>
            </a:r>
            <a:r>
              <a:rPr lang="ko-KR" altLang="en-US" sz="2600" dirty="0">
                <a:hlinkClick r:id="rId8"/>
              </a:rPr>
              <a:t>에 대한 연구 가이드</a:t>
            </a:r>
            <a:r>
              <a:rPr lang="en-US" altLang="ko-KR" sz="2600" dirty="0">
                <a:hlinkClick r:id="rId8"/>
              </a:rPr>
              <a:t>: GitHub Foundations | Microsoft Learn</a:t>
            </a:r>
            <a:endParaRPr lang="en-US" altLang="ko-KR" sz="2600" dirty="0"/>
          </a:p>
          <a:p>
            <a:pPr marL="457200" indent="-457200">
              <a:buFont typeface="Arial" panose="020B0604020202020204" pitchFamily="34" charset="0"/>
              <a:buChar char="•"/>
              <a:defRPr sz="2600">
                <a:solidFill>
                  <a:srgbClr val="333333"/>
                </a:solidFill>
              </a:defRPr>
            </a:pPr>
            <a:r>
              <a:rPr lang="en-US" dirty="0">
                <a:hlinkClick r:id="rId9"/>
              </a:rPr>
              <a:t>https://twoseed.atlassian.net/wiki/spaces/OPS/pages/666792/Git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5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1A47-D819-04CD-D34F-62605D60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A667E-007C-7D6A-74BA-6F25170A92A7}"/>
              </a:ext>
            </a:extLst>
          </p:cNvPr>
          <p:cNvSpPr txBox="1"/>
          <p:nvPr/>
        </p:nvSpPr>
        <p:spPr>
          <a:xfrm>
            <a:off x="914400" y="548640"/>
            <a:ext cx="319978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rPr lang="en-US" dirty="0"/>
              <a:t>Ohtani Shohei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7DA67-F7EB-F797-D922-20963D2CE994}"/>
              </a:ext>
            </a:extLst>
          </p:cNvPr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F2E7E-EE3F-3621-0A7C-E40255089167}"/>
              </a:ext>
            </a:extLst>
          </p:cNvPr>
          <p:cNvSpPr txBox="1"/>
          <p:nvPr/>
        </p:nvSpPr>
        <p:spPr>
          <a:xfrm>
            <a:off x="395926" y="5944097"/>
            <a:ext cx="8748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https://www.sportskeeda.com/baseball/5-major-achievements-shohei-ohtani-incredible-2024-season-ft-first-50-50-record-mlb-history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17B76B-A397-5E02-357D-F329162E0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2064581"/>
            <a:ext cx="65341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1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07C3-2A82-A1EA-A6D9-0EB1AA26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427DC-5FB8-A620-2D7F-C84D06E2582A}"/>
              </a:ext>
            </a:extLst>
          </p:cNvPr>
          <p:cNvSpPr txBox="1"/>
          <p:nvPr/>
        </p:nvSpPr>
        <p:spPr>
          <a:xfrm>
            <a:off x="914400" y="548640"/>
            <a:ext cx="43090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rPr lang="en-US" dirty="0"/>
              <a:t>Ohtani’s </a:t>
            </a:r>
            <a:r>
              <a:rPr lang="en-US" dirty="0" err="1"/>
              <a:t>Mandalart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E6FFE-CD79-217F-32A4-50D8D70A4E87}"/>
              </a:ext>
            </a:extLst>
          </p:cNvPr>
          <p:cNvSpPr/>
          <p:nvPr/>
        </p:nvSpPr>
        <p:spPr>
          <a:xfrm>
            <a:off x="914400" y="1417320"/>
            <a:ext cx="7315200" cy="2540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99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910B3-71BD-98B6-4F6D-9306E768728B}"/>
              </a:ext>
            </a:extLst>
          </p:cNvPr>
          <p:cNvSpPr txBox="1"/>
          <p:nvPr/>
        </p:nvSpPr>
        <p:spPr>
          <a:xfrm>
            <a:off x="509047" y="6346240"/>
            <a:ext cx="874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https://www.superookie.com/contents/58ad51348b129f715f45c49f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7722A5-235C-B858-8F82-5B2DCCC7B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93" y="1480951"/>
            <a:ext cx="5723641" cy="492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B42442-7A0E-D2B4-4AEA-B89E08664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3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FDE7F4-41D5-0FA1-BC27-FB7C0CE9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8"/>
            <a:ext cx="9144000" cy="685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9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9319DC-AF0B-B775-F79A-63F70E56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0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13D7CA-7D2C-CFFB-AB71-6678689E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28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222809-5712-EA5A-876B-D930BBB5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491</Words>
  <Application>Microsoft Office PowerPoint</Application>
  <PresentationFormat>화면 슬라이드 쇼(4:3)</PresentationFormat>
  <Paragraphs>81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Cambria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An</cp:lastModifiedBy>
  <cp:revision>8</cp:revision>
  <dcterms:created xsi:type="dcterms:W3CDTF">2013-01-27T09:14:16Z</dcterms:created>
  <dcterms:modified xsi:type="dcterms:W3CDTF">2026-04-23T08:53:59Z</dcterms:modified>
  <cp:category/>
</cp:coreProperties>
</file>