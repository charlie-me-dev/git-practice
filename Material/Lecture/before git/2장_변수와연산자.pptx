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61" r:id="rId2"/>
    <p:sldId id="359" r:id="rId3"/>
    <p:sldId id="258" r:id="rId4"/>
    <p:sldId id="413" r:id="rId5"/>
    <p:sldId id="360" r:id="rId6"/>
    <p:sldId id="414" r:id="rId7"/>
    <p:sldId id="358" r:id="rId8"/>
    <p:sldId id="415" r:id="rId9"/>
    <p:sldId id="416" r:id="rId10"/>
    <p:sldId id="276" r:id="rId11"/>
    <p:sldId id="314" r:id="rId12"/>
    <p:sldId id="409" r:id="rId13"/>
    <p:sldId id="315" r:id="rId14"/>
    <p:sldId id="277" r:id="rId15"/>
    <p:sldId id="417" r:id="rId16"/>
    <p:sldId id="410" r:id="rId17"/>
    <p:sldId id="301" r:id="rId18"/>
    <p:sldId id="302" r:id="rId19"/>
    <p:sldId id="316" r:id="rId20"/>
    <p:sldId id="418" r:id="rId21"/>
    <p:sldId id="318" r:id="rId22"/>
    <p:sldId id="303" r:id="rId23"/>
    <p:sldId id="260" r:id="rId24"/>
    <p:sldId id="419" r:id="rId25"/>
    <p:sldId id="304" r:id="rId26"/>
    <p:sldId id="420" r:id="rId27"/>
    <p:sldId id="421" r:id="rId28"/>
    <p:sldId id="263" r:id="rId29"/>
    <p:sldId id="422" r:id="rId30"/>
    <p:sldId id="309" r:id="rId31"/>
    <p:sldId id="423" r:id="rId32"/>
    <p:sldId id="279" r:id="rId33"/>
    <p:sldId id="424" r:id="rId34"/>
    <p:sldId id="425" r:id="rId35"/>
    <p:sldId id="306" r:id="rId36"/>
    <p:sldId id="307" r:id="rId37"/>
    <p:sldId id="265" r:id="rId38"/>
    <p:sldId id="281" r:id="rId39"/>
    <p:sldId id="308" r:id="rId40"/>
    <p:sldId id="369" r:id="rId41"/>
    <p:sldId id="282" r:id="rId42"/>
    <p:sldId id="426" r:id="rId43"/>
    <p:sldId id="319" r:id="rId44"/>
    <p:sldId id="266" r:id="rId45"/>
    <p:sldId id="320" r:id="rId46"/>
    <p:sldId id="323" r:id="rId47"/>
    <p:sldId id="322" r:id="rId48"/>
    <p:sldId id="324" r:id="rId49"/>
    <p:sldId id="284" r:id="rId50"/>
    <p:sldId id="326" r:id="rId51"/>
    <p:sldId id="327" r:id="rId52"/>
    <p:sldId id="328" r:id="rId53"/>
    <p:sldId id="285" r:id="rId54"/>
    <p:sldId id="329" r:id="rId55"/>
    <p:sldId id="286" r:id="rId56"/>
    <p:sldId id="330" r:id="rId57"/>
    <p:sldId id="370" r:id="rId58"/>
    <p:sldId id="427" r:id="rId59"/>
    <p:sldId id="428" r:id="rId60"/>
    <p:sldId id="429" r:id="rId61"/>
    <p:sldId id="430" r:id="rId62"/>
    <p:sldId id="431" r:id="rId63"/>
    <p:sldId id="432" r:id="rId64"/>
    <p:sldId id="334" r:id="rId65"/>
    <p:sldId id="433" r:id="rId66"/>
    <p:sldId id="336" r:id="rId67"/>
    <p:sldId id="377" r:id="rId68"/>
    <p:sldId id="382" r:id="rId69"/>
    <p:sldId id="289" r:id="rId70"/>
    <p:sldId id="378" r:id="rId71"/>
    <p:sldId id="435" r:id="rId72"/>
    <p:sldId id="436" r:id="rId73"/>
    <p:sldId id="437" r:id="rId74"/>
    <p:sldId id="438" r:id="rId75"/>
    <p:sldId id="337" r:id="rId76"/>
    <p:sldId id="439" r:id="rId77"/>
    <p:sldId id="340" r:id="rId78"/>
    <p:sldId id="440" r:id="rId79"/>
    <p:sldId id="441" r:id="rId80"/>
    <p:sldId id="442" r:id="rId81"/>
    <p:sldId id="342" r:id="rId82"/>
    <p:sldId id="443" r:id="rId83"/>
    <p:sldId id="444" r:id="rId84"/>
    <p:sldId id="445" r:id="rId85"/>
    <p:sldId id="446" r:id="rId86"/>
    <p:sldId id="447" r:id="rId87"/>
    <p:sldId id="448" r:id="rId88"/>
    <p:sldId id="347" r:id="rId89"/>
    <p:sldId id="449" r:id="rId90"/>
    <p:sldId id="295" r:id="rId91"/>
    <p:sldId id="450" r:id="rId92"/>
    <p:sldId id="451" r:id="rId93"/>
    <p:sldId id="406" r:id="rId94"/>
    <p:sldId id="452" r:id="rId95"/>
    <p:sldId id="349" r:id="rId96"/>
    <p:sldId id="351" r:id="rId97"/>
    <p:sldId id="453" r:id="rId98"/>
    <p:sldId id="454" r:id="rId99"/>
    <p:sldId id="352" r:id="rId100"/>
    <p:sldId id="456" r:id="rId101"/>
    <p:sldId id="457" r:id="rId102"/>
    <p:sldId id="458" r:id="rId103"/>
    <p:sldId id="459" r:id="rId104"/>
    <p:sldId id="357" r:id="rId105"/>
    <p:sldId id="460" r:id="rId106"/>
    <p:sldId id="398" r:id="rId107"/>
    <p:sldId id="400" r:id="rId108"/>
    <p:sldId id="405" r:id="rId10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9" clrIdx="0"/>
  <p:cmAuthor id="2" name="etoile_97@naver.com" initials="e" lastIdx="1" clrIdx="1">
    <p:extLst>
      <p:ext uri="{19B8F6BF-5375-455C-9EA6-DF929625EA0E}">
        <p15:presenceInfo xmlns:p15="http://schemas.microsoft.com/office/powerpoint/2012/main" userId="8d086ebd96bf47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6F4"/>
    <a:srgbClr val="B5CAE7"/>
    <a:srgbClr val="99FFCC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7" autoAdjust="0"/>
    <p:restoredTop sz="96256" autoAdjust="0"/>
  </p:normalViewPr>
  <p:slideViewPr>
    <p:cSldViewPr snapToGrid="0">
      <p:cViewPr varScale="1">
        <p:scale>
          <a:sx n="115" d="100"/>
          <a:sy n="115" d="100"/>
        </p:scale>
        <p:origin x="31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3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commentAuthors" Target="comment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69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0640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7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8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6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 smtClean="0"/>
              <a:t> 변수와 연산자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1971262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591176" y="517586"/>
            <a:ext cx="11054621" cy="5777447"/>
            <a:chOff x="1043098" y="4462353"/>
            <a:chExt cx="6985286" cy="1832681"/>
          </a:xfrm>
        </p:grpSpPr>
        <p:sp>
          <p:nvSpPr>
            <p:cNvPr id="5" name="모서리가 둥근 직사각형 2"/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1043608" y="4481073"/>
              <a:ext cx="6984776" cy="1813961"/>
              <a:chOff x="643260" y="2641203"/>
              <a:chExt cx="6984776" cy="1813961"/>
            </a:xfrm>
          </p:grpSpPr>
          <p:sp>
            <p:nvSpPr>
              <p:cNvPr id="7" name="직사각형 6"/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 dirty="0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직사각형 32"/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" name="직사각형 23"/>
              <p:cNvSpPr>
                <a:spLocks noChangeArrowheads="1"/>
              </p:cNvSpPr>
              <p:nvPr/>
            </p:nvSpPr>
            <p:spPr bwMode="auto">
              <a:xfrm>
                <a:off x="859284" y="2856461"/>
                <a:ext cx="6696744" cy="9104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 dirty="0"/>
                  <a:t>print() </a:t>
                </a:r>
                <a:r>
                  <a:rPr lang="ko-KR" altLang="en-US" sz="1600" dirty="0"/>
                  <a:t>함수의 사용법을 자세히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변수의 개념과 사용법에 대해 이해한다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변수의 </a:t>
                </a:r>
                <a:r>
                  <a:rPr lang="ko-KR" altLang="en-US" sz="1600" dirty="0" err="1"/>
                  <a:t>자료형에</a:t>
                </a:r>
                <a:r>
                  <a:rPr lang="ko-KR" altLang="en-US" sz="1600" dirty="0"/>
                  <a:t> 대해 이해한다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식별자란</a:t>
                </a:r>
                <a:r>
                  <a:rPr lang="ko-KR" altLang="en-US" sz="1600" dirty="0"/>
                  <a:t> 무엇인지 알아보고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식별자</a:t>
                </a:r>
                <a:r>
                  <a:rPr lang="ko-KR" altLang="en-US" sz="1600" dirty="0"/>
                  <a:t> 이름을 짓는 규칙에 대해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키워드란</a:t>
                </a:r>
                <a:r>
                  <a:rPr lang="ko-KR" altLang="en-US" sz="1600" dirty="0"/>
                  <a:t> 무엇인가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연산자의 개념과 종류에 대해 알아본다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문자열을 사용할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주석문의</a:t>
                </a:r>
                <a:r>
                  <a:rPr lang="ko-KR" altLang="en-US" sz="1600" dirty="0"/>
                  <a:t> 개념과 사용법에 대해 알아본다</a:t>
                </a:r>
                <a:r>
                  <a:rPr lang="en-US" altLang="ko-KR" sz="1600" dirty="0"/>
                  <a:t>.</a:t>
                </a:r>
                <a:endParaRPr lang="en-US" altLang="ko-KR" sz="1600" spc="-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38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장의 내용을 복습해 보자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print() </a:t>
            </a:r>
            <a:r>
              <a:rPr lang="ko-KR" altLang="en-US" dirty="0"/>
              <a:t>함수를 통해서 </a:t>
            </a:r>
            <a:r>
              <a:rPr lang="ko-KR" altLang="en-US" dirty="0" err="1"/>
              <a:t>파이썬</a:t>
            </a:r>
            <a:r>
              <a:rPr lang="ko-KR" altLang="en-US" dirty="0"/>
              <a:t> 코드가 수행한 내용을 화면에 출력해 볼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대화식 실행 모드와 스크립트 파일 실행 모드가 있다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 err="1"/>
              <a:t>파이썬의</a:t>
            </a:r>
            <a:r>
              <a:rPr lang="ko-KR" altLang="en-US" dirty="0"/>
              <a:t> 출력 함수 </a:t>
            </a:r>
            <a:r>
              <a:rPr lang="en-US" altLang="ko-KR" dirty="0"/>
              <a:t>print()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719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대화식 실행모드</a:t>
            </a:r>
          </a:p>
          <a:p>
            <a:pPr lvl="1"/>
            <a:r>
              <a:rPr lang="ko-KR" altLang="en-US" dirty="0"/>
              <a:t>파이썬 명령어를 대화창에 입력하면 바로 인터프리터의 반응</a:t>
            </a:r>
            <a:r>
              <a:rPr lang="en-US" altLang="ko-KR" dirty="0"/>
              <a:t>(</a:t>
            </a:r>
            <a:r>
              <a:rPr lang="ko-KR" altLang="en-US" dirty="0"/>
              <a:t>피드백</a:t>
            </a:r>
            <a:r>
              <a:rPr lang="en-US" altLang="ko-KR" dirty="0"/>
              <a:t>)</a:t>
            </a:r>
            <a:r>
              <a:rPr lang="ko-KR" altLang="en-US" dirty="0"/>
              <a:t>을 받을 수 있다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간단한 코드를 테스트</a:t>
            </a:r>
            <a:r>
              <a:rPr lang="ko-KR" altLang="en-US" dirty="0"/>
              <a:t>할 적에는 주로 대화식 실행모드를 사용</a:t>
            </a:r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스크립트 실행모드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.</a:t>
            </a:r>
            <a:r>
              <a:rPr lang="en-US" altLang="ko-KR" dirty="0" err="1"/>
              <a:t>py</a:t>
            </a:r>
            <a:r>
              <a:rPr lang="ko-KR" altLang="en-US" dirty="0"/>
              <a:t>라는 확장자를 가지는 스크립트를 만들어서 파이썬 인터프리터에 한꺼번에 전달하여 실행시키는 모드이다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복잡한 로직</a:t>
            </a:r>
            <a:r>
              <a:rPr lang="ko-KR" altLang="en-US" dirty="0"/>
              <a:t>이 있는 코드는 스크립트 파일을 만들어서 실행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 err="1"/>
              <a:t>파이썬의</a:t>
            </a:r>
            <a:r>
              <a:rPr lang="ko-KR" altLang="en-US" dirty="0"/>
              <a:t> 출력 함수 </a:t>
            </a:r>
            <a:r>
              <a:rPr lang="en-US" altLang="ko-KR" dirty="0"/>
              <a:t>print()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1E3D4F-16B0-188C-B539-A577465F5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70" y="2265769"/>
            <a:ext cx="3412804" cy="81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1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3794AB-190A-8C7D-843C-5E75D5048BB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다음 코드를 입력해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 err="1"/>
              <a:t>파이썬의</a:t>
            </a:r>
            <a:r>
              <a:rPr lang="ko-KR" altLang="en-US" dirty="0"/>
              <a:t> 출력 함수 </a:t>
            </a:r>
            <a:r>
              <a:rPr lang="en-US" altLang="ko-KR" dirty="0"/>
              <a:t>print()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28CEEDD-AA18-AA12-3923-1C3C15CF4CD0}"/>
              </a:ext>
            </a:extLst>
          </p:cNvPr>
          <p:cNvGrpSpPr/>
          <p:nvPr/>
        </p:nvGrpSpPr>
        <p:grpSpPr>
          <a:xfrm>
            <a:off x="1483966" y="1622211"/>
            <a:ext cx="9936510" cy="4517675"/>
            <a:chOff x="697909" y="1390963"/>
            <a:chExt cx="11211182" cy="5415084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7909" y="4840848"/>
              <a:ext cx="10158801" cy="1701515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7909" y="3094539"/>
              <a:ext cx="10158801" cy="1687394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307" y="1620017"/>
              <a:ext cx="10125403" cy="1236044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152986" y="1390963"/>
              <a:ext cx="6756105" cy="1291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</a:lstStyle>
            <a:p>
              <a:r>
                <a:rPr lang="ko-KR" altLang="en-US" sz="1600" dirty="0"/>
                <a:t>오류 발생</a:t>
              </a:r>
              <a:endParaRPr lang="en-US" altLang="ko-KR" sz="1600" dirty="0"/>
            </a:p>
            <a:p>
              <a:r>
                <a:rPr lang="en-US" altLang="ko-KR" sz="1600" dirty="0" err="1">
                  <a:solidFill>
                    <a:srgbClr val="FF0000"/>
                  </a:solidFill>
                </a:rPr>
                <a:t>SyntaxError</a:t>
              </a:r>
              <a:r>
                <a:rPr lang="en-US" altLang="ko-KR" sz="1600" dirty="0">
                  <a:solidFill>
                    <a:srgbClr val="FF0000"/>
                  </a:solidFill>
                </a:rPr>
                <a:t> : </a:t>
              </a:r>
              <a:r>
                <a:rPr lang="ko-KR" altLang="en-US" sz="1600" dirty="0">
                  <a:solidFill>
                    <a:srgbClr val="FF0000"/>
                  </a:solidFill>
                </a:rPr>
                <a:t>구문 오류</a:t>
              </a:r>
              <a:endParaRPr lang="en-US" altLang="ko-KR" sz="1600" dirty="0">
                <a:solidFill>
                  <a:srgbClr val="FF0000"/>
                </a:solidFill>
              </a:endParaRPr>
            </a:p>
            <a:p>
              <a:r>
                <a:rPr lang="en-US" altLang="ko-KR" sz="1600" dirty="0">
                  <a:solidFill>
                    <a:srgbClr val="FF0000"/>
                  </a:solidFill>
                </a:rPr>
                <a:t>invalid syntax : </a:t>
              </a:r>
              <a:r>
                <a:rPr lang="ko-KR" altLang="en-US" sz="1600" dirty="0">
                  <a:solidFill>
                    <a:srgbClr val="FF0000"/>
                  </a:solidFill>
                </a:rPr>
                <a:t>유효하지 않은 구문</a:t>
              </a:r>
              <a:endParaRPr lang="en-US" altLang="ko-KR" sz="1600" dirty="0">
                <a:solidFill>
                  <a:srgbClr val="FF0000"/>
                </a:solidFill>
              </a:endParaRPr>
            </a:p>
            <a:p>
              <a:r>
                <a:rPr lang="ko-KR" altLang="en-US" sz="1600" dirty="0"/>
                <a:t>번역기는 여러분에게 친절하게 오류를 표시해 주고 알려줍니다</a:t>
              </a:r>
              <a:r>
                <a:rPr lang="en-US" altLang="ko-KR" sz="1600" dirty="0"/>
                <a:t>.</a:t>
              </a:r>
              <a:endParaRPr lang="ko-KR" altLang="en-US" sz="1600" dirty="0"/>
            </a:p>
          </p:txBody>
        </p:sp>
        <p:cxnSp>
          <p:nvCxnSpPr>
            <p:cNvPr id="6" name="직선 화살표 연결선 5"/>
            <p:cNvCxnSpPr/>
            <p:nvPr/>
          </p:nvCxnSpPr>
          <p:spPr>
            <a:xfrm flipH="1">
              <a:off x="4483694" y="2068412"/>
              <a:ext cx="669291" cy="46399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/>
            <p:cNvCxnSpPr/>
            <p:nvPr/>
          </p:nvCxnSpPr>
          <p:spPr>
            <a:xfrm flipH="1" flipV="1">
              <a:off x="4126519" y="3379591"/>
              <a:ext cx="2368804" cy="35351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/>
            <p:nvPr/>
          </p:nvCxnSpPr>
          <p:spPr>
            <a:xfrm flipH="1">
              <a:off x="5808449" y="3733101"/>
              <a:ext cx="649380" cy="35220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249837" y="6092009"/>
              <a:ext cx="5165435" cy="7140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</a:lstStyle>
            <a:p>
              <a:r>
                <a:rPr lang="ko-KR" altLang="en-US" sz="1600" dirty="0"/>
                <a:t>문자열에 </a:t>
              </a:r>
              <a:r>
                <a:rPr lang="en-US" altLang="ko-KR" sz="1600" dirty="0"/>
                <a:t>* </a:t>
              </a:r>
              <a:r>
                <a:rPr lang="ko-KR" altLang="en-US" sz="1600" dirty="0"/>
                <a:t>연산을 하고 숫자를 넣어 줄 경우 </a:t>
              </a:r>
              <a:r>
                <a:rPr lang="en-US" altLang="ko-KR" sz="1600" dirty="0"/>
                <a:t>:</a:t>
              </a:r>
            </a:p>
            <a:p>
              <a:r>
                <a:rPr lang="ko-KR" altLang="en-US" sz="1600" dirty="0"/>
                <a:t>숫자만큼 문자열을 반복 출력한다</a:t>
              </a:r>
              <a:r>
                <a:rPr lang="en-US" altLang="ko-KR" sz="1600" dirty="0"/>
                <a:t>.</a:t>
              </a:r>
              <a:endParaRPr lang="ko-KR" altLang="en-US" sz="1600" dirty="0"/>
            </a:p>
          </p:txBody>
        </p:sp>
        <p:cxnSp>
          <p:nvCxnSpPr>
            <p:cNvPr id="17" name="직선 화살표 연결선 16"/>
            <p:cNvCxnSpPr/>
            <p:nvPr/>
          </p:nvCxnSpPr>
          <p:spPr>
            <a:xfrm flipH="1" flipV="1">
              <a:off x="3749879" y="6033095"/>
              <a:ext cx="1499960" cy="3203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/>
            <p:cNvCxnSpPr/>
            <p:nvPr/>
          </p:nvCxnSpPr>
          <p:spPr>
            <a:xfrm flipH="1" flipV="1">
              <a:off x="3691156" y="5293453"/>
              <a:ext cx="1558682" cy="105999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466219" y="3577963"/>
              <a:ext cx="4288645" cy="70093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제대로 된 출력 방식</a:t>
              </a:r>
              <a:endParaRPr lang="en-US" altLang="ko-KR" sz="1600" dirty="0"/>
            </a:p>
            <a:p>
              <a:r>
                <a:rPr lang="ko-KR" altLang="en-US" sz="1600" dirty="0"/>
                <a:t>문자열과 숫자는 쉼표로 구분해 줍시다</a:t>
              </a:r>
              <a:r>
                <a:rPr lang="en-US" altLang="ko-KR" sz="1600" dirty="0"/>
                <a:t>.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650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13711FA-9ECD-B32B-1377-85004F2DF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주석문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490B6D5-15F7-97BB-DDCF-35ED76A8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 err="1"/>
              <a:t>파이썬의</a:t>
            </a:r>
            <a:r>
              <a:rPr lang="ko-KR" altLang="en-US" dirty="0"/>
              <a:t> 출력 함수 </a:t>
            </a:r>
            <a:r>
              <a:rPr lang="en-US" altLang="ko-KR" dirty="0"/>
              <a:t>print()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15003B-1B3B-8A83-7871-37B2E50EA8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/>
              <a:t>문자열과 숫자를 쉼표로 구분하여 출력으로 나타난 부분은 주석문으로 소스 코드에 붙이는 </a:t>
            </a:r>
            <a:r>
              <a:rPr lang="ko-KR" altLang="en-US" dirty="0" err="1"/>
              <a:t>설명글과</a:t>
            </a:r>
            <a:r>
              <a:rPr lang="ko-KR" altLang="en-US" dirty="0"/>
              <a:t> 같다</a:t>
            </a:r>
            <a:r>
              <a:rPr lang="en-US" altLang="ko-KR" dirty="0"/>
              <a:t>. </a:t>
            </a:r>
            <a:r>
              <a:rPr lang="ko-KR" altLang="en-US" dirty="0"/>
              <a:t>이 부분은 프로그램이 하는 일을 설명하는 목적으로 주로 사용된다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주석문은 </a:t>
            </a:r>
            <a:r>
              <a:rPr lang="en-US" altLang="ko-KR" dirty="0"/>
              <a:t># </a:t>
            </a:r>
            <a:r>
              <a:rPr lang="ko-KR" altLang="en-US" dirty="0"/>
              <a:t>기호로 시작하는데</a:t>
            </a:r>
            <a:r>
              <a:rPr lang="en-US" altLang="ko-KR" dirty="0"/>
              <a:t>, </a:t>
            </a:r>
            <a:r>
              <a:rPr lang="ko-KR" altLang="en-US" dirty="0"/>
              <a:t>이 기호가 나타난 부분부터 줄의 끝까지 파이썬 인터프리터가 해석하지 않기 때문에 실행에 전혀 영향을 주지 않는다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B6C255-6B74-1175-2A78-92B4DA88F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62" y="3879968"/>
            <a:ext cx="9272264" cy="1540139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5F26ED5-B550-CC87-DBF6-BA0E82FD9396}"/>
              </a:ext>
            </a:extLst>
          </p:cNvPr>
          <p:cNvCxnSpPr>
            <a:cxnSpLocks/>
          </p:cNvCxnSpPr>
          <p:nvPr/>
        </p:nvCxnSpPr>
        <p:spPr>
          <a:xfrm flipH="1" flipV="1">
            <a:off x="6239435" y="4312024"/>
            <a:ext cx="1442904" cy="900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798A4B-CC2D-B6A0-FA2F-32D130276A29}"/>
              </a:ext>
            </a:extLst>
          </p:cNvPr>
          <p:cNvSpPr txBox="1"/>
          <p:nvPr/>
        </p:nvSpPr>
        <p:spPr>
          <a:xfrm>
            <a:off x="7682338" y="5002042"/>
            <a:ext cx="3052337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</a:lstStyle>
          <a:p>
            <a:r>
              <a:rPr lang="ko-KR" altLang="en-US" sz="1600" dirty="0"/>
              <a:t>코드 실행에 영향을 주지 않음</a:t>
            </a:r>
          </a:p>
        </p:txBody>
      </p:sp>
    </p:spTree>
    <p:extLst>
      <p:ext uri="{BB962C8B-B14F-4D97-AF65-F5344CB8AC3E}">
        <p14:creationId xmlns:p14="http://schemas.microsoft.com/office/powerpoint/2010/main" val="2528275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대화식 실행모드 제공</a:t>
            </a:r>
            <a:endParaRPr lang="en-US" altLang="ko-KR"/>
          </a:p>
          <a:p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 err="1"/>
              <a:t>파이썬의</a:t>
            </a:r>
            <a:r>
              <a:rPr lang="ko-KR" altLang="en-US" dirty="0"/>
              <a:t> 출력 함수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60" y="1712857"/>
            <a:ext cx="8845285" cy="441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11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 err="1"/>
              <a:t>파이썬의</a:t>
            </a:r>
            <a:r>
              <a:rPr lang="ko-KR" altLang="en-US" dirty="0"/>
              <a:t> 출력 함수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157B8E7-7942-9A00-19C3-7AB0A2EB9EE2}"/>
              </a:ext>
            </a:extLst>
          </p:cNvPr>
          <p:cNvGrpSpPr/>
          <p:nvPr/>
        </p:nvGrpSpPr>
        <p:grpSpPr>
          <a:xfrm>
            <a:off x="1100461" y="1186560"/>
            <a:ext cx="8748388" cy="4737989"/>
            <a:chOff x="402812" y="169535"/>
            <a:chExt cx="11100025" cy="6186313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812" y="169535"/>
              <a:ext cx="10372161" cy="6186313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222859" y="1893579"/>
              <a:ext cx="5279978" cy="4420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직접 입력해 보고 그 결과를 확인해 보세요</a:t>
              </a:r>
              <a:r>
                <a:rPr lang="en-US" altLang="ko-KR" sz="1600" dirty="0"/>
                <a:t>.</a:t>
              </a:r>
            </a:p>
          </p:txBody>
        </p:sp>
        <p:cxnSp>
          <p:nvCxnSpPr>
            <p:cNvPr id="10" name="직선 화살표 연결선 9"/>
            <p:cNvCxnSpPr>
              <a:cxnSpLocks/>
            </p:cNvCxnSpPr>
            <p:nvPr/>
          </p:nvCxnSpPr>
          <p:spPr>
            <a:xfrm flipH="1" flipV="1">
              <a:off x="5037628" y="1906770"/>
              <a:ext cx="1185232" cy="1714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799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스크립트를 하나의 파일에 작성 후 일괄적으로 실행</a:t>
            </a:r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 err="1"/>
              <a:t>파이썬의</a:t>
            </a:r>
            <a:r>
              <a:rPr lang="ko-KR" altLang="en-US" dirty="0"/>
              <a:t> 출력 함수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29764" y="2742686"/>
            <a:ext cx="14230066" cy="605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A31B17A-0519-FC96-68FE-27D75DCFF830}"/>
              </a:ext>
            </a:extLst>
          </p:cNvPr>
          <p:cNvGrpSpPr/>
          <p:nvPr/>
        </p:nvGrpSpPr>
        <p:grpSpPr>
          <a:xfrm>
            <a:off x="1645750" y="1903479"/>
            <a:ext cx="7817338" cy="3648553"/>
            <a:chOff x="640862" y="1600448"/>
            <a:chExt cx="10354362" cy="483264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0862" y="1600448"/>
              <a:ext cx="10354362" cy="2607516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8901" y="4451619"/>
              <a:ext cx="6192114" cy="198147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4270971" y="2218892"/>
              <a:ext cx="3071856" cy="4484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파일을 만들어 보세요</a:t>
              </a:r>
              <a:r>
                <a:rPr lang="en-US" altLang="ko-KR" sz="1600" dirty="0"/>
                <a:t>.</a:t>
              </a:r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 flipH="1" flipV="1">
              <a:off x="3085737" y="2232085"/>
              <a:ext cx="1185232" cy="17147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720612" y="3960459"/>
              <a:ext cx="3807811" cy="4484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위의 파일을 실행시켜 보세요</a:t>
              </a:r>
              <a:r>
                <a:rPr lang="en-US" altLang="ko-KR" sz="1600" dirty="0"/>
                <a:t>.</a:t>
              </a: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 flipH="1">
              <a:off x="6119446" y="4145127"/>
              <a:ext cx="601167" cy="3064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996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29764" y="2742686"/>
            <a:ext cx="14230066" cy="605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432175" y="2728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굴림" pitchFamily="50" charset="-127"/>
                <a:cs typeface="굴림" pitchFamily="50" charset="-127"/>
              </a:rPr>
              <a:t> </a:t>
            </a:r>
            <a:r>
              <a:rPr kumimoji="1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endParaRPr kumimoji="1" lang="ko-KR" altLang="ko-K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굴림" pitchFamily="50" charset="-127"/>
                <a:cs typeface="굴림" pitchFamily="50" charset="-127"/>
              </a:rPr>
              <a:t> </a:t>
            </a:r>
            <a:r>
              <a:rPr kumimoji="1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endParaRPr kumimoji="1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F07D0AF-0CC0-0390-49E3-7C866F86CA42}"/>
              </a:ext>
            </a:extLst>
          </p:cNvPr>
          <p:cNvGrpSpPr/>
          <p:nvPr/>
        </p:nvGrpSpPr>
        <p:grpSpPr>
          <a:xfrm>
            <a:off x="763924" y="1528516"/>
            <a:ext cx="9986044" cy="4135849"/>
            <a:chOff x="563899" y="1485654"/>
            <a:chExt cx="9986044" cy="413584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899" y="1485654"/>
              <a:ext cx="8964276" cy="2086266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899" y="3763869"/>
              <a:ext cx="6211167" cy="1857634"/>
            </a:xfrm>
            <a:prstGeom prst="rect">
              <a:avLst/>
            </a:prstGeom>
          </p:spPr>
        </p:pic>
        <p:pic>
          <p:nvPicPr>
            <p:cNvPr id="3073" name="_x172950248" descr="EMB00002068523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1946" y="3420644"/>
              <a:ext cx="3627997" cy="2086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5046037" y="2198834"/>
              <a:ext cx="4899289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반지름이 </a:t>
              </a:r>
              <a:r>
                <a:rPr lang="en-US" altLang="ko-KR" sz="1600" dirty="0"/>
                <a:t>4.0</a:t>
              </a:r>
              <a:r>
                <a:rPr lang="ko-KR" altLang="en-US" sz="1600" dirty="0"/>
                <a:t>인 원을 가정해 보고 원의 면적과 둘레를 구해봅시다</a:t>
              </a:r>
              <a:r>
                <a:rPr lang="en-US" altLang="ko-KR" sz="1600" dirty="0"/>
                <a:t>.</a:t>
              </a:r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H="1">
              <a:off x="3426786" y="2352071"/>
              <a:ext cx="1619251" cy="19163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437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방금 작성한 프로그램에서 반지름이 </a:t>
            </a:r>
            <a:r>
              <a:rPr lang="en-US" altLang="ko-KR" dirty="0"/>
              <a:t>5.0, 6.0</a:t>
            </a:r>
            <a:r>
              <a:rPr lang="ko-KR" altLang="en-US" dirty="0"/>
              <a:t>인 원의 면적과 둘레를 새로 구하는 경우 다음과 같이 코드를 수정해야 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endParaRPr lang="en-US" dirty="0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1EE0022B-F656-834A-9633-DD81A3AC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829333-B4A5-B9FF-C97E-213C2C2C13F3}"/>
              </a:ext>
            </a:extLst>
          </p:cNvPr>
          <p:cNvGrpSpPr/>
          <p:nvPr/>
        </p:nvGrpSpPr>
        <p:grpSpPr>
          <a:xfrm>
            <a:off x="1307857" y="2148459"/>
            <a:ext cx="9504751" cy="4078744"/>
            <a:chOff x="736357" y="1761345"/>
            <a:chExt cx="9504751" cy="4078744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357" y="1761345"/>
              <a:ext cx="8926171" cy="1438476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358" y="3447674"/>
              <a:ext cx="8916644" cy="1438476"/>
            </a:xfrm>
            <a:prstGeom prst="rect">
              <a:avLst/>
            </a:prstGeom>
          </p:spPr>
        </p:pic>
        <p:sp>
          <p:nvSpPr>
            <p:cNvPr id="2" name="폭발 1 1"/>
            <p:cNvSpPr/>
            <p:nvPr/>
          </p:nvSpPr>
          <p:spPr>
            <a:xfrm>
              <a:off x="5816762" y="3996774"/>
              <a:ext cx="4424346" cy="1843315"/>
            </a:xfrm>
            <a:prstGeom prst="irregularSeal1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번거로운 작업이다</a:t>
              </a:r>
              <a:endParaRPr lang="en-US" altLang="ko-KR" sz="1600" dirty="0"/>
            </a:p>
            <a:p>
              <a:pPr algn="ctr"/>
              <a:r>
                <a:rPr lang="ko-KR" altLang="en-US" sz="1600" dirty="0"/>
                <a:t>오류의 가능성이 크다</a:t>
              </a:r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3435578" y="1761345"/>
              <a:ext cx="6518540" cy="584775"/>
              <a:chOff x="3435578" y="1761345"/>
              <a:chExt cx="6518540" cy="584775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5054829" y="1761345"/>
                <a:ext cx="4899289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반지름이 </a:t>
                </a:r>
                <a:r>
                  <a:rPr lang="en-US" altLang="ko-KR" sz="1600" dirty="0"/>
                  <a:t>5.0</a:t>
                </a:r>
                <a:r>
                  <a:rPr lang="ko-KR" altLang="en-US" sz="1600" dirty="0"/>
                  <a:t>인 원을 가정해 보고 원의 면적과 둘레를 구해봅시다</a:t>
                </a:r>
                <a:r>
                  <a:rPr lang="en-US" altLang="ko-KR" sz="1600" dirty="0"/>
                  <a:t>.</a:t>
                </a:r>
              </a:p>
            </p:txBody>
          </p:sp>
          <p:cxnSp>
            <p:nvCxnSpPr>
              <p:cNvPr id="7" name="직선 화살표 연결선 6"/>
              <p:cNvCxnSpPr/>
              <p:nvPr/>
            </p:nvCxnSpPr>
            <p:spPr>
              <a:xfrm flipH="1">
                <a:off x="3435578" y="1914582"/>
                <a:ext cx="1619251" cy="19163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/>
            <p:cNvSpPr txBox="1"/>
            <p:nvPr/>
          </p:nvSpPr>
          <p:spPr>
            <a:xfrm>
              <a:off x="5072413" y="3411999"/>
              <a:ext cx="4899289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/>
                <a:t>반지름이 </a:t>
              </a:r>
              <a:r>
                <a:rPr lang="en-US" altLang="ko-KR" sz="1600"/>
                <a:t>6.0</a:t>
              </a:r>
              <a:r>
                <a:rPr lang="ko-KR" altLang="en-US" sz="1600"/>
                <a:t>인 원을 가정해 보고 원의 면적과 둘레를 구해봅시다</a:t>
              </a:r>
              <a:r>
                <a:rPr lang="en-US" altLang="ko-KR" sz="1600"/>
                <a:t>.</a:t>
              </a:r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H="1">
              <a:off x="3453162" y="3565236"/>
              <a:ext cx="1619251" cy="19163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5035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8E4CAD-7C1E-172C-4569-DE576C89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 도입의 필요성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165" y="1876425"/>
            <a:ext cx="7480514" cy="32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31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>
                <a:solidFill>
                  <a:schemeClr val="accent5"/>
                </a:solidFill>
              </a:rPr>
              <a:t>변수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variable</a:t>
            </a:r>
            <a:r>
              <a:rPr lang="ko-KR" altLang="en-US" dirty="0"/>
              <a:t>의 도입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6539B9-B16A-3963-3D46-2E97663378A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프로그램을 작성하다 보면 상황에 따라 값이 변하는 것들이 있다</a:t>
            </a:r>
            <a:r>
              <a:rPr lang="en-US" altLang="ko-KR" dirty="0"/>
              <a:t>. </a:t>
            </a:r>
            <a:r>
              <a:rPr lang="ko-KR" altLang="en-US" dirty="0"/>
              <a:t>이들이 여러 곳일 때 하나라도 실수를 하게 되면 프로그램의 오류가 나타나거나 의도한 바와 다른 결과를 얻게 됨</a:t>
            </a:r>
          </a:p>
          <a:p>
            <a:pPr fontAlgn="base"/>
            <a:r>
              <a:rPr lang="ko-KR" altLang="en-US" b="1" dirty="0"/>
              <a:t>변수</a:t>
            </a:r>
            <a:r>
              <a:rPr lang="ko-KR" altLang="en-US" dirty="0"/>
              <a:t>를 도입해서 번거로운 일을 간단하게 만들 수 있음</a:t>
            </a:r>
            <a:endParaRPr lang="en-US" altLang="ko-KR" dirty="0"/>
          </a:p>
          <a:p>
            <a:pPr fontAlgn="base"/>
            <a:r>
              <a:rPr lang="ko-KR" altLang="en-US" dirty="0"/>
              <a:t>변수에 값을 저장하고 이후에는 값이 아니라 변수를 사용해 보자</a:t>
            </a:r>
            <a:r>
              <a:rPr lang="en-US" altLang="ko-KR" dirty="0"/>
              <a:t>.</a:t>
            </a:r>
          </a:p>
          <a:p>
            <a:pPr lvl="1" fontAlgn="base"/>
            <a:r>
              <a:rPr lang="en-US" altLang="ko-KR" dirty="0"/>
              <a:t>radius = 4.0 </a:t>
            </a:r>
            <a:r>
              <a:rPr lang="ko-KR" altLang="en-US" dirty="0"/>
              <a:t>와 같이 </a:t>
            </a:r>
            <a:r>
              <a:rPr lang="en-US" altLang="ko-KR" dirty="0"/>
              <a:t>radius</a:t>
            </a:r>
            <a:r>
              <a:rPr lang="ko-KR" altLang="en-US" dirty="0"/>
              <a:t>라는 이름을 가지는 변수를 만든다</a:t>
            </a:r>
            <a:r>
              <a:rPr lang="en-US" altLang="ko-KR" dirty="0"/>
              <a:t>.</a:t>
            </a:r>
          </a:p>
          <a:p>
            <a:pPr lvl="1" fontAlgn="base"/>
            <a:r>
              <a:rPr lang="ko-KR" altLang="en-US" dirty="0"/>
              <a:t>이 변수 </a:t>
            </a:r>
            <a:r>
              <a:rPr lang="en-US" altLang="ko-KR" dirty="0"/>
              <a:t>radius</a:t>
            </a:r>
            <a:r>
              <a:rPr lang="ko-KR" altLang="en-US" dirty="0"/>
              <a:t>는 </a:t>
            </a:r>
            <a:r>
              <a:rPr lang="en-US" altLang="ko-KR" dirty="0"/>
              <a:t>4.0</a:t>
            </a:r>
            <a:r>
              <a:rPr lang="ko-KR" altLang="en-US" dirty="0"/>
              <a:t>이라는 값을 저장해 두고 있다</a:t>
            </a:r>
            <a:r>
              <a:rPr lang="en-US" altLang="ko-KR" dirty="0"/>
              <a:t>.</a:t>
            </a:r>
          </a:p>
          <a:p>
            <a:pPr lvl="1" fontAlgn="base"/>
            <a:r>
              <a:rPr lang="ko-KR" altLang="en-US" dirty="0"/>
              <a:t>나중에 이 변수를 꺼내어 사용할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pPr fontAlgn="base"/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84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EFAFD7B-E1BD-DBEC-AD1B-CEA0B583F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dirty="0">
                <a:solidFill>
                  <a:schemeClr val="accent5"/>
                </a:solidFill>
              </a:rPr>
              <a:t>변수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variable</a:t>
            </a:r>
            <a:r>
              <a:rPr lang="ko-KR" altLang="en-US" dirty="0"/>
              <a:t>의 도입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6E37683-1AED-98B7-CB59-8881D4A2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1A5F47-7C26-9D81-EBC5-314179ADE03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>
                <a:solidFill>
                  <a:schemeClr val="accent5"/>
                </a:solidFill>
              </a:rPr>
              <a:t>변수</a:t>
            </a:r>
            <a:r>
              <a:rPr lang="en-US" altLang="ko-KR" sz="2000" baseline="30000" dirty="0">
                <a:solidFill>
                  <a:schemeClr val="accent5"/>
                </a:solidFill>
              </a:rPr>
              <a:t>variable</a:t>
            </a:r>
            <a:r>
              <a:rPr lang="ko-KR" altLang="en-US" sz="2000" dirty="0"/>
              <a:t>를 도입</a:t>
            </a:r>
          </a:p>
          <a:p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F528511-08A7-E628-6749-B21CF34ECD7D}"/>
              </a:ext>
            </a:extLst>
          </p:cNvPr>
          <p:cNvGrpSpPr/>
          <p:nvPr/>
        </p:nvGrpSpPr>
        <p:grpSpPr>
          <a:xfrm>
            <a:off x="2190750" y="2191396"/>
            <a:ext cx="8073837" cy="4193855"/>
            <a:chOff x="880063" y="1767933"/>
            <a:chExt cx="9714245" cy="5045944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0063" y="4459693"/>
              <a:ext cx="8978761" cy="1737591"/>
            </a:xfrm>
            <a:prstGeom prst="rect">
              <a:avLst/>
            </a:prstGeom>
          </p:spPr>
        </p:pic>
        <p:sp>
          <p:nvSpPr>
            <p:cNvPr id="11" name="폭발 1 10"/>
            <p:cNvSpPr/>
            <p:nvPr/>
          </p:nvSpPr>
          <p:spPr>
            <a:xfrm>
              <a:off x="6530036" y="4419327"/>
              <a:ext cx="4064272" cy="2394550"/>
            </a:xfrm>
            <a:prstGeom prst="irregularSeal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오류의 가능성이 줄어든다</a:t>
              </a:r>
              <a:r>
                <a:rPr lang="en-US" altLang="ko-KR" sz="1600" dirty="0"/>
                <a:t>.</a:t>
              </a:r>
            </a:p>
            <a:p>
              <a:pPr algn="ctr"/>
              <a:r>
                <a:rPr lang="ko-KR" altLang="en-US" sz="1600" dirty="0"/>
                <a:t>수정이 용이하다</a:t>
              </a:r>
              <a:r>
                <a:rPr lang="en-US" altLang="ko-KR" sz="1600" dirty="0"/>
                <a:t>.</a:t>
              </a:r>
              <a:endParaRPr lang="ko-KR" altLang="en-US" sz="1600" dirty="0"/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392" y="1767933"/>
              <a:ext cx="8911432" cy="2364846"/>
            </a:xfrm>
            <a:prstGeom prst="rect">
              <a:avLst/>
            </a:prstGeom>
          </p:spPr>
        </p:pic>
        <p:grpSp>
          <p:nvGrpSpPr>
            <p:cNvPr id="12" name="그룹 11"/>
            <p:cNvGrpSpPr/>
            <p:nvPr/>
          </p:nvGrpSpPr>
          <p:grpSpPr>
            <a:xfrm>
              <a:off x="2657687" y="2442366"/>
              <a:ext cx="6518540" cy="407339"/>
              <a:chOff x="3435578" y="1761345"/>
              <a:chExt cx="6518540" cy="407339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5054829" y="1761345"/>
                <a:ext cx="4899289" cy="4073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radius</a:t>
                </a:r>
                <a:r>
                  <a:rPr lang="ko-KR" altLang="en-US" sz="1600" dirty="0"/>
                  <a:t>라는 변수를 도입해 봅시다</a:t>
                </a:r>
                <a:r>
                  <a:rPr lang="en-US" altLang="ko-KR" sz="1600" dirty="0"/>
                  <a:t>.</a:t>
                </a:r>
              </a:p>
            </p:txBody>
          </p:sp>
          <p:cxnSp>
            <p:nvCxnSpPr>
              <p:cNvPr id="14" name="직선 화살표 연결선 13"/>
              <p:cNvCxnSpPr/>
              <p:nvPr/>
            </p:nvCxnSpPr>
            <p:spPr>
              <a:xfrm flipH="1">
                <a:off x="3435578" y="1914582"/>
                <a:ext cx="1619251" cy="19163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98074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EFAFD7B-E1BD-DBEC-AD1B-CEA0B583F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dirty="0">
                <a:solidFill>
                  <a:schemeClr val="accent5"/>
                </a:solidFill>
              </a:rPr>
              <a:t>변수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variable</a:t>
            </a:r>
            <a:r>
              <a:rPr lang="ko-KR" altLang="en-US" dirty="0"/>
              <a:t>의 도입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6E37683-1AED-98B7-CB59-8881D4A2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1A5F47-7C26-9D81-EBC5-314179ADE03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>
                <a:solidFill>
                  <a:schemeClr val="accent5"/>
                </a:solidFill>
              </a:rPr>
              <a:t>변수</a:t>
            </a:r>
            <a:r>
              <a:rPr lang="en-US" altLang="ko-KR" sz="2000" baseline="30000" dirty="0">
                <a:solidFill>
                  <a:schemeClr val="accent5"/>
                </a:solidFill>
              </a:rPr>
              <a:t>variable</a:t>
            </a:r>
            <a:r>
              <a:rPr lang="ko-KR" altLang="en-US" sz="2000" dirty="0"/>
              <a:t>를 도입</a:t>
            </a:r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DC53E9-A15E-0142-B997-ACEEB8467267}"/>
              </a:ext>
            </a:extLst>
          </p:cNvPr>
          <p:cNvGrpSpPr/>
          <p:nvPr/>
        </p:nvGrpSpPr>
        <p:grpSpPr>
          <a:xfrm>
            <a:off x="1337939" y="2238375"/>
            <a:ext cx="9516121" cy="3944191"/>
            <a:chOff x="287179" y="1731585"/>
            <a:chExt cx="11784482" cy="4884369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179" y="1731585"/>
              <a:ext cx="9839588" cy="248043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5728906" y="2765022"/>
              <a:ext cx="6074787" cy="72416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변수에 값을 저장하고 이를 불러서 사용하면</a:t>
              </a:r>
              <a:endParaRPr lang="en-US" altLang="ko-KR" sz="1600" dirty="0"/>
            </a:p>
            <a:p>
              <a:r>
                <a:rPr lang="ko-KR" altLang="en-US" sz="1600" dirty="0"/>
                <a:t>프로그램의 수정이 쉬워지고 오류를 줄일 수 있다</a:t>
              </a:r>
              <a:r>
                <a:rPr lang="en-US" altLang="ko-KR" sz="1600" dirty="0"/>
                <a:t>.</a:t>
              </a:r>
              <a:endParaRPr lang="ko-KR" altLang="en-US" sz="1600" dirty="0"/>
            </a:p>
          </p:txBody>
        </p:sp>
        <p:cxnSp>
          <p:nvCxnSpPr>
            <p:cNvPr id="18" name="직선 화살표 연결선 17"/>
            <p:cNvCxnSpPr/>
            <p:nvPr/>
          </p:nvCxnSpPr>
          <p:spPr>
            <a:xfrm flipH="1" flipV="1">
              <a:off x="2144994" y="2897024"/>
              <a:ext cx="3583913" cy="160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179" y="4498262"/>
              <a:ext cx="3914314" cy="1758383"/>
            </a:xfrm>
            <a:prstGeom prst="rect">
              <a:avLst/>
            </a:prstGeom>
          </p:spPr>
        </p:pic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48562" y="4247875"/>
              <a:ext cx="7223099" cy="2368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7706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338" y="1201735"/>
            <a:ext cx="7163425" cy="4775617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137D8A1A-5012-87DE-7826-C6C1891C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</p:spTree>
    <p:extLst>
      <p:ext uri="{BB962C8B-B14F-4D97-AF65-F5344CB8AC3E}">
        <p14:creationId xmlns:p14="http://schemas.microsoft.com/office/powerpoint/2010/main" val="4079305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5"/>
                </a:solidFill>
              </a:rPr>
              <a:t>변수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variable</a:t>
            </a:r>
          </a:p>
          <a:p>
            <a:pPr lvl="1"/>
            <a:r>
              <a:rPr lang="ko-KR" altLang="en-US" dirty="0"/>
              <a:t>변할 수 있는 수라는 의미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데이터를 저장하는 저장 공간을 가리키는 이름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변수</a:t>
            </a:r>
            <a:r>
              <a:rPr lang="en-US" altLang="ko-KR" dirty="0"/>
              <a:t>(</a:t>
            </a:r>
            <a:r>
              <a:rPr lang="ko-KR" altLang="en-US" dirty="0"/>
              <a:t>變</a:t>
            </a:r>
            <a:r>
              <a:rPr lang="en-US" altLang="ko-KR" dirty="0"/>
              <a:t>:</a:t>
            </a:r>
            <a:r>
              <a:rPr lang="ko-KR" altLang="en-US" dirty="0"/>
              <a:t>변할 변</a:t>
            </a:r>
            <a:r>
              <a:rPr lang="en-US" altLang="ko-KR" dirty="0"/>
              <a:t>, </a:t>
            </a:r>
            <a:r>
              <a:rPr lang="ko-KR" altLang="en-US" dirty="0"/>
              <a:t>數</a:t>
            </a:r>
            <a:r>
              <a:rPr lang="en-US" altLang="ko-KR" dirty="0"/>
              <a:t>:</a:t>
            </a:r>
            <a:r>
              <a:rPr lang="ko-KR" altLang="en-US" dirty="0"/>
              <a:t>셀 수</a:t>
            </a:r>
            <a:r>
              <a:rPr lang="en-US" altLang="ko-KR" dirty="0"/>
              <a:t>)</a:t>
            </a:r>
            <a:r>
              <a:rPr lang="ko-KR" altLang="en-US" dirty="0"/>
              <a:t>라는 명칭을 사용</a:t>
            </a:r>
            <a:r>
              <a:rPr lang="en-US" altLang="ko-KR" dirty="0"/>
              <a:t>, ‘</a:t>
            </a:r>
            <a:r>
              <a:rPr lang="ko-KR" altLang="en-US" dirty="0"/>
              <a:t>수</a:t>
            </a:r>
            <a:r>
              <a:rPr lang="en-US" altLang="ko-KR" dirty="0"/>
              <a:t>’</a:t>
            </a:r>
            <a:r>
              <a:rPr lang="ko-KR" altLang="en-US" dirty="0"/>
              <a:t>는 단순한 수치라기 보다는 </a:t>
            </a:r>
            <a:r>
              <a:rPr lang="ko-KR" altLang="en-US" b="1" dirty="0"/>
              <a:t>데이터</a:t>
            </a:r>
            <a:r>
              <a:rPr lang="ko-KR" altLang="en-US" dirty="0"/>
              <a:t>로 이해하는 것이 더 정확하다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/>
              <a:t>이름을 통해 자유롭게 데이터에 대한 읽기</a:t>
            </a:r>
            <a:r>
              <a:rPr lang="en-US" altLang="ko-KR" dirty="0"/>
              <a:t>, </a:t>
            </a:r>
            <a:r>
              <a:rPr lang="ko-KR" altLang="en-US" dirty="0"/>
              <a:t>쓰기</a:t>
            </a:r>
            <a:r>
              <a:rPr lang="en-US" altLang="ko-KR" dirty="0"/>
              <a:t>, </a:t>
            </a:r>
            <a:r>
              <a:rPr lang="ko-KR" altLang="en-US" dirty="0"/>
              <a:t>수정하기가 가능</a:t>
            </a:r>
            <a:endParaRPr lang="en-US" altLang="ko-KR" dirty="0"/>
          </a:p>
          <a:p>
            <a:r>
              <a:rPr lang="ko-KR" altLang="en-US" b="1" dirty="0" err="1">
                <a:solidFill>
                  <a:schemeClr val="accent5"/>
                </a:solidFill>
              </a:rPr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</a:rPr>
              <a:t>identifier</a:t>
            </a:r>
          </a:p>
          <a:p>
            <a:pPr lvl="1"/>
            <a:r>
              <a:rPr lang="ko-KR" altLang="en-US" dirty="0"/>
              <a:t>사용자가 정의하는 변수나 함수에 대해 서로 구별되는 이름을 부여해야 함</a:t>
            </a:r>
            <a:endParaRPr lang="en-US" altLang="ko-KR" dirty="0"/>
          </a:p>
          <a:p>
            <a:pPr lvl="1"/>
            <a:r>
              <a:rPr lang="ko-KR" altLang="en-US" dirty="0"/>
              <a:t>이와 같이 서로 구별되는 이름을 식별자라고 한다</a:t>
            </a:r>
            <a:endParaRPr lang="en-US" altLang="ko-KR" dirty="0"/>
          </a:p>
          <a:p>
            <a:pPr lvl="1"/>
            <a:r>
              <a:rPr lang="ko-KR" altLang="en-US" dirty="0"/>
              <a:t>하나의 변수 이름을 여러 개의 메모리 위치를 지칭하는데 사용하게 되면 어느 메모리 공간을 지칭하는지 알기 어려움</a:t>
            </a:r>
          </a:p>
          <a:p>
            <a:pPr lvl="1"/>
            <a:r>
              <a:rPr lang="ko-KR" altLang="en-US" dirty="0"/>
              <a:t>다른 메모리 위치에는 서로 다른 이름을 부여해야 함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C32406-88C1-8E7E-AF9F-9ADA6406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</p:spTree>
    <p:extLst>
      <p:ext uri="{BB962C8B-B14F-4D97-AF65-F5344CB8AC3E}">
        <p14:creationId xmlns:p14="http://schemas.microsoft.com/office/powerpoint/2010/main" val="1135815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메인 메모리</a:t>
            </a:r>
            <a:r>
              <a:rPr lang="en-US" altLang="ko-KR" b="1" baseline="30000" dirty="0">
                <a:solidFill>
                  <a:schemeClr val="accent5"/>
                </a:solidFill>
              </a:rPr>
              <a:t>main memory</a:t>
            </a:r>
          </a:p>
          <a:p>
            <a:pPr lvl="1"/>
            <a:r>
              <a:rPr lang="ko-KR" altLang="en-US" dirty="0"/>
              <a:t>컴퓨터의 데이터가 저장되어 읽기와 쓰기</a:t>
            </a:r>
            <a:r>
              <a:rPr lang="en-US" altLang="ko-KR" dirty="0"/>
              <a:t>, </a:t>
            </a:r>
            <a:r>
              <a:rPr lang="ko-KR" altLang="en-US" dirty="0"/>
              <a:t>덮어쓰기를 하는 곳</a:t>
            </a:r>
            <a:endParaRPr lang="en-US" altLang="ko-KR" dirty="0"/>
          </a:p>
          <a:p>
            <a:pPr lvl="1"/>
            <a:r>
              <a:rPr lang="ko-KR" altLang="en-US" dirty="0"/>
              <a:t>메모리라고도 불림</a:t>
            </a:r>
          </a:p>
          <a:p>
            <a:pPr lvl="1"/>
            <a:endParaRPr lang="en-US" altLang="ko-KR" dirty="0"/>
          </a:p>
          <a:p>
            <a:r>
              <a:rPr lang="ko-KR" altLang="en-US" b="1" dirty="0"/>
              <a:t>메모리 주소</a:t>
            </a:r>
            <a:r>
              <a:rPr lang="en-US" altLang="ko-KR" b="1" baseline="30000" dirty="0">
                <a:solidFill>
                  <a:schemeClr val="accent5"/>
                </a:solidFill>
              </a:rPr>
              <a:t>memory address</a:t>
            </a:r>
          </a:p>
          <a:p>
            <a:pPr lvl="1"/>
            <a:r>
              <a:rPr lang="ko-KR" altLang="en-US" dirty="0"/>
              <a:t>메모리에 데이터를 저장한 곳의 위치</a:t>
            </a:r>
          </a:p>
          <a:p>
            <a:pPr lvl="1"/>
            <a:r>
              <a:rPr lang="ko-KR" altLang="en-US" dirty="0"/>
              <a:t>저장된 데이터를 읽고 쓰기 위해서는 데이터가 저장된 곳</a:t>
            </a:r>
            <a:r>
              <a:rPr lang="en-US" altLang="ko-KR" dirty="0"/>
              <a:t>(</a:t>
            </a:r>
            <a:r>
              <a:rPr lang="ko-KR" altLang="en-US" dirty="0"/>
              <a:t>공간 또는 위치</a:t>
            </a:r>
            <a:r>
              <a:rPr lang="en-US" altLang="ko-KR" dirty="0"/>
              <a:t>)</a:t>
            </a:r>
            <a:r>
              <a:rPr lang="ko-KR" altLang="en-US" dirty="0"/>
              <a:t>이 어디인가를 알아야 한다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r>
              <a:rPr lang="ko-KR" altLang="en-US" dirty="0"/>
              <a:t>주소는 보통 </a:t>
            </a:r>
            <a:r>
              <a:rPr lang="en-US" altLang="ko-KR" dirty="0"/>
              <a:t>16</a:t>
            </a:r>
            <a:r>
              <a:rPr lang="ko-KR" altLang="en-US" dirty="0"/>
              <a:t>진수로 표현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546D0A-B89B-140B-C939-8CA2AEB1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</p:spTree>
    <p:extLst>
      <p:ext uri="{BB962C8B-B14F-4D97-AF65-F5344CB8AC3E}">
        <p14:creationId xmlns:p14="http://schemas.microsoft.com/office/powerpoint/2010/main" val="2379512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8F38E74-9314-750B-4FF8-35277C2F5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컴퓨터의 메인 메모리와 메모리 주소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24" y="2064230"/>
            <a:ext cx="7125821" cy="282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57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8F38E74-9314-750B-4FF8-35277C2F5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식별을 위한 이름 </a:t>
            </a:r>
            <a:r>
              <a:rPr lang="en-US" altLang="ko-KR" dirty="0"/>
              <a:t>radius</a:t>
            </a:r>
            <a:r>
              <a:rPr lang="ko-KR" altLang="en-US" dirty="0"/>
              <a:t>를 부여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  <a:endParaRPr 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154" y="2249572"/>
            <a:ext cx="7125822" cy="276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16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01372382-A26E-B15D-6909-3B9009505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변수와 메모리 공간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381C597-25A3-4047-8E67-F00DBE536B86}"/>
              </a:ext>
            </a:extLst>
          </p:cNvPr>
          <p:cNvGrpSpPr/>
          <p:nvPr/>
        </p:nvGrpSpPr>
        <p:grpSpPr>
          <a:xfrm>
            <a:off x="2028825" y="1944842"/>
            <a:ext cx="8110538" cy="4077027"/>
            <a:chOff x="762000" y="1663323"/>
            <a:chExt cx="10239818" cy="5147379"/>
          </a:xfrm>
        </p:grpSpPr>
        <p:sp>
          <p:nvSpPr>
            <p:cNvPr id="7" name="TextBox 6"/>
            <p:cNvSpPr txBox="1"/>
            <p:nvPr/>
          </p:nvSpPr>
          <p:spPr>
            <a:xfrm>
              <a:off x="7899861" y="3649205"/>
              <a:ext cx="2632957" cy="4274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radius = 6.0</a:t>
              </a:r>
              <a:r>
                <a:rPr lang="ko-KR" altLang="en-US" sz="1600" dirty="0"/>
                <a:t>의 결과</a:t>
              </a:r>
            </a:p>
          </p:txBody>
        </p:sp>
        <p:grpSp>
          <p:nvGrpSpPr>
            <p:cNvPr id="10" name="그룹 9"/>
            <p:cNvGrpSpPr/>
            <p:nvPr/>
          </p:nvGrpSpPr>
          <p:grpSpPr>
            <a:xfrm>
              <a:off x="3349429" y="4018536"/>
              <a:ext cx="7652389" cy="2792166"/>
              <a:chOff x="4288768" y="3976971"/>
              <a:chExt cx="7652389" cy="2792166"/>
            </a:xfrm>
          </p:grpSpPr>
          <p:grpSp>
            <p:nvGrpSpPr>
              <p:cNvPr id="8" name="그룹 7"/>
              <p:cNvGrpSpPr/>
              <p:nvPr/>
            </p:nvGrpSpPr>
            <p:grpSpPr>
              <a:xfrm>
                <a:off x="4288768" y="3976971"/>
                <a:ext cx="7437315" cy="2792166"/>
                <a:chOff x="4288768" y="3976971"/>
                <a:chExt cx="7437315" cy="2792166"/>
              </a:xfrm>
            </p:grpSpPr>
            <p:pic>
              <p:nvPicPr>
                <p:cNvPr id="6" name="_x170188760" descr="EMB00002068524d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288768" y="3976971"/>
                  <a:ext cx="7437315" cy="27921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" name="TextBox 4"/>
                <p:cNvSpPr txBox="1"/>
                <p:nvPr/>
              </p:nvSpPr>
              <p:spPr>
                <a:xfrm>
                  <a:off x="8922774" y="5079999"/>
                  <a:ext cx="1110226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/>
                    <a:t>6.0</a:t>
                  </a:r>
                  <a:endParaRPr lang="ko-KR" altLang="en-US" sz="1200" b="1"/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8280400" y="5757107"/>
                <a:ext cx="3660757" cy="46629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저장공간의 정보가 변경됨</a:t>
                </a:r>
              </a:p>
            </p:txBody>
          </p:sp>
        </p:grpSp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1663323"/>
              <a:ext cx="6469855" cy="23552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379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0BEF4-4349-1AC9-5833-A8399A145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변수와 친해지기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094683" y="1128713"/>
            <a:ext cx="5959772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9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2038419"/>
            <a:ext cx="7873656" cy="313768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B7F770-6EC1-FA45-BB1B-9C28555FC69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ko-KR" altLang="en-US" dirty="0" err="1"/>
              <a:t>리터럴</a:t>
            </a:r>
            <a:r>
              <a:rPr lang="en-US" altLang="ko-KR" baseline="30000" dirty="0">
                <a:solidFill>
                  <a:schemeClr val="accent5"/>
                </a:solidFill>
              </a:rPr>
              <a:t>literal</a:t>
            </a:r>
            <a:r>
              <a:rPr lang="en-US" altLang="ko-KR" baseline="30000" dirty="0"/>
              <a:t> </a:t>
            </a:r>
          </a:p>
          <a:p>
            <a:pPr marL="357188" lvl="1" indent="-176213">
              <a:tabLst>
                <a:tab pos="90488" algn="l"/>
              </a:tabLst>
            </a:pPr>
            <a:r>
              <a:rPr lang="ko-KR" altLang="en-US" dirty="0"/>
              <a:t>프로그래밍 언어에서 고정된 데이터 값을 나타냄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</a:t>
            </a:r>
            <a:r>
              <a:rPr lang="ko-KR" altLang="en-US" dirty="0" err="1"/>
              <a:t>식별자</a:t>
            </a:r>
            <a:r>
              <a:rPr lang="ko-KR" altLang="en-US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058" y="4003414"/>
            <a:ext cx="5439259" cy="165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42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</a:t>
            </a:r>
            <a:r>
              <a:rPr lang="ko-KR" altLang="en-US" dirty="0" err="1"/>
              <a:t>식별자</a:t>
            </a:r>
            <a:r>
              <a:rPr lang="ko-KR" altLang="en-US" dirty="0"/>
              <a:t> 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148898" y="1128713"/>
            <a:ext cx="5851342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00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  <a:endParaRPr lang="ko-KR" alt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6AF0DF-E758-2D9A-9C57-7BA55BFB624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다른 함수와 구별되는 고유의 이름</a:t>
            </a:r>
            <a:endParaRPr lang="en-US" altLang="ko-KR" dirty="0"/>
          </a:p>
          <a:p>
            <a:r>
              <a:rPr lang="ko-KR" altLang="en-US" dirty="0"/>
              <a:t>프로그램이 단순할 경우 </a:t>
            </a:r>
            <a:r>
              <a:rPr lang="en-US" altLang="ko-KR" dirty="0"/>
              <a:t>a, b, n, m</a:t>
            </a:r>
            <a:r>
              <a:rPr lang="ko-KR" altLang="en-US" dirty="0"/>
              <a:t>과 같은 단순한 이름의 식별자로도 그 기능을 구현할 수 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프로그램이 복잡해지면 </a:t>
            </a:r>
            <a:r>
              <a:rPr lang="en-US" altLang="ko-KR" dirty="0" err="1"/>
              <a:t>walk_distance</a:t>
            </a:r>
            <a:r>
              <a:rPr lang="en-US" altLang="ko-KR" dirty="0"/>
              <a:t>, </a:t>
            </a:r>
            <a:r>
              <a:rPr lang="en-US" altLang="ko-KR" dirty="0" err="1"/>
              <a:t>num_of_hits</a:t>
            </a:r>
            <a:r>
              <a:rPr lang="en-US" altLang="ko-KR" dirty="0"/>
              <a:t>, </a:t>
            </a:r>
            <a:r>
              <a:rPr lang="en-US" altLang="ko-KR" dirty="0" err="1"/>
              <a:t>english_dict</a:t>
            </a:r>
            <a:r>
              <a:rPr lang="en-US" altLang="ko-KR" dirty="0"/>
              <a:t>, </a:t>
            </a:r>
            <a:r>
              <a:rPr lang="en-US" altLang="ko-KR" dirty="0" err="1"/>
              <a:t>student_name</a:t>
            </a:r>
            <a:r>
              <a:rPr lang="ko-KR" altLang="en-US" dirty="0"/>
              <a:t>과 같이 </a:t>
            </a:r>
            <a:r>
              <a:rPr lang="ko-KR" altLang="en-US" dirty="0">
                <a:solidFill>
                  <a:srgbClr val="FF0000"/>
                </a:solidFill>
              </a:rPr>
              <a:t>그 의미를 이해하기 쉬운 변수를 사용</a:t>
            </a:r>
            <a:r>
              <a:rPr lang="ko-KR" altLang="en-US" dirty="0"/>
              <a:t>하는 것이 편리하다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</a:t>
            </a:r>
            <a:r>
              <a:rPr lang="ko-KR" altLang="en-US" dirty="0"/>
              <a:t>나 자바 언어와 마찬가지로 </a:t>
            </a:r>
            <a:r>
              <a:rPr lang="ko-KR" altLang="en-US" dirty="0" err="1"/>
              <a:t>파이썬은</a:t>
            </a:r>
            <a:r>
              <a:rPr lang="ko-KR" altLang="en-US" dirty="0"/>
              <a:t> 대소문자를 구분하기 때문에 </a:t>
            </a:r>
            <a:r>
              <a:rPr lang="en-US" altLang="ko-KR" dirty="0"/>
              <a:t>'index'</a:t>
            </a:r>
            <a:r>
              <a:rPr lang="ko-KR" altLang="en-US" dirty="0"/>
              <a:t>와 </a:t>
            </a:r>
            <a:r>
              <a:rPr lang="en-US" altLang="ko-KR" dirty="0"/>
              <a:t>'Index', 'INDEX'</a:t>
            </a:r>
            <a:r>
              <a:rPr lang="ko-KR" altLang="en-US" dirty="0"/>
              <a:t>는 다른 식별자이다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9106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  <a:endParaRPr lang="ko-KR" alt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4B4493-3493-C61C-B6CF-E9123C01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763588"/>
            <a:ext cx="9851391" cy="348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17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  <a:endParaRPr lang="ko-KR" alt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98" y="1591773"/>
            <a:ext cx="6996114" cy="221449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8" y="3874256"/>
            <a:ext cx="6996114" cy="229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76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49" y="3158054"/>
            <a:ext cx="6925126" cy="2888183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C0A1EF-F653-E188-A8A7-7FA54CCA6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3C94EB-6F6B-CBB8-2289-ABDF1A40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EDA870-9FE6-20DE-2D33-4BB41AAC93D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키워드</a:t>
            </a:r>
            <a:r>
              <a:rPr lang="en-US" altLang="ko-KR" sz="2400" baseline="30000" dirty="0">
                <a:solidFill>
                  <a:schemeClr val="accent5"/>
                </a:solidFill>
              </a:rPr>
              <a:t>keyword</a:t>
            </a:r>
            <a:r>
              <a:rPr lang="en-US" altLang="ko-KR" sz="2400" baseline="30000" dirty="0"/>
              <a:t> </a:t>
            </a:r>
            <a:r>
              <a:rPr lang="ko-KR" altLang="en-US" sz="2400" dirty="0"/>
              <a:t>혹은 </a:t>
            </a:r>
            <a:r>
              <a:rPr lang="ko-KR" altLang="en-US" sz="2400" dirty="0" err="1"/>
              <a:t>예약어</a:t>
            </a:r>
            <a:r>
              <a:rPr lang="en-US" altLang="ko-KR" sz="2400" baseline="30000" dirty="0">
                <a:solidFill>
                  <a:schemeClr val="accent5"/>
                </a:solidFill>
              </a:rPr>
              <a:t>reserved 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/>
              <a:t>미리 지정된 역할을 수행하도록 예약된 단어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import, for, if, def, class... </a:t>
            </a:r>
            <a:r>
              <a:rPr lang="ko-KR" altLang="en-US" sz="2000" dirty="0"/>
              <a:t>등과 같은 단어가 이에 해당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9463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  <a:endParaRPr lang="ko-KR" alt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68" y="1595438"/>
            <a:ext cx="7758594" cy="434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77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025361-4747-A4AE-C732-6CD4C167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DFB419-B53A-70F1-236D-A13974DFB80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 err="1"/>
              <a:t>CapitalizedWords</a:t>
            </a:r>
            <a:r>
              <a:rPr lang="en-US" altLang="ko-KR" dirty="0"/>
              <a:t>” “</a:t>
            </a:r>
            <a:r>
              <a:rPr lang="en-US" altLang="ko-KR" dirty="0" err="1"/>
              <a:t>mixedCase</a:t>
            </a:r>
            <a:r>
              <a:rPr lang="en-US" altLang="ko-KR" dirty="0"/>
              <a:t>” </a:t>
            </a:r>
            <a:r>
              <a:rPr lang="ko-KR" altLang="en-US" dirty="0"/>
              <a:t>등과 같은 것을 </a:t>
            </a:r>
            <a:r>
              <a:rPr lang="ko-KR" altLang="en-US" sz="2000" b="1" dirty="0" err="1"/>
              <a:t>캡워드</a:t>
            </a:r>
            <a:r>
              <a:rPr lang="en-US" altLang="ko-KR" sz="2000" baseline="30000" dirty="0" err="1">
                <a:solidFill>
                  <a:schemeClr val="accent5"/>
                </a:solidFill>
              </a:rPr>
              <a:t>capword</a:t>
            </a:r>
            <a:r>
              <a:rPr lang="ko-KR" altLang="en-US" sz="2000" dirty="0"/>
              <a:t> 표기법 혹은 </a:t>
            </a:r>
            <a:r>
              <a:rPr lang="ko-KR" altLang="en-US" sz="2000" b="1" dirty="0" err="1"/>
              <a:t>낙타등</a:t>
            </a:r>
            <a:r>
              <a:rPr lang="en-US" altLang="ko-KR" sz="2000" baseline="30000" dirty="0">
                <a:solidFill>
                  <a:schemeClr val="accent5"/>
                </a:solidFill>
              </a:rPr>
              <a:t>camel case</a:t>
            </a:r>
            <a:r>
              <a:rPr lang="ko-KR" altLang="en-US" sz="2000" baseline="30000" dirty="0">
                <a:solidFill>
                  <a:schemeClr val="accent5"/>
                </a:solidFill>
              </a:rPr>
              <a:t> </a:t>
            </a:r>
            <a:r>
              <a:rPr lang="ko-KR" altLang="en-US" sz="2000" dirty="0"/>
              <a:t>표기법이라고 함</a:t>
            </a:r>
            <a:endParaRPr lang="ko-KR" altLang="en-US" dirty="0"/>
          </a:p>
          <a:p>
            <a:pPr lvl="1"/>
            <a:r>
              <a:rPr lang="ko-KR" altLang="en-US" dirty="0"/>
              <a:t>좋은 변수 이름을 선택해야 코드를 쉽게 이해할 수 있음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92" y="3020967"/>
            <a:ext cx="6370446" cy="314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09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025361-4747-A4AE-C732-6CD4C167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6D031B8-9FDB-CD89-BB35-820D4FEB6BDD}"/>
              </a:ext>
            </a:extLst>
          </p:cNvPr>
          <p:cNvGrpSpPr/>
          <p:nvPr/>
        </p:nvGrpSpPr>
        <p:grpSpPr>
          <a:xfrm>
            <a:off x="3232747" y="1350456"/>
            <a:ext cx="5049242" cy="4785296"/>
            <a:chOff x="880071" y="0"/>
            <a:chExt cx="6936503" cy="6573902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0071" y="0"/>
              <a:ext cx="6936503" cy="2066192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125" y="1963988"/>
              <a:ext cx="6877933" cy="4609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052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0FE7BF1-A5BF-6D8F-DB78-BCDFE05C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AB400069-234A-BB10-BDEE-6CEEF9AF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BA020F9-239C-5F0C-7B8F-6CBFB73E632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sz="2000" dirty="0"/>
              <a:t>각 변수는 그 값을 표현하는 데에 적합한 크기의 공간을 메모리에서 확보해야 한다. 이렇게 필요한 공간을 결정하고, 그 공간에 값을 쓰고, 읽기 위해서는 자료의 </a:t>
            </a:r>
            <a:r>
              <a:rPr lang="ko-KR" altLang="en-US" sz="2000" dirty="0" err="1">
                <a:solidFill>
                  <a:srgbClr val="FF0000"/>
                </a:solidFill>
              </a:rPr>
              <a:t>형</a:t>
            </a:r>
            <a:r>
              <a:rPr lang="ko-KR" altLang="en-US" sz="2000" baseline="30000" dirty="0" err="1">
                <a:solidFill>
                  <a:srgbClr val="FF0000"/>
                </a:solidFill>
              </a:rPr>
              <a:t>type</a:t>
            </a:r>
            <a:r>
              <a:rPr lang="ko-KR" altLang="en-US" sz="2000" dirty="0" err="1"/>
              <a:t>을</a:t>
            </a:r>
            <a:r>
              <a:rPr lang="ko-KR" altLang="en-US" sz="2000" dirty="0"/>
              <a:t> 결정해야 하는데, 사용자가 지정하지 않아도 </a:t>
            </a:r>
            <a:r>
              <a:rPr lang="ko-KR" altLang="en-US" sz="2000" dirty="0" err="1"/>
              <a:t>파이썬이</a:t>
            </a:r>
            <a:r>
              <a:rPr lang="ko-KR" altLang="en-US" sz="2000" dirty="0"/>
              <a:t> 가장 적합한 형을 결정한다</a:t>
            </a:r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DB19E5A-8E88-F380-AC53-22858E699D42}"/>
              </a:ext>
            </a:extLst>
          </p:cNvPr>
          <p:cNvGrpSpPr/>
          <p:nvPr/>
        </p:nvGrpSpPr>
        <p:grpSpPr>
          <a:xfrm>
            <a:off x="964705" y="1916832"/>
            <a:ext cx="8519696" cy="2783535"/>
            <a:chOff x="588445" y="275411"/>
            <a:chExt cx="9021161" cy="314461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8445" y="2313727"/>
              <a:ext cx="8916039" cy="1106302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5644" y="275411"/>
              <a:ext cx="8843962" cy="198257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382044" y="671913"/>
              <a:ext cx="489928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/>
                <a:t>문자열 </a:t>
              </a:r>
              <a:r>
                <a:rPr lang="en-US" altLang="ko-KR" sz="1600"/>
                <a:t>‘</a:t>
              </a:r>
              <a:r>
                <a:rPr lang="ko-KR" altLang="en-US" sz="1600"/>
                <a:t>홍길동</a:t>
              </a:r>
              <a:r>
                <a:rPr lang="en-US" altLang="ko-KR" sz="1600"/>
                <a:t>‘</a:t>
              </a:r>
              <a:r>
                <a:rPr lang="ko-KR" altLang="en-US" sz="1600"/>
                <a:t>을 저장하는 변수 </a:t>
              </a:r>
              <a:r>
                <a:rPr lang="en-US" altLang="ko-KR" sz="1600"/>
                <a:t>name</a:t>
              </a:r>
              <a:endParaRPr lang="ko-KR" altLang="en-US" sz="1400" dirty="0"/>
            </a:p>
          </p:txBody>
        </p:sp>
        <p:cxnSp>
          <p:nvCxnSpPr>
            <p:cNvPr id="13" name="직선 화살표 연결선 12"/>
            <p:cNvCxnSpPr>
              <a:stCxn id="12" idx="1"/>
            </p:cNvCxnSpPr>
            <p:nvPr/>
          </p:nvCxnSpPr>
          <p:spPr>
            <a:xfrm flipH="1">
              <a:off x="2566714" y="841190"/>
              <a:ext cx="1815330" cy="3662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854879" y="2129060"/>
              <a:ext cx="489928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/>
                <a:t>정수 값 </a:t>
              </a:r>
              <a:r>
                <a:rPr lang="en-US" altLang="ko-KR" sz="1600"/>
                <a:t>27</a:t>
              </a:r>
              <a:r>
                <a:rPr lang="ko-KR" altLang="en-US" sz="1600"/>
                <a:t>을 저장하는 변수 </a:t>
              </a:r>
              <a:r>
                <a:rPr lang="en-US" altLang="ko-KR" sz="1600"/>
                <a:t>age</a:t>
              </a:r>
              <a:endParaRPr lang="ko-KR" altLang="en-US" sz="1400" dirty="0"/>
            </a:p>
          </p:txBody>
        </p:sp>
        <p:cxnSp>
          <p:nvCxnSpPr>
            <p:cNvPr id="15" name="직선 화살표 연결선 14"/>
            <p:cNvCxnSpPr>
              <a:stCxn id="14" idx="1"/>
            </p:cNvCxnSpPr>
            <p:nvPr/>
          </p:nvCxnSpPr>
          <p:spPr>
            <a:xfrm flipH="1" flipV="1">
              <a:off x="2153849" y="1621912"/>
              <a:ext cx="1701030" cy="6764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3836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0FE7BF1-A5BF-6D8F-DB78-BCDFE05C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AB400069-234A-BB10-BDEE-6CEEF9AF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1600111"/>
            <a:ext cx="9021434" cy="313416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34" y="4701663"/>
            <a:ext cx="9002381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89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0FE7BF1-A5BF-6D8F-DB78-BCDFE05C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식별자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identifier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AB400069-234A-BB10-BDEE-6CEEF9AF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변수의 생성과 식별자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35" y="1674428"/>
            <a:ext cx="10835006" cy="4058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45524" y="3782686"/>
            <a:ext cx="4899289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width </a:t>
            </a:r>
            <a:r>
              <a:rPr lang="ko-KR" altLang="en-US" dirty="0"/>
              <a:t>변수에 새로운 값 </a:t>
            </a:r>
            <a:r>
              <a:rPr lang="en-US" altLang="ko-KR" dirty="0"/>
              <a:t>30</a:t>
            </a:r>
            <a:r>
              <a:rPr lang="ko-KR" altLang="en-US" dirty="0"/>
              <a:t>을 할당함</a:t>
            </a:r>
            <a:endParaRPr lang="ko-KR" altLang="en-US" sz="1600" dirty="0"/>
          </a:p>
        </p:txBody>
      </p:sp>
      <p:cxnSp>
        <p:nvCxnSpPr>
          <p:cNvPr id="4" name="직선 화살표 연결선 3"/>
          <p:cNvCxnSpPr>
            <a:stCxn id="3" idx="1"/>
          </p:cNvCxnSpPr>
          <p:nvPr/>
        </p:nvCxnSpPr>
        <p:spPr>
          <a:xfrm flipH="1">
            <a:off x="2979930" y="3967352"/>
            <a:ext cx="1665594" cy="315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87108" y="4172936"/>
            <a:ext cx="4899289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width </a:t>
            </a:r>
            <a:r>
              <a:rPr lang="ko-KR" altLang="en-US" dirty="0"/>
              <a:t>변수에 새로운 값 </a:t>
            </a:r>
            <a:r>
              <a:rPr lang="en-US" altLang="ko-KR" dirty="0"/>
              <a:t>30</a:t>
            </a:r>
            <a:r>
              <a:rPr lang="ko-KR" altLang="en-US" dirty="0"/>
              <a:t>이 사용됨</a:t>
            </a:r>
            <a:endParaRPr lang="ko-KR" altLang="en-US" sz="1600" dirty="0"/>
          </a:p>
        </p:txBody>
      </p:sp>
      <p:cxnSp>
        <p:nvCxnSpPr>
          <p:cNvPr id="8" name="직선 화살표 연결선 7"/>
          <p:cNvCxnSpPr>
            <a:stCxn id="5" idx="1"/>
          </p:cNvCxnSpPr>
          <p:nvPr/>
        </p:nvCxnSpPr>
        <p:spPr>
          <a:xfrm flipH="1">
            <a:off x="4521514" y="4357602"/>
            <a:ext cx="1665594" cy="315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75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컴퓨터의 자료 값은 덧셈</a:t>
            </a:r>
            <a:r>
              <a:rPr lang="en-US" altLang="ko-KR" dirty="0"/>
              <a:t>, </a:t>
            </a:r>
            <a:r>
              <a:rPr lang="ko-KR" altLang="en-US" dirty="0"/>
              <a:t>뺄셈</a:t>
            </a:r>
            <a:r>
              <a:rPr lang="en-US" altLang="ko-KR" dirty="0"/>
              <a:t>, </a:t>
            </a:r>
            <a:r>
              <a:rPr lang="ko-KR" altLang="en-US" dirty="0"/>
              <a:t>곱셈</a:t>
            </a:r>
            <a:r>
              <a:rPr lang="en-US" altLang="ko-KR" dirty="0"/>
              <a:t>, </a:t>
            </a:r>
            <a:r>
              <a:rPr lang="ko-KR" altLang="en-US" dirty="0"/>
              <a:t>나눗셈들과 같은 </a:t>
            </a:r>
            <a:r>
              <a:rPr lang="ko-KR" altLang="en-US" b="1" dirty="0"/>
              <a:t>산술 연산</a:t>
            </a:r>
            <a:r>
              <a:rPr lang="en-US" altLang="ko-KR" baseline="30000" dirty="0">
                <a:solidFill>
                  <a:schemeClr val="accent5"/>
                </a:solidFill>
              </a:rPr>
              <a:t>mathematical operation</a:t>
            </a:r>
            <a:r>
              <a:rPr lang="ko-KR" altLang="en-US" dirty="0"/>
              <a:t>이 가능</a:t>
            </a:r>
          </a:p>
          <a:p>
            <a:r>
              <a:rPr lang="ko-KR" altLang="en-US" dirty="0" err="1"/>
              <a:t>파이썬은</a:t>
            </a:r>
            <a:r>
              <a:rPr lang="ko-KR" altLang="en-US" dirty="0"/>
              <a:t> 이러한 산술 연산을 위한 여러 연산자를 제공</a:t>
            </a:r>
            <a:endParaRPr lang="en-US" altLang="ko-KR" dirty="0"/>
          </a:p>
          <a:p>
            <a:r>
              <a:rPr lang="ko-KR" altLang="en-US" dirty="0"/>
              <a:t>“</a:t>
            </a:r>
            <a:r>
              <a:rPr lang="en-US" altLang="ko-KR" dirty="0"/>
              <a:t>27</a:t>
            </a:r>
            <a:r>
              <a:rPr lang="ko-KR" altLang="en-US" dirty="0"/>
              <a:t>이라는 값을 </a:t>
            </a:r>
            <a:r>
              <a:rPr lang="en-US" altLang="ko-KR" dirty="0"/>
              <a:t>age</a:t>
            </a:r>
            <a:r>
              <a:rPr lang="ko-KR" altLang="en-US" dirty="0"/>
              <a:t>라는 변수에 할당하여라</a:t>
            </a:r>
            <a:r>
              <a:rPr lang="en-US" altLang="ko-KR" dirty="0"/>
              <a:t>.”</a:t>
            </a:r>
            <a:r>
              <a:rPr lang="ko-KR" altLang="en-US" dirty="0"/>
              <a:t>라는 명령어와</a:t>
            </a:r>
            <a:r>
              <a:rPr lang="en-US" altLang="ko-KR" dirty="0"/>
              <a:t> </a:t>
            </a:r>
            <a:r>
              <a:rPr lang="ko-KR" altLang="en-US" dirty="0"/>
              <a:t>변수의 할당 과정을 보여주고 있음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D96DA06-D98B-D65E-EB1A-E8EE0ED0E764}"/>
              </a:ext>
            </a:extLst>
          </p:cNvPr>
          <p:cNvGrpSpPr/>
          <p:nvPr/>
        </p:nvGrpSpPr>
        <p:grpSpPr>
          <a:xfrm>
            <a:off x="1109986" y="3587236"/>
            <a:ext cx="10624142" cy="1940126"/>
            <a:chOff x="971600" y="4077847"/>
            <a:chExt cx="10624142" cy="194012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6863" y="4077847"/>
              <a:ext cx="8849960" cy="819264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600" y="4893866"/>
              <a:ext cx="8945223" cy="1124107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367189" y="4136017"/>
              <a:ext cx="5228553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객체는 프로그램상의 어떤 자료로 데이터와 함수를 가질 수 있는 것으로 추후 상세히 설명함 </a:t>
              </a:r>
              <a:endParaRPr lang="ko-KR" altLang="en-US" sz="1600" dirty="0"/>
            </a:p>
          </p:txBody>
        </p:sp>
        <p:cxnSp>
          <p:nvCxnSpPr>
            <p:cNvPr id="8" name="직선 화살표 연결선 7"/>
            <p:cNvCxnSpPr>
              <a:cxnSpLocks/>
              <a:stCxn id="7" idx="1"/>
            </p:cNvCxnSpPr>
            <p:nvPr/>
          </p:nvCxnSpPr>
          <p:spPr>
            <a:xfrm flipH="1">
              <a:off x="4604657" y="4459183"/>
              <a:ext cx="1762532" cy="658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2966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위의 과정을 통해 정수 </a:t>
            </a:r>
            <a:r>
              <a:rPr lang="en-US" altLang="ko-KR" dirty="0"/>
              <a:t>27</a:t>
            </a:r>
            <a:r>
              <a:rPr lang="ko-KR" altLang="en-US" dirty="0"/>
              <a:t>을 </a:t>
            </a:r>
            <a:r>
              <a:rPr lang="en-US" altLang="ko-KR" dirty="0"/>
              <a:t>age</a:t>
            </a:r>
            <a:r>
              <a:rPr lang="ko-KR" altLang="en-US" dirty="0"/>
              <a:t>라는 </a:t>
            </a:r>
            <a:r>
              <a:rPr lang="ko-KR" altLang="en-US" dirty="0" err="1"/>
              <a:t>변수명이</a:t>
            </a:r>
            <a:r>
              <a:rPr lang="ko-KR" altLang="en-US" dirty="0"/>
              <a:t> 참조함</a:t>
            </a:r>
            <a:endParaRPr lang="en-US" altLang="ko-KR" dirty="0"/>
          </a:p>
          <a:p>
            <a:r>
              <a:rPr lang="ko-KR" altLang="en-US" dirty="0"/>
              <a:t>할당 연산자 </a:t>
            </a:r>
            <a:r>
              <a:rPr lang="en-US" altLang="ko-KR" dirty="0"/>
              <a:t>=</a:t>
            </a:r>
            <a:r>
              <a:rPr lang="ko-KR" altLang="en-US" dirty="0"/>
              <a:t>의 왼쪽에는 변수 이름이 오고</a:t>
            </a:r>
            <a:r>
              <a:rPr lang="en-US" altLang="ko-KR" dirty="0"/>
              <a:t>, </a:t>
            </a:r>
            <a:r>
              <a:rPr lang="ko-KR" altLang="en-US" dirty="0"/>
              <a:t>오른쪽에는 값으로 계산될 수 있는 상수</a:t>
            </a:r>
            <a:r>
              <a:rPr lang="en-US" altLang="ko-KR" dirty="0"/>
              <a:t>, </a:t>
            </a:r>
            <a:r>
              <a:rPr lang="ko-KR" altLang="en-US" dirty="0"/>
              <a:t>변수 혹은 수식이 올 수 있음 </a:t>
            </a:r>
            <a:r>
              <a:rPr lang="en-US" altLang="ko-KR" dirty="0"/>
              <a:t>(</a:t>
            </a:r>
            <a:r>
              <a:rPr lang="en-US" altLang="ko-KR" dirty="0" err="1"/>
              <a:t>반대는</a:t>
            </a:r>
            <a:r>
              <a:rPr lang="en-US" altLang="ko-KR" dirty="0"/>
              <a:t> </a:t>
            </a:r>
            <a:r>
              <a:rPr lang="en-US" altLang="ko-KR" dirty="0" err="1"/>
              <a:t>성립하지</a:t>
            </a:r>
            <a:r>
              <a:rPr lang="en-US" altLang="ko-KR" dirty="0"/>
              <a:t> </a:t>
            </a:r>
            <a:r>
              <a:rPr lang="ko-KR" altLang="en-US" dirty="0"/>
              <a:t>않음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어떤 변수에 처음으로 할당 연산자가 적용될 때 </a:t>
            </a:r>
            <a:r>
              <a:rPr lang="en-US" altLang="ko-KR" dirty="0"/>
              <a:t> </a:t>
            </a:r>
            <a:r>
              <a:rPr lang="ko-KR" altLang="en-US" dirty="0"/>
              <a:t>“변수 </a:t>
            </a:r>
            <a:r>
              <a:rPr lang="en-US" altLang="ko-KR" dirty="0"/>
              <a:t>age</a:t>
            </a:r>
            <a:r>
              <a:rPr lang="ko-KR" altLang="en-US" dirty="0"/>
              <a:t>가 </a:t>
            </a:r>
            <a:r>
              <a:rPr lang="ko-KR" altLang="en-US" b="1" dirty="0"/>
              <a:t>선언</a:t>
            </a:r>
            <a:r>
              <a:rPr lang="en-US" altLang="ko-KR" baseline="30000" dirty="0">
                <a:solidFill>
                  <a:schemeClr val="accent5"/>
                </a:solidFill>
              </a:rPr>
              <a:t>declare</a:t>
            </a:r>
            <a:r>
              <a:rPr lang="ko-KR" altLang="en-US" dirty="0" err="1"/>
              <a:t>되었다”라고</a:t>
            </a:r>
            <a:r>
              <a:rPr lang="ko-KR" altLang="en-US" dirty="0"/>
              <a:t> 함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기호를 </a:t>
            </a:r>
            <a:r>
              <a:rPr lang="ko-KR" altLang="en-US" b="1" dirty="0"/>
              <a:t>할당 연산자</a:t>
            </a:r>
            <a:r>
              <a:rPr lang="en-US" altLang="ko-KR" baseline="30000" dirty="0">
                <a:solidFill>
                  <a:schemeClr val="accent5"/>
                </a:solidFill>
              </a:rPr>
              <a:t>assignment operator</a:t>
            </a:r>
            <a:r>
              <a:rPr lang="ko-KR" altLang="en-US" dirty="0"/>
              <a:t>라고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 문장은 구문오류</a:t>
            </a:r>
            <a:r>
              <a:rPr lang="en-US" altLang="ko-KR" baseline="30000" dirty="0">
                <a:solidFill>
                  <a:schemeClr val="accent5"/>
                </a:solidFill>
              </a:rPr>
              <a:t>syntax error</a:t>
            </a:r>
            <a:r>
              <a:rPr lang="ko-KR" altLang="en-US" dirty="0"/>
              <a:t>가 발생함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1CD714E-7A7A-9558-2124-AC677C75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7" y="4055233"/>
            <a:ext cx="6658904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761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err="1"/>
              <a:t>파이썬은</a:t>
            </a:r>
            <a:r>
              <a:rPr lang="ko-KR" altLang="en-US"/>
              <a:t> 숫자 값에 대해 같이 기본적으로 </a:t>
            </a:r>
            <a:r>
              <a:rPr lang="ko-KR" altLang="en-US" b="1"/>
              <a:t>사칙연산</a:t>
            </a:r>
            <a:r>
              <a:rPr lang="ko-KR" altLang="en-US"/>
              <a:t>과 </a:t>
            </a:r>
            <a:endParaRPr lang="en-US" altLang="ko-KR"/>
          </a:p>
          <a:p>
            <a:pPr marL="0" indent="0" fontAlgn="base">
              <a:buNone/>
            </a:pPr>
            <a:r>
              <a:rPr lang="en-US" altLang="ko-KR" b="1"/>
              <a:t>  </a:t>
            </a:r>
            <a:r>
              <a:rPr lang="ko-KR" altLang="en-US" b="1"/>
              <a:t>나머지연산</a:t>
            </a:r>
            <a:r>
              <a:rPr lang="en-US" altLang="ko-KR" b="1"/>
              <a:t>, </a:t>
            </a:r>
            <a:r>
              <a:rPr lang="ko-KR" altLang="en-US" b="1"/>
              <a:t>제곱연산</a:t>
            </a:r>
            <a:r>
              <a:rPr lang="ko-KR" altLang="en-US"/>
              <a:t>을 수행하는 연산자를 제공</a:t>
            </a:r>
          </a:p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BD8EC71-8285-4B72-5FFE-D5C58C97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2113055"/>
            <a:ext cx="8847652" cy="331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11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C3098-B6C3-8C1D-8B16-C76A4A03699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파이썬 연산자와 그 의미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445F54E-066D-9E0B-6D24-68B70D5E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71" y="1656583"/>
            <a:ext cx="8795479" cy="446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03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752B36-8F72-C766-21FD-EA19587E1DE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기본 연산자들을 사용해 </a:t>
            </a:r>
            <a:r>
              <a:rPr lang="ko-KR" altLang="en-US" sz="2000" dirty="0" err="1"/>
              <a:t>파이썬을</a:t>
            </a:r>
            <a:r>
              <a:rPr lang="ko-KR" altLang="en-US" sz="2000" dirty="0"/>
              <a:t> 계산기로 사용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/>
              <a:t>2 + 4</a:t>
            </a:r>
            <a:r>
              <a:rPr lang="ko-KR" altLang="en-US" sz="2000" dirty="0"/>
              <a:t>와 같은 문장을 </a:t>
            </a:r>
            <a:r>
              <a:rPr lang="ko-KR" altLang="en-US" sz="2000" b="1" dirty="0"/>
              <a:t>표현식</a:t>
            </a:r>
            <a:r>
              <a:rPr lang="en-US" altLang="ko-KR" sz="2000" b="1" baseline="30000" dirty="0">
                <a:solidFill>
                  <a:schemeClr val="accent5"/>
                </a:solidFill>
              </a:rPr>
              <a:t>expression</a:t>
            </a:r>
            <a:r>
              <a:rPr lang="ko-KR" altLang="en-US" sz="2000" dirty="0"/>
              <a:t>이라고 한다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188798C-7BD2-EAD4-C930-9830B2980255}"/>
              </a:ext>
            </a:extLst>
          </p:cNvPr>
          <p:cNvGrpSpPr/>
          <p:nvPr/>
        </p:nvGrpSpPr>
        <p:grpSpPr>
          <a:xfrm>
            <a:off x="1315915" y="1989078"/>
            <a:ext cx="6248571" cy="4057157"/>
            <a:chOff x="1011115" y="1373315"/>
            <a:chExt cx="8027377" cy="521212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l="399" r="442"/>
            <a:stretch/>
          </p:blipFill>
          <p:spPr>
            <a:xfrm>
              <a:off x="1011115" y="1373315"/>
              <a:ext cx="8018585" cy="1376484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l="289" r="442"/>
            <a:stretch/>
          </p:blipFill>
          <p:spPr>
            <a:xfrm>
              <a:off x="1011115" y="2397830"/>
              <a:ext cx="8027377" cy="4187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3532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3" y="1425696"/>
            <a:ext cx="9858367" cy="457169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ADA4ED-C248-ADD7-1CDE-4C8C90208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</p:spTree>
    <p:extLst>
      <p:ext uri="{BB962C8B-B14F-4D97-AF65-F5344CB8AC3E}">
        <p14:creationId xmlns:p14="http://schemas.microsoft.com/office/powerpoint/2010/main" val="7036157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2221325-562A-1443-D88C-D0167A8B359F}"/>
              </a:ext>
            </a:extLst>
          </p:cNvPr>
          <p:cNvGrpSpPr/>
          <p:nvPr/>
        </p:nvGrpSpPr>
        <p:grpSpPr>
          <a:xfrm>
            <a:off x="546069" y="1308672"/>
            <a:ext cx="6007131" cy="4397535"/>
            <a:chOff x="546069" y="1020670"/>
            <a:chExt cx="6400549" cy="468553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069" y="1020670"/>
              <a:ext cx="6400549" cy="2781402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069" y="3914023"/>
              <a:ext cx="6400549" cy="1792185"/>
            </a:xfrm>
            <a:prstGeom prst="rect">
              <a:avLst/>
            </a:prstGeom>
          </p:spPr>
        </p:pic>
      </p:grpSp>
      <p:sp>
        <p:nvSpPr>
          <p:cNvPr id="6" name="내용 개체 틀 2"/>
          <p:cNvSpPr>
            <a:spLocks noGrp="1"/>
          </p:cNvSpPr>
          <p:nvPr>
            <p:ph idx="14"/>
          </p:nvPr>
        </p:nvSpPr>
        <p:spPr>
          <a:xfrm>
            <a:off x="7143750" y="1128237"/>
            <a:ext cx="3938264" cy="4917999"/>
          </a:xfrm>
        </p:spPr>
        <p:txBody>
          <a:bodyPr>
            <a:normAutofit/>
          </a:bodyPr>
          <a:lstStyle/>
          <a:p>
            <a:r>
              <a:rPr lang="ko-KR" altLang="en-US" dirty="0"/>
              <a:t>변수 </a:t>
            </a:r>
            <a:r>
              <a:rPr lang="en-US" altLang="ko-KR" dirty="0" err="1"/>
              <a:t>my_height</a:t>
            </a:r>
            <a:r>
              <a:rPr lang="ko-KR" altLang="en-US" dirty="0"/>
              <a:t>와 같은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문자열 자료형 </a:t>
            </a:r>
            <a:r>
              <a:rPr lang="ko-KR" altLang="en-US" dirty="0"/>
              <a:t>변수에 정수인 숫자 </a:t>
            </a:r>
            <a:r>
              <a:rPr lang="en-US" altLang="ko-KR" dirty="0"/>
              <a:t>1</a:t>
            </a:r>
            <a:r>
              <a:rPr lang="ko-KR" altLang="en-US" dirty="0"/>
              <a:t>을 더하는 연산이 불가능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따라서 위의 코드에서는 </a:t>
            </a:r>
            <a:r>
              <a:rPr lang="en-US" altLang="ko-KR" dirty="0" err="1"/>
              <a:t>TypeError</a:t>
            </a:r>
            <a:r>
              <a:rPr lang="ko-KR" altLang="en-US" dirty="0"/>
              <a:t>라는 오류가 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연산자는 특정한 자료형에서만 사용이 가능하다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84815A9-C0A9-FC80-71DF-DCB4B4A56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</p:spTree>
    <p:extLst>
      <p:ext uri="{BB962C8B-B14F-4D97-AF65-F5344CB8AC3E}">
        <p14:creationId xmlns:p14="http://schemas.microsoft.com/office/powerpoint/2010/main" val="1768413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84815A9-C0A9-FC80-71DF-DCB4B4A56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98705F8-BB32-868B-7C2F-DC6E6B68D87D}"/>
              </a:ext>
            </a:extLst>
          </p:cNvPr>
          <p:cNvGrpSpPr/>
          <p:nvPr/>
        </p:nvGrpSpPr>
        <p:grpSpPr>
          <a:xfrm>
            <a:off x="904883" y="1199985"/>
            <a:ext cx="8897592" cy="4866839"/>
            <a:chOff x="520533" y="533235"/>
            <a:chExt cx="8897592" cy="4866839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533" y="533235"/>
              <a:ext cx="8897592" cy="236253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 rotWithShape="1">
            <a:blip r:embed="rId3"/>
            <a:srcRect t="10540"/>
            <a:stretch/>
          </p:blipFill>
          <p:spPr>
            <a:xfrm>
              <a:off x="558638" y="2834919"/>
              <a:ext cx="8821381" cy="1184594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0533" y="4266441"/>
              <a:ext cx="8897592" cy="1133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9211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정수나 실수 사이에는 덧셈</a:t>
            </a:r>
            <a:r>
              <a:rPr lang="en-US" altLang="ko-KR"/>
              <a:t>, </a:t>
            </a:r>
            <a:r>
              <a:rPr lang="ko-KR" altLang="en-US"/>
              <a:t>뺄셈</a:t>
            </a:r>
            <a:r>
              <a:rPr lang="en-US" altLang="ko-KR"/>
              <a:t>, </a:t>
            </a:r>
            <a:r>
              <a:rPr lang="ko-KR" altLang="en-US"/>
              <a:t>곱셈</a:t>
            </a:r>
            <a:r>
              <a:rPr lang="en-US" altLang="ko-KR"/>
              <a:t>, </a:t>
            </a:r>
            <a:r>
              <a:rPr lang="ko-KR" altLang="en-US"/>
              <a:t>나눗셈의 사칙연산이 잘 적용됨</a:t>
            </a:r>
          </a:p>
          <a:p>
            <a:r>
              <a:rPr lang="ko-KR" altLang="en-US"/>
              <a:t>정수에 대해서는 정수 나눗셈과 나머지 연산을 수행 가능</a:t>
            </a:r>
          </a:p>
          <a:p>
            <a:r>
              <a:rPr lang="en-US"/>
              <a:t>** </a:t>
            </a:r>
            <a:r>
              <a:rPr lang="en-US" err="1"/>
              <a:t>연산을</a:t>
            </a:r>
            <a:r>
              <a:rPr lang="en-US"/>
              <a:t> </a:t>
            </a:r>
            <a:r>
              <a:rPr lang="en-US" err="1"/>
              <a:t>사용하여</a:t>
            </a:r>
            <a:r>
              <a:rPr lang="en-US"/>
              <a:t> </a:t>
            </a:r>
            <a:r>
              <a:rPr lang="en-US" err="1"/>
              <a:t>거듭제곱</a:t>
            </a:r>
            <a:r>
              <a:rPr lang="en-US"/>
              <a:t> </a:t>
            </a:r>
            <a:r>
              <a:rPr lang="en-US" err="1"/>
              <a:t>연산을</a:t>
            </a:r>
            <a:r>
              <a:rPr lang="en-US"/>
              <a:t> </a:t>
            </a:r>
            <a:r>
              <a:rPr lang="en-US" err="1"/>
              <a:t>정수와</a:t>
            </a:r>
            <a:r>
              <a:rPr lang="en-US"/>
              <a:t> </a:t>
            </a:r>
            <a:r>
              <a:rPr lang="en-US" err="1"/>
              <a:t>실수에</a:t>
            </a:r>
            <a:r>
              <a:rPr lang="en-US"/>
              <a:t> </a:t>
            </a:r>
            <a:r>
              <a:rPr lang="en-US" err="1"/>
              <a:t>대해서도</a:t>
            </a:r>
            <a:r>
              <a:rPr lang="en-US"/>
              <a:t> 적</a:t>
            </a:r>
            <a:r>
              <a:rPr lang="ko-KR" altLang="en-US"/>
              <a:t>용 가능</a:t>
            </a:r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F888876-8B33-598D-EB13-974DEFCA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</a:t>
            </a:r>
            <a:r>
              <a:rPr lang="ko-KR" altLang="en-US" dirty="0"/>
              <a:t>변수와 연산자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622" y="3336317"/>
            <a:ext cx="9283388" cy="231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20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자료형</a:t>
            </a:r>
            <a:r>
              <a:rPr lang="en-US" altLang="ko-KR" b="1" baseline="30000" dirty="0">
                <a:solidFill>
                  <a:schemeClr val="accent5"/>
                </a:solidFill>
              </a:rPr>
              <a:t>data type</a:t>
            </a:r>
          </a:p>
          <a:p>
            <a:r>
              <a:rPr lang="ko-KR" altLang="en-US" dirty="0"/>
              <a:t>프로그래밍 언어에서 처리할 수 있는 데이터의 유형</a:t>
            </a:r>
            <a:endParaRPr lang="en-US" altLang="ko-KR" dirty="0"/>
          </a:p>
          <a:p>
            <a:pPr lvl="1"/>
            <a:r>
              <a:rPr lang="ko-KR" altLang="en-US" dirty="0"/>
              <a:t>기본 자료형</a:t>
            </a:r>
            <a:r>
              <a:rPr lang="en-US" altLang="ko-KR" dirty="0"/>
              <a:t>, </a:t>
            </a:r>
            <a:r>
              <a:rPr lang="ko-KR" altLang="en-US" dirty="0" err="1"/>
              <a:t>부울형</a:t>
            </a:r>
            <a:r>
              <a:rPr lang="en-US" altLang="ko-KR" dirty="0"/>
              <a:t>, </a:t>
            </a:r>
            <a:r>
              <a:rPr lang="ko-KR" altLang="en-US" dirty="0"/>
              <a:t>숫자형</a:t>
            </a:r>
            <a:r>
              <a:rPr lang="en-US" altLang="ko-KR" dirty="0"/>
              <a:t>(</a:t>
            </a:r>
            <a:r>
              <a:rPr lang="ko-KR" altLang="en-US" dirty="0"/>
              <a:t>정수</a:t>
            </a:r>
            <a:r>
              <a:rPr lang="en-US" altLang="ko-KR" dirty="0"/>
              <a:t>, </a:t>
            </a:r>
            <a:r>
              <a:rPr lang="ko-KR" altLang="en-US" dirty="0"/>
              <a:t>실수</a:t>
            </a:r>
            <a:r>
              <a:rPr lang="en-US" altLang="ko-KR" dirty="0"/>
              <a:t>, </a:t>
            </a:r>
            <a:r>
              <a:rPr lang="ko-KR" altLang="en-US" dirty="0"/>
              <a:t>복소수</a:t>
            </a:r>
            <a:r>
              <a:rPr lang="en-US" altLang="ko-KR" dirty="0"/>
              <a:t>), 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 err="1"/>
              <a:t>튜플</a:t>
            </a:r>
            <a:r>
              <a:rPr lang="en-US" altLang="ko-KR" dirty="0"/>
              <a:t>, </a:t>
            </a:r>
            <a:r>
              <a:rPr lang="ko-KR" altLang="en-US" dirty="0"/>
              <a:t>집합</a:t>
            </a:r>
            <a:r>
              <a:rPr lang="en-US" altLang="ko-KR" dirty="0"/>
              <a:t>, </a:t>
            </a:r>
            <a:r>
              <a:rPr lang="ko-KR" altLang="en-US" dirty="0" err="1"/>
              <a:t>딕셔너리</a:t>
            </a:r>
            <a:endParaRPr lang="ko-KR" altLang="en-US" dirty="0"/>
          </a:p>
          <a:p>
            <a:pPr lvl="1"/>
            <a:r>
              <a:rPr lang="ko-KR" altLang="en-US" dirty="0"/>
              <a:t>객체가 어떤 </a:t>
            </a:r>
            <a:r>
              <a:rPr lang="ko-KR" altLang="en-US" dirty="0" err="1"/>
              <a:t>자료형인지를</a:t>
            </a:r>
            <a:r>
              <a:rPr lang="ko-KR" altLang="en-US" dirty="0"/>
              <a:t> 알려주는 </a:t>
            </a:r>
            <a:r>
              <a:rPr lang="en-US" altLang="ko-KR" dirty="0"/>
              <a:t>type()</a:t>
            </a:r>
            <a:r>
              <a:rPr lang="ko-KR" altLang="en-US" dirty="0"/>
              <a:t>이라는 함수를 제공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ko-KR" altLang="en-US" dirty="0" err="1"/>
              <a:t>자료형의</a:t>
            </a:r>
            <a:r>
              <a:rPr lang="ko-KR" altLang="en-US" dirty="0"/>
              <a:t> 의미와 </a:t>
            </a:r>
            <a:r>
              <a:rPr lang="ko-KR" altLang="en-US" dirty="0" err="1"/>
              <a:t>자료형</a:t>
            </a:r>
            <a:r>
              <a:rPr lang="ko-KR" altLang="en-US" dirty="0"/>
              <a:t>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825B27-A6AA-2D8D-FD65-49617401D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420" y="2717043"/>
            <a:ext cx="7844356" cy="343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86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변수 </a:t>
            </a:r>
            <a:r>
              <a:rPr lang="en-US" altLang="ko-KR" dirty="0" err="1"/>
              <a:t>num</a:t>
            </a:r>
            <a:r>
              <a:rPr lang="ko-KR" altLang="en-US" dirty="0"/>
              <a:t>에는 </a:t>
            </a:r>
            <a:r>
              <a:rPr lang="en-US" altLang="ko-KR" dirty="0"/>
              <a:t>100</a:t>
            </a:r>
            <a:r>
              <a:rPr lang="ko-KR" altLang="en-US" dirty="0"/>
              <a:t>이라는 정수 값</a:t>
            </a:r>
            <a:r>
              <a:rPr lang="en-US" altLang="ko-KR" dirty="0"/>
              <a:t>, </a:t>
            </a:r>
            <a:r>
              <a:rPr lang="ko-KR" altLang="en-US" dirty="0"/>
              <a:t>변수 </a:t>
            </a:r>
            <a:r>
              <a:rPr lang="en-US" altLang="ko-KR" dirty="0"/>
              <a:t>pi</a:t>
            </a:r>
            <a:r>
              <a:rPr lang="ko-KR" altLang="en-US" dirty="0"/>
              <a:t>에는 </a:t>
            </a:r>
            <a:r>
              <a:rPr lang="en-US" altLang="ko-KR" dirty="0"/>
              <a:t>3.141592</a:t>
            </a:r>
            <a:r>
              <a:rPr lang="ko-KR" altLang="en-US" dirty="0"/>
              <a:t>라는 실수 값</a:t>
            </a:r>
            <a:r>
              <a:rPr lang="en-US" altLang="ko-KR" dirty="0"/>
              <a:t>, </a:t>
            </a:r>
            <a:r>
              <a:rPr lang="ko-KR" altLang="en-US" dirty="0"/>
              <a:t>변수 </a:t>
            </a:r>
            <a:r>
              <a:rPr lang="en-US" altLang="ko-KR" dirty="0"/>
              <a:t>message</a:t>
            </a:r>
            <a:r>
              <a:rPr lang="ko-KR" altLang="en-US" dirty="0"/>
              <a:t>에는 “</a:t>
            </a:r>
            <a:r>
              <a:rPr lang="en-US" altLang="ko-KR" dirty="0"/>
              <a:t>I love Python”</a:t>
            </a:r>
            <a:r>
              <a:rPr lang="ko-KR" altLang="en-US" dirty="0"/>
              <a:t>이라는 문자열 값이 각각 할당되어 있음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ko-KR" altLang="en-US" dirty="0" err="1"/>
              <a:t>내장함수</a:t>
            </a:r>
            <a:r>
              <a:rPr lang="ko-KR" altLang="en-US" dirty="0"/>
              <a:t> </a:t>
            </a:r>
            <a:r>
              <a:rPr lang="en-US" altLang="ko-KR" dirty="0"/>
              <a:t>type()</a:t>
            </a:r>
            <a:r>
              <a:rPr lang="ko-KR" altLang="en-US" dirty="0"/>
              <a:t>을 사용해서 살펴보면 </a:t>
            </a:r>
            <a:r>
              <a:rPr lang="en-US" altLang="ko-KR" dirty="0" err="1"/>
              <a:t>num</a:t>
            </a:r>
            <a:r>
              <a:rPr lang="ko-KR" altLang="en-US" dirty="0"/>
              <a:t>은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r>
              <a:rPr lang="en-US" altLang="ko-KR" dirty="0"/>
              <a:t>, pi</a:t>
            </a:r>
            <a:r>
              <a:rPr lang="ko-KR" altLang="en-US" dirty="0"/>
              <a:t>는 </a:t>
            </a:r>
            <a:r>
              <a:rPr lang="en-US" altLang="ko-KR" dirty="0"/>
              <a:t>float </a:t>
            </a:r>
            <a:r>
              <a:rPr lang="ko-KR" altLang="en-US" dirty="0"/>
              <a:t>클래스</a:t>
            </a:r>
            <a:r>
              <a:rPr lang="en-US" altLang="ko-KR" dirty="0"/>
              <a:t>, message</a:t>
            </a:r>
            <a:r>
              <a:rPr lang="ko-KR" altLang="en-US" dirty="0"/>
              <a:t>는 </a:t>
            </a:r>
            <a:r>
              <a:rPr lang="en-US" altLang="ko-KR" dirty="0" err="1"/>
              <a:t>str</a:t>
            </a:r>
            <a:r>
              <a:rPr lang="en-US" altLang="ko-KR" dirty="0"/>
              <a:t> </a:t>
            </a:r>
            <a:r>
              <a:rPr lang="ko-KR" altLang="en-US" dirty="0"/>
              <a:t>클래스 </a:t>
            </a:r>
            <a:r>
              <a:rPr lang="ko-KR" altLang="en-US" dirty="0" err="1"/>
              <a:t>자료형임을</a:t>
            </a:r>
            <a:r>
              <a:rPr lang="ko-KR" altLang="en-US" dirty="0"/>
              <a:t> 알 수 있음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 err="1"/>
              <a:t>num</a:t>
            </a:r>
            <a:r>
              <a:rPr lang="ko-KR" altLang="en-US" dirty="0"/>
              <a:t>이라는 변수에 정수 값이 할당되면 변수의 </a:t>
            </a:r>
            <a:r>
              <a:rPr lang="ko-KR" altLang="en-US" dirty="0" err="1"/>
              <a:t>자료형이</a:t>
            </a:r>
            <a:r>
              <a:rPr lang="ko-KR" altLang="en-US" dirty="0"/>
              <a:t>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ko-KR" altLang="en-US" dirty="0"/>
              <a:t>형으로 결정됨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이와 같이 프로그램이 실행되는 과정에서 자료형이 결정되는 방식을 </a:t>
            </a:r>
            <a:r>
              <a:rPr lang="ko-KR" altLang="en-US" b="1" dirty="0"/>
              <a:t>동적 형 결정</a:t>
            </a:r>
            <a:r>
              <a:rPr lang="en-US" altLang="ko-KR" b="1" baseline="30000" dirty="0">
                <a:solidFill>
                  <a:schemeClr val="accent5"/>
                </a:solidFill>
              </a:rPr>
              <a:t>dynamic typing</a:t>
            </a:r>
            <a:r>
              <a:rPr lang="ko-KR" altLang="en-US" dirty="0"/>
              <a:t>이라고 함</a:t>
            </a:r>
          </a:p>
          <a:p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40F2DD-484D-B44A-0085-965313FE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ko-KR" altLang="en-US" dirty="0"/>
              <a:t>자료형의 의미와 자료형 확인</a:t>
            </a:r>
          </a:p>
        </p:txBody>
      </p:sp>
    </p:spTree>
    <p:extLst>
      <p:ext uri="{BB962C8B-B14F-4D97-AF65-F5344CB8AC3E}">
        <p14:creationId xmlns:p14="http://schemas.microsoft.com/office/powerpoint/2010/main" val="18146330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동적 형 결정과 정적 형 결정</a:t>
            </a:r>
            <a:r>
              <a:rPr lang="en-US" altLang="ko-KR" sz="2400" dirty="0">
                <a:solidFill>
                  <a:schemeClr val="accent5"/>
                </a:solidFill>
              </a:rPr>
              <a:t>(</a:t>
            </a:r>
            <a:r>
              <a:rPr lang="ko-KR" altLang="en-US" sz="2400" dirty="0">
                <a:solidFill>
                  <a:schemeClr val="accent5"/>
                </a:solidFill>
              </a:rPr>
              <a:t>용어해설</a:t>
            </a:r>
            <a:r>
              <a:rPr lang="en-US" altLang="ko-KR" sz="2400" dirty="0">
                <a:solidFill>
                  <a:schemeClr val="accent5"/>
                </a:solidFill>
              </a:rPr>
              <a:t>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2.5 </a:t>
            </a:r>
            <a:r>
              <a:rPr lang="ko-KR" altLang="en-US" dirty="0"/>
              <a:t>자료형의 의미와 자료형 확인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07A60-29E9-E64F-4CA5-0BDB6010D1F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/>
              <a:t>동적</a:t>
            </a:r>
            <a:r>
              <a:rPr lang="en-US" altLang="ko-KR" b="1" baseline="30000" dirty="0">
                <a:solidFill>
                  <a:schemeClr val="accent5"/>
                </a:solidFill>
              </a:rPr>
              <a:t>dynamic</a:t>
            </a:r>
            <a:r>
              <a:rPr lang="en-US" altLang="ko-KR" b="1" dirty="0"/>
              <a:t> :</a:t>
            </a:r>
            <a:r>
              <a:rPr lang="ko-KR" altLang="en-US" dirty="0"/>
              <a:t> 어떤 행위가 프로그램이 실행되는 도중에 일어나는 것을 의미</a:t>
            </a:r>
          </a:p>
          <a:p>
            <a:r>
              <a:rPr lang="ko-KR" altLang="en-US" b="1" dirty="0"/>
              <a:t>정적</a:t>
            </a:r>
            <a:r>
              <a:rPr lang="en-US" altLang="ko-KR" b="1" baseline="30000" dirty="0">
                <a:solidFill>
                  <a:schemeClr val="accent5"/>
                </a:solidFill>
              </a:rPr>
              <a:t>static</a:t>
            </a:r>
            <a:r>
              <a:rPr lang="en-US" altLang="ko-KR" b="1" dirty="0"/>
              <a:t> :</a:t>
            </a:r>
            <a:r>
              <a:rPr lang="ko-KR" altLang="en-US" dirty="0"/>
              <a:t> 이와 달리 어떠한 행위가 프로그램이 실행되기 전에 미리 결정되는 것을 의미</a:t>
            </a:r>
          </a:p>
          <a:p>
            <a:pPr fontAlgn="base"/>
            <a:r>
              <a:rPr lang="ko-KR" altLang="en-US" dirty="0"/>
              <a:t>동적 형 결정은 프로그램의 동작이 유연함</a:t>
            </a:r>
            <a:endParaRPr lang="en-US" altLang="ko-KR" dirty="0"/>
          </a:p>
          <a:p>
            <a:pPr fontAlgn="base"/>
            <a:r>
              <a:rPr lang="ko-KR" altLang="en-US" dirty="0"/>
              <a:t>정적 형 결정은 잘못된 값을 넣거나</a:t>
            </a:r>
            <a:r>
              <a:rPr lang="en-US" altLang="ko-KR" dirty="0"/>
              <a:t>, </a:t>
            </a:r>
            <a:r>
              <a:rPr lang="ko-KR" altLang="en-US" dirty="0"/>
              <a:t>서로 연산할 수 없는 데이터를 가지고 연산을 실행하려는 동작을 프로그램 수행 전에 소스코드 해석 단계에서 걸러낼 수 있음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9539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385" y="3263496"/>
            <a:ext cx="8945223" cy="289600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자료형을 결정하는 할당 연산자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ko-KR" altLang="en-US" dirty="0"/>
              <a:t>자료형의 의미와 자료형 확인</a:t>
            </a:r>
            <a:endParaRPr 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E4A539-2F21-9467-7119-BD2A5A6790F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foo = 100</a:t>
            </a:r>
            <a:r>
              <a:rPr lang="ko-KR" altLang="en-US" dirty="0"/>
              <a:t>에서 </a:t>
            </a:r>
            <a:r>
              <a:rPr lang="en-US" altLang="ko-KR" dirty="0"/>
              <a:t>foo </a:t>
            </a:r>
            <a:r>
              <a:rPr lang="ko-KR" altLang="en-US" dirty="0"/>
              <a:t>변수는 </a:t>
            </a:r>
            <a:r>
              <a:rPr lang="en-US" altLang="ko-KR" dirty="0"/>
              <a:t>int </a:t>
            </a:r>
            <a:r>
              <a:rPr lang="ko-KR" altLang="en-US" dirty="0"/>
              <a:t>형을 참조하는 변수</a:t>
            </a:r>
          </a:p>
          <a:p>
            <a:r>
              <a:rPr lang="en-US" altLang="ko-KR" dirty="0"/>
              <a:t>foo = 'Hello'</a:t>
            </a:r>
            <a:r>
              <a:rPr lang="ko-KR" altLang="en-US" dirty="0"/>
              <a:t>를 통해 </a:t>
            </a:r>
            <a:r>
              <a:rPr lang="en-US" altLang="ko-KR" dirty="0"/>
              <a:t>foo</a:t>
            </a:r>
            <a:r>
              <a:rPr lang="ko-KR" altLang="en-US" dirty="0"/>
              <a:t>에 문자열을 할당하면 </a:t>
            </a:r>
            <a:r>
              <a:rPr lang="en-US" altLang="ko-KR" dirty="0"/>
              <a:t>foo</a:t>
            </a:r>
            <a:r>
              <a:rPr lang="ko-KR" altLang="en-US" dirty="0"/>
              <a:t>는 </a:t>
            </a:r>
            <a:r>
              <a:rPr lang="en-US" altLang="ko-KR" dirty="0"/>
              <a:t>str </a:t>
            </a:r>
            <a:r>
              <a:rPr lang="ko-KR" altLang="en-US" dirty="0"/>
              <a:t>클래스를 참조하는 변수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75696" y="2663331"/>
            <a:ext cx="4899289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변수 </a:t>
            </a:r>
            <a:r>
              <a:rPr lang="en-US" altLang="ko-KR" dirty="0"/>
              <a:t>foo</a:t>
            </a:r>
            <a:r>
              <a:rPr lang="ko-KR" altLang="en-US" dirty="0"/>
              <a:t>는 정수 형 객체를 참조하다가 나중에 문자열 형 객체를 참조할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변수가 참조하는 자료형은 변경 가능하다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동적 형 결정</a:t>
            </a:r>
            <a:r>
              <a:rPr lang="en-US" altLang="ko-KR" dirty="0"/>
              <a:t>(</a:t>
            </a:r>
            <a:r>
              <a:rPr lang="ko-KR" altLang="en-US" dirty="0"/>
              <a:t>타이핑</a:t>
            </a:r>
            <a:r>
              <a:rPr lang="en-US" altLang="ko-KR" dirty="0"/>
              <a:t>)</a:t>
            </a:r>
            <a:r>
              <a:rPr lang="ko-KR" altLang="en-US" dirty="0"/>
              <a:t>방식이라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2948668" y="3224153"/>
            <a:ext cx="3827028" cy="7744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>
            <a:off x="3297740" y="3394124"/>
            <a:ext cx="3477956" cy="17439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5088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ko-KR" altLang="en-US" dirty="0"/>
              <a:t>자료형의 의미와 자료형 확인</a:t>
            </a:r>
            <a:endParaRPr 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50493C-C341-0B64-BCAE-1FB2D808E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정적 타이핑 </a:t>
            </a:r>
            <a:r>
              <a:rPr lang="en-US" altLang="ko-KR" dirty="0"/>
              <a:t>vs </a:t>
            </a:r>
            <a:r>
              <a:rPr lang="ko-KR" altLang="en-US" dirty="0"/>
              <a:t>동적 타이핑</a:t>
            </a:r>
          </a:p>
        </p:txBody>
      </p:sp>
      <p:graphicFrame>
        <p:nvGraphicFramePr>
          <p:cNvPr id="7" name="내용 개체 틀 4"/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3383534526"/>
              </p:ext>
            </p:extLst>
          </p:nvPr>
        </p:nvGraphicFramePr>
        <p:xfrm>
          <a:off x="1066800" y="1700213"/>
          <a:ext cx="10175874" cy="3689394"/>
        </p:xfrm>
        <a:graphic>
          <a:graphicData uri="http://schemas.openxmlformats.org/drawingml/2006/table">
            <a:tbl>
              <a:tblPr/>
              <a:tblGrid>
                <a:gridCol w="5087937">
                  <a:extLst>
                    <a:ext uri="{9D8B030D-6E8A-4147-A177-3AD203B41FA5}">
                      <a16:colId xmlns:a16="http://schemas.microsoft.com/office/drawing/2014/main" val="2003845346"/>
                    </a:ext>
                  </a:extLst>
                </a:gridCol>
                <a:gridCol w="5087937">
                  <a:extLst>
                    <a:ext uri="{9D8B030D-6E8A-4147-A177-3AD203B41FA5}">
                      <a16:colId xmlns:a16="http://schemas.microsoft.com/office/drawing/2014/main" val="1335103272"/>
                    </a:ext>
                  </a:extLst>
                </a:gridCol>
              </a:tblGrid>
              <a:tr h="6480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정적 타이핑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static typing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7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동적 타이핑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dynamic typing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7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17708"/>
                  </a:ext>
                </a:extLst>
              </a:tr>
              <a:tr h="3041328">
                <a:tc>
                  <a:txBody>
                    <a:bodyPr/>
                    <a:lstStyle/>
                    <a:p>
                      <a:pPr marL="0" marR="0" lvl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어떤 변수가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정수형으로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미리 결정되어 있는 경우 프로그램이 실행되는 도중에 문자열과 같은 다른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자료형의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값을 이 변수에 집어넣을 수 없음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7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특정 변수에 새로운 값을 넣으면 그 변수의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자료형이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변경될 수 있음을 의미함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7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984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0752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686438DF-F117-F902-3453-46F9FDC6E537}"/>
              </a:ext>
            </a:extLst>
          </p:cNvPr>
          <p:cNvGrpSpPr/>
          <p:nvPr/>
        </p:nvGrpSpPr>
        <p:grpSpPr>
          <a:xfrm>
            <a:off x="1638449" y="1564291"/>
            <a:ext cx="8926171" cy="4095512"/>
            <a:chOff x="1638449" y="1564291"/>
            <a:chExt cx="8926171" cy="4095512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8449" y="1564291"/>
              <a:ext cx="8926171" cy="3905795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126488" y="4828806"/>
              <a:ext cx="4899289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err="1"/>
                <a:t>파이썬은</a:t>
              </a:r>
              <a:r>
                <a:rPr lang="ko-KR" altLang="en-US" sz="1600" dirty="0"/>
                <a:t> 다양한 자료형을 제공함</a:t>
              </a:r>
              <a:r>
                <a:rPr lang="en-US" altLang="ko-KR" sz="1600" dirty="0"/>
                <a:t>.</a:t>
              </a:r>
            </a:p>
            <a:p>
              <a:r>
                <a:rPr lang="ko-KR" altLang="en-US" sz="1600" dirty="0"/>
                <a:t>리스트</a:t>
              </a:r>
              <a:r>
                <a:rPr lang="en-US" altLang="ko-KR" sz="1600" dirty="0"/>
                <a:t>, </a:t>
              </a:r>
              <a:r>
                <a:rPr lang="ko-KR" altLang="en-US" sz="1600" dirty="0" err="1"/>
                <a:t>딕셔너리</a:t>
              </a:r>
              <a:r>
                <a:rPr lang="en-US" altLang="ko-KR" sz="1600" dirty="0"/>
                <a:t>, </a:t>
              </a:r>
              <a:r>
                <a:rPr lang="ko-KR" altLang="en-US" sz="1600" dirty="0" err="1"/>
                <a:t>튜플에</a:t>
              </a:r>
              <a:r>
                <a:rPr lang="ko-KR" altLang="en-US" sz="1600" dirty="0"/>
                <a:t> 대해서는 </a:t>
              </a:r>
              <a:r>
                <a:rPr lang="en-US" altLang="ko-KR" sz="1600" dirty="0"/>
                <a:t>5, 6</a:t>
              </a:r>
              <a:r>
                <a:rPr lang="ko-KR" altLang="en-US" sz="1600" dirty="0"/>
                <a:t>장에서 상세하게 알아볼 예정</a:t>
              </a:r>
              <a:endParaRPr lang="ko-KR" altLang="en-US" sz="1400" dirty="0"/>
            </a:p>
          </p:txBody>
        </p:sp>
        <p:cxnSp>
          <p:nvCxnSpPr>
            <p:cNvPr id="5" name="직선 화살표 연결선 4"/>
            <p:cNvCxnSpPr>
              <a:stCxn id="4" idx="1"/>
            </p:cNvCxnSpPr>
            <p:nvPr/>
          </p:nvCxnSpPr>
          <p:spPr>
            <a:xfrm flipH="1" flipV="1">
              <a:off x="3918857" y="4653643"/>
              <a:ext cx="1207631" cy="59066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제목 6">
            <a:extLst>
              <a:ext uri="{FF2B5EF4-FFF2-40B4-BE49-F238E27FC236}">
                <a16:creationId xmlns:a16="http://schemas.microsoft.com/office/drawing/2014/main" id="{A41AFA28-2A10-54AA-7943-348FE684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ko-KR" altLang="en-US" dirty="0"/>
              <a:t>자료형의 의미와 자료형 확인</a:t>
            </a:r>
          </a:p>
        </p:txBody>
      </p:sp>
    </p:spTree>
    <p:extLst>
      <p:ext uri="{BB962C8B-B14F-4D97-AF65-F5344CB8AC3E}">
        <p14:creationId xmlns:p14="http://schemas.microsoft.com/office/powerpoint/2010/main" val="28349431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문자열</a:t>
            </a:r>
            <a:r>
              <a:rPr lang="en-US" altLang="ko-KR" dirty="0"/>
              <a:t> </a:t>
            </a:r>
            <a:r>
              <a:rPr lang="en-US" altLang="ko-KR" dirty="0" err="1"/>
              <a:t>변환</a:t>
            </a:r>
            <a:r>
              <a:rPr lang="en-US" altLang="ko-KR" dirty="0"/>
              <a:t> </a:t>
            </a:r>
            <a:r>
              <a:rPr lang="en-US" altLang="ko-KR" dirty="0" err="1"/>
              <a:t>함수</a:t>
            </a:r>
            <a:r>
              <a:rPr lang="en-US" altLang="ko-KR" dirty="0"/>
              <a:t> str()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ko-KR" altLang="en-US" dirty="0"/>
              <a:t>자료형의 의미와 자료형 확인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2C0FBE-B4CC-882C-93EC-E5AA7C93CDE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str() </a:t>
            </a:r>
            <a:r>
              <a:rPr lang="ko-KR" altLang="en-US" dirty="0"/>
              <a:t>함수는 인수로 입력된 값을 문자열 객체로 만들어서 반환</a:t>
            </a:r>
            <a:endParaRPr lang="en-US" altLang="ko-KR" dirty="0"/>
          </a:p>
          <a:p>
            <a:r>
              <a:rPr lang="ko-KR" altLang="en-US" dirty="0"/>
              <a:t>정수형 데이터 값인 숫자 </a:t>
            </a:r>
            <a:r>
              <a:rPr lang="en-US" altLang="ko-KR" dirty="0"/>
              <a:t>100</a:t>
            </a:r>
            <a:r>
              <a:rPr lang="ko-KR" altLang="en-US" dirty="0"/>
              <a:t>과</a:t>
            </a:r>
            <a:r>
              <a:rPr lang="en-US" altLang="ko-KR" dirty="0"/>
              <a:t>, </a:t>
            </a:r>
            <a:r>
              <a:rPr lang="ko-KR" altLang="en-US" dirty="0"/>
              <a:t>실수형 데이터 값인 숫자 </a:t>
            </a:r>
            <a:r>
              <a:rPr lang="en-US" altLang="ko-KR" dirty="0"/>
              <a:t>123.5</a:t>
            </a:r>
            <a:r>
              <a:rPr lang="ko-KR" altLang="en-US" dirty="0"/>
              <a:t>를 </a:t>
            </a:r>
            <a:r>
              <a:rPr lang="en-US" altLang="ko-KR" dirty="0"/>
              <a:t>str() </a:t>
            </a:r>
            <a:r>
              <a:rPr lang="ko-KR" altLang="en-US" dirty="0"/>
              <a:t>함수의 인자로 넘겨주면 따옴표</a:t>
            </a:r>
            <a:r>
              <a:rPr lang="en-US" altLang="ko-KR" dirty="0"/>
              <a:t>(‘ ’)</a:t>
            </a:r>
            <a:r>
              <a:rPr lang="ko-KR" altLang="en-US" dirty="0"/>
              <a:t>로 둘러싸인 문자열 값이 반환됨</a:t>
            </a:r>
            <a:endParaRPr lang="en-US" altLang="ko-KR" dirty="0"/>
          </a:p>
          <a:p>
            <a:r>
              <a:rPr lang="ko-KR" altLang="en-US" dirty="0" err="1"/>
              <a:t>리스트형인</a:t>
            </a:r>
            <a:r>
              <a:rPr lang="ko-KR" altLang="en-US" dirty="0"/>
              <a:t> </a:t>
            </a:r>
            <a:r>
              <a:rPr lang="en-US" altLang="ko-KR" dirty="0"/>
              <a:t>[‘A’, ‘B’, ‘C’]</a:t>
            </a:r>
            <a:r>
              <a:rPr lang="ko-KR" altLang="en-US" dirty="0"/>
              <a:t>를 </a:t>
            </a:r>
            <a:r>
              <a:rPr lang="en-US" altLang="ko-KR" dirty="0"/>
              <a:t>str() </a:t>
            </a:r>
            <a:r>
              <a:rPr lang="ko-KR" altLang="en-US" dirty="0"/>
              <a:t>함수의 매개변수로 넘겨줘도 리스트의 요소인 문자들과 혼동되지 않도록 큰따옴표</a:t>
            </a:r>
            <a:r>
              <a:rPr lang="en-US" altLang="ko-KR" dirty="0"/>
              <a:t>(“ ”)</a:t>
            </a:r>
            <a:r>
              <a:rPr lang="ko-KR" altLang="en-US" dirty="0"/>
              <a:t>로 둘러싸인 문자열 객체가 반환됨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35198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137" y="1367219"/>
            <a:ext cx="8935697" cy="42868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60254" y="4779136"/>
            <a:ext cx="4899289" cy="58477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str</a:t>
            </a:r>
            <a:r>
              <a:rPr lang="en-US" altLang="ko-KR" sz="1600" dirty="0"/>
              <a:t>() </a:t>
            </a:r>
            <a:r>
              <a:rPr lang="ko-KR" altLang="en-US" sz="1600" dirty="0"/>
              <a:t>함수는 여러가지 </a:t>
            </a:r>
            <a:r>
              <a:rPr lang="ko-KR" altLang="en-US" sz="1600" dirty="0" err="1"/>
              <a:t>자료형의</a:t>
            </a:r>
            <a:r>
              <a:rPr lang="ko-KR" altLang="en-US" sz="1600" dirty="0"/>
              <a:t> 값을 문자열 형으로 변환시켜 준다</a:t>
            </a:r>
            <a:endParaRPr lang="ko-KR" altLang="en-US" sz="1400" dirty="0"/>
          </a:p>
        </p:txBody>
      </p:sp>
      <p:cxnSp>
        <p:nvCxnSpPr>
          <p:cNvPr id="4" name="직선 화살표 연결선 3"/>
          <p:cNvCxnSpPr>
            <a:stCxn id="3" idx="1"/>
          </p:cNvCxnSpPr>
          <p:nvPr/>
        </p:nvCxnSpPr>
        <p:spPr>
          <a:xfrm flipH="1" flipV="1">
            <a:off x="3059723" y="4958862"/>
            <a:ext cx="1800531" cy="1126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제목 4">
            <a:extLst>
              <a:ext uri="{FF2B5EF4-FFF2-40B4-BE49-F238E27FC236}">
                <a16:creationId xmlns:a16="http://schemas.microsoft.com/office/drawing/2014/main" id="{729BB24C-9967-E9E4-3DF1-8C55F252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</a:t>
            </a:r>
            <a:r>
              <a:rPr lang="ko-KR" altLang="en-US" dirty="0"/>
              <a:t>자료형의 의미와 자료형 확인</a:t>
            </a:r>
          </a:p>
        </p:txBody>
      </p:sp>
    </p:spTree>
    <p:extLst>
      <p:ext uri="{BB962C8B-B14F-4D97-AF65-F5344CB8AC3E}">
        <p14:creationId xmlns:p14="http://schemas.microsoft.com/office/powerpoint/2010/main" val="18444980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연속된 문자로 이루어진 </a:t>
            </a:r>
            <a:r>
              <a:rPr lang="ko-KR" altLang="en-US" b="1" dirty="0"/>
              <a:t>문자열</a:t>
            </a:r>
            <a:r>
              <a:rPr lang="en-US" altLang="ko-KR" b="1" baseline="30000" dirty="0">
                <a:solidFill>
                  <a:schemeClr val="accent5"/>
                </a:solidFill>
              </a:rPr>
              <a:t>string</a:t>
            </a:r>
            <a:r>
              <a:rPr lang="ko-KR" altLang="en-US" baseline="30000" dirty="0"/>
              <a:t> </a:t>
            </a:r>
            <a:r>
              <a:rPr lang="ko-KR" altLang="en-US" dirty="0"/>
              <a:t>자료형에 대한 처리도 가능</a:t>
            </a:r>
          </a:p>
          <a:p>
            <a:r>
              <a:rPr lang="ko-KR" altLang="en-US" dirty="0"/>
              <a:t>문자 하나로 구성된 문자와 여러 문자로 이루어진 문자열을 동일하게 취급</a:t>
            </a:r>
          </a:p>
          <a:p>
            <a:r>
              <a:rPr lang="ko-KR" altLang="en-US" dirty="0"/>
              <a:t>작은따옴표</a:t>
            </a:r>
            <a:r>
              <a:rPr lang="en-US" altLang="ko-KR" dirty="0"/>
              <a:t>(‘ ’), </a:t>
            </a:r>
            <a:r>
              <a:rPr lang="ko-KR" altLang="en-US" dirty="0"/>
              <a:t>큰따옴표</a:t>
            </a:r>
            <a:r>
              <a:rPr lang="en-US" altLang="ko-KR" dirty="0"/>
              <a:t>(“ ”) </a:t>
            </a:r>
            <a:r>
              <a:rPr lang="ko-KR" altLang="en-US" dirty="0"/>
              <a:t>모두 사용이 가능</a:t>
            </a:r>
          </a:p>
          <a:p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</a:t>
            </a:r>
            <a:r>
              <a:rPr lang="ko-KR" altLang="en-US" dirty="0"/>
              <a:t>문자열 </a:t>
            </a:r>
            <a:r>
              <a:rPr lang="ko-KR" altLang="en-US" dirty="0" err="1"/>
              <a:t>자료형</a:t>
            </a:r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473" y="3566187"/>
            <a:ext cx="4572638" cy="146705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891" y="3566187"/>
            <a:ext cx="4658375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178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큰따옴표 내에 </a:t>
            </a:r>
            <a:r>
              <a:rPr lang="ko-KR" altLang="en-US" b="1" dirty="0"/>
              <a:t>“</a:t>
            </a:r>
            <a:r>
              <a:rPr lang="ko-KR" altLang="en-US" b="1" dirty="0" err="1"/>
              <a:t>햇님이</a:t>
            </a:r>
            <a:r>
              <a:rPr lang="ko-KR" altLang="en-US" b="1" dirty="0"/>
              <a:t> 좋아</a:t>
            </a:r>
            <a:r>
              <a:rPr lang="en-US" altLang="ko-KR" b="1" dirty="0"/>
              <a:t>!”</a:t>
            </a:r>
            <a:r>
              <a:rPr lang="ko-KR" altLang="en-US" dirty="0"/>
              <a:t>와 같은 큰따옴표를 가진 문자열을 넣어주면 에러 발생</a:t>
            </a:r>
            <a:endParaRPr lang="ko-KR" altLang="en-US" sz="2400" dirty="0"/>
          </a:p>
          <a:p>
            <a:pPr marL="685800" lvl="2" fontAlgn="base">
              <a:spcBef>
                <a:spcPts val="1000"/>
              </a:spcBef>
            </a:pPr>
            <a:endParaRPr lang="ko-KR" altLang="en-US" sz="2400" dirty="0"/>
          </a:p>
          <a:p>
            <a:pPr marL="228600" lvl="1" fontAlgn="base">
              <a:spcBef>
                <a:spcPts val="1000"/>
              </a:spcBef>
            </a:pPr>
            <a:endParaRPr lang="ko-KR" altLang="en-US" dirty="0"/>
          </a:p>
          <a:p>
            <a:pPr marL="228600" lvl="1" fontAlgn="base">
              <a:spcBef>
                <a:spcPts val="1000"/>
              </a:spcBef>
            </a:pPr>
            <a:endParaRPr lang="en-US" altLang="ko-KR" dirty="0"/>
          </a:p>
          <a:p>
            <a:pPr fontAlgn="base"/>
            <a:endParaRPr lang="en-US" altLang="ko-KR" dirty="0"/>
          </a:p>
          <a:p>
            <a:pPr marL="0" indent="0" fontAlgn="base">
              <a:buNone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</a:t>
            </a:r>
            <a:r>
              <a:rPr lang="ko-KR" altLang="en-US" dirty="0"/>
              <a:t>문자열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A92DCF3-63B4-B2D1-A1A9-7F504B932FE2}"/>
              </a:ext>
            </a:extLst>
          </p:cNvPr>
          <p:cNvGrpSpPr/>
          <p:nvPr/>
        </p:nvGrpSpPr>
        <p:grpSpPr>
          <a:xfrm>
            <a:off x="1239993" y="1850097"/>
            <a:ext cx="10354173" cy="3879666"/>
            <a:chOff x="2542677" y="2585920"/>
            <a:chExt cx="11589270" cy="3962525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42677" y="4919500"/>
              <a:ext cx="7106641" cy="1628945"/>
            </a:xfrm>
            <a:prstGeom prst="rect">
              <a:avLst/>
            </a:prstGeom>
          </p:spPr>
        </p:pic>
        <p:sp>
          <p:nvSpPr>
            <p:cNvPr id="7" name="아래쪽 화살표 6"/>
            <p:cNvSpPr/>
            <p:nvPr/>
          </p:nvSpPr>
          <p:spPr>
            <a:xfrm>
              <a:off x="5956851" y="4444163"/>
              <a:ext cx="278295" cy="27829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219196" y="4273169"/>
              <a:ext cx="6912751" cy="3772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아래와 같이 </a:t>
              </a:r>
              <a:r>
                <a: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rPr>
                <a:t>\</a:t>
              </a:r>
              <a:r>
                <a:rPr lang="en-US" altLang="ko-KR" kern="0" dirty="0">
                  <a:solidFill>
                    <a:srgbClr val="00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"</a:t>
              </a:r>
              <a:r>
                <a: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rPr>
                <a:t>라고 입력해야 화면에 따옴표가 출력됨</a:t>
              </a:r>
              <a:endPara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cxnSp>
          <p:nvCxnSpPr>
            <p:cNvPr id="9" name="직선 화살표 연결선 8"/>
            <p:cNvCxnSpPr>
              <a:cxnSpLocks/>
              <a:stCxn id="8" idx="1"/>
            </p:cNvCxnSpPr>
            <p:nvPr/>
          </p:nvCxnSpPr>
          <p:spPr>
            <a:xfrm flipH="1">
              <a:off x="7004629" y="4461779"/>
              <a:ext cx="214567" cy="65695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2679" y="2585920"/>
              <a:ext cx="7106642" cy="16861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9926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문자열은 둘 이상이 연속적으로 나타나거나 중간에 공백 문자나 </a:t>
            </a:r>
            <a:r>
              <a:rPr lang="ko-KR" altLang="en-US" dirty="0" err="1"/>
              <a:t>줄바꿈</a:t>
            </a:r>
            <a:r>
              <a:rPr lang="ko-KR" altLang="en-US" dirty="0"/>
              <a:t> 문자가 있더라도 이를 하나의 연속적인 문자로 간주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여러 줄의 문자열을 표현하기 위해서는 </a:t>
            </a:r>
            <a:r>
              <a:rPr lang="en-US" altLang="ko-KR" dirty="0"/>
              <a:t>\</a:t>
            </a:r>
            <a:r>
              <a:rPr lang="en-US" altLang="ko-KR" b="1" dirty="0"/>
              <a:t>n</a:t>
            </a:r>
            <a:r>
              <a:rPr lang="ko-KR" altLang="en-US" dirty="0"/>
              <a:t> 문자를 삽입</a:t>
            </a:r>
          </a:p>
          <a:p>
            <a:endParaRPr lang="ko-KR" altLang="en-US" dirty="0"/>
          </a:p>
          <a:p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AA7AD81-8F9C-2891-F16F-0812D7E5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</a:t>
            </a:r>
            <a:r>
              <a:rPr lang="ko-KR" altLang="en-US" dirty="0"/>
              <a:t>문자열 자료형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9AE8950-DDBF-748D-55E7-5566E03B136B}"/>
              </a:ext>
            </a:extLst>
          </p:cNvPr>
          <p:cNvGrpSpPr/>
          <p:nvPr/>
        </p:nvGrpSpPr>
        <p:grpSpPr>
          <a:xfrm>
            <a:off x="1247031" y="1842124"/>
            <a:ext cx="10373470" cy="4109303"/>
            <a:chOff x="1532781" y="1426371"/>
            <a:chExt cx="12425712" cy="4922271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2781" y="1426371"/>
              <a:ext cx="6796672" cy="1725043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6720279" y="1882197"/>
              <a:ext cx="7238214" cy="77419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윈도를 비롯한 여러 한글 운영체제에서 </a:t>
              </a:r>
              <a:r>
                <a:rPr lang="ko-KR" altLang="en-US" dirty="0" err="1"/>
                <a:t>역슬래시</a:t>
              </a:r>
              <a:r>
                <a:rPr lang="ko-KR" altLang="en-US" dirty="0"/>
                <a:t> 문자는 </a:t>
              </a:r>
              <a:r>
                <a:rPr lang="en-US" altLang="ko-KR" dirty="0"/>
                <a:t>\</a:t>
              </a:r>
              <a:r>
                <a:rPr lang="ko-KR" altLang="en-US" dirty="0"/>
                <a:t>로 나타남</a:t>
              </a:r>
              <a:r>
                <a:rPr lang="en-US" altLang="ko-KR" dirty="0"/>
                <a:t>. </a:t>
              </a:r>
              <a:r>
                <a:rPr lang="ko-KR" altLang="en-US" dirty="0"/>
                <a:t>그러나 </a:t>
              </a:r>
              <a:r>
                <a:rPr lang="en-US" altLang="ko-KR" dirty="0"/>
                <a:t>IDLE</a:t>
              </a:r>
              <a:r>
                <a:rPr lang="ko-KR" altLang="en-US" dirty="0"/>
                <a:t>에서는 아래와 같이 출력됨</a:t>
              </a:r>
              <a:r>
                <a:rPr lang="en-US" altLang="ko-KR" dirty="0"/>
                <a:t> </a:t>
              </a:r>
              <a:endParaRPr lang="ko-KR" altLang="en-US" sz="1600" dirty="0"/>
            </a:p>
          </p:txBody>
        </p:sp>
        <p:cxnSp>
          <p:nvCxnSpPr>
            <p:cNvPr id="7" name="직선 화살표 연결선 6"/>
            <p:cNvCxnSpPr/>
            <p:nvPr/>
          </p:nvCxnSpPr>
          <p:spPr>
            <a:xfrm>
              <a:off x="7138519" y="2654067"/>
              <a:ext cx="1" cy="5056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2781" y="3652690"/>
              <a:ext cx="6796671" cy="2695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29741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755" y="3387136"/>
            <a:ext cx="4301645" cy="262835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이스케이프</a:t>
            </a:r>
            <a:r>
              <a:rPr lang="en-US" altLang="ko-KR" b="1" baseline="30000" dirty="0">
                <a:solidFill>
                  <a:schemeClr val="accent5"/>
                </a:solidFill>
              </a:rPr>
              <a:t>escape</a:t>
            </a:r>
            <a:r>
              <a:rPr lang="en-US" altLang="ko-KR" dirty="0"/>
              <a:t> </a:t>
            </a:r>
            <a:r>
              <a:rPr lang="ko-KR" altLang="en-US" dirty="0"/>
              <a:t>문자</a:t>
            </a:r>
            <a:endParaRPr lang="en-US" altLang="ko-KR" dirty="0"/>
          </a:p>
          <a:p>
            <a:pPr lvl="1"/>
            <a:r>
              <a:rPr lang="en-US" altLang="ko-KR" sz="2200" dirty="0"/>
              <a:t>\n, \t</a:t>
            </a:r>
            <a:endParaRPr lang="en-US" altLang="ko-KR" dirty="0"/>
          </a:p>
          <a:p>
            <a:pPr fontAlgn="base"/>
            <a:r>
              <a:rPr lang="en-US" altLang="ko-KR" dirty="0"/>
              <a:t>print() </a:t>
            </a:r>
            <a:r>
              <a:rPr lang="ko-KR" altLang="en-US" dirty="0"/>
              <a:t>함수 내의 입력 값으로 사용시 </a:t>
            </a:r>
            <a:r>
              <a:rPr lang="en-US" altLang="ko-KR" dirty="0"/>
              <a:t>\n</a:t>
            </a:r>
            <a:r>
              <a:rPr lang="ko-KR" altLang="en-US" dirty="0"/>
              <a:t>은 </a:t>
            </a:r>
            <a:r>
              <a:rPr lang="ko-KR" altLang="en-US" dirty="0" err="1"/>
              <a:t>줄바꿈을</a:t>
            </a:r>
            <a:r>
              <a:rPr lang="ko-KR" altLang="en-US" dirty="0"/>
              <a:t> 수행</a:t>
            </a:r>
            <a:endParaRPr lang="en-US" altLang="ko-KR" dirty="0"/>
          </a:p>
          <a:p>
            <a:pPr fontAlgn="base"/>
            <a:r>
              <a:rPr lang="en-US" altLang="ko-KR" dirty="0"/>
              <a:t>\t</a:t>
            </a:r>
            <a:r>
              <a:rPr lang="ko-KR" altLang="en-US" dirty="0"/>
              <a:t>는 탭 문자의 삽입 기능을 수행</a:t>
            </a:r>
            <a:endParaRPr lang="en-US" altLang="ko-KR" dirty="0"/>
          </a:p>
          <a:p>
            <a:pPr fontAlgn="base"/>
            <a:r>
              <a:rPr lang="ko-KR" altLang="en-US" dirty="0"/>
              <a:t>한글 윈도 운영체제의 키보드에서는 이스케이프 문자 </a:t>
            </a:r>
            <a:r>
              <a:rPr lang="ko-KR" altLang="en-US" dirty="0" err="1"/>
              <a:t>역슬래시는</a:t>
            </a:r>
            <a:r>
              <a:rPr lang="ko-KR" altLang="en-US" dirty="0"/>
              <a:t> 화폐의 단위를 표기하는 원 표시</a:t>
            </a:r>
            <a:r>
              <a:rPr lang="en-US" altLang="ko-KR" dirty="0"/>
              <a:t>(</a:t>
            </a:r>
            <a:r>
              <a:rPr lang="ko-KR" altLang="en-US" dirty="0"/>
              <a:t>₩</a:t>
            </a:r>
            <a:r>
              <a:rPr lang="en-US" altLang="ko-KR" dirty="0"/>
              <a:t>)</a:t>
            </a:r>
            <a:r>
              <a:rPr lang="ko-KR" altLang="en-US" dirty="0"/>
              <a:t>로 나타남</a:t>
            </a:r>
          </a:p>
          <a:p>
            <a:pPr fontAlgn="base"/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D36E126-D933-A15F-FC3C-8AD3A3E9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</a:t>
            </a:r>
            <a:r>
              <a:rPr lang="ko-KR" altLang="en-US" dirty="0"/>
              <a:t>문자열 자료형</a:t>
            </a:r>
          </a:p>
        </p:txBody>
      </p:sp>
    </p:spTree>
    <p:extLst>
      <p:ext uri="{BB962C8B-B14F-4D97-AF65-F5344CB8AC3E}">
        <p14:creationId xmlns:p14="http://schemas.microsoft.com/office/powerpoint/2010/main" val="29167860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따옴표 </a:t>
            </a:r>
            <a:r>
              <a:rPr lang="en-US" altLang="ko-KR" dirty="0"/>
              <a:t>3 </a:t>
            </a:r>
            <a:r>
              <a:rPr lang="ko-KR" altLang="en-US" dirty="0"/>
              <a:t>개로 둘러싸는 방법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</a:t>
            </a:r>
            <a:r>
              <a:rPr lang="ko-KR" altLang="en-US" dirty="0"/>
              <a:t>문자열 자료형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7FACDC-CA7C-BF8D-02CC-DB659E418DD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줄 바꿈을 포함한 문장을 표현할 때</a:t>
            </a:r>
          </a:p>
          <a:p>
            <a:r>
              <a:rPr lang="ko-KR" altLang="en-US" dirty="0"/>
              <a:t>큰따옴표</a:t>
            </a:r>
            <a:r>
              <a:rPr lang="en-US" altLang="ko-KR" dirty="0"/>
              <a:t>, </a:t>
            </a:r>
            <a:r>
              <a:rPr lang="ko-KR" altLang="en-US" dirty="0"/>
              <a:t>작은따옴표가 동시에 포함된 문장을 표현할 때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2545479"/>
            <a:ext cx="6706331" cy="360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381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CA1825F-67C8-4A37-0194-2FB9A5E3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</a:t>
            </a:r>
            <a:r>
              <a:rPr lang="ko-KR" altLang="en-US" dirty="0"/>
              <a:t>문자열 자료형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415641" y="1128713"/>
            <a:ext cx="531785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77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5CC306-A72F-DB66-F289-465256CECE4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정수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int</a:t>
            </a:r>
          </a:p>
          <a:p>
            <a:pPr lvl="1"/>
            <a:r>
              <a:rPr lang="ko-KR" altLang="en-US" dirty="0"/>
              <a:t>음의 자연수</a:t>
            </a:r>
            <a:r>
              <a:rPr lang="en-US" altLang="ko-KR" dirty="0"/>
              <a:t>, 0 </a:t>
            </a:r>
            <a:r>
              <a:rPr lang="ko-KR" altLang="en-US" dirty="0"/>
              <a:t>그리고 양의 자연수를 포함</a:t>
            </a:r>
          </a:p>
          <a:p>
            <a:pPr lvl="1"/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dirty="0"/>
              <a:t>실수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float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소수점 이하의 값 포함</a:t>
            </a:r>
          </a:p>
          <a:p>
            <a:pPr lvl="1"/>
            <a:endParaRPr lang="en-US" altLang="ko-KR" sz="2000" dirty="0"/>
          </a:p>
          <a:p>
            <a:pPr>
              <a:lnSpc>
                <a:spcPct val="110000"/>
              </a:lnSpc>
            </a:pPr>
            <a:r>
              <a:rPr lang="ko-KR" altLang="en-US" dirty="0" err="1"/>
              <a:t>부울형</a:t>
            </a:r>
            <a:r>
              <a:rPr lang="en-US" altLang="ko-KR" b="1" baseline="30000" dirty="0">
                <a:solidFill>
                  <a:schemeClr val="accent5"/>
                </a:solidFill>
              </a:rPr>
              <a:t>bool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참과 거짓을 의미하는 </a:t>
            </a:r>
            <a:r>
              <a:rPr lang="en-US" altLang="ko-KR" dirty="0"/>
              <a:t>True</a:t>
            </a:r>
            <a:r>
              <a:rPr lang="ko-KR" altLang="en-US" dirty="0"/>
              <a:t>와 </a:t>
            </a:r>
            <a:r>
              <a:rPr lang="en-US" altLang="ko-KR" dirty="0"/>
              <a:t>False</a:t>
            </a:r>
            <a:r>
              <a:rPr lang="ko-KR" altLang="en-US" dirty="0"/>
              <a:t>로 이루어짐 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r>
              <a:rPr lang="ko-KR" altLang="en-US" dirty="0"/>
              <a:t>문자열</a:t>
            </a:r>
            <a:r>
              <a:rPr lang="en-US" altLang="ko-KR" b="1" baseline="30000" dirty="0">
                <a:solidFill>
                  <a:schemeClr val="accent5"/>
                </a:solidFill>
              </a:rPr>
              <a:t>string</a:t>
            </a:r>
            <a:r>
              <a:rPr lang="ko-KR" altLang="en-US" dirty="0"/>
              <a:t>형</a:t>
            </a:r>
            <a:endParaRPr lang="en-US" altLang="ko-KR" dirty="0"/>
          </a:p>
          <a:p>
            <a:pPr lvl="1"/>
            <a:r>
              <a:rPr lang="ko-KR" altLang="en-US" dirty="0"/>
              <a:t>‘</a:t>
            </a:r>
            <a:r>
              <a:rPr lang="en-US" altLang="ko-KR" dirty="0"/>
              <a:t>Hello’, ‘World’</a:t>
            </a:r>
            <a:r>
              <a:rPr lang="ko-KR" altLang="en-US" dirty="0"/>
              <a:t>와 같은 문자열의 집합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23B8FC-5654-C2AD-20F1-24ACDB4D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</a:p>
        </p:txBody>
      </p:sp>
    </p:spTree>
    <p:extLst>
      <p:ext uri="{BB962C8B-B14F-4D97-AF65-F5344CB8AC3E}">
        <p14:creationId xmlns:p14="http://schemas.microsoft.com/office/powerpoint/2010/main" val="21188500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5CC306-A72F-DB66-F289-465256CECE4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정수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int</a:t>
            </a:r>
          </a:p>
          <a:p>
            <a:pPr lvl="1"/>
            <a:r>
              <a:rPr lang="ko-KR" altLang="en-US" dirty="0"/>
              <a:t>음의 자연수</a:t>
            </a:r>
            <a:r>
              <a:rPr lang="en-US" altLang="ko-KR" dirty="0"/>
              <a:t>, 0 </a:t>
            </a:r>
            <a:r>
              <a:rPr lang="ko-KR" altLang="en-US" dirty="0"/>
              <a:t>그리고 양의 자연수를 포함</a:t>
            </a:r>
          </a:p>
          <a:p>
            <a:pPr lvl="1"/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dirty="0"/>
              <a:t>실수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float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소수점 이하의 값 포함</a:t>
            </a:r>
          </a:p>
          <a:p>
            <a:pPr lvl="1"/>
            <a:endParaRPr lang="en-US" altLang="ko-KR" sz="2000" dirty="0"/>
          </a:p>
          <a:p>
            <a:pPr>
              <a:lnSpc>
                <a:spcPct val="110000"/>
              </a:lnSpc>
            </a:pPr>
            <a:r>
              <a:rPr lang="ko-KR" altLang="en-US" dirty="0" err="1"/>
              <a:t>부울형</a:t>
            </a:r>
            <a:r>
              <a:rPr lang="en-US" altLang="ko-KR" b="1" baseline="30000" dirty="0">
                <a:solidFill>
                  <a:schemeClr val="accent5"/>
                </a:solidFill>
              </a:rPr>
              <a:t>bool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참과 거짓을 의미하는 </a:t>
            </a:r>
            <a:r>
              <a:rPr lang="en-US" altLang="ko-KR" dirty="0"/>
              <a:t>True</a:t>
            </a:r>
            <a:r>
              <a:rPr lang="ko-KR" altLang="en-US" dirty="0"/>
              <a:t>와 </a:t>
            </a:r>
            <a:r>
              <a:rPr lang="en-US" altLang="ko-KR" dirty="0"/>
              <a:t>False</a:t>
            </a:r>
            <a:r>
              <a:rPr lang="ko-KR" altLang="en-US" dirty="0"/>
              <a:t>로 이루어짐 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r>
              <a:rPr lang="ko-KR" altLang="en-US" dirty="0"/>
              <a:t>문자열</a:t>
            </a:r>
            <a:r>
              <a:rPr lang="en-US" altLang="ko-KR" b="1" baseline="30000" dirty="0">
                <a:solidFill>
                  <a:schemeClr val="accent5"/>
                </a:solidFill>
              </a:rPr>
              <a:t>string</a:t>
            </a:r>
            <a:r>
              <a:rPr lang="ko-KR" altLang="en-US" dirty="0"/>
              <a:t>형</a:t>
            </a:r>
            <a:endParaRPr lang="en-US" altLang="ko-KR" dirty="0"/>
          </a:p>
          <a:p>
            <a:pPr lvl="1"/>
            <a:r>
              <a:rPr lang="ko-KR" altLang="en-US" dirty="0"/>
              <a:t>‘</a:t>
            </a:r>
            <a:r>
              <a:rPr lang="en-US" altLang="ko-KR" dirty="0"/>
              <a:t>Hello’, ‘World’</a:t>
            </a:r>
            <a:r>
              <a:rPr lang="ko-KR" altLang="en-US" dirty="0"/>
              <a:t>와 같은 문자열의 집합</a:t>
            </a:r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23B8FC-5654-C2AD-20F1-24ACDB4D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92" y="1104256"/>
            <a:ext cx="10001620" cy="467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808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2CD2476-CBE9-E448-FC2F-8C8D5524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2.7.1 </a:t>
            </a:r>
            <a:r>
              <a:rPr lang="ko-KR" altLang="en-US" dirty="0"/>
              <a:t>자료형의 표현 능력과 수치오류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56DD1C9-05F4-C70F-8D11-C92E4425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55053A-36DA-3ED9-DC53-2ECD618CC51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b="1" dirty="0"/>
              <a:t>부동소수점수</a:t>
            </a:r>
            <a:r>
              <a:rPr lang="en-US" altLang="ko-KR" sz="2000" b="1" baseline="30000" dirty="0">
                <a:solidFill>
                  <a:schemeClr val="accent5"/>
                </a:solidFill>
              </a:rPr>
              <a:t>floating point number</a:t>
            </a:r>
          </a:p>
          <a:p>
            <a:pPr lvl="1"/>
            <a:r>
              <a:rPr lang="ko-KR" altLang="en-US" dirty="0"/>
              <a:t>불가피한 수치 오류를 미세하게 포함</a:t>
            </a:r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A208F1-9FC0-E405-C8A9-8BD12AA84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2" y="2567186"/>
            <a:ext cx="5620534" cy="10002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CC6A9AA-7026-3265-1513-B91FE6FF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610" y="3973489"/>
            <a:ext cx="8580970" cy="214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878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2CD2476-CBE9-E448-FC2F-8C8D5524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2.7.1 </a:t>
            </a:r>
            <a:r>
              <a:rPr lang="ko-KR" altLang="en-US" dirty="0"/>
              <a:t>자료형의 표현 능력과 수치오류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56DD1C9-05F4-C70F-8D11-C92E4425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55BC3E1-5509-249F-0D1A-86A54536C8FE}"/>
              </a:ext>
            </a:extLst>
          </p:cNvPr>
          <p:cNvGrpSpPr/>
          <p:nvPr/>
        </p:nvGrpSpPr>
        <p:grpSpPr>
          <a:xfrm>
            <a:off x="1181619" y="1841366"/>
            <a:ext cx="8722700" cy="3451836"/>
            <a:chOff x="1297599" y="1135307"/>
            <a:chExt cx="11706075" cy="463244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8DA7897-CFCB-98FD-E8AF-CB39DF22F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7599" y="1135307"/>
              <a:ext cx="9737997" cy="463244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A57865-12E5-8FE7-CC6A-043A27C3639F}"/>
                </a:ext>
              </a:extLst>
            </p:cNvPr>
            <p:cNvSpPr txBox="1"/>
            <p:nvPr/>
          </p:nvSpPr>
          <p:spPr>
            <a:xfrm>
              <a:off x="5482517" y="2394286"/>
              <a:ext cx="6012789" cy="45434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예상 출력은 </a:t>
              </a:r>
              <a:r>
                <a:rPr lang="en-US" altLang="ko-KR" sz="1600" dirty="0"/>
                <a:t>0.3</a:t>
              </a:r>
              <a:r>
                <a:rPr lang="ko-KR" altLang="en-US" sz="1600" dirty="0"/>
                <a:t>이지만 실제로는 아래와 같음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E307E8B-52C0-D754-CEE3-68C87A99DA18}"/>
                </a:ext>
              </a:extLst>
            </p:cNvPr>
            <p:cNvCxnSpPr/>
            <p:nvPr/>
          </p:nvCxnSpPr>
          <p:spPr>
            <a:xfrm flipH="1" flipV="1">
              <a:off x="4392386" y="2394285"/>
              <a:ext cx="1090131" cy="18466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8F3EE98D-9843-1F2F-263A-BFDB8141CC55}"/>
                </a:ext>
              </a:extLst>
            </p:cNvPr>
            <p:cNvCxnSpPr/>
            <p:nvPr/>
          </p:nvCxnSpPr>
          <p:spPr>
            <a:xfrm flipH="1" flipV="1">
              <a:off x="4229100" y="3953228"/>
              <a:ext cx="1533997" cy="9884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E81DCF-53A5-D75B-1C8C-2281AA8AEEED}"/>
                </a:ext>
              </a:extLst>
            </p:cNvPr>
            <p:cNvSpPr txBox="1"/>
            <p:nvPr/>
          </p:nvSpPr>
          <p:spPr>
            <a:xfrm>
              <a:off x="5482515" y="4421387"/>
              <a:ext cx="7521159" cy="76944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여기서도 마찬가지 현상</a:t>
              </a:r>
              <a:endParaRPr lang="en-US" altLang="ko-KR" sz="1600" dirty="0"/>
            </a:p>
            <a:p>
              <a:r>
                <a:rPr lang="ko-KR" altLang="en-US" sz="1400" dirty="0"/>
                <a:t>컴퓨터의 실수 값은 저장될 때 미세한 수치 오류를 포함하고 있음</a:t>
              </a:r>
              <a:r>
                <a:rPr lang="en-US" altLang="ko-KR" sz="1400" dirty="0"/>
                <a:t>.</a:t>
              </a:r>
              <a:r>
                <a:rPr lang="ko-KR" altLang="en-US" sz="14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02827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2CD2476-CBE9-E448-FC2F-8C8D5524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2.7.1 </a:t>
            </a:r>
            <a:r>
              <a:rPr lang="ko-KR" altLang="en-US" dirty="0"/>
              <a:t>자료형의 표현 능력과 수치오류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56DD1C9-05F4-C70F-8D11-C92E4425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59229F-0E16-575D-943D-2C415B2D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05" y="1916832"/>
            <a:ext cx="8615361" cy="2121121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A726A8B-F8F1-A997-FDB3-F931E7C65FD3}"/>
              </a:ext>
            </a:extLst>
          </p:cNvPr>
          <p:cNvCxnSpPr/>
          <p:nvPr/>
        </p:nvCxnSpPr>
        <p:spPr>
          <a:xfrm flipH="1" flipV="1">
            <a:off x="2760295" y="3904603"/>
            <a:ext cx="2231573" cy="534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56457B-2933-C9D8-6B7A-E1B207F7FD95}"/>
              </a:ext>
            </a:extLst>
          </p:cNvPr>
          <p:cNvSpPr txBox="1"/>
          <p:nvPr/>
        </p:nvSpPr>
        <p:spPr>
          <a:xfrm>
            <a:off x="4905079" y="4254390"/>
            <a:ext cx="4899289" cy="33855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파이썬은</a:t>
            </a:r>
            <a:r>
              <a:rPr lang="ko-KR" altLang="en-US" sz="1600" dirty="0"/>
              <a:t> 아주 큰 정수도 잘 표현한다</a:t>
            </a:r>
            <a:r>
              <a:rPr lang="en-US" altLang="ko-KR" sz="16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910947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2CD2476-CBE9-E448-FC2F-8C8D5524C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2.7.1 </a:t>
            </a:r>
            <a:r>
              <a:rPr lang="ko-KR" altLang="en-US" dirty="0"/>
              <a:t>자료형의 표현 능력과 수치오류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56DD1C9-05F4-C70F-8D11-C92E4425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</a:p>
        </p:txBody>
      </p:sp>
      <p:pic>
        <p:nvPicPr>
          <p:cNvPr id="15" name="내용 개체 틀 1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531816" y="1700213"/>
            <a:ext cx="9085506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364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2.7.2 </a:t>
            </a:r>
            <a:r>
              <a:rPr lang="ko-KR" altLang="en-US" dirty="0"/>
              <a:t>복소수 자료형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  <a:endParaRPr 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D758FCC-6449-9D4B-57AD-C662445E610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실수뿐만이</a:t>
            </a:r>
            <a:r>
              <a:rPr lang="ko-KR" altLang="en-US" dirty="0"/>
              <a:t> 아닌 허수 값도 가지고 있음</a:t>
            </a:r>
            <a:endParaRPr lang="en-US" altLang="ko-KR" dirty="0"/>
          </a:p>
          <a:p>
            <a:r>
              <a:rPr lang="ko-KR" altLang="en-US" dirty="0"/>
              <a:t>기하학적인 좌표로도 표현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_x513032368" descr="EMB00002138658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2850849"/>
            <a:ext cx="3828531" cy="321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6094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2.7.2 </a:t>
            </a:r>
            <a:r>
              <a:rPr lang="ko-KR" altLang="en-US" dirty="0"/>
              <a:t>복소수 자료형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  <a:endParaRPr 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D758FCC-6449-9D4B-57AD-C662445E610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허수의 표현에 ‘</a:t>
            </a:r>
            <a:r>
              <a:rPr lang="en-US" altLang="ko-KR" dirty="0" err="1"/>
              <a:t>i</a:t>
            </a:r>
            <a:r>
              <a:rPr lang="en-US" altLang="ko-KR" dirty="0"/>
              <a:t>’</a:t>
            </a:r>
            <a:r>
              <a:rPr lang="ko-KR" altLang="en-US" dirty="0"/>
              <a:t>를 사용하면 </a:t>
            </a:r>
            <a:r>
              <a:rPr lang="ko-KR" altLang="en-US" dirty="0">
                <a:solidFill>
                  <a:srgbClr val="FF0000"/>
                </a:solidFill>
              </a:rPr>
              <a:t>오류가 발생</a:t>
            </a:r>
          </a:p>
          <a:p>
            <a:r>
              <a:rPr lang="en-US" altLang="ko-KR" dirty="0"/>
              <a:t>‘</a:t>
            </a:r>
            <a:r>
              <a:rPr lang="en-US" altLang="ko-KR" dirty="0" err="1"/>
              <a:t>j’를</a:t>
            </a:r>
            <a:r>
              <a:rPr lang="en-US" altLang="ko-KR" dirty="0"/>
              <a:t> </a:t>
            </a:r>
            <a:r>
              <a:rPr lang="en-US" altLang="ko-KR" dirty="0" err="1"/>
              <a:t>사용해야</a:t>
            </a:r>
            <a:r>
              <a:rPr lang="en-US" altLang="ko-KR" dirty="0"/>
              <a:t> </a:t>
            </a:r>
            <a:r>
              <a:rPr lang="en-US" altLang="ko-KR" dirty="0" err="1"/>
              <a:t>복소수</a:t>
            </a:r>
            <a:r>
              <a:rPr lang="en-US" altLang="ko-KR" dirty="0"/>
              <a:t> </a:t>
            </a:r>
            <a:r>
              <a:rPr lang="en-US" altLang="ko-KR" dirty="0" err="1"/>
              <a:t>표현이</a:t>
            </a:r>
            <a:r>
              <a:rPr lang="en-US" altLang="ko-KR" dirty="0"/>
              <a:t> </a:t>
            </a:r>
            <a:r>
              <a:rPr lang="en-US" altLang="ko-KR" dirty="0" err="1"/>
              <a:t>가능</a:t>
            </a:r>
            <a:endParaRPr lang="en-US" altLang="ko-KR" dirty="0"/>
          </a:p>
          <a:p>
            <a:r>
              <a:rPr lang="en-US" altLang="ko-KR" dirty="0"/>
              <a:t>real </a:t>
            </a:r>
            <a:r>
              <a:rPr lang="ko-KR" altLang="en-US" dirty="0"/>
              <a:t>멤버변수로 실수부를</a:t>
            </a:r>
            <a:r>
              <a:rPr lang="en-US" altLang="ko-KR" dirty="0"/>
              <a:t>, </a:t>
            </a:r>
            <a:r>
              <a:rPr lang="en-US" altLang="ko-KR" dirty="0" err="1"/>
              <a:t>imag</a:t>
            </a:r>
            <a:r>
              <a:rPr lang="en-US" altLang="ko-KR" dirty="0"/>
              <a:t> </a:t>
            </a:r>
            <a:r>
              <a:rPr lang="ko-KR" altLang="en-US" dirty="0"/>
              <a:t>멤버변수로 허수부를 각각 가져올 수도 있음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548" y="3150700"/>
            <a:ext cx="4912702" cy="28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28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켤레 복소수</a:t>
            </a:r>
            <a:r>
              <a:rPr lang="en-US" altLang="ko-KR" baseline="30000" dirty="0">
                <a:solidFill>
                  <a:schemeClr val="accent5"/>
                </a:solidFill>
              </a:rPr>
              <a:t>complex conjugate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  <a:endParaRPr lang="en-US" baseline="30000" dirty="0">
              <a:solidFill>
                <a:schemeClr val="accent5"/>
              </a:solidFill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DF823E-3DC0-A92E-5C14-DE6DEFA347F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소수의 허수부에 덧셈 역원을 취하여 얻는 복소수</a:t>
            </a:r>
            <a:endParaRPr lang="en-US" altLang="ko-KR" dirty="0"/>
          </a:p>
          <a:p>
            <a:r>
              <a:rPr lang="ko-KR" altLang="en-US" b="1" dirty="0"/>
              <a:t>켤레 복소수</a:t>
            </a:r>
            <a:r>
              <a:rPr lang="ko-KR" altLang="en-US" dirty="0"/>
              <a:t>는 </a:t>
            </a:r>
            <a:r>
              <a:rPr lang="en-US" altLang="ko-KR" dirty="0"/>
              <a:t>conjugate() </a:t>
            </a:r>
            <a:r>
              <a:rPr lang="ko-KR" altLang="en-US" dirty="0"/>
              <a:t>메소드로 구할 수 있고</a:t>
            </a:r>
            <a:r>
              <a:rPr lang="en-US" altLang="ko-KR" dirty="0"/>
              <a:t>, abs() </a:t>
            </a:r>
            <a:r>
              <a:rPr lang="ko-KR" altLang="en-US" dirty="0"/>
              <a:t>메소드로 해당 복소수의 크기를 알 수 있음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9D455B1-0436-2858-98D1-392147B2DC53}"/>
              </a:ext>
            </a:extLst>
          </p:cNvPr>
          <p:cNvGrpSpPr/>
          <p:nvPr/>
        </p:nvGrpSpPr>
        <p:grpSpPr>
          <a:xfrm>
            <a:off x="3305175" y="2893626"/>
            <a:ext cx="5980804" cy="3072552"/>
            <a:chOff x="2598497" y="3122225"/>
            <a:chExt cx="6668432" cy="342581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8498" y="3122225"/>
              <a:ext cx="6668431" cy="1171739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t="5795"/>
            <a:stretch/>
          </p:blipFill>
          <p:spPr>
            <a:xfrm>
              <a:off x="2598497" y="4157478"/>
              <a:ext cx="6668432" cy="2390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89459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4B528-FC54-C3EC-5C99-AC3CA6E3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 </a:t>
            </a:r>
            <a:r>
              <a:rPr lang="ko-KR" altLang="en-US" dirty="0"/>
              <a:t>수치 자료형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958917" y="1128713"/>
            <a:ext cx="8231304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080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AD9828-B635-D935-B64D-5FD64D582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표현식</a:t>
            </a:r>
            <a:r>
              <a:rPr lang="en-US" altLang="ko-KR" sz="2400" baseline="30000" dirty="0">
                <a:solidFill>
                  <a:schemeClr val="accent5"/>
                </a:solidFill>
              </a:rPr>
              <a:t>expression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B31383C-15D6-47F8-F578-088F2D262F3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값과 변수</a:t>
            </a:r>
            <a:r>
              <a:rPr lang="en-US" altLang="ko-KR" sz="2000" dirty="0"/>
              <a:t>, </a:t>
            </a:r>
            <a:r>
              <a:rPr lang="ko-KR" altLang="en-US" sz="2000" dirty="0"/>
              <a:t>연산자들을 조합한 것</a:t>
            </a:r>
            <a:endParaRPr lang="en-US" altLang="ko-KR" sz="2000" baseline="30000" dirty="0"/>
          </a:p>
          <a:p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387" y="2368352"/>
            <a:ext cx="5717564" cy="21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9663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749" y="2682387"/>
            <a:ext cx="9363301" cy="3050869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B1539E-16AB-5EF7-920E-CB75B5647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2.8.1 </a:t>
            </a:r>
            <a:r>
              <a:rPr lang="ko-KR" altLang="en-US" dirty="0"/>
              <a:t>할당 연산자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A9231EB-1252-C0AB-5697-76B53047020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연산자 우측의 값을 좌측의 변수에 </a:t>
            </a:r>
            <a:r>
              <a:rPr lang="ko-KR" altLang="en-US" b="1" dirty="0"/>
              <a:t>할당</a:t>
            </a:r>
            <a:r>
              <a:rPr lang="en-US" altLang="ko-KR" b="1" baseline="30000" dirty="0">
                <a:solidFill>
                  <a:schemeClr val="accent5"/>
                </a:solidFill>
              </a:rPr>
              <a:t>assign</a:t>
            </a:r>
            <a:r>
              <a:rPr lang="ko-KR" altLang="en-US" dirty="0"/>
              <a:t>하라는 의미</a:t>
            </a:r>
          </a:p>
          <a:p>
            <a:r>
              <a:rPr lang="en-US" altLang="ko-KR" dirty="0"/>
              <a:t>num1 = num2 = num3 = 200</a:t>
            </a:r>
            <a:r>
              <a:rPr lang="ko-KR" altLang="en-US" dirty="0"/>
              <a:t>과 같이 </a:t>
            </a:r>
            <a:r>
              <a:rPr lang="ko-KR" altLang="en-US" b="1" dirty="0"/>
              <a:t>다중 할당</a:t>
            </a:r>
            <a:r>
              <a:rPr lang="en-US" altLang="ko-KR" b="1" baseline="30000" dirty="0">
                <a:solidFill>
                  <a:schemeClr val="accent5"/>
                </a:solidFill>
              </a:rPr>
              <a:t>multiple assignment</a:t>
            </a:r>
            <a:r>
              <a:rPr lang="ko-KR" altLang="en-US" dirty="0"/>
              <a:t>도 가능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7899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FA101D-4325-FCD8-F165-FBBE9AFF9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2.8.1 </a:t>
            </a:r>
            <a:r>
              <a:rPr lang="ko-KR" altLang="en-US" dirty="0"/>
              <a:t>할당 연산자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D91B15-5D98-AD9B-701E-0588A523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408385" y="1700213"/>
            <a:ext cx="7332368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288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FA101D-4325-FCD8-F165-FBBE9AFF9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2.8.1 </a:t>
            </a:r>
            <a:r>
              <a:rPr lang="ko-KR" altLang="en-US" dirty="0"/>
              <a:t>할당 연산자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D91B15-5D98-AD9B-701E-0588A523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10" y="1916831"/>
            <a:ext cx="4791654" cy="310340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586" y="2045398"/>
            <a:ext cx="6170604" cy="158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829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FA101D-4325-FCD8-F165-FBBE9AFF9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2.8.1 </a:t>
            </a:r>
            <a:r>
              <a:rPr lang="ko-KR" altLang="en-US" dirty="0"/>
              <a:t>할당 연산자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D91B15-5D98-AD9B-701E-0588A523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736" y="1700808"/>
            <a:ext cx="7437505" cy="437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745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FA101D-4325-FCD8-F165-FBBE9AFF9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2.8.1 </a:t>
            </a:r>
            <a:r>
              <a:rPr lang="ko-KR" altLang="en-US" dirty="0"/>
              <a:t>할당 연산자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D91B15-5D98-AD9B-701E-0588A523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A2677A-CA28-69B1-83E0-178E6EB40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05" y="2038919"/>
            <a:ext cx="8429389" cy="353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395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FA101D-4325-FCD8-F165-FBBE9AFF9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2.8.1 </a:t>
            </a:r>
            <a:r>
              <a:rPr lang="ko-KR" altLang="en-US" dirty="0"/>
              <a:t>할당 연산자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D91B15-5D98-AD9B-701E-0588A523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492" y="1700808"/>
            <a:ext cx="7189815" cy="425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018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FC1D5D-AEB4-C938-5B73-21B8120F5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2.8.2 </a:t>
            </a:r>
            <a:r>
              <a:rPr lang="ko-KR" altLang="en-US" dirty="0"/>
              <a:t>비교 연산자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704457" y="1700213"/>
            <a:ext cx="8740224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4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A83848F-AFFC-1E4C-6DE7-AD6A7938D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2.8.2 </a:t>
            </a:r>
            <a:r>
              <a:rPr lang="ko-KR" altLang="en-US" dirty="0"/>
              <a:t>비교 연산자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4C4030F-773C-1BDA-3858-FAB8A371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497FA3-5515-4190-6662-55AC5234D41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96706" y="1700809"/>
            <a:ext cx="4266743" cy="4345428"/>
          </a:xfrm>
        </p:spPr>
        <p:txBody>
          <a:bodyPr/>
          <a:lstStyle/>
          <a:p>
            <a:r>
              <a:rPr lang="ko-KR" altLang="en-US" dirty="0"/>
              <a:t>주의할 점은 </a:t>
            </a:r>
            <a:r>
              <a:rPr lang="en-US" altLang="ko-KR" dirty="0"/>
              <a:t>!=</a:t>
            </a:r>
            <a:r>
              <a:rPr lang="ko-KR" altLang="en-US" dirty="0"/>
              <a:t>에서 </a:t>
            </a:r>
            <a:r>
              <a:rPr lang="en-US" altLang="ko-KR" dirty="0"/>
              <a:t>!</a:t>
            </a:r>
            <a:r>
              <a:rPr lang="ko-KR" altLang="en-US" dirty="0"/>
              <a:t>와 </a:t>
            </a:r>
            <a:r>
              <a:rPr lang="en-US" altLang="ko-KR" dirty="0"/>
              <a:t>= </a:t>
            </a:r>
            <a:r>
              <a:rPr lang="ko-KR" altLang="en-US" dirty="0"/>
              <a:t>사이에 </a:t>
            </a:r>
            <a:r>
              <a:rPr lang="ko-KR" altLang="en-US" dirty="0">
                <a:solidFill>
                  <a:srgbClr val="FF0000"/>
                </a:solidFill>
              </a:rPr>
              <a:t>공백을 넣으면 안 되며</a:t>
            </a:r>
            <a:r>
              <a:rPr lang="en-US" altLang="ko-KR" dirty="0"/>
              <a:t>, &gt;= </a:t>
            </a:r>
            <a:r>
              <a:rPr lang="ko-KR" altLang="en-US" dirty="0"/>
              <a:t>연산에서도 </a:t>
            </a:r>
            <a:r>
              <a:rPr lang="en-US" altLang="ko-KR" dirty="0"/>
              <a:t>&gt;</a:t>
            </a:r>
            <a:r>
              <a:rPr lang="ko-KR" altLang="en-US" dirty="0"/>
              <a:t>와 </a:t>
            </a:r>
            <a:r>
              <a:rPr lang="en-US" altLang="ko-KR" dirty="0"/>
              <a:t>= </a:t>
            </a:r>
            <a:r>
              <a:rPr lang="ko-KR" altLang="en-US" dirty="0"/>
              <a:t>사이에 공백을 넣으면 안 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=&gt;</a:t>
            </a:r>
            <a:r>
              <a:rPr lang="ko-KR" altLang="en-US" dirty="0"/>
              <a:t>와 같이 등호와 </a:t>
            </a:r>
            <a:r>
              <a:rPr lang="en-US" altLang="ko-KR" dirty="0"/>
              <a:t>&gt; </a:t>
            </a:r>
            <a:r>
              <a:rPr lang="ko-KR" altLang="en-US" dirty="0"/>
              <a:t>연산자의 순서가 바뀌어도 에러가 뜬다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41BD9D6-D795-8040-A36D-58321510796F}"/>
              </a:ext>
            </a:extLst>
          </p:cNvPr>
          <p:cNvGrpSpPr/>
          <p:nvPr/>
        </p:nvGrpSpPr>
        <p:grpSpPr>
          <a:xfrm>
            <a:off x="1067257" y="1803993"/>
            <a:ext cx="5208332" cy="3650574"/>
            <a:chOff x="560097" y="461151"/>
            <a:chExt cx="8400216" cy="5887799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097" y="461151"/>
              <a:ext cx="8400216" cy="235236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t="4558" r="325"/>
            <a:stretch/>
          </p:blipFill>
          <p:spPr>
            <a:xfrm>
              <a:off x="560097" y="2417884"/>
              <a:ext cx="8400216" cy="39310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81404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2.8.3 </a:t>
            </a:r>
            <a:r>
              <a:rPr lang="ko-KR" altLang="en-US" dirty="0"/>
              <a:t>논리 연산자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logical operator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E4B6C0-E391-137D-5339-F9862393895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and, or, not</a:t>
            </a:r>
            <a:r>
              <a:rPr lang="ko-KR" altLang="en-US" dirty="0"/>
              <a:t>이 있음</a:t>
            </a:r>
          </a:p>
          <a:p>
            <a:r>
              <a:rPr lang="ko-KR" altLang="en-US" dirty="0"/>
              <a:t>논리 </a:t>
            </a:r>
            <a:r>
              <a:rPr lang="en-US" altLang="ko-KR" dirty="0"/>
              <a:t>and, or, not </a:t>
            </a:r>
            <a:r>
              <a:rPr lang="ko-KR" altLang="en-US" dirty="0"/>
              <a:t>연산을 통해 </a:t>
            </a:r>
            <a:r>
              <a:rPr lang="en-US" altLang="ko-KR" dirty="0"/>
              <a:t>True(</a:t>
            </a:r>
            <a:r>
              <a:rPr lang="ko-KR" altLang="en-US" dirty="0"/>
              <a:t>참</a:t>
            </a:r>
            <a:r>
              <a:rPr lang="en-US" altLang="ko-KR" dirty="0"/>
              <a:t>)</a:t>
            </a:r>
            <a:r>
              <a:rPr lang="ko-KR" altLang="en-US" dirty="0"/>
              <a:t>나 </a:t>
            </a:r>
            <a:r>
              <a:rPr lang="en-US" altLang="ko-KR" dirty="0"/>
              <a:t>False(</a:t>
            </a:r>
            <a:r>
              <a:rPr lang="ko-KR" altLang="en-US" dirty="0"/>
              <a:t>거짓</a:t>
            </a:r>
            <a:r>
              <a:rPr lang="en-US" altLang="ko-KR" dirty="0"/>
              <a:t>)</a:t>
            </a:r>
            <a:r>
              <a:rPr lang="ko-KR" altLang="en-US" dirty="0"/>
              <a:t>중 하나의 값을 가지는 </a:t>
            </a:r>
            <a:r>
              <a:rPr lang="ko-KR" altLang="en-US" dirty="0" err="1">
                <a:solidFill>
                  <a:srgbClr val="0070C0"/>
                </a:solidFill>
              </a:rPr>
              <a:t>부울</a:t>
            </a:r>
            <a:r>
              <a:rPr lang="en-US" altLang="ko-KR" baseline="30000" dirty="0">
                <a:solidFill>
                  <a:srgbClr val="0070C0"/>
                </a:solidFill>
              </a:rPr>
              <a:t>bool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en-US" dirty="0"/>
              <a:t>값을 반환</a:t>
            </a:r>
          </a:p>
          <a:p>
            <a:r>
              <a:rPr lang="ko-KR" altLang="en-US" dirty="0" err="1"/>
              <a:t>부울</a:t>
            </a:r>
            <a:r>
              <a:rPr lang="ko-KR" altLang="en-US" dirty="0"/>
              <a:t> 자료형</a:t>
            </a:r>
            <a:endParaRPr lang="en-US" altLang="ko-KR" dirty="0"/>
          </a:p>
          <a:p>
            <a:pPr lvl="1"/>
            <a:r>
              <a:rPr lang="en-US" altLang="ko-KR" dirty="0"/>
              <a:t>True</a:t>
            </a:r>
            <a:r>
              <a:rPr lang="ko-KR" altLang="en-US" dirty="0"/>
              <a:t>나 </a:t>
            </a:r>
            <a:r>
              <a:rPr lang="en-US" altLang="ko-KR" dirty="0"/>
              <a:t>False</a:t>
            </a:r>
            <a:r>
              <a:rPr lang="ko-KR" altLang="en-US" dirty="0"/>
              <a:t>값을 가지는 자료형</a:t>
            </a:r>
            <a:endParaRPr lang="en-US" altLang="ko-KR" dirty="0"/>
          </a:p>
          <a:p>
            <a:pPr lvl="1"/>
            <a:r>
              <a:rPr lang="ko-KR" altLang="en-US" dirty="0"/>
              <a:t>원래 </a:t>
            </a:r>
            <a:r>
              <a:rPr lang="ko-KR" altLang="en-US" dirty="0" err="1"/>
              <a:t>부울값이</a:t>
            </a:r>
            <a:r>
              <a:rPr lang="ko-KR" altLang="en-US" dirty="0"/>
              <a:t> 아닌 자료형의 데이터도 부울형으로 변환될 수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4447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2.8.3 </a:t>
            </a:r>
            <a:r>
              <a:rPr lang="ko-KR" altLang="en-US" dirty="0"/>
              <a:t>논리 연산자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logical operator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2F645EA-87FF-5FE5-9CC5-FC92ED20825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976657" y="1700213"/>
            <a:ext cx="6195824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22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2.8.3 </a:t>
            </a:r>
            <a:r>
              <a:rPr lang="ko-KR" altLang="en-US" dirty="0"/>
              <a:t>논리 연산자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logical operator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E4B6C0-E391-137D-5339-F9862393895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부울값을</a:t>
            </a:r>
            <a:r>
              <a:rPr lang="ko-KR" altLang="en-US" dirty="0"/>
              <a:t> 가진 데이터에 대해서 적용할 수 있는 연산이 논리 연산이다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논리 연산에는 논리곱</a:t>
            </a:r>
            <a:r>
              <a:rPr lang="en-US" altLang="ko-KR" dirty="0"/>
              <a:t>, </a:t>
            </a:r>
            <a:r>
              <a:rPr lang="ko-KR" altLang="en-US" dirty="0"/>
              <a:t>논리합</a:t>
            </a:r>
            <a:r>
              <a:rPr lang="en-US" altLang="ko-KR" dirty="0"/>
              <a:t>, </a:t>
            </a:r>
            <a:r>
              <a:rPr lang="ko-KR" altLang="en-US" dirty="0"/>
              <a:t>논리 부정 연산이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논리 연산은 </a:t>
            </a:r>
            <a:r>
              <a:rPr lang="ko-KR" altLang="en-US" dirty="0" err="1"/>
              <a:t>부울형</a:t>
            </a:r>
            <a:r>
              <a:rPr lang="ko-KR" altLang="en-US" dirty="0"/>
              <a:t> 자료의 값을 조합하여 새로운 </a:t>
            </a:r>
            <a:r>
              <a:rPr lang="ko-KR" altLang="en-US" dirty="0" err="1"/>
              <a:t>부울값을</a:t>
            </a:r>
            <a:r>
              <a:rPr lang="ko-KR" altLang="en-US" dirty="0"/>
              <a:t> 만들어내는 것이다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89" y="3429000"/>
            <a:ext cx="9007805" cy="213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485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2.8.3 </a:t>
            </a:r>
            <a:r>
              <a:rPr lang="ko-KR" altLang="en-US" dirty="0"/>
              <a:t>논리 연산자</a:t>
            </a:r>
            <a:r>
              <a:rPr lang="en-US" altLang="ko-KR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logical operator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70" y="1841322"/>
            <a:ext cx="7346318" cy="265873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018" y="2677818"/>
            <a:ext cx="6268548" cy="318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500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2.8.4 </a:t>
            </a:r>
            <a:r>
              <a:rPr lang="ko-KR" altLang="en-US" dirty="0"/>
              <a:t>비트 연산자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66724-393A-445E-090A-19FF774011A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한 자리의 이진수를 비트</a:t>
            </a:r>
            <a:r>
              <a:rPr lang="en-US" altLang="ko-KR" b="1" baseline="30000" dirty="0">
                <a:solidFill>
                  <a:schemeClr val="accent5"/>
                </a:solidFill>
              </a:rPr>
              <a:t>bit</a:t>
            </a:r>
            <a:r>
              <a:rPr lang="ko-KR" altLang="en-US" dirty="0"/>
              <a:t>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조작을 위한 연산자를 </a:t>
            </a:r>
            <a:r>
              <a:rPr lang="ko-KR" altLang="en-US" b="1" dirty="0"/>
              <a:t>비트 연산자</a:t>
            </a:r>
            <a:r>
              <a:rPr lang="en-US" altLang="ko-KR" b="1" baseline="30000" dirty="0">
                <a:solidFill>
                  <a:schemeClr val="accent5"/>
                </a:solidFill>
              </a:rPr>
              <a:t>bit operator</a:t>
            </a:r>
            <a:r>
              <a:rPr lang="ko-KR" altLang="en-US" dirty="0"/>
              <a:t>라고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다른 말로 </a:t>
            </a:r>
            <a:r>
              <a:rPr lang="ko-KR" altLang="en-US" b="1" dirty="0"/>
              <a:t>비트 단위 연산자</a:t>
            </a:r>
            <a:r>
              <a:rPr lang="en-US" altLang="ko-KR" b="1" baseline="30000" dirty="0">
                <a:solidFill>
                  <a:schemeClr val="accent5"/>
                </a:solidFill>
              </a:rPr>
              <a:t>bitwise operator</a:t>
            </a:r>
            <a:r>
              <a:rPr lang="ko-KR" altLang="en-US" dirty="0"/>
              <a:t>라고도 함</a:t>
            </a:r>
          </a:p>
          <a:p>
            <a:r>
              <a:rPr lang="ko-KR" altLang="en-US" dirty="0"/>
              <a:t>문자열이나 리스트</a:t>
            </a:r>
            <a:r>
              <a:rPr lang="en-US" altLang="ko-KR" dirty="0"/>
              <a:t>, </a:t>
            </a:r>
            <a:r>
              <a:rPr lang="ko-KR" altLang="en-US" dirty="0"/>
              <a:t>실수형에는 적용되지 않고 정수 형의 피연산자에 대해 비트 단위로 연산을 수행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16445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2.8.4 </a:t>
            </a:r>
            <a:r>
              <a:rPr lang="ko-KR" altLang="en-US" dirty="0"/>
              <a:t>비트 연산자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003993"/>
            <a:ext cx="10015538" cy="373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4064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2.8.4 </a:t>
            </a:r>
            <a:r>
              <a:rPr lang="ko-KR" altLang="en-US" dirty="0"/>
              <a:t>비트 연산자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66724-393A-445E-090A-19FF774011A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와 </a:t>
            </a:r>
            <a:r>
              <a:rPr lang="en-US" altLang="ko-KR" dirty="0"/>
              <a:t>10</a:t>
            </a:r>
            <a:r>
              <a:rPr lang="ko-KR" altLang="en-US" dirty="0"/>
              <a:t>에 대한 </a:t>
            </a:r>
            <a:r>
              <a:rPr lang="en-US" altLang="ko-KR" dirty="0"/>
              <a:t>2</a:t>
            </a:r>
            <a:r>
              <a:rPr lang="ko-KR" altLang="en-US" dirty="0"/>
              <a:t>진수 출력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8" y="2270023"/>
            <a:ext cx="8518992" cy="21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276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2.8.4 </a:t>
            </a:r>
            <a:r>
              <a:rPr lang="ko-KR" altLang="en-US" dirty="0"/>
              <a:t>비트 연산자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66724-393A-445E-090A-19FF774011A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와 </a:t>
            </a:r>
            <a:r>
              <a:rPr lang="en-US" altLang="ko-KR" dirty="0"/>
              <a:t>10</a:t>
            </a:r>
            <a:r>
              <a:rPr lang="ko-KR" altLang="en-US" dirty="0"/>
              <a:t>에 대한 비트 </a:t>
            </a:r>
            <a:r>
              <a:rPr lang="en-US" altLang="ko-KR" dirty="0"/>
              <a:t>AND </a:t>
            </a:r>
            <a:r>
              <a:rPr lang="ko-KR" altLang="en-US" dirty="0"/>
              <a:t>연산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469" y="2236821"/>
            <a:ext cx="7195038" cy="181490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953" y="4051727"/>
            <a:ext cx="5291258" cy="190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723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2.8.4 </a:t>
            </a:r>
            <a:r>
              <a:rPr lang="ko-KR" altLang="en-US" dirty="0"/>
              <a:t>비트 연산자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66724-393A-445E-090A-19FF774011A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와 </a:t>
            </a:r>
            <a:r>
              <a:rPr lang="en-US" altLang="ko-KR" dirty="0"/>
              <a:t>10</a:t>
            </a:r>
            <a:r>
              <a:rPr lang="ko-KR" altLang="en-US" dirty="0"/>
              <a:t>에 대한 비트 단위 </a:t>
            </a:r>
            <a:r>
              <a:rPr lang="en-US" altLang="ko-KR" dirty="0"/>
              <a:t>OR</a:t>
            </a:r>
            <a:r>
              <a:rPr lang="ko-KR" altLang="en-US" dirty="0"/>
              <a:t>연산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453" y="4176254"/>
            <a:ext cx="5392363" cy="173304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80" y="2233548"/>
            <a:ext cx="7288738" cy="180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76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2.8.4 </a:t>
            </a:r>
            <a:r>
              <a:rPr lang="ko-KR" altLang="en-US" dirty="0"/>
              <a:t>비트 연산자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66724-393A-445E-090A-19FF774011A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 latinLnBrk="0"/>
            <a:r>
              <a:rPr lang="en-US" altLang="ko-KR" dirty="0"/>
              <a:t>9</a:t>
            </a:r>
            <a:r>
              <a:rPr lang="ko-KR" altLang="en-US" dirty="0"/>
              <a:t>와 </a:t>
            </a:r>
            <a:r>
              <a:rPr lang="en-US" altLang="ko-KR" dirty="0"/>
              <a:t>10</a:t>
            </a:r>
            <a:r>
              <a:rPr lang="ko-KR" altLang="en-US" dirty="0"/>
              <a:t>에 대한 비트 단위 </a:t>
            </a:r>
            <a:r>
              <a:rPr lang="en-US" altLang="ko-KR" dirty="0"/>
              <a:t>XOR</a:t>
            </a:r>
            <a:r>
              <a:rPr lang="ko-KR" altLang="en-US" dirty="0"/>
              <a:t>연산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252" y="4215412"/>
            <a:ext cx="5237025" cy="160083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448" y="2252985"/>
            <a:ext cx="6886294" cy="173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8506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2.8.4 </a:t>
            </a:r>
            <a:r>
              <a:rPr lang="ko-KR" altLang="en-US" dirty="0"/>
              <a:t>비트 연산자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2.8 </a:t>
            </a:r>
            <a:r>
              <a:rPr lang="ko-KR" altLang="en-US" dirty="0"/>
              <a:t>여러 가지 연산자</a:t>
            </a:r>
            <a:endParaRPr lang="en-US" dirty="0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000091"/>
            <a:ext cx="10015538" cy="374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571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비트 단위 이동연산</a:t>
            </a:r>
            <a:r>
              <a:rPr lang="en-US" altLang="ko-KR" sz="2400" dirty="0"/>
              <a:t>(</a:t>
            </a:r>
            <a:r>
              <a:rPr lang="ko-KR" altLang="en-US" sz="2400" dirty="0"/>
              <a:t>시프트 연산</a:t>
            </a:r>
            <a:r>
              <a:rPr lang="en-US" altLang="ko-KR" sz="2400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shift operator</a:t>
            </a:r>
            <a:r>
              <a:rPr lang="en-US" altLang="ko-KR" sz="2400" dirty="0"/>
              <a:t>)</a:t>
            </a:r>
            <a:endParaRPr 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altLang="ko-KR" sz="4000" dirty="0"/>
              <a:t>2.8 </a:t>
            </a:r>
            <a:r>
              <a:rPr lang="ko-KR" altLang="en-US" sz="4000" dirty="0"/>
              <a:t>여러 가지 연산자</a:t>
            </a:r>
            <a:endParaRPr lang="en-US" altLang="ko-KR" sz="4000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0A7426F-5F9A-84F7-FBD5-5F4FDC39947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숫자 </a:t>
            </a:r>
            <a:r>
              <a:rPr lang="en-US" altLang="ko-KR" dirty="0"/>
              <a:t>4</a:t>
            </a:r>
            <a:r>
              <a:rPr lang="ko-KR" altLang="en-US" dirty="0"/>
              <a:t>에 대한 </a:t>
            </a:r>
            <a:r>
              <a:rPr lang="en-US" altLang="ko-KR" dirty="0"/>
              <a:t>&lt;&lt; </a:t>
            </a:r>
            <a:r>
              <a:rPr lang="ko-KR" altLang="en-US" dirty="0"/>
              <a:t>연산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409" y="4226515"/>
            <a:ext cx="7598603" cy="18613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69" y="2163336"/>
            <a:ext cx="7969166" cy="202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489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비트 단위 이동연산</a:t>
            </a:r>
            <a:r>
              <a:rPr lang="en-US" altLang="ko-KR" sz="2400" dirty="0"/>
              <a:t>(</a:t>
            </a:r>
            <a:r>
              <a:rPr lang="ko-KR" altLang="en-US" sz="2400" dirty="0"/>
              <a:t>시프트 연산</a:t>
            </a:r>
            <a:r>
              <a:rPr lang="en-US" altLang="ko-KR" sz="2400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shift operator</a:t>
            </a:r>
            <a:r>
              <a:rPr lang="en-US" altLang="ko-KR" sz="2400" dirty="0"/>
              <a:t>)</a:t>
            </a:r>
            <a:endParaRPr 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altLang="ko-KR" sz="4000" dirty="0"/>
              <a:t>2.8 </a:t>
            </a:r>
            <a:r>
              <a:rPr lang="ko-KR" altLang="en-US" sz="4000" dirty="0"/>
              <a:t>여러 가지 연산자</a:t>
            </a:r>
            <a:endParaRPr lang="en-US" altLang="ko-KR" sz="4000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0A7426F-5F9A-84F7-FBD5-5F4FDC39947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 latinLnBrk="0"/>
            <a:r>
              <a:rPr lang="ko-KR" altLang="en-US" dirty="0"/>
              <a:t>숫자 </a:t>
            </a:r>
            <a:r>
              <a:rPr lang="en-US" altLang="ko-KR" dirty="0"/>
              <a:t>4</a:t>
            </a:r>
            <a:r>
              <a:rPr lang="ko-KR" altLang="en-US" dirty="0"/>
              <a:t>에 대한 </a:t>
            </a:r>
            <a:r>
              <a:rPr lang="en-US" altLang="ko-KR" dirty="0"/>
              <a:t>&gt;&gt; </a:t>
            </a:r>
            <a:r>
              <a:rPr lang="ko-KR" altLang="en-US" dirty="0"/>
              <a:t>연산</a:t>
            </a:r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19" y="2253928"/>
            <a:ext cx="7901513" cy="19325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554" y="4379731"/>
            <a:ext cx="6672666" cy="166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505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92C44-6B87-90BA-9478-58B5E966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2.8 </a:t>
            </a:r>
            <a:r>
              <a:rPr lang="ko-KR" altLang="en-US" sz="3600" dirty="0"/>
              <a:t>여러 가지 연산자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140619" y="1949450"/>
            <a:ext cx="98679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5924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92C44-6B87-90BA-9478-58B5E966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2.8 </a:t>
            </a:r>
            <a:r>
              <a:rPr lang="ko-KR" altLang="en-US" sz="3600" dirty="0"/>
              <a:t>여러 가지 연산자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EE6203D-26C8-70BE-AEE8-80C33168A05F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278876" y="1128713"/>
            <a:ext cx="7591385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435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92C44-6B87-90BA-9478-58B5E966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2.8 </a:t>
            </a:r>
            <a:r>
              <a:rPr lang="ko-KR" altLang="en-US" sz="3600" dirty="0"/>
              <a:t>여러 가지 연산자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644859" y="1128713"/>
            <a:ext cx="6859420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604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2.8.5 </a:t>
            </a:r>
            <a:r>
              <a:rPr lang="ko-KR" altLang="en-US" dirty="0"/>
              <a:t>연산자의 우선순위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2.8 </a:t>
            </a:r>
            <a:r>
              <a:rPr lang="ko-KR" altLang="en-US" sz="3200" dirty="0"/>
              <a:t>여러 가지 연산자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4F60FF-6FA2-A632-7DD3-64F17BF7091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수식은 우선순위에 따라 처리된다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10 + 20 * 30</a:t>
            </a:r>
            <a:r>
              <a:rPr lang="ko-KR" altLang="en-US" dirty="0"/>
              <a:t>이라는 수식이 있다면 </a:t>
            </a:r>
            <a:r>
              <a:rPr lang="en-US" altLang="ko-KR" dirty="0"/>
              <a:t>+</a:t>
            </a:r>
            <a:r>
              <a:rPr lang="ko-KR" altLang="en-US" dirty="0"/>
              <a:t>와 </a:t>
            </a:r>
            <a:r>
              <a:rPr lang="en-US" altLang="ko-KR" dirty="0"/>
              <a:t>*</a:t>
            </a:r>
            <a:r>
              <a:rPr lang="ko-KR" altLang="en-US" dirty="0"/>
              <a:t>중에서는 </a:t>
            </a:r>
            <a:r>
              <a:rPr lang="en-US" altLang="ko-KR" dirty="0"/>
              <a:t>* </a:t>
            </a:r>
            <a:r>
              <a:rPr lang="ko-KR" altLang="en-US" dirty="0"/>
              <a:t>연산이 먼저 수행됨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수식은 </a:t>
            </a:r>
            <a:r>
              <a:rPr lang="en-US" altLang="ko-KR" dirty="0"/>
              <a:t>10 + (20 * 30)</a:t>
            </a:r>
            <a:r>
              <a:rPr lang="ko-KR" altLang="en-US" dirty="0"/>
              <a:t>와 같이 해석된다</a:t>
            </a:r>
            <a:r>
              <a:rPr lang="en-US" altLang="ko-KR" dirty="0"/>
              <a:t>.</a:t>
            </a:r>
          </a:p>
          <a:p>
            <a:r>
              <a:rPr lang="ko-KR" altLang="en-US" spc="-40" dirty="0"/>
              <a:t>하지만 만약 </a:t>
            </a:r>
            <a:r>
              <a:rPr lang="en-US" altLang="ko-KR" spc="-40" dirty="0"/>
              <a:t>(10 + 20) * 30</a:t>
            </a:r>
            <a:r>
              <a:rPr lang="ko-KR" altLang="en-US" spc="-40" dirty="0"/>
              <a:t>과 같이 괄호가 있다면 괄호 안의 연산을 먼저 수행해야 함</a:t>
            </a:r>
            <a:r>
              <a:rPr lang="en-US" altLang="ko-KR" spc="-40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163" y="3529622"/>
            <a:ext cx="9404473" cy="260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467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2.8.5 </a:t>
            </a:r>
            <a:r>
              <a:rPr lang="ko-KR" altLang="en-US" dirty="0"/>
              <a:t>연산자의 우선순위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2.8 </a:t>
            </a:r>
            <a:r>
              <a:rPr lang="ko-KR" altLang="en-US" sz="3200" dirty="0"/>
              <a:t>여러 가지 연산자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4F60FF-6FA2-A632-7DD3-64F17BF7091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표에서 같은 칸에 있는 연산자들의 우선순위는 동일하다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7" y="1793265"/>
            <a:ext cx="7514492" cy="373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4550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주석문은 프로그램 내에서 코드의 기능을 설명하는 용도로 사용하는 문장</a:t>
            </a:r>
          </a:p>
          <a:p>
            <a:r>
              <a:rPr lang="en-US" dirty="0" err="1"/>
              <a:t>인터프리터가</a:t>
            </a:r>
            <a:r>
              <a:rPr lang="en-US" dirty="0"/>
              <a:t> </a:t>
            </a:r>
            <a:r>
              <a:rPr lang="en-US" dirty="0" err="1"/>
              <a:t>해석하지</a:t>
            </a:r>
            <a:r>
              <a:rPr lang="en-US" dirty="0"/>
              <a:t> </a:t>
            </a:r>
            <a:r>
              <a:rPr lang="en-US" dirty="0" err="1"/>
              <a:t>않고</a:t>
            </a:r>
            <a:r>
              <a:rPr lang="en-US" dirty="0"/>
              <a:t> </a:t>
            </a:r>
            <a:r>
              <a:rPr lang="en-US" dirty="0" err="1"/>
              <a:t>건너</a:t>
            </a:r>
            <a:r>
              <a:rPr lang="ko-KR" altLang="en-US" dirty="0"/>
              <a:t>뜀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2.9 </a:t>
            </a:r>
            <a:r>
              <a:rPr lang="en-US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17685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2.9.1. </a:t>
            </a:r>
            <a:r>
              <a:rPr lang="ko-KR" altLang="en-US" dirty="0"/>
              <a:t>한 줄 주석 처리하기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676D98-EB30-6C55-7D54-F274EA1033F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한 줄 전체를 주석문으로 처리할 경우 문장의 맨 처음에 </a:t>
            </a:r>
            <a:r>
              <a:rPr lang="en-US" altLang="ko-KR" dirty="0"/>
              <a:t># </a:t>
            </a:r>
            <a:r>
              <a:rPr lang="ko-KR" altLang="en-US" dirty="0"/>
              <a:t>기호 붙임</a:t>
            </a:r>
            <a:endParaRPr lang="en-US" altLang="ko-KR" dirty="0"/>
          </a:p>
          <a:p>
            <a:r>
              <a:rPr lang="ko-KR" altLang="en-US" dirty="0"/>
              <a:t>문장 내에서 </a:t>
            </a:r>
            <a:r>
              <a:rPr lang="en-US" altLang="ko-KR" dirty="0"/>
              <a:t># </a:t>
            </a:r>
            <a:r>
              <a:rPr lang="ko-KR" altLang="en-US" dirty="0"/>
              <a:t>기호가 나타나면 </a:t>
            </a:r>
            <a:r>
              <a:rPr lang="en-US" altLang="ko-KR" dirty="0"/>
              <a:t># </a:t>
            </a:r>
            <a:r>
              <a:rPr lang="ko-KR" altLang="en-US" dirty="0"/>
              <a:t>기호에서부터 전체 줄의 </a:t>
            </a:r>
            <a:r>
              <a:rPr lang="ko-KR" altLang="en-US" dirty="0" err="1"/>
              <a:t>끝까지가</a:t>
            </a:r>
            <a:r>
              <a:rPr lang="ko-KR" altLang="en-US" dirty="0"/>
              <a:t> 주석문이 된다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62018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2.9.1. </a:t>
            </a:r>
            <a:r>
              <a:rPr lang="ko-KR" altLang="en-US" dirty="0"/>
              <a:t>한 줄 주석 처리하기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9B3ABBF-2CB2-A6E3-4F86-862BA68436AE}"/>
              </a:ext>
            </a:extLst>
          </p:cNvPr>
          <p:cNvGrpSpPr/>
          <p:nvPr/>
        </p:nvGrpSpPr>
        <p:grpSpPr>
          <a:xfrm>
            <a:off x="1090075" y="1771686"/>
            <a:ext cx="8421478" cy="4229029"/>
            <a:chOff x="1054216" y="571316"/>
            <a:chExt cx="11168871" cy="560869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1ABBC18-50B1-6354-A7AF-CA41EBB34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4216" y="4750728"/>
              <a:ext cx="7599927" cy="142928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DB92836-01E5-A1AD-8F45-FE87A73C3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4216" y="3469120"/>
              <a:ext cx="7599927" cy="1415538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5D3134F-7DF0-D425-ABBE-D42FE42F5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216" y="571316"/>
              <a:ext cx="8281416" cy="2185995"/>
            </a:xfrm>
            <a:prstGeom prst="rect">
              <a:avLst/>
            </a:prstGeom>
          </p:spPr>
        </p:pic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3CA9DF4F-2544-526E-607F-DEFBFE6250C4}"/>
                </a:ext>
              </a:extLst>
            </p:cNvPr>
            <p:cNvCxnSpPr/>
            <p:nvPr/>
          </p:nvCxnSpPr>
          <p:spPr>
            <a:xfrm flipH="1" flipV="1">
              <a:off x="4947557" y="979714"/>
              <a:ext cx="1805555" cy="134438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BFC4FF-9F33-EB15-C63A-8400B609ADE0}"/>
                </a:ext>
              </a:extLst>
            </p:cNvPr>
            <p:cNvSpPr txBox="1"/>
            <p:nvPr/>
          </p:nvSpPr>
          <p:spPr>
            <a:xfrm>
              <a:off x="6753111" y="1893213"/>
              <a:ext cx="5469976" cy="114291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주석을 넣기 전</a:t>
              </a:r>
              <a:r>
                <a:rPr lang="en-US" altLang="ko-KR" dirty="0"/>
                <a:t>/</a:t>
              </a:r>
              <a:r>
                <a:rPr lang="ko-KR" altLang="en-US" dirty="0"/>
                <a:t>후</a:t>
              </a:r>
              <a:endParaRPr lang="en-US" altLang="ko-KR" dirty="0"/>
            </a:p>
            <a:p>
              <a:r>
                <a:rPr lang="ko-KR" altLang="en-US" sz="1600" dirty="0"/>
                <a:t>아래와 같이 코드에 주석을 </a:t>
              </a:r>
              <a:r>
                <a:rPr lang="ko-KR" altLang="en-US" sz="1600" dirty="0" err="1"/>
                <a:t>넣어줌으로써</a:t>
              </a:r>
              <a:r>
                <a:rPr lang="ko-KR" altLang="en-US" sz="1600" dirty="0"/>
                <a:t> 코드를 이해하는 것이 더 쉬워졌다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157900D-8F0B-F53A-2A58-977AC63656F4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4524376" y="2464671"/>
              <a:ext cx="2228735" cy="10024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207892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2.9.1. </a:t>
            </a:r>
            <a:r>
              <a:rPr lang="ko-KR" altLang="en-US" dirty="0"/>
              <a:t>한 줄 주석 처리하기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7" y="1987721"/>
            <a:ext cx="8670832" cy="218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7058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426" y="2379093"/>
            <a:ext cx="8442448" cy="1787813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2.9.2 </a:t>
            </a:r>
            <a:r>
              <a:rPr lang="ko-KR" altLang="en-US" dirty="0"/>
              <a:t>여러 줄 주석 처리하기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A9F142-6C39-8043-B7D3-8732ABE9533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작은따옴표나 큰따옴표 </a:t>
            </a:r>
            <a:r>
              <a:rPr lang="en-US" altLang="ko-KR" dirty="0"/>
              <a:t>3</a:t>
            </a:r>
            <a:r>
              <a:rPr lang="ko-KR" altLang="en-US" dirty="0"/>
              <a:t>개를 연속으로 입력하여 여러 줄을 주석 처리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426" y="4226942"/>
            <a:ext cx="8442448" cy="160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176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2.9.2 </a:t>
            </a:r>
            <a:r>
              <a:rPr lang="ko-KR" altLang="en-US" dirty="0"/>
              <a:t>여러 줄 주석 처리하기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C317D0D-C4C6-F2C9-C056-465581C3FD71}"/>
              </a:ext>
            </a:extLst>
          </p:cNvPr>
          <p:cNvGrpSpPr/>
          <p:nvPr/>
        </p:nvGrpSpPr>
        <p:grpSpPr>
          <a:xfrm>
            <a:off x="1090460" y="1637748"/>
            <a:ext cx="8421093" cy="4330566"/>
            <a:chOff x="660154" y="881183"/>
            <a:chExt cx="10084045" cy="5185743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154" y="881183"/>
              <a:ext cx="10084045" cy="2670909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154" y="4004897"/>
              <a:ext cx="10084045" cy="2062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57177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2.9.2 </a:t>
            </a:r>
            <a:r>
              <a:rPr lang="ko-KR" altLang="en-US" dirty="0"/>
              <a:t>여러 줄 주석 처리하기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3A72D3A-8501-F075-D274-925389E56EFF}"/>
              </a:ext>
            </a:extLst>
          </p:cNvPr>
          <p:cNvGrpSpPr/>
          <p:nvPr/>
        </p:nvGrpSpPr>
        <p:grpSpPr>
          <a:xfrm>
            <a:off x="1007434" y="1700808"/>
            <a:ext cx="8073624" cy="4251757"/>
            <a:chOff x="546069" y="487346"/>
            <a:chExt cx="9222185" cy="485661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069" y="487346"/>
              <a:ext cx="9222185" cy="1802895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3"/>
            <a:srcRect r="476"/>
            <a:stretch/>
          </p:blipFill>
          <p:spPr>
            <a:xfrm>
              <a:off x="546069" y="2204305"/>
              <a:ext cx="9178223" cy="960644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6069" y="3910379"/>
              <a:ext cx="9178223" cy="1433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775652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2.9.2 </a:t>
            </a:r>
            <a:r>
              <a:rPr lang="ko-KR" altLang="en-US" dirty="0"/>
              <a:t>여러 줄 주석 처리하기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1761331"/>
            <a:ext cx="9335869" cy="350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4991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2.9.2 </a:t>
            </a:r>
            <a:r>
              <a:rPr lang="ko-KR" altLang="en-US" dirty="0"/>
              <a:t>여러 줄 주석 처리하기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412A8CD-3223-FCBE-646C-F5F0BA3C12EF}"/>
              </a:ext>
            </a:extLst>
          </p:cNvPr>
          <p:cNvGrpSpPr/>
          <p:nvPr/>
        </p:nvGrpSpPr>
        <p:grpSpPr>
          <a:xfrm>
            <a:off x="1007438" y="1820768"/>
            <a:ext cx="8253104" cy="3627942"/>
            <a:chOff x="781050" y="648432"/>
            <a:chExt cx="10629900" cy="467274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1050" y="648432"/>
              <a:ext cx="10507516" cy="2780567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050" y="4016253"/>
              <a:ext cx="10629900" cy="1304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512818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2.9.3 input() </a:t>
            </a:r>
            <a:r>
              <a:rPr lang="ko-KR" altLang="en-US" dirty="0"/>
              <a:t>문과 사용자 입력의 처리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2F837F-ED83-73F0-8805-9BA9D429785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사용자로부터 입력을 받는 </a:t>
            </a:r>
            <a:r>
              <a:rPr lang="en-US" altLang="ko-KR" dirty="0"/>
              <a:t>input() </a:t>
            </a:r>
            <a:r>
              <a:rPr lang="ko-KR" altLang="en-US" dirty="0"/>
              <a:t>함수가 제공된다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함수는 </a:t>
            </a:r>
            <a:r>
              <a:rPr lang="en-US" altLang="ko-KR" dirty="0"/>
              <a:t>str</a:t>
            </a:r>
            <a:r>
              <a:rPr lang="ko-KR" altLang="en-US" dirty="0"/>
              <a:t>형으로 값을 받아들인다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str</a:t>
            </a:r>
            <a:r>
              <a:rPr lang="ko-KR" altLang="en-US" dirty="0"/>
              <a:t>형의 입력을 정수로 바꾸고자 할 때는 </a:t>
            </a:r>
            <a:r>
              <a:rPr lang="en-US" altLang="ko-KR" dirty="0"/>
              <a:t>age = int(input('</a:t>
            </a:r>
            <a:r>
              <a:rPr lang="ko-KR" altLang="en-US" dirty="0"/>
              <a:t>나이를 입력하세요</a:t>
            </a:r>
            <a:r>
              <a:rPr lang="en-US" altLang="ko-KR" dirty="0"/>
              <a:t>:’))</a:t>
            </a:r>
            <a:r>
              <a:rPr lang="ko-KR" altLang="en-US" dirty="0"/>
              <a:t>와 같이 사용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5705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2.9.3 input() </a:t>
            </a:r>
            <a:r>
              <a:rPr lang="ko-KR" altLang="en-US" dirty="0"/>
              <a:t>문과 사용자 입력의 처리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E1C73C5-5B55-4E8C-3AF3-D0961DB5E679}"/>
              </a:ext>
            </a:extLst>
          </p:cNvPr>
          <p:cNvGrpSpPr/>
          <p:nvPr/>
        </p:nvGrpSpPr>
        <p:grpSpPr>
          <a:xfrm>
            <a:off x="1073246" y="1794145"/>
            <a:ext cx="8339696" cy="4352442"/>
            <a:chOff x="517433" y="837161"/>
            <a:chExt cx="10516913" cy="548872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433" y="837161"/>
              <a:ext cx="10516913" cy="5488720"/>
            </a:xfrm>
            <a:prstGeom prst="rect">
              <a:avLst/>
            </a:prstGeom>
          </p:spPr>
        </p:pic>
        <p:cxnSp>
          <p:nvCxnSpPr>
            <p:cNvPr id="13" name="직선 화살표 연결선 12"/>
            <p:cNvCxnSpPr/>
            <p:nvPr/>
          </p:nvCxnSpPr>
          <p:spPr>
            <a:xfrm flipH="1" flipV="1">
              <a:off x="1763486" y="2939143"/>
              <a:ext cx="2437040" cy="11899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189919" y="3688879"/>
              <a:ext cx="5566950" cy="7374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나이는 문자열이 아닌 정수로 저장해 두어야 나중에 </a:t>
              </a:r>
              <a:r>
                <a:rPr lang="en-US" altLang="ko-KR" sz="1600" dirty="0"/>
                <a:t>+ 10</a:t>
              </a:r>
              <a:r>
                <a:rPr lang="ko-KR" altLang="en-US" sz="1600" dirty="0"/>
                <a:t>과 같은 연산자를 사용할 수 있다</a:t>
              </a:r>
              <a:r>
                <a:rPr lang="en-US" altLang="ko-KR" sz="1600" dirty="0"/>
                <a:t>.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066058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7EC63A-179A-CE5B-CB58-77CAB73DF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2.9.3 input() </a:t>
            </a:r>
            <a:r>
              <a:rPr lang="ko-KR" altLang="en-US" dirty="0"/>
              <a:t>문과 사용자 입력의 처리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DB5BDF-DAE8-0B1A-7FB7-32E8F150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2.9 </a:t>
            </a:r>
            <a:r>
              <a:rPr lang="en-US" altLang="ko-KR" dirty="0" err="1"/>
              <a:t>주석문</a:t>
            </a:r>
            <a:r>
              <a:rPr lang="ko-KR" altLang="en-US" dirty="0"/>
              <a:t>과 </a:t>
            </a:r>
            <a:r>
              <a:rPr lang="en-US" altLang="ko-KR" dirty="0"/>
              <a:t>input() </a:t>
            </a:r>
            <a:r>
              <a:rPr lang="ko-KR" altLang="en-US" dirty="0"/>
              <a:t>함수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591194" y="1700213"/>
            <a:ext cx="4966750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8758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LAB </a:t>
            </a:r>
            <a:r>
              <a:rPr lang="ko-KR" altLang="en-US"/>
              <a:t>문제를 하나하나 풀어봅시다</a:t>
            </a:r>
            <a:r>
              <a:rPr lang="en-US" altLang="ko-KR"/>
              <a:t>.</a:t>
            </a:r>
          </a:p>
          <a:p>
            <a:r>
              <a:rPr lang="en-US" altLang="ko-KR"/>
              <a:t>2</a:t>
            </a:r>
            <a:r>
              <a:rPr lang="ko-KR" altLang="en-US"/>
              <a:t>장의 연습문제를 하나씩 풀어보며 </a:t>
            </a:r>
            <a:r>
              <a:rPr lang="en-US" altLang="ko-KR"/>
              <a:t>2</a:t>
            </a:r>
            <a:r>
              <a:rPr lang="ko-KR" altLang="en-US"/>
              <a:t>장의 내용을 복습해 봅시다</a:t>
            </a:r>
            <a:r>
              <a:rPr lang="en-US" altLang="ko-KR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할일</a:t>
            </a:r>
          </a:p>
        </p:txBody>
      </p:sp>
    </p:spTree>
    <p:extLst>
      <p:ext uri="{BB962C8B-B14F-4D97-AF65-F5344CB8AC3E}">
        <p14:creationId xmlns:p14="http://schemas.microsoft.com/office/powerpoint/2010/main" val="278385212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4845911" y="1144617"/>
            <a:ext cx="6819099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645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16751</TotalTime>
  <Words>2803</Words>
  <Application>Microsoft Office PowerPoint</Application>
  <PresentationFormat>와이드스크린</PresentationFormat>
  <Paragraphs>443</Paragraphs>
  <Slides>108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D2Coding</vt:lpstr>
      <vt:lpstr>굴림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2.1 파이썬의 출력 함수 print()</vt:lpstr>
      <vt:lpstr>2.1 파이썬의 출력 함수 print()</vt:lpstr>
      <vt:lpstr>2.1 파이썬의 출력 함수 print()</vt:lpstr>
      <vt:lpstr>2.1 파이썬의 출력 함수 print()</vt:lpstr>
      <vt:lpstr>2.1 파이썬의 출력 함수</vt:lpstr>
      <vt:lpstr>2.1 파이썬의 출력 함수</vt:lpstr>
      <vt:lpstr>2.1 파이썬의 출력 함수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2.2 변수와 친해지기</vt:lpstr>
      <vt:lpstr>2.3 변수의 생성과 식별자 </vt:lpstr>
      <vt:lpstr>2.3 변수의 생성과 식별자 </vt:lpstr>
      <vt:lpstr>2.3 변수의 생성과 식별자 </vt:lpstr>
      <vt:lpstr>2.3 변수의 생성과 식별자 </vt:lpstr>
      <vt:lpstr>2.3 변수의 생성과 식별자 </vt:lpstr>
      <vt:lpstr>2.3 변수의 생성과 식별자 </vt:lpstr>
      <vt:lpstr>2.3 변수의 생성과 식별자 </vt:lpstr>
      <vt:lpstr>2.3 변수의 생성과 식별자 </vt:lpstr>
      <vt:lpstr>2.3 변수의 생성과 식별자 </vt:lpstr>
      <vt:lpstr>2.3 변수의 생성과 식별자 </vt:lpstr>
      <vt:lpstr>2.3 변수의 생성과 식별자 </vt:lpstr>
      <vt:lpstr>2.3 변수의 생성과 식별자 </vt:lpstr>
      <vt:lpstr>2.4 변수와 연산자</vt:lpstr>
      <vt:lpstr>2.4 변수와 연산자</vt:lpstr>
      <vt:lpstr>2.4 변수와 연산자</vt:lpstr>
      <vt:lpstr>2.4 변수와 연산자</vt:lpstr>
      <vt:lpstr>2.4 변수와 연산자</vt:lpstr>
      <vt:lpstr>2.4 변수와 연산자</vt:lpstr>
      <vt:lpstr>2.4 변수와 연산자</vt:lpstr>
      <vt:lpstr>2.4 변수와 연산자</vt:lpstr>
      <vt:lpstr>2.4 변수와 연산자</vt:lpstr>
      <vt:lpstr>2.5 자료형의 의미와 자료형 확인</vt:lpstr>
      <vt:lpstr>2.5 자료형의 의미와 자료형 확인</vt:lpstr>
      <vt:lpstr>2.5 자료형의 의미와 자료형 확인</vt:lpstr>
      <vt:lpstr>2.5 자료형의 의미와 자료형 확인</vt:lpstr>
      <vt:lpstr>2.5 자료형의 의미와 자료형 확인</vt:lpstr>
      <vt:lpstr>2.5 자료형의 의미와 자료형 확인</vt:lpstr>
      <vt:lpstr>2.5 자료형의 의미와 자료형 확인</vt:lpstr>
      <vt:lpstr>2.5 자료형의 의미와 자료형 확인</vt:lpstr>
      <vt:lpstr>2.6 문자열 자료형</vt:lpstr>
      <vt:lpstr>2.6 문자열 자료형</vt:lpstr>
      <vt:lpstr>2.6 문자열 자료형</vt:lpstr>
      <vt:lpstr>2.6 문자열 자료형</vt:lpstr>
      <vt:lpstr>2.6 문자열 자료형</vt:lpstr>
      <vt:lpstr>2.6 문자열 자료형</vt:lpstr>
      <vt:lpstr>2.7 수치 자료형</vt:lpstr>
      <vt:lpstr>2.7 수치 자료형</vt:lpstr>
      <vt:lpstr>2.7 수치 자료형</vt:lpstr>
      <vt:lpstr>2.7 수치 자료형</vt:lpstr>
      <vt:lpstr>2.7 수치 자료형</vt:lpstr>
      <vt:lpstr>2.7 수치 자료형</vt:lpstr>
      <vt:lpstr>2.7 수치 자료형</vt:lpstr>
      <vt:lpstr>2.7 수치 자료형</vt:lpstr>
      <vt:lpstr>2.7 수치 자료형</vt:lpstr>
      <vt:lpstr>2.7 수치 자료형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2.8 여러 가지 연산자</vt:lpstr>
      <vt:lpstr>2.9 주석문과 input() 함수</vt:lpstr>
      <vt:lpstr>2.9 주석문과 input() 함수</vt:lpstr>
      <vt:lpstr>2.9 주석문과 input() 함수</vt:lpstr>
      <vt:lpstr>2.9 주석문과 input() 함수</vt:lpstr>
      <vt:lpstr>2.9 주석문과 input() 함수</vt:lpstr>
      <vt:lpstr>2.9 주석문과 input() 함수</vt:lpstr>
      <vt:lpstr>2.9 주석문과 input() 함수</vt:lpstr>
      <vt:lpstr>2.9 주석문과 input() 함수</vt:lpstr>
      <vt:lpstr>2.9 주석문과 input() 함수</vt:lpstr>
      <vt:lpstr>2.9 주석문과 input() 함수</vt:lpstr>
      <vt:lpstr>2.9 주석문과 input() 함수</vt:lpstr>
      <vt:lpstr>2.9 주석문과 input() 함수</vt:lpstr>
      <vt:lpstr>할일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USER</cp:lastModifiedBy>
  <cp:revision>240</cp:revision>
  <dcterms:created xsi:type="dcterms:W3CDTF">2019-07-01T11:22:40Z</dcterms:created>
  <dcterms:modified xsi:type="dcterms:W3CDTF">2024-07-31T13:21:21Z</dcterms:modified>
</cp:coreProperties>
</file>