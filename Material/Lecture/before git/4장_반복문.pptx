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9" r:id="rId2"/>
    <p:sldId id="257" r:id="rId3"/>
    <p:sldId id="357" r:id="rId4"/>
    <p:sldId id="358" r:id="rId5"/>
    <p:sldId id="294" r:id="rId6"/>
    <p:sldId id="296" r:id="rId7"/>
    <p:sldId id="377" r:id="rId8"/>
    <p:sldId id="295" r:id="rId9"/>
    <p:sldId id="395" r:id="rId10"/>
    <p:sldId id="297" r:id="rId11"/>
    <p:sldId id="396" r:id="rId12"/>
    <p:sldId id="397" r:id="rId13"/>
    <p:sldId id="299" r:id="rId14"/>
    <p:sldId id="398" r:id="rId15"/>
    <p:sldId id="399" r:id="rId16"/>
    <p:sldId id="400" r:id="rId17"/>
    <p:sldId id="401" r:id="rId18"/>
    <p:sldId id="402" r:id="rId19"/>
    <p:sldId id="403" r:id="rId20"/>
    <p:sldId id="361" r:id="rId21"/>
    <p:sldId id="404" r:id="rId22"/>
    <p:sldId id="383" r:id="rId23"/>
    <p:sldId id="405" r:id="rId24"/>
    <p:sldId id="384" r:id="rId25"/>
    <p:sldId id="305" r:id="rId26"/>
    <p:sldId id="406" r:id="rId27"/>
    <p:sldId id="306" r:id="rId28"/>
    <p:sldId id="407" r:id="rId29"/>
    <p:sldId id="385" r:id="rId30"/>
    <p:sldId id="308" r:id="rId31"/>
    <p:sldId id="408" r:id="rId32"/>
    <p:sldId id="409" r:id="rId33"/>
    <p:sldId id="410" r:id="rId34"/>
    <p:sldId id="411" r:id="rId35"/>
    <p:sldId id="412" r:id="rId36"/>
    <p:sldId id="413" r:id="rId37"/>
    <p:sldId id="314" r:id="rId38"/>
    <p:sldId id="414" r:id="rId39"/>
    <p:sldId id="316" r:id="rId40"/>
    <p:sldId id="317" r:id="rId41"/>
    <p:sldId id="415" r:id="rId42"/>
    <p:sldId id="318" r:id="rId43"/>
    <p:sldId id="416" r:id="rId44"/>
    <p:sldId id="417" r:id="rId45"/>
    <p:sldId id="418" r:id="rId46"/>
    <p:sldId id="419" r:id="rId47"/>
    <p:sldId id="420" r:id="rId48"/>
    <p:sldId id="421" r:id="rId49"/>
    <p:sldId id="324" r:id="rId50"/>
    <p:sldId id="387" r:id="rId51"/>
    <p:sldId id="388" r:id="rId52"/>
    <p:sldId id="325" r:id="rId53"/>
    <p:sldId id="389" r:id="rId54"/>
    <p:sldId id="327" r:id="rId55"/>
    <p:sldId id="328" r:id="rId56"/>
    <p:sldId id="422" r:id="rId57"/>
    <p:sldId id="423" r:id="rId58"/>
    <p:sldId id="332" r:id="rId59"/>
    <p:sldId id="331" r:id="rId60"/>
    <p:sldId id="424" r:id="rId61"/>
    <p:sldId id="425" r:id="rId62"/>
    <p:sldId id="428" r:id="rId63"/>
    <p:sldId id="336" r:id="rId64"/>
    <p:sldId id="337" r:id="rId65"/>
    <p:sldId id="426" r:id="rId66"/>
    <p:sldId id="339" r:id="rId67"/>
    <p:sldId id="427" r:id="rId68"/>
    <p:sldId id="390" r:id="rId69"/>
    <p:sldId id="391" r:id="rId70"/>
    <p:sldId id="393" r:id="rId7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upak" initials="d" lastIdx="13" clrIdx="0">
    <p:extLst>
      <p:ext uri="{19B8F6BF-5375-455C-9EA6-DF929625EA0E}">
        <p15:presenceInfo xmlns:p15="http://schemas.microsoft.com/office/powerpoint/2012/main" userId="dongupa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2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D9922996-39A1-D144-2529-4EE6920C524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F4CCE-76D5-FB87-7563-41F1390CD823}"/>
              </a:ext>
            </a:extLst>
          </p:cNvPr>
          <p:cNvSpPr txBox="1"/>
          <p:nvPr userDrawn="1"/>
        </p:nvSpPr>
        <p:spPr>
          <a:xfrm>
            <a:off x="10582275" y="90475"/>
            <a:ext cx="986332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4A0A25-03E6-68C0-D458-43887041AE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70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0359-BB23-F0F2-D6AB-13043CD4CA6F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178D0-9D0B-D7BF-4359-941B74EE8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0B40FF4-AB01-1A8B-4ABD-88F6BAEAFD55}"/>
              </a:ext>
            </a:extLst>
          </p:cNvPr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FD3DA280-44CE-4EC9-F4DF-93D05602707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D8060-B0F5-0224-2109-C51C1E77C3DE}"/>
              </a:ext>
            </a:extLst>
          </p:cNvPr>
          <p:cNvSpPr txBox="1"/>
          <p:nvPr userDrawn="1"/>
        </p:nvSpPr>
        <p:spPr>
          <a:xfrm>
            <a:off x="10582275" y="90475"/>
            <a:ext cx="1024433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E4CDDD-6B66-CD7E-416E-ACDEDDF42B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07437" y="1124744"/>
            <a:ext cx="10177129" cy="57606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rgbClr val="385723"/>
                </a:solidFill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5835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480B8AFC-1442-2A41-38E6-098E199D64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7257" y="1700809"/>
            <a:ext cx="10014757" cy="4345428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6170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>
                <a:solidFill>
                  <a:schemeClr val="tx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>
                <a:solidFill>
                  <a:schemeClr val="tx1"/>
                </a:solidFill>
                <a:latin typeface="+mn-ea"/>
                <a:ea typeface="+mn-ea"/>
              </a:rPr>
              <a:t> to Python</a:t>
            </a:r>
            <a:endParaRPr lang="ko-KR" altLang="en-US" sz="675" spc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51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4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E555-41BD-4F42-BACD-260A3D2E8810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7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284285" y="3147963"/>
            <a:ext cx="5488615" cy="562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3600" b="1">
                <a:solidFill>
                  <a:schemeClr val="accent6">
                    <a:lumMod val="50000"/>
                  </a:schemeClr>
                </a:solidFill>
              </a:rPr>
              <a:t>4</a:t>
            </a:r>
            <a:r>
              <a:rPr lang="ko-KR" altLang="en-US" sz="3600" b="1" smtClean="0">
                <a:solidFill>
                  <a:schemeClr val="accent6">
                    <a:lumMod val="50000"/>
                  </a:schemeClr>
                </a:solidFill>
              </a:rPr>
              <a:t>장</a:t>
            </a:r>
            <a:r>
              <a:rPr lang="ko-KR" altLang="en-US" sz="3600" b="1" smtClean="0"/>
              <a:t> </a:t>
            </a:r>
            <a:r>
              <a:rPr lang="ko-KR" altLang="en-US" sz="3600" b="1" err="1" smtClean="0"/>
              <a:t>반복문</a:t>
            </a:r>
            <a:endParaRPr lang="en-US" altLang="ko-KR" sz="3600" b="1"/>
          </a:p>
        </p:txBody>
      </p:sp>
    </p:spTree>
    <p:extLst>
      <p:ext uri="{BB962C8B-B14F-4D97-AF65-F5344CB8AC3E}">
        <p14:creationId xmlns:p14="http://schemas.microsoft.com/office/powerpoint/2010/main" val="27031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548705" y="517586"/>
            <a:ext cx="11054621" cy="5777447"/>
            <a:chOff x="1043098" y="4462353"/>
            <a:chExt cx="6985286" cy="1832681"/>
          </a:xfrm>
        </p:grpSpPr>
        <p:sp>
          <p:nvSpPr>
            <p:cNvPr id="7" name="모서리가 둥근 직사각형 2"/>
            <p:cNvSpPr/>
            <p:nvPr/>
          </p:nvSpPr>
          <p:spPr>
            <a:xfrm>
              <a:off x="1043098" y="4462353"/>
              <a:ext cx="1081140" cy="183886"/>
            </a:xfrm>
            <a:custGeom>
              <a:avLst/>
              <a:gdLst>
                <a:gd name="connsiteX0" fmla="*/ 0 w 1080120"/>
                <a:gd name="connsiteY0" fmla="*/ 60008 h 360040"/>
                <a:gd name="connsiteX1" fmla="*/ 60008 w 1080120"/>
                <a:gd name="connsiteY1" fmla="*/ 0 h 360040"/>
                <a:gd name="connsiteX2" fmla="*/ 1020112 w 1080120"/>
                <a:gd name="connsiteY2" fmla="*/ 0 h 360040"/>
                <a:gd name="connsiteX3" fmla="*/ 1080120 w 1080120"/>
                <a:gd name="connsiteY3" fmla="*/ 60008 h 360040"/>
                <a:gd name="connsiteX4" fmla="*/ 1080120 w 1080120"/>
                <a:gd name="connsiteY4" fmla="*/ 300032 h 360040"/>
                <a:gd name="connsiteX5" fmla="*/ 1020112 w 1080120"/>
                <a:gd name="connsiteY5" fmla="*/ 360040 h 360040"/>
                <a:gd name="connsiteX6" fmla="*/ 60008 w 1080120"/>
                <a:gd name="connsiteY6" fmla="*/ 360040 h 360040"/>
                <a:gd name="connsiteX7" fmla="*/ 0 w 1080120"/>
                <a:gd name="connsiteY7" fmla="*/ 300032 h 360040"/>
                <a:gd name="connsiteX8" fmla="*/ 0 w 1080120"/>
                <a:gd name="connsiteY8" fmla="*/ 60008 h 360040"/>
                <a:gd name="connsiteX0" fmla="*/ 0 w 1080630"/>
                <a:gd name="connsiteY0" fmla="*/ 60008 h 360040"/>
                <a:gd name="connsiteX1" fmla="*/ 60008 w 1080630"/>
                <a:gd name="connsiteY1" fmla="*/ 0 h 360040"/>
                <a:gd name="connsiteX2" fmla="*/ 1020112 w 1080630"/>
                <a:gd name="connsiteY2" fmla="*/ 0 h 360040"/>
                <a:gd name="connsiteX3" fmla="*/ 1080120 w 1080630"/>
                <a:gd name="connsiteY3" fmla="*/ 60008 h 360040"/>
                <a:gd name="connsiteX4" fmla="*/ 1080120 w 1080630"/>
                <a:gd name="connsiteY4" fmla="*/ 300032 h 360040"/>
                <a:gd name="connsiteX5" fmla="*/ 1053449 w 1080630"/>
                <a:gd name="connsiteY5" fmla="*/ 360040 h 360040"/>
                <a:gd name="connsiteX6" fmla="*/ 60008 w 1080630"/>
                <a:gd name="connsiteY6" fmla="*/ 360040 h 360040"/>
                <a:gd name="connsiteX7" fmla="*/ 0 w 1080630"/>
                <a:gd name="connsiteY7" fmla="*/ 300032 h 360040"/>
                <a:gd name="connsiteX8" fmla="*/ 0 w 1080630"/>
                <a:gd name="connsiteY8" fmla="*/ 60008 h 360040"/>
                <a:gd name="connsiteX0" fmla="*/ 510 w 1081140"/>
                <a:gd name="connsiteY0" fmla="*/ 60008 h 362421"/>
                <a:gd name="connsiteX1" fmla="*/ 60518 w 1081140"/>
                <a:gd name="connsiteY1" fmla="*/ 0 h 362421"/>
                <a:gd name="connsiteX2" fmla="*/ 1020622 w 1081140"/>
                <a:gd name="connsiteY2" fmla="*/ 0 h 362421"/>
                <a:gd name="connsiteX3" fmla="*/ 1080630 w 1081140"/>
                <a:gd name="connsiteY3" fmla="*/ 60008 h 362421"/>
                <a:gd name="connsiteX4" fmla="*/ 1080630 w 1081140"/>
                <a:gd name="connsiteY4" fmla="*/ 300032 h 362421"/>
                <a:gd name="connsiteX5" fmla="*/ 1053959 w 1081140"/>
                <a:gd name="connsiteY5" fmla="*/ 360040 h 362421"/>
                <a:gd name="connsiteX6" fmla="*/ 27180 w 1081140"/>
                <a:gd name="connsiteY6" fmla="*/ 362421 h 362421"/>
                <a:gd name="connsiteX7" fmla="*/ 510 w 1081140"/>
                <a:gd name="connsiteY7" fmla="*/ 300032 h 362421"/>
                <a:gd name="connsiteX8" fmla="*/ 510 w 1081140"/>
                <a:gd name="connsiteY8" fmla="*/ 60008 h 36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1140" h="362421">
                  <a:moveTo>
                    <a:pt x="510" y="60008"/>
                  </a:moveTo>
                  <a:cubicBezTo>
                    <a:pt x="510" y="26866"/>
                    <a:pt x="27376" y="0"/>
                    <a:pt x="60518" y="0"/>
                  </a:cubicBezTo>
                  <a:lnTo>
                    <a:pt x="1020622" y="0"/>
                  </a:lnTo>
                  <a:cubicBezTo>
                    <a:pt x="1053764" y="0"/>
                    <a:pt x="1080630" y="26866"/>
                    <a:pt x="1080630" y="60008"/>
                  </a:cubicBezTo>
                  <a:lnTo>
                    <a:pt x="1080630" y="300032"/>
                  </a:lnTo>
                  <a:cubicBezTo>
                    <a:pt x="1080630" y="333174"/>
                    <a:pt x="1087101" y="360040"/>
                    <a:pt x="1053959" y="360040"/>
                  </a:cubicBezTo>
                  <a:lnTo>
                    <a:pt x="27180" y="362421"/>
                  </a:lnTo>
                  <a:cubicBezTo>
                    <a:pt x="-5962" y="362421"/>
                    <a:pt x="510" y="333174"/>
                    <a:pt x="510" y="300032"/>
                  </a:cubicBezTo>
                  <a:lnTo>
                    <a:pt x="510" y="60008"/>
                  </a:lnTo>
                  <a:close/>
                </a:path>
              </a:pathLst>
            </a:custGeom>
            <a:solidFill>
              <a:srgbClr val="598377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/>
            <p:cNvGrpSpPr/>
            <p:nvPr/>
          </p:nvGrpSpPr>
          <p:grpSpPr>
            <a:xfrm>
              <a:off x="1043608" y="4481073"/>
              <a:ext cx="6984776" cy="1813961"/>
              <a:chOff x="643260" y="2641203"/>
              <a:chExt cx="6984776" cy="1813961"/>
            </a:xfrm>
          </p:grpSpPr>
          <p:sp>
            <p:nvSpPr>
              <p:cNvPr id="9" name="직사각형 8"/>
              <p:cNvSpPr/>
              <p:nvPr/>
            </p:nvSpPr>
            <p:spPr>
              <a:xfrm>
                <a:off x="736015" y="2641203"/>
                <a:ext cx="894610" cy="146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2400" b="1">
                    <a:gradFill flip="none" rotWithShape="1">
                      <a:gsLst>
                        <a:gs pos="0">
                          <a:schemeClr val="tx2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16200000" scaled="1"/>
                      <a:tileRect/>
                    </a:gra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학습목표</a:t>
                </a:r>
                <a:endParaRPr lang="en-US" altLang="ko-KR" sz="2400" b="1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" name="직사각형 32"/>
              <p:cNvSpPr/>
              <p:nvPr/>
            </p:nvSpPr>
            <p:spPr>
              <a:xfrm>
                <a:off x="643260" y="2806369"/>
                <a:ext cx="6984776" cy="1648795"/>
              </a:xfrm>
              <a:prstGeom prst="roundRect">
                <a:avLst>
                  <a:gd name="adj" fmla="val 2291"/>
                </a:avLst>
              </a:prstGeom>
              <a:solidFill>
                <a:schemeClr val="bg1">
                  <a:lumMod val="95000"/>
                  <a:alpha val="32941"/>
                </a:schemeClr>
              </a:solidFill>
              <a:ln w="38100">
                <a:solidFill>
                  <a:srgbClr val="E4E4E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" name="직사각형 23"/>
              <p:cNvSpPr>
                <a:spLocks noChangeArrowheads="1"/>
              </p:cNvSpPr>
              <p:nvPr/>
            </p:nvSpPr>
            <p:spPr bwMode="auto">
              <a:xfrm>
                <a:off x="859284" y="2856461"/>
                <a:ext cx="6696744" cy="6809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/>
                  <a:t>for </a:t>
                </a:r>
                <a:r>
                  <a:rPr lang="ko-KR" altLang="en-US" sz="1600" err="1"/>
                  <a:t>반복문을</a:t>
                </a:r>
                <a:r>
                  <a:rPr lang="ko-KR" altLang="en-US" sz="1600"/>
                  <a:t> 정의하고 사용하는 방법을 익힌다</a:t>
                </a:r>
                <a:r>
                  <a:rPr lang="en-US" altLang="ko-KR" sz="160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/>
                  <a:t>for in </a:t>
                </a:r>
                <a:r>
                  <a:rPr lang="ko-KR" altLang="en-US" sz="1600"/>
                  <a:t>구문과 리스트에 대해 이해하고 활용할 수 있다</a:t>
                </a:r>
                <a:r>
                  <a:rPr lang="en-US" altLang="ko-KR" sz="160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/>
                  <a:t>이중 </a:t>
                </a:r>
                <a:r>
                  <a:rPr lang="en-US" altLang="ko-KR" sz="1600"/>
                  <a:t>for </a:t>
                </a:r>
                <a:r>
                  <a:rPr lang="ko-KR" altLang="en-US" sz="1600"/>
                  <a:t>루프에 대해 알아보고 활용한다</a:t>
                </a:r>
                <a:r>
                  <a:rPr lang="en-US" altLang="ko-KR" sz="160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/>
                  <a:t>while </a:t>
                </a:r>
                <a:r>
                  <a:rPr lang="ko-KR" altLang="en-US" sz="1600" err="1"/>
                  <a:t>반복문을</a:t>
                </a:r>
                <a:r>
                  <a:rPr lang="ko-KR" altLang="en-US" sz="1600"/>
                  <a:t> 정의하고 사용하는 방법을 익힌다</a:t>
                </a:r>
                <a:r>
                  <a:rPr lang="en-US" altLang="ko-KR" sz="160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/>
                  <a:t>for </a:t>
                </a:r>
                <a:r>
                  <a:rPr lang="ko-KR" altLang="en-US" sz="1600"/>
                  <a:t>문을 이용하여 작성한 </a:t>
                </a:r>
                <a:r>
                  <a:rPr lang="ko-KR" altLang="en-US" sz="1600" err="1"/>
                  <a:t>반복문을</a:t>
                </a:r>
                <a:r>
                  <a:rPr lang="ko-KR" altLang="en-US" sz="1600"/>
                  <a:t> </a:t>
                </a:r>
                <a:r>
                  <a:rPr lang="en-US" altLang="ko-KR" sz="1600"/>
                  <a:t>while </a:t>
                </a:r>
                <a:r>
                  <a:rPr lang="ko-KR" altLang="en-US" sz="1600"/>
                  <a:t>문으로 변경할 수 있다</a:t>
                </a:r>
                <a:r>
                  <a:rPr lang="en-US" altLang="ko-KR" sz="160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/>
                  <a:t>break</a:t>
                </a:r>
                <a:r>
                  <a:rPr lang="ko-KR" altLang="en-US" sz="1600"/>
                  <a:t>와 </a:t>
                </a:r>
                <a:r>
                  <a:rPr lang="en-US" altLang="ko-KR" sz="1600"/>
                  <a:t>continue</a:t>
                </a:r>
                <a:r>
                  <a:rPr lang="ko-KR" altLang="en-US" sz="1600"/>
                  <a:t>를 이용하여 </a:t>
                </a:r>
                <a:r>
                  <a:rPr lang="ko-KR" altLang="en-US" sz="1600" err="1"/>
                  <a:t>반복문을</a:t>
                </a:r>
                <a:r>
                  <a:rPr lang="ko-KR" altLang="en-US" sz="1600"/>
                  <a:t> 제어하는 방법을 익힌다</a:t>
                </a:r>
                <a:r>
                  <a:rPr lang="en-US" altLang="ko-KR" sz="1600"/>
                  <a:t>.</a:t>
                </a:r>
                <a:endParaRPr lang="en-US" altLang="ko-KR" sz="1600" spc="-10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2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특정한 작업을 여러 번 되풀이해서 수행하고 싶을 경우 사용</a:t>
            </a:r>
            <a:endParaRPr lang="en-US" altLang="ko-KR"/>
          </a:p>
          <a:p>
            <a:r>
              <a:rPr lang="ko-KR" altLang="en-US" err="1"/>
              <a:t>반복문에는</a:t>
            </a:r>
            <a:r>
              <a:rPr lang="ko-KR" altLang="en-US"/>
              <a:t> </a:t>
            </a:r>
            <a:r>
              <a:rPr lang="en-US" altLang="ko-KR"/>
              <a:t>for </a:t>
            </a:r>
            <a:r>
              <a:rPr lang="ko-KR" altLang="en-US"/>
              <a:t>문과 </a:t>
            </a:r>
            <a:r>
              <a:rPr lang="en-US" altLang="ko-KR"/>
              <a:t>while </a:t>
            </a:r>
            <a:r>
              <a:rPr lang="ko-KR" altLang="en-US"/>
              <a:t>문 두 종류가 있음</a:t>
            </a:r>
            <a:endParaRPr lang="en-US" altLang="ko-KR"/>
          </a:p>
          <a:p>
            <a:r>
              <a:rPr lang="en-US" altLang="ko-KR"/>
              <a:t>for </a:t>
            </a:r>
            <a:r>
              <a:rPr lang="ko-KR" altLang="en-US"/>
              <a:t>문은 반복의 횟수가 미리 정해져 있는 경우</a:t>
            </a:r>
            <a:r>
              <a:rPr lang="en-US" altLang="ko-KR"/>
              <a:t>, while </a:t>
            </a:r>
            <a:r>
              <a:rPr lang="ko-KR" altLang="en-US"/>
              <a:t>문은 반복 횟수는 알지 못하지만 반복하는 조건이 명확한 경우에 사용</a:t>
            </a:r>
          </a:p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20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2475334"/>
            <a:ext cx="9047565" cy="2767013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err="1"/>
              <a:t>반복문을</a:t>
            </a:r>
            <a:r>
              <a:rPr lang="ko-KR" altLang="en-US"/>
              <a:t> 사용하지 않고 </a:t>
            </a:r>
            <a:r>
              <a:rPr lang="en-US" altLang="ko-KR"/>
              <a:t>5</a:t>
            </a:r>
            <a:r>
              <a:rPr lang="ko-KR" altLang="en-US"/>
              <a:t>번 반복해 출력하려면 다음과 같이 </a:t>
            </a:r>
            <a:r>
              <a:rPr lang="en-US" altLang="ko-KR"/>
              <a:t>print() </a:t>
            </a:r>
            <a:r>
              <a:rPr lang="ko-KR" altLang="en-US"/>
              <a:t>함수를 </a:t>
            </a:r>
            <a:r>
              <a:rPr lang="en-US" altLang="ko-KR"/>
              <a:t>5</a:t>
            </a:r>
            <a:r>
              <a:rPr lang="ko-KR" altLang="en-US"/>
              <a:t>번에 걸쳐 사용</a:t>
            </a:r>
            <a:endParaRPr lang="en-US" altLang="ko-KR"/>
          </a:p>
          <a:p>
            <a:r>
              <a:rPr lang="en-US" altLang="ko-KR"/>
              <a:t>1000</a:t>
            </a:r>
            <a:r>
              <a:rPr lang="ko-KR" altLang="en-US"/>
              <a:t>회 반복 시 매우 비효율적임</a:t>
            </a:r>
          </a:p>
          <a:p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716D8F5-8D75-B974-8534-CD7E209A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646" y="3198261"/>
            <a:ext cx="55626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06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en-US" altLang="ko-KR"/>
              <a:t>range() </a:t>
            </a:r>
            <a:r>
              <a:rPr lang="ko-KR" altLang="en-US"/>
              <a:t>함수는 특정한 구간의 정수 </a:t>
            </a:r>
            <a:r>
              <a:rPr lang="ko-KR" altLang="en-US" b="1"/>
              <a:t>열</a:t>
            </a:r>
            <a:r>
              <a:rPr lang="en-US" altLang="ko-KR" b="1" baseline="30000">
                <a:solidFill>
                  <a:schemeClr val="accent5"/>
                </a:solidFill>
              </a:rPr>
              <a:t>sequence</a:t>
            </a:r>
            <a:r>
              <a:rPr lang="ko-KR" altLang="en-US"/>
              <a:t>을 반복해서 생성함</a:t>
            </a:r>
            <a:endParaRPr lang="en-US" altLang="ko-KR"/>
          </a:p>
          <a:p>
            <a:pPr fontAlgn="base"/>
            <a:r>
              <a:rPr lang="en-US" altLang="ko-KR"/>
              <a:t>for </a:t>
            </a:r>
            <a:r>
              <a:rPr lang="ko-KR" altLang="en-US"/>
              <a:t>문에서 순환을 위한 용도이다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1B6D85F-B151-9140-9046-7E145C30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382" y="2280414"/>
            <a:ext cx="8036984" cy="344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14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57" y="5335908"/>
            <a:ext cx="7083379" cy="80898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257" y="1128237"/>
            <a:ext cx="7217368" cy="3504837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2682439" y="4658559"/>
            <a:ext cx="6112207" cy="784327"/>
            <a:chOff x="2972262" y="5120568"/>
            <a:chExt cx="6112207" cy="784327"/>
          </a:xfrm>
        </p:grpSpPr>
        <p:sp>
          <p:nvSpPr>
            <p:cNvPr id="20" name="TextBox 19"/>
            <p:cNvSpPr txBox="1"/>
            <p:nvPr/>
          </p:nvSpPr>
          <p:spPr>
            <a:xfrm>
              <a:off x="3649968" y="5120568"/>
              <a:ext cx="5434501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600"/>
                <a:t>10</a:t>
              </a:r>
              <a:r>
                <a:rPr lang="ko-KR" altLang="en-US" sz="1600"/>
                <a:t>번 반복 시 </a:t>
              </a:r>
              <a:r>
                <a:rPr lang="en-US" altLang="ko-KR" sz="1600"/>
                <a:t>range() </a:t>
              </a:r>
              <a:r>
                <a:rPr lang="ko-KR" altLang="en-US" sz="1600"/>
                <a:t>괄호 내의 값만 </a:t>
              </a:r>
              <a:r>
                <a:rPr lang="en-US" altLang="ko-KR" sz="1600"/>
                <a:t>10</a:t>
              </a:r>
              <a:r>
                <a:rPr lang="ko-KR" altLang="en-US" sz="1600"/>
                <a:t>으로 고쳐주면 됨</a:t>
              </a:r>
            </a:p>
          </p:txBody>
        </p:sp>
        <p:cxnSp>
          <p:nvCxnSpPr>
            <p:cNvPr id="21" name="직선 화살표 연결선 20"/>
            <p:cNvCxnSpPr/>
            <p:nvPr/>
          </p:nvCxnSpPr>
          <p:spPr>
            <a:xfrm flipH="1">
              <a:off x="2972262" y="5303669"/>
              <a:ext cx="677706" cy="60122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제목 2">
            <a:extLst>
              <a:ext uri="{FF2B5EF4-FFF2-40B4-BE49-F238E27FC236}">
                <a16:creationId xmlns:a16="http://schemas.microsoft.com/office/drawing/2014/main" id="{6F4CF857-C456-4D7A-F51B-80EA67AC6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53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3E91359-C4D8-3EB4-106A-FCF77185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104300"/>
            <a:ext cx="10015538" cy="29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71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29" y="1128237"/>
            <a:ext cx="5351472" cy="482321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474F61-D4C4-AEB9-CE25-0829F1A17BE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678707" y="1128237"/>
            <a:ext cx="4403308" cy="49179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2000"/>
              <a:t>반복문에서 사용되는 변수는 </a:t>
            </a:r>
            <a:r>
              <a:rPr lang="en-US" altLang="ko-KR" sz="2000" err="1"/>
              <a:t>i</a:t>
            </a:r>
            <a:r>
              <a:rPr lang="en-US" altLang="ko-KR" sz="2000"/>
              <a:t>, j, k, l,...</a:t>
            </a:r>
            <a:r>
              <a:rPr lang="ko-KR" altLang="en-US" sz="2000"/>
              <a:t>와 같은 알파벳 문자를 할당</a:t>
            </a:r>
          </a:p>
          <a:p>
            <a:pPr>
              <a:lnSpc>
                <a:spcPct val="150000"/>
              </a:lnSpc>
            </a:pPr>
            <a:r>
              <a:rPr lang="ko-KR" altLang="en-US" sz="2000"/>
              <a:t>이러한 변수를 </a:t>
            </a:r>
            <a:r>
              <a:rPr lang="en-US" altLang="ko-KR" sz="2000"/>
              <a:t>C</a:t>
            </a:r>
            <a:r>
              <a:rPr lang="ko-KR" altLang="en-US" sz="2000"/>
              <a:t>나 </a:t>
            </a:r>
            <a:r>
              <a:rPr lang="en-US" altLang="ko-KR" sz="2000"/>
              <a:t>Java</a:t>
            </a:r>
            <a:r>
              <a:rPr lang="ko-KR" altLang="en-US" sz="2000"/>
              <a:t>에서는 </a:t>
            </a:r>
            <a:r>
              <a:rPr lang="ko-KR" altLang="en-US" sz="2000" b="1"/>
              <a:t>루프</a:t>
            </a:r>
            <a:r>
              <a:rPr lang="en-US" altLang="ko-KR" sz="2000" b="1" baseline="30000">
                <a:solidFill>
                  <a:schemeClr val="accent5"/>
                </a:solidFill>
              </a:rPr>
              <a:t>loop</a:t>
            </a:r>
            <a:r>
              <a:rPr lang="ko-KR" altLang="en-US" sz="2000" b="1"/>
              <a:t> 제어변수</a:t>
            </a:r>
            <a:r>
              <a:rPr lang="ko-KR" altLang="en-US" sz="2000"/>
              <a:t>라고 함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54A234F-4675-1B67-A052-C02B5FC15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25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3E91359-C4D8-3EB4-106A-FCF77185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706231" y="1128713"/>
            <a:ext cx="6736675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8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range() </a:t>
            </a:r>
            <a:r>
              <a:rPr lang="ko-KR" altLang="en-US"/>
              <a:t>함수의 사용법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C5CD59-5397-D64B-DBE6-06BDB9F228B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range(0, 5)</a:t>
            </a:r>
            <a:r>
              <a:rPr lang="ko-KR" altLang="en-US"/>
              <a:t>와 같이 주어진 시작 값에서 마지막 값 사이의 연속적인 정수들을 생성할 수도 있으며</a:t>
            </a:r>
            <a:r>
              <a:rPr lang="en-US" altLang="ko-KR"/>
              <a:t>, range(0, 5, 2)</a:t>
            </a:r>
            <a:r>
              <a:rPr lang="ko-KR" altLang="en-US"/>
              <a:t>와 같이 마지막에 증가치 값을 넣어 줄 수도 있다</a:t>
            </a:r>
            <a:r>
              <a:rPr lang="en-US" altLang="ko-KR"/>
              <a:t>. </a:t>
            </a:r>
            <a:endParaRPr lang="ko-KR" altLang="en-US"/>
          </a:p>
          <a:p>
            <a:r>
              <a:rPr lang="en-US" altLang="ko-KR"/>
              <a:t>range(0, 5, 1)</a:t>
            </a:r>
            <a:r>
              <a:rPr lang="ko-KR" altLang="en-US"/>
              <a:t>과 같이 호출할 경우 마지막의 </a:t>
            </a:r>
            <a:r>
              <a:rPr lang="en-US" altLang="ko-KR"/>
              <a:t>1</a:t>
            </a:r>
            <a:r>
              <a:rPr lang="ko-KR" altLang="en-US"/>
              <a:t>은 디폴트 간격</a:t>
            </a:r>
            <a:r>
              <a:rPr lang="en-US" altLang="ko-KR"/>
              <a:t>(step) </a:t>
            </a:r>
            <a:r>
              <a:rPr lang="ko-KR" altLang="en-US"/>
              <a:t>값으로 </a:t>
            </a:r>
            <a:r>
              <a:rPr lang="en-US" altLang="ko-KR"/>
              <a:t>1</a:t>
            </a:r>
            <a:r>
              <a:rPr lang="ko-KR" altLang="en-US"/>
              <a:t>씩 더하면서 값을 변경하라는 의미</a:t>
            </a:r>
          </a:p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3088"/>
          <a:stretch/>
        </p:blipFill>
        <p:spPr>
          <a:xfrm>
            <a:off x="2518166" y="3496444"/>
            <a:ext cx="6321034" cy="212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710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3E91359-C4D8-3EB4-106A-FCF77185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700583"/>
            <a:ext cx="10015538" cy="177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12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3E91359-C4D8-3EB4-106A-FCF77185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54872F5-E8E9-26D8-075F-0607859E0757}"/>
              </a:ext>
            </a:extLst>
          </p:cNvPr>
          <p:cNvGrpSpPr/>
          <p:nvPr/>
        </p:nvGrpSpPr>
        <p:grpSpPr>
          <a:xfrm>
            <a:off x="2279317" y="1019895"/>
            <a:ext cx="7871361" cy="5741632"/>
            <a:chOff x="1800733" y="253034"/>
            <a:chExt cx="8764743" cy="6146848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D6EC2DF5-3C98-255A-BFE4-91C593F57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0733" y="253034"/>
              <a:ext cx="8764743" cy="4496353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D18D90FE-DD60-CE83-A340-402A9C098E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208"/>
            <a:stretch/>
          </p:blipFill>
          <p:spPr>
            <a:xfrm>
              <a:off x="1800733" y="4622799"/>
              <a:ext cx="8764743" cy="17770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5074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14140"/>
          <a:stretch/>
        </p:blipFill>
        <p:spPr>
          <a:xfrm>
            <a:off x="2866197" y="2130938"/>
            <a:ext cx="6459606" cy="241644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range(5)</a:t>
            </a:r>
            <a:r>
              <a:rPr lang="ko-KR" altLang="en-US"/>
              <a:t>의 시작 값과 종료 값</a:t>
            </a:r>
            <a:r>
              <a:rPr lang="en-US" altLang="ko-KR"/>
              <a:t>, </a:t>
            </a:r>
            <a:r>
              <a:rPr lang="ko-KR" altLang="en-US"/>
              <a:t>그리고 반환되는 열</a:t>
            </a:r>
          </a:p>
          <a:p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FD89A54-2585-9FC5-AB23-488791E9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328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range(2, 5)</a:t>
            </a:r>
            <a:r>
              <a:rPr lang="ko-KR" altLang="en-US"/>
              <a:t>는 </a:t>
            </a:r>
            <a:r>
              <a:rPr lang="en-US" altLang="ko-KR"/>
              <a:t>2 </a:t>
            </a:r>
            <a:r>
              <a:rPr lang="ko-KR" altLang="en-US"/>
              <a:t>이상 </a:t>
            </a:r>
            <a:r>
              <a:rPr lang="en-US" altLang="ko-KR"/>
              <a:t>5 </a:t>
            </a:r>
            <a:r>
              <a:rPr lang="ko-KR" altLang="en-US"/>
              <a:t>미만의 정수열 </a:t>
            </a:r>
            <a:r>
              <a:rPr lang="en-US" altLang="ko-KR"/>
              <a:t>[2, 3, 4]</a:t>
            </a:r>
            <a:r>
              <a:rPr lang="ko-KR" altLang="en-US"/>
              <a:t>를 생성하며</a:t>
            </a:r>
            <a:r>
              <a:rPr lang="en-US" altLang="ko-KR"/>
              <a:t>, range(0, 5, 2)</a:t>
            </a:r>
            <a:r>
              <a:rPr lang="ko-KR" altLang="en-US"/>
              <a:t>는 </a:t>
            </a:r>
            <a:r>
              <a:rPr lang="en-US" altLang="ko-KR"/>
              <a:t>0</a:t>
            </a:r>
            <a:r>
              <a:rPr lang="ko-KR" altLang="en-US"/>
              <a:t>에서 </a:t>
            </a:r>
            <a:r>
              <a:rPr lang="en-US" altLang="ko-KR"/>
              <a:t>5</a:t>
            </a:r>
            <a:r>
              <a:rPr lang="ko-KR" altLang="en-US"/>
              <a:t>미만의 정수들을 생성할 때 </a:t>
            </a:r>
            <a:r>
              <a:rPr lang="en-US" altLang="ko-KR"/>
              <a:t>2</a:t>
            </a:r>
            <a:r>
              <a:rPr lang="ko-KR" altLang="en-US"/>
              <a:t>씩 증가시키므로 </a:t>
            </a:r>
            <a:r>
              <a:rPr lang="en-US" altLang="ko-KR"/>
              <a:t>[0, 2, 4]</a:t>
            </a:r>
            <a:r>
              <a:rPr lang="ko-KR" altLang="en-US"/>
              <a:t>의 정수를 생성</a:t>
            </a:r>
          </a:p>
          <a:p>
            <a:r>
              <a:rPr lang="ko-KR" altLang="en-US"/>
              <a:t>양수 간격 값을 사용할 때는 </a:t>
            </a:r>
            <a:r>
              <a:rPr lang="en-US" altLang="ko-KR"/>
              <a:t>range(0, 5, 1)</a:t>
            </a:r>
            <a:r>
              <a:rPr lang="ko-KR" altLang="en-US"/>
              <a:t>과 같이 반드시 시작 값이 종료 값보다 작아야 하며</a:t>
            </a:r>
            <a:r>
              <a:rPr lang="en-US" altLang="ko-KR"/>
              <a:t>, </a:t>
            </a:r>
            <a:r>
              <a:rPr lang="ko-KR" altLang="en-US"/>
              <a:t>음수 간격 값을 사용할 때는 </a:t>
            </a:r>
            <a:r>
              <a:rPr lang="en-US" altLang="ko-KR"/>
              <a:t>range(-2, -10, -2)</a:t>
            </a:r>
            <a:r>
              <a:rPr lang="ko-KR" altLang="en-US"/>
              <a:t>와 같이 시작 값이 반드시 종료 값보다 커야 한다</a:t>
            </a:r>
            <a:r>
              <a:rPr lang="en-US" altLang="ko-KR"/>
              <a:t>.</a:t>
            </a:r>
            <a:endParaRPr lang="ko-KR" altLang="en-US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FD89A54-2585-9FC5-AB23-488791E9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842" y="3232958"/>
            <a:ext cx="6346111" cy="23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044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2FD89A54-2585-9FC5-AB23-488791E9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" name="내용 개체 틀 9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238896" y="1128713"/>
            <a:ext cx="9671346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209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7431741" y="1128237"/>
            <a:ext cx="3650273" cy="4917999"/>
          </a:xfrm>
        </p:spPr>
        <p:txBody>
          <a:bodyPr/>
          <a:lstStyle/>
          <a:p>
            <a:r>
              <a:rPr lang="en-US" altLang="ko-KR"/>
              <a:t>print(</a:t>
            </a:r>
            <a:r>
              <a:rPr lang="en-US" altLang="ko-KR" err="1"/>
              <a:t>i</a:t>
            </a:r>
            <a:r>
              <a:rPr lang="en-US" altLang="ko-KR"/>
              <a:t>)</a:t>
            </a:r>
            <a:r>
              <a:rPr lang="en-US" altLang="ko-KR" err="1"/>
              <a:t>에서</a:t>
            </a:r>
            <a:r>
              <a:rPr lang="en-US" altLang="ko-KR"/>
              <a:t> </a:t>
            </a:r>
            <a:r>
              <a:rPr lang="en-US" altLang="ko-KR" err="1"/>
              <a:t>수를</a:t>
            </a:r>
            <a:r>
              <a:rPr lang="en-US" altLang="ko-KR"/>
              <a:t> </a:t>
            </a:r>
            <a:r>
              <a:rPr lang="en-US" altLang="ko-KR" err="1"/>
              <a:t>출력한</a:t>
            </a:r>
            <a:r>
              <a:rPr lang="en-US" altLang="ko-KR"/>
              <a:t> 후 </a:t>
            </a:r>
            <a:r>
              <a:rPr lang="en-US" altLang="ko-KR" err="1"/>
              <a:t>매번</a:t>
            </a:r>
            <a:r>
              <a:rPr lang="en-US" altLang="ko-KR"/>
              <a:t> 줄 </a:t>
            </a:r>
            <a:r>
              <a:rPr lang="en-US" altLang="ko-KR" err="1"/>
              <a:t>바꿈을</a:t>
            </a:r>
            <a:r>
              <a:rPr lang="en-US" altLang="ko-KR"/>
              <a:t> </a:t>
            </a:r>
            <a:r>
              <a:rPr lang="en-US" altLang="ko-KR" err="1"/>
              <a:t>하므로</a:t>
            </a:r>
            <a:r>
              <a:rPr lang="en-US" altLang="ko-KR"/>
              <a:t> </a:t>
            </a:r>
            <a:r>
              <a:rPr lang="en-US" altLang="ko-KR" err="1"/>
              <a:t>결과를</a:t>
            </a:r>
            <a:r>
              <a:rPr lang="en-US" altLang="ko-KR"/>
              <a:t> </a:t>
            </a:r>
            <a:r>
              <a:rPr lang="en-US" altLang="ko-KR" err="1"/>
              <a:t>보는</a:t>
            </a:r>
            <a:r>
              <a:rPr lang="en-US" altLang="ko-KR"/>
              <a:t> </a:t>
            </a:r>
            <a:r>
              <a:rPr lang="en-US" altLang="ko-KR" err="1"/>
              <a:t>것이</a:t>
            </a:r>
            <a:r>
              <a:rPr lang="en-US" altLang="ko-KR"/>
              <a:t> </a:t>
            </a:r>
            <a:r>
              <a:rPr lang="en-US" altLang="ko-KR" err="1"/>
              <a:t>불편</a:t>
            </a:r>
            <a:r>
              <a:rPr lang="ko-KR" altLang="en-US"/>
              <a:t>함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아래와 같은 방법을 사용하여 디폴트 문자를 공백문자로 변경</a:t>
            </a:r>
          </a:p>
          <a:p>
            <a:pPr marL="0" indent="0">
              <a:buNone/>
            </a:pPr>
            <a:endParaRPr lang="en-US" altLang="ko-KR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2FD89A54-2585-9FC5-AB23-488791E9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3" y="1255366"/>
            <a:ext cx="6389105" cy="493626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848" y="3997200"/>
            <a:ext cx="2697387" cy="718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81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2FD89A54-2585-9FC5-AB23-488791E9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158239"/>
            <a:ext cx="10015538" cy="485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12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2FD89A54-2585-9FC5-AB23-488791E9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39CE4F2-2EC8-49E8-A4FD-D53800BDF949}"/>
              </a:ext>
            </a:extLst>
          </p:cNvPr>
          <p:cNvGrpSpPr/>
          <p:nvPr/>
        </p:nvGrpSpPr>
        <p:grpSpPr>
          <a:xfrm>
            <a:off x="1266064" y="1117121"/>
            <a:ext cx="9228564" cy="5401125"/>
            <a:chOff x="1176911" y="647792"/>
            <a:chExt cx="9678102" cy="5573305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6911" y="647792"/>
              <a:ext cx="9678102" cy="401371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6912" y="4661511"/>
              <a:ext cx="9678101" cy="15595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474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2FD89A54-2585-9FC5-AB23-488791E9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BE4B4D1-AC3E-9429-5530-46A255F70DF6}"/>
              </a:ext>
            </a:extLst>
          </p:cNvPr>
          <p:cNvGrpSpPr/>
          <p:nvPr/>
        </p:nvGrpSpPr>
        <p:grpSpPr>
          <a:xfrm>
            <a:off x="1292051" y="1014985"/>
            <a:ext cx="8472734" cy="5763320"/>
            <a:chOff x="758363" y="335942"/>
            <a:chExt cx="8000832" cy="5970480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2"/>
            <a:srcRect b="28184"/>
            <a:stretch/>
          </p:blipFill>
          <p:spPr>
            <a:xfrm>
              <a:off x="758363" y="335942"/>
              <a:ext cx="7994939" cy="4477128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2"/>
            <a:srcRect t="75930"/>
            <a:stretch/>
          </p:blipFill>
          <p:spPr>
            <a:xfrm>
              <a:off x="758363" y="4804757"/>
              <a:ext cx="8000832" cy="15016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0059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258" y="2333699"/>
            <a:ext cx="8574741" cy="349026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4.1.1 </a:t>
            </a:r>
            <a:r>
              <a:rPr lang="ko-KR" altLang="en-US"/>
              <a:t>반복문의 활용</a:t>
            </a:r>
          </a:p>
          <a:p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730AB9-0163-AD81-4781-52790411C18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에서 </a:t>
            </a:r>
            <a:r>
              <a:rPr lang="en-US" altLang="ko-KR"/>
              <a:t>10</a:t>
            </a:r>
            <a:r>
              <a:rPr lang="ko-KR" altLang="en-US"/>
              <a:t>까지의 정수의 합 구하기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157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37C8EF8-AF37-9C44-6452-6B4242C60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499887"/>
            <a:ext cx="10015538" cy="217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39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272E3092-7EFF-76C1-93BC-D0146DCB3621}"/>
              </a:ext>
            </a:extLst>
          </p:cNvPr>
          <p:cNvGrpSpPr/>
          <p:nvPr/>
        </p:nvGrpSpPr>
        <p:grpSpPr>
          <a:xfrm>
            <a:off x="904883" y="1228165"/>
            <a:ext cx="9342640" cy="4877119"/>
            <a:chOff x="365852" y="303574"/>
            <a:chExt cx="11954439" cy="624055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852" y="303574"/>
              <a:ext cx="7343679" cy="6240551"/>
            </a:xfrm>
            <a:prstGeom prst="rect">
              <a:avLst/>
            </a:prstGeom>
          </p:spPr>
        </p:pic>
        <p:grpSp>
          <p:nvGrpSpPr>
            <p:cNvPr id="8" name="그룹 7"/>
            <p:cNvGrpSpPr/>
            <p:nvPr/>
          </p:nvGrpSpPr>
          <p:grpSpPr>
            <a:xfrm>
              <a:off x="5559141" y="2643653"/>
              <a:ext cx="6385820" cy="780197"/>
              <a:chOff x="2980676" y="4987465"/>
              <a:chExt cx="6385820" cy="780197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3649967" y="4987465"/>
                <a:ext cx="5716529" cy="4331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/>
                  <a:t>이전 연산의 결과가 누적되어 더해지게 된다</a:t>
                </a:r>
                <a:r>
                  <a:rPr lang="en-US" altLang="ko-KR" sz="1600"/>
                  <a:t>.</a:t>
                </a:r>
                <a:endParaRPr lang="ko-KR" altLang="en-US" sz="1600"/>
              </a:p>
            </p:txBody>
          </p:sp>
          <p:cxnSp>
            <p:nvCxnSpPr>
              <p:cNvPr id="10" name="직선 화살표 연결선 9"/>
              <p:cNvCxnSpPr/>
              <p:nvPr/>
            </p:nvCxnSpPr>
            <p:spPr>
              <a:xfrm flipH="1">
                <a:off x="2980676" y="5303669"/>
                <a:ext cx="669291" cy="46399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10"/>
            <p:cNvGrpSpPr/>
            <p:nvPr/>
          </p:nvGrpSpPr>
          <p:grpSpPr>
            <a:xfrm>
              <a:off x="5726885" y="3087166"/>
              <a:ext cx="6385825" cy="712177"/>
              <a:chOff x="2980676" y="5055485"/>
              <a:chExt cx="6385825" cy="712177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3649969" y="5055485"/>
                <a:ext cx="5716532" cy="4331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/>
                  <a:t>이전 연산의 결과가 누적되어 더해지게 된다</a:t>
                </a:r>
                <a:r>
                  <a:rPr lang="en-US" altLang="ko-KR" sz="1600"/>
                  <a:t>.</a:t>
                </a:r>
                <a:endParaRPr lang="ko-KR" altLang="en-US" sz="1600"/>
              </a:p>
            </p:txBody>
          </p:sp>
          <p:cxnSp>
            <p:nvCxnSpPr>
              <p:cNvPr id="13" name="직선 화살표 연결선 12"/>
              <p:cNvCxnSpPr/>
              <p:nvPr/>
            </p:nvCxnSpPr>
            <p:spPr>
              <a:xfrm flipH="1">
                <a:off x="2980676" y="5303669"/>
                <a:ext cx="669291" cy="46399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그룹 13"/>
            <p:cNvGrpSpPr/>
            <p:nvPr/>
          </p:nvGrpSpPr>
          <p:grpSpPr>
            <a:xfrm>
              <a:off x="5934466" y="3530854"/>
              <a:ext cx="6385825" cy="692063"/>
              <a:chOff x="2980676" y="5075599"/>
              <a:chExt cx="6385825" cy="692063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3649969" y="5075599"/>
                <a:ext cx="5716532" cy="4331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/>
                  <a:t>이전 연산의 결과가 누적되어 더해지게 된다</a:t>
                </a:r>
                <a:r>
                  <a:rPr lang="en-US" altLang="ko-KR" sz="1600"/>
                  <a:t>.</a:t>
                </a:r>
                <a:endParaRPr lang="ko-KR" altLang="en-US" sz="1600"/>
              </a:p>
            </p:txBody>
          </p:sp>
          <p:cxnSp>
            <p:nvCxnSpPr>
              <p:cNvPr id="16" name="직선 화살표 연결선 15"/>
              <p:cNvCxnSpPr/>
              <p:nvPr/>
            </p:nvCxnSpPr>
            <p:spPr>
              <a:xfrm flipH="1">
                <a:off x="2980676" y="5303669"/>
                <a:ext cx="669291" cy="46399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/>
            <p:cNvSpPr txBox="1"/>
            <p:nvPr/>
          </p:nvSpPr>
          <p:spPr>
            <a:xfrm>
              <a:off x="8068448" y="4017261"/>
              <a:ext cx="387940" cy="4113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>
                <a:defRPr sz="2000"/>
              </a:lvl1pPr>
            </a:lstStyle>
            <a:p>
              <a:r>
                <a:rPr lang="en-US" altLang="ko-KR" sz="1600"/>
                <a:t>...</a:t>
              </a:r>
              <a:endParaRPr lang="ko-KR" altLang="en-US" sz="1600"/>
            </a:p>
          </p:txBody>
        </p:sp>
      </p:grpSp>
      <p:sp>
        <p:nvSpPr>
          <p:cNvPr id="3" name="제목 2">
            <a:extLst>
              <a:ext uri="{FF2B5EF4-FFF2-40B4-BE49-F238E27FC236}">
                <a16:creationId xmlns:a16="http://schemas.microsoft.com/office/drawing/2014/main" id="{0E9EBEF9-DF67-2042-68C2-95576C4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616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DEEAA34-480B-3772-E42B-BD6A2B14BAA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코드 </a:t>
            </a:r>
            <a:r>
              <a:rPr lang="en-US" altLang="ko-KR"/>
              <a:t>for_sum_ex1.py</a:t>
            </a:r>
            <a:r>
              <a:rPr lang="ko-KR" altLang="en-US"/>
              <a:t>에 비해 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전체 수행과정을 살펴볼 수 있어 이해하기 편하다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2265E4B-6026-D74E-8B4C-209C36AFC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414" y="1329213"/>
            <a:ext cx="4038600" cy="44005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14" y="1281953"/>
            <a:ext cx="5297134" cy="274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61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A81C5-1EB1-41FB-F109-708FADEC5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525332"/>
            <a:ext cx="10015538" cy="41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61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r="7455"/>
          <a:stretch/>
        </p:blipFill>
        <p:spPr>
          <a:xfrm>
            <a:off x="1109986" y="1700808"/>
            <a:ext cx="6133322" cy="4235814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AC3F5A-CB05-AAD9-CD83-1F998DE91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/>
              <a:t>임의의 양의 정수를 </a:t>
            </a:r>
            <a:r>
              <a:rPr lang="ko-KR" altLang="en-US" sz="2400" err="1"/>
              <a:t>입력받아</a:t>
            </a:r>
            <a:r>
              <a:rPr lang="ko-KR" altLang="en-US" sz="2400"/>
              <a:t> </a:t>
            </a:r>
            <a:r>
              <a:rPr lang="en-US" altLang="ko-KR" sz="2400"/>
              <a:t>1</a:t>
            </a:r>
            <a:r>
              <a:rPr lang="ko-KR" altLang="en-US" sz="2400"/>
              <a:t>부터 </a:t>
            </a:r>
            <a:r>
              <a:rPr lang="en-US" altLang="ko-KR" sz="2400"/>
              <a:t>n</a:t>
            </a:r>
            <a:r>
              <a:rPr lang="ko-KR" altLang="en-US" sz="2400"/>
              <a:t>까지의 정수 출력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B25092-A194-6D2E-AAB1-2A491D3B233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897906" y="1700809"/>
            <a:ext cx="3184108" cy="4345428"/>
          </a:xfrm>
        </p:spPr>
        <p:txBody>
          <a:bodyPr/>
          <a:lstStyle/>
          <a:p>
            <a:pPr fontAlgn="base">
              <a:lnSpc>
                <a:spcPct val="130000"/>
              </a:lnSpc>
            </a:pPr>
            <a:r>
              <a:rPr lang="en-US" altLang="ko-KR"/>
              <a:t>s</a:t>
            </a:r>
            <a:r>
              <a:rPr lang="en-US" altLang="ko-KR" sz="2000" smtClean="0"/>
              <a:t> = s + (i+1) </a:t>
            </a:r>
            <a:r>
              <a:rPr lang="ko-KR" altLang="en-US" sz="2000" smtClean="0"/>
              <a:t>은 매번 루프 </a:t>
            </a:r>
            <a:r>
              <a:rPr lang="ko-KR" altLang="en-US" sz="2000" err="1" smtClean="0"/>
              <a:t>실행때</a:t>
            </a:r>
            <a:r>
              <a:rPr lang="ko-KR" altLang="en-US" sz="2000" smtClean="0"/>
              <a:t> 마다 </a:t>
            </a:r>
            <a:r>
              <a:rPr lang="en-US" altLang="ko-KR" sz="2000" smtClean="0"/>
              <a:t>(</a:t>
            </a:r>
            <a:r>
              <a:rPr lang="en-US" altLang="ko-KR" err="1" smtClean="0"/>
              <a:t>i</a:t>
            </a:r>
            <a:r>
              <a:rPr lang="en-US" altLang="ko-KR" sz="2000" smtClean="0"/>
              <a:t> + 1)</a:t>
            </a:r>
            <a:r>
              <a:rPr lang="ko-KR" altLang="en-US" sz="2000" smtClean="0"/>
              <a:t>을 수행함</a:t>
            </a:r>
            <a:r>
              <a:rPr lang="en-US" altLang="ko-KR" sz="2000" smtClean="0"/>
              <a:t>, </a:t>
            </a:r>
            <a:r>
              <a:rPr lang="ko-KR" altLang="en-US" sz="2000" smtClean="0"/>
              <a:t>코드도 난해함</a:t>
            </a:r>
            <a:endParaRPr lang="en-US" altLang="ko-KR" sz="2000" smtClean="0"/>
          </a:p>
          <a:p>
            <a:pPr fontAlgn="base">
              <a:lnSpc>
                <a:spcPct val="130000"/>
              </a:lnSpc>
            </a:pPr>
            <a:r>
              <a:rPr lang="ko-KR" altLang="en-US" sz="2000" smtClean="0"/>
              <a:t>여러 </a:t>
            </a:r>
            <a:r>
              <a:rPr lang="ko-KR" altLang="en-US" sz="2000"/>
              <a:t>가지 방식 중에서 가장 </a:t>
            </a:r>
            <a:r>
              <a:rPr lang="ko-KR" altLang="en-US" sz="2000" b="1"/>
              <a:t>이해하기 쉽고</a:t>
            </a:r>
            <a:r>
              <a:rPr lang="ko-KR" altLang="en-US" sz="2000"/>
              <a:t> 다른 사람이 </a:t>
            </a:r>
            <a:r>
              <a:rPr lang="ko-KR" altLang="en-US" sz="2000" b="1"/>
              <a:t>읽기 좋은 코딩 방식</a:t>
            </a:r>
            <a:r>
              <a:rPr lang="ko-KR" altLang="en-US" sz="2000"/>
              <a:t>을 사용</a:t>
            </a:r>
          </a:p>
        </p:txBody>
      </p:sp>
    </p:spTree>
    <p:extLst>
      <p:ext uri="{BB962C8B-B14F-4D97-AF65-F5344CB8AC3E}">
        <p14:creationId xmlns:p14="http://schemas.microsoft.com/office/powerpoint/2010/main" val="3211187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AC3F5A-CB05-AAD9-CD83-1F998DE91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/>
              <a:t>임의의 양의 정수를 </a:t>
            </a:r>
            <a:r>
              <a:rPr lang="ko-KR" altLang="en-US" sz="2400" err="1"/>
              <a:t>입력받아</a:t>
            </a:r>
            <a:r>
              <a:rPr lang="ko-KR" altLang="en-US" sz="2400"/>
              <a:t> </a:t>
            </a:r>
            <a:r>
              <a:rPr lang="en-US" altLang="ko-KR" sz="2400"/>
              <a:t>1</a:t>
            </a:r>
            <a:r>
              <a:rPr lang="ko-KR" altLang="en-US" sz="2400"/>
              <a:t>부터 </a:t>
            </a:r>
            <a:r>
              <a:rPr lang="en-US" altLang="ko-KR" sz="2400"/>
              <a:t>n</a:t>
            </a:r>
            <a:r>
              <a:rPr lang="ko-KR" altLang="en-US" sz="2400"/>
              <a:t>까지의 정수 출력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B25092-A194-6D2E-AAB1-2A491D3B233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897906" y="1700809"/>
            <a:ext cx="3184108" cy="4345428"/>
          </a:xfrm>
        </p:spPr>
        <p:txBody>
          <a:bodyPr/>
          <a:lstStyle/>
          <a:p>
            <a:r>
              <a:rPr lang="en-US" altLang="ko-KR"/>
              <a:t>range() </a:t>
            </a:r>
            <a:r>
              <a:rPr lang="ko-KR" altLang="en-US"/>
              <a:t>함수의 시작 값을 </a:t>
            </a:r>
            <a:r>
              <a:rPr lang="en-US" altLang="ko-KR"/>
              <a:t>1</a:t>
            </a:r>
            <a:r>
              <a:rPr lang="ko-KR" altLang="en-US"/>
              <a:t>로 하고 마지막 값을 </a:t>
            </a:r>
            <a:r>
              <a:rPr lang="en-US" altLang="ko-KR"/>
              <a:t>n+1</a:t>
            </a:r>
            <a:r>
              <a:rPr lang="ko-KR" altLang="en-US"/>
              <a:t>로 하여 </a:t>
            </a:r>
            <a:r>
              <a:rPr lang="en-US" altLang="ko-KR"/>
              <a:t>1</a:t>
            </a:r>
            <a:r>
              <a:rPr lang="ko-KR" altLang="en-US"/>
              <a:t>부터 </a:t>
            </a:r>
            <a:r>
              <a:rPr lang="en-US" altLang="ko-KR"/>
              <a:t>n</a:t>
            </a:r>
            <a:r>
              <a:rPr lang="ko-KR" altLang="en-US"/>
              <a:t>까지의 정수를 </a:t>
            </a:r>
            <a:r>
              <a:rPr lang="ko-KR" altLang="en-US" smtClean="0"/>
              <a:t>더하기</a:t>
            </a:r>
            <a:endParaRPr lang="en-US" altLang="ko-KR" smtClean="0"/>
          </a:p>
          <a:p>
            <a:r>
              <a:rPr lang="en-US" altLang="ko-KR"/>
              <a:t>s</a:t>
            </a:r>
            <a:r>
              <a:rPr lang="en-US" altLang="ko-KR" smtClean="0"/>
              <a:t> = s + i </a:t>
            </a:r>
            <a:r>
              <a:rPr lang="ko-KR" altLang="en-US" smtClean="0"/>
              <a:t>를 사용하여 이해하기 편리함</a:t>
            </a:r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7" y="1700808"/>
            <a:ext cx="6454788" cy="40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15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4.1.2 </a:t>
            </a:r>
            <a:r>
              <a:rPr lang="ko-KR" altLang="en-US" err="1"/>
              <a:t>팩토리얼</a:t>
            </a:r>
            <a:r>
              <a:rPr lang="en-US" altLang="ko-KR" b="1" baseline="300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factorial</a:t>
            </a:r>
            <a:r>
              <a:rPr lang="ko-KR" altLang="en-US" baseline="30000"/>
              <a:t> </a:t>
            </a:r>
            <a:r>
              <a:rPr lang="ko-KR" altLang="en-US"/>
              <a:t>구하기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27741F1-896C-AC8C-7807-80637215404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sz="2000"/>
              <a:t>n</a:t>
            </a:r>
            <a:r>
              <a:rPr lang="ko-KR" altLang="en-US" sz="2000"/>
              <a:t>이 임의의 자연수일 때 </a:t>
            </a:r>
            <a:r>
              <a:rPr lang="en-US" altLang="ko-KR" sz="2000"/>
              <a:t>1</a:t>
            </a:r>
            <a:r>
              <a:rPr lang="ko-KR" altLang="en-US" sz="2000"/>
              <a:t>에서 </a:t>
            </a:r>
            <a:r>
              <a:rPr lang="en-US" altLang="ko-KR" sz="2000"/>
              <a:t>n</a:t>
            </a:r>
            <a:r>
              <a:rPr lang="ko-KR" altLang="en-US" sz="2000"/>
              <a:t>까지의 모든 자연수를 곱한 값이다</a:t>
            </a:r>
            <a:r>
              <a:rPr lang="en-US" altLang="ko-KR" sz="2000"/>
              <a:t>.</a:t>
            </a:r>
            <a:endParaRPr lang="ko-KR" altLang="en-US" sz="2000"/>
          </a:p>
          <a:p>
            <a:endParaRPr lang="ko-KR" altLang="en-US"/>
          </a:p>
        </p:txBody>
      </p:sp>
      <p:pic>
        <p:nvPicPr>
          <p:cNvPr id="28673" name="_x418062672" descr="EMB0000158c34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720" y="2498704"/>
            <a:ext cx="5461081" cy="74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0047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4.1.2 </a:t>
            </a:r>
            <a:r>
              <a:rPr lang="ko-KR" altLang="en-US" err="1"/>
              <a:t>팩토리얼</a:t>
            </a:r>
            <a:r>
              <a:rPr lang="en-US" altLang="ko-KR" b="1" baseline="3000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factorial</a:t>
            </a:r>
            <a:r>
              <a:rPr lang="ko-KR" altLang="en-US" baseline="30000"/>
              <a:t> </a:t>
            </a:r>
            <a:r>
              <a:rPr lang="ko-KR" altLang="en-US"/>
              <a:t>구하기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27741F1-896C-AC8C-7807-80637215404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823200" y="1700809"/>
            <a:ext cx="3258814" cy="4345428"/>
          </a:xfrm>
        </p:spPr>
        <p:txBody>
          <a:bodyPr/>
          <a:lstStyle/>
          <a:p>
            <a:pPr fontAlgn="base"/>
            <a:r>
              <a:rPr lang="ko-KR" altLang="en-US"/>
              <a:t>변수 </a:t>
            </a:r>
            <a:r>
              <a:rPr lang="en-US" altLang="ko-KR"/>
              <a:t>fact</a:t>
            </a:r>
            <a:r>
              <a:rPr lang="ko-KR" altLang="en-US"/>
              <a:t>의 초기 값은 </a:t>
            </a:r>
            <a:r>
              <a:rPr lang="en-US" altLang="ko-KR"/>
              <a:t>1</a:t>
            </a:r>
            <a:r>
              <a:rPr lang="ko-KR" altLang="en-US"/>
              <a:t>로 두고 덧셈</a:t>
            </a:r>
            <a:r>
              <a:rPr lang="en-US" altLang="ko-KR"/>
              <a:t>(+) </a:t>
            </a:r>
            <a:r>
              <a:rPr lang="ko-KR" altLang="en-US"/>
              <a:t>연산 대신 곱셈</a:t>
            </a:r>
            <a:r>
              <a:rPr lang="en-US" altLang="ko-KR"/>
              <a:t>(*) </a:t>
            </a:r>
            <a:r>
              <a:rPr lang="ko-KR" altLang="en-US"/>
              <a:t>연산을 </a:t>
            </a:r>
            <a:r>
              <a:rPr lang="en-US" altLang="ko-KR"/>
              <a:t>for</a:t>
            </a:r>
            <a:r>
              <a:rPr lang="ko-KR" altLang="en-US"/>
              <a:t>문 안에서 사용</a:t>
            </a:r>
          </a:p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3DC4FD-D2C1-0AA2-C6D7-CE87EB285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7" y="1725841"/>
            <a:ext cx="6712582" cy="432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7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72C80D-45AB-C151-4FC3-7331E332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320082"/>
            <a:ext cx="10015538" cy="453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297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646" y="3259703"/>
            <a:ext cx="9054437" cy="250719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4.1.3 for </a:t>
            </a:r>
            <a:r>
              <a:rPr lang="ko-KR" altLang="en-US"/>
              <a:t>문과 리스트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FB2E46-4196-C69A-55DA-28578401392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for in </a:t>
            </a:r>
            <a:r>
              <a:rPr lang="ko-KR" altLang="en-US"/>
              <a:t>구문</a:t>
            </a:r>
          </a:p>
          <a:p>
            <a:pPr lvl="1"/>
            <a:r>
              <a:rPr lang="ko-KR" altLang="en-US" err="1"/>
              <a:t>반복문</a:t>
            </a:r>
            <a:r>
              <a:rPr lang="ko-KR" altLang="en-US"/>
              <a:t> 키워드 </a:t>
            </a:r>
            <a:r>
              <a:rPr lang="en-US" altLang="ko-KR"/>
              <a:t>for</a:t>
            </a:r>
            <a:r>
              <a:rPr lang="ko-KR" altLang="en-US"/>
              <a:t>와 </a:t>
            </a:r>
            <a:r>
              <a:rPr lang="en-US" altLang="ko-KR"/>
              <a:t>in </a:t>
            </a:r>
            <a:r>
              <a:rPr lang="ko-KR" altLang="en-US"/>
              <a:t>사이에 계속 새롭게 할당할 변수 </a:t>
            </a:r>
            <a:r>
              <a:rPr lang="en-US" altLang="ko-KR"/>
              <a:t>n</a:t>
            </a:r>
            <a:r>
              <a:rPr lang="ko-KR" altLang="en-US"/>
              <a:t>을 선언</a:t>
            </a:r>
          </a:p>
          <a:p>
            <a:pPr lvl="1"/>
            <a:r>
              <a:rPr lang="en-US" altLang="ko-KR"/>
              <a:t>in </a:t>
            </a:r>
            <a:r>
              <a:rPr lang="ko-KR" altLang="en-US"/>
              <a:t>뒤에 리스트 자료형을 넣어 리스트를 차례대로 순회하는 실행이 가능</a:t>
            </a:r>
          </a:p>
          <a:p>
            <a:pPr marL="179388" lvl="1" indent="0"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769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4.1.3 for </a:t>
            </a:r>
            <a:r>
              <a:rPr lang="ko-KR" altLang="en-US"/>
              <a:t>문과 리스트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FB2E46-4196-C69A-55DA-28578401392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for in </a:t>
            </a:r>
            <a:r>
              <a:rPr lang="ko-KR" altLang="en-US"/>
              <a:t>구문의 </a:t>
            </a:r>
            <a:r>
              <a:rPr lang="en-US" altLang="ko-KR"/>
              <a:t>in </a:t>
            </a:r>
            <a:r>
              <a:rPr lang="ko-KR" altLang="en-US"/>
              <a:t>다음에 범위를 지정하는 함수 </a:t>
            </a:r>
            <a:r>
              <a:rPr lang="en-US" altLang="ko-KR"/>
              <a:t>range()</a:t>
            </a:r>
            <a:r>
              <a:rPr lang="ko-KR" altLang="en-US"/>
              <a:t>가 아닌 </a:t>
            </a:r>
            <a:r>
              <a:rPr lang="en-US" altLang="ko-KR"/>
              <a:t>numbers </a:t>
            </a:r>
            <a:r>
              <a:rPr lang="ko-KR" altLang="en-US"/>
              <a:t>라는 리스트가 있음</a:t>
            </a:r>
          </a:p>
          <a:p>
            <a:r>
              <a:rPr lang="ko-KR" altLang="en-US"/>
              <a:t>실수 리스트도 </a:t>
            </a:r>
            <a:r>
              <a:rPr lang="en-US" altLang="ko-KR"/>
              <a:t>for in</a:t>
            </a:r>
            <a:r>
              <a:rPr lang="ko-KR" altLang="en-US"/>
              <a:t>문을 통해 순회가 가능</a:t>
            </a:r>
          </a:p>
          <a:p>
            <a:endParaRPr lang="ko-KR" altLang="en-US"/>
          </a:p>
          <a:p>
            <a:pPr marL="179388" lvl="1" indent="0">
              <a:buNone/>
            </a:pPr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2926033-9ECF-E19B-4A4F-AE1BAB677612}"/>
              </a:ext>
            </a:extLst>
          </p:cNvPr>
          <p:cNvGrpSpPr/>
          <p:nvPr/>
        </p:nvGrpSpPr>
        <p:grpSpPr>
          <a:xfrm>
            <a:off x="1067258" y="1700808"/>
            <a:ext cx="9762108" cy="3055023"/>
            <a:chOff x="834132" y="656296"/>
            <a:chExt cx="10817311" cy="3385246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3985" y="2785708"/>
              <a:ext cx="4531921" cy="1255834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4132" y="2858142"/>
              <a:ext cx="4329538" cy="1141715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4"/>
            <a:srcRect r="6631" b="39601"/>
            <a:stretch/>
          </p:blipFill>
          <p:spPr>
            <a:xfrm>
              <a:off x="834133" y="656296"/>
              <a:ext cx="5317286" cy="1914798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49841" y="671306"/>
              <a:ext cx="5201602" cy="18549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8906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4.1.3 for </a:t>
            </a:r>
            <a:r>
              <a:rPr lang="ko-KR" altLang="en-US"/>
              <a:t>문과 리스트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FB2E46-4196-C69A-55DA-28578401392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for</a:t>
            </a:r>
            <a:r>
              <a:rPr lang="ko-KR" altLang="en-US"/>
              <a:t>문을 이용하며 문자열을 원소로 가지는 리스트의 원소들을 출력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689" y="2322479"/>
            <a:ext cx="8007817" cy="344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66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4.1.3 for </a:t>
            </a:r>
            <a:r>
              <a:rPr lang="ko-KR" altLang="en-US"/>
              <a:t>문과 리스트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FB2E46-4196-C69A-55DA-28578401392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/>
              <a:t>누적 덧셈의 기능을 활용하여 리스트 내에 있는 정수 항목 값들의 합을 구하는 프로그램</a:t>
            </a:r>
          </a:p>
          <a:p>
            <a:endParaRPr lang="ko-KR" altLang="en-US"/>
          </a:p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592" y="2603062"/>
            <a:ext cx="6416020" cy="34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43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4.1.3 for </a:t>
            </a:r>
            <a:r>
              <a:rPr lang="ko-KR" altLang="en-US"/>
              <a:t>문과 리스트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FB2E46-4196-C69A-55DA-28578401392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리스트 원소들의 합은 </a:t>
            </a:r>
            <a:r>
              <a:rPr lang="en-US" altLang="ko-KR"/>
              <a:t>for </a:t>
            </a:r>
            <a:r>
              <a:rPr lang="ko-KR" altLang="en-US"/>
              <a:t>문을 사용하지 않고 내장함수 </a:t>
            </a:r>
            <a:r>
              <a:rPr lang="en-US" altLang="ko-KR"/>
              <a:t>sum()</a:t>
            </a:r>
            <a:r>
              <a:rPr lang="ko-KR" altLang="en-US"/>
              <a:t>을 사용하여 간편하게 합계를 구하는 것도 가능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51" y="2761084"/>
            <a:ext cx="8190695" cy="303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068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4.1.3 for </a:t>
            </a:r>
            <a:r>
              <a:rPr lang="ko-KR" altLang="en-US"/>
              <a:t>문과 리스트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FB2E46-4196-C69A-55DA-28578401392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문자열 자료형은 </a:t>
            </a:r>
            <a:r>
              <a:rPr lang="en-US" altLang="ko-KR"/>
              <a:t>list() </a:t>
            </a:r>
            <a:r>
              <a:rPr lang="ko-KR" altLang="en-US"/>
              <a:t>함수를 이용하여 리스트 객체로 만드는 것이 가능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04" y="3986327"/>
            <a:ext cx="7741024" cy="161488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104" y="1772525"/>
            <a:ext cx="7741024" cy="13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874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4.1.3 for </a:t>
            </a:r>
            <a:r>
              <a:rPr lang="ko-KR" altLang="en-US"/>
              <a:t>문과 리스트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for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FB2E46-4196-C69A-55DA-28578401392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/>
              <a:t>문자열 ‘</a:t>
            </a:r>
            <a:r>
              <a:rPr lang="en-US" altLang="ko-KR"/>
              <a:t>Hello’</a:t>
            </a:r>
            <a:r>
              <a:rPr lang="ko-KR" altLang="en-US"/>
              <a:t>를 </a:t>
            </a:r>
            <a:r>
              <a:rPr lang="en-US" altLang="ko-KR"/>
              <a:t>list() </a:t>
            </a:r>
            <a:r>
              <a:rPr lang="ko-KR" altLang="en-US"/>
              <a:t>함수로 형 변환시켜 문자 원소들을 리스트로 만드는 것이 가능</a:t>
            </a:r>
            <a:endParaRPr lang="en-US" altLang="ko-KR"/>
          </a:p>
          <a:p>
            <a:pPr fontAlgn="base"/>
            <a:r>
              <a:rPr lang="en-US" altLang="ko-KR"/>
              <a:t>for in </a:t>
            </a:r>
            <a:r>
              <a:rPr lang="ko-KR" altLang="en-US"/>
              <a:t>구문 뒤에 문자열을 위치시켜 문자 단위로 분리해 순회할 수 있다</a:t>
            </a:r>
            <a:r>
              <a:rPr lang="en-US" altLang="ko-KR"/>
              <a:t>.</a:t>
            </a:r>
            <a:endParaRPr lang="ko-KR" altLang="en-US"/>
          </a:p>
          <a:p>
            <a:pPr fontAlgn="base"/>
            <a:endParaRPr lang="ko-KR" altLang="en-US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30" y="2846916"/>
            <a:ext cx="9165916" cy="309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738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중첩 </a:t>
            </a:r>
            <a:r>
              <a:rPr lang="en-US" altLang="ko-KR"/>
              <a:t>for</a:t>
            </a:r>
            <a:r>
              <a:rPr lang="ko-KR" altLang="en-US"/>
              <a:t>문</a:t>
            </a:r>
            <a:r>
              <a:rPr lang="en-US" altLang="ko-KR" b="1" baseline="30000">
                <a:solidFill>
                  <a:schemeClr val="accent5"/>
                </a:solidFill>
              </a:rPr>
              <a:t>nested for loop </a:t>
            </a:r>
          </a:p>
          <a:p>
            <a:pPr lvl="1"/>
            <a:r>
              <a:rPr lang="en-US" altLang="ko-KR"/>
              <a:t>for</a:t>
            </a:r>
            <a:r>
              <a:rPr lang="ko-KR" altLang="en-US"/>
              <a:t>문 안에 </a:t>
            </a:r>
            <a:r>
              <a:rPr lang="en-US" altLang="ko-KR"/>
              <a:t>for</a:t>
            </a:r>
            <a:r>
              <a:rPr lang="ko-KR" altLang="en-US"/>
              <a:t>문을 다시 넣음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구구단의 구조에 대해 살펴보면</a:t>
            </a:r>
            <a:r>
              <a:rPr lang="en-US" altLang="ko-KR"/>
              <a:t>, 2~9</a:t>
            </a:r>
            <a:r>
              <a:rPr lang="ko-KR" altLang="en-US"/>
              <a:t>단까지 있으며 </a:t>
            </a:r>
            <a:r>
              <a:rPr lang="en-US" altLang="ko-KR"/>
              <a:t>1</a:t>
            </a:r>
            <a:r>
              <a:rPr lang="ko-KR" altLang="en-US"/>
              <a:t>에서 </a:t>
            </a:r>
            <a:r>
              <a:rPr lang="en-US" altLang="ko-KR"/>
              <a:t>9</a:t>
            </a:r>
            <a:r>
              <a:rPr lang="ko-KR" altLang="en-US"/>
              <a:t>를 단마다 곱하여 화면에 출력함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이를 구현하기 위해서는 </a:t>
            </a:r>
            <a:r>
              <a:rPr lang="en-US" altLang="ko-KR"/>
              <a:t>for </a:t>
            </a:r>
            <a:r>
              <a:rPr lang="ko-KR" altLang="en-US"/>
              <a:t>문 안에 </a:t>
            </a:r>
            <a:r>
              <a:rPr lang="en-US" altLang="ko-KR"/>
              <a:t>for </a:t>
            </a:r>
            <a:r>
              <a:rPr lang="ko-KR" altLang="en-US"/>
              <a:t>문을 다시 넣는 </a:t>
            </a:r>
            <a:r>
              <a:rPr lang="ko-KR" altLang="en-US" b="1"/>
              <a:t>이중 </a:t>
            </a:r>
            <a:r>
              <a:rPr lang="en-US" altLang="ko-KR" b="1"/>
              <a:t>for</a:t>
            </a:r>
            <a:r>
              <a:rPr lang="ko-KR" altLang="en-US" b="1"/>
              <a:t>문</a:t>
            </a:r>
            <a:r>
              <a:rPr lang="ko-KR" altLang="en-US"/>
              <a:t>이 필요</a:t>
            </a:r>
          </a:p>
          <a:p>
            <a:endParaRPr lang="ko-KR" altLang="en-US"/>
          </a:p>
          <a:p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</p:spTree>
    <p:extLst>
      <p:ext uri="{BB962C8B-B14F-4D97-AF65-F5344CB8AC3E}">
        <p14:creationId xmlns:p14="http://schemas.microsoft.com/office/powerpoint/2010/main" val="3918774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E979B73-6AE0-E273-0A72-0C0993F9CB69}"/>
              </a:ext>
            </a:extLst>
          </p:cNvPr>
          <p:cNvGrpSpPr/>
          <p:nvPr/>
        </p:nvGrpSpPr>
        <p:grpSpPr>
          <a:xfrm>
            <a:off x="1486637" y="1097942"/>
            <a:ext cx="9013622" cy="5671974"/>
            <a:chOff x="1569748" y="579001"/>
            <a:chExt cx="8505278" cy="5545047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9748" y="579001"/>
              <a:ext cx="8502851" cy="2220636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9748" y="2910177"/>
              <a:ext cx="8505278" cy="32138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01254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720312" y="2331234"/>
            <a:ext cx="8165907" cy="189268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double_for.py</a:t>
            </a:r>
            <a:r>
              <a:rPr lang="ko-KR" altLang="en-US"/>
              <a:t>의 이중 </a:t>
            </a:r>
            <a:r>
              <a:rPr lang="en-US" altLang="ko-KR"/>
              <a:t>for </a:t>
            </a:r>
            <a:r>
              <a:rPr lang="ko-KR" altLang="en-US"/>
              <a:t>루프는 내부 루프와 외부 루프를 가짐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405DEC-B34C-6B10-34DE-5E6DEB5F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</p:spTree>
    <p:extLst>
      <p:ext uri="{BB962C8B-B14F-4D97-AF65-F5344CB8AC3E}">
        <p14:creationId xmlns:p14="http://schemas.microsoft.com/office/powerpoint/2010/main" val="18326148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908" y="1766605"/>
            <a:ext cx="8247468" cy="387952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루프의 </a:t>
            </a:r>
            <a:r>
              <a:rPr lang="ko-KR" altLang="en-US" err="1"/>
              <a:t>실행구조를</a:t>
            </a:r>
            <a:r>
              <a:rPr lang="ko-KR" altLang="en-US"/>
              <a:t> 표로 나타내어 보기</a:t>
            </a:r>
          </a:p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75D9EC-E68D-8BF3-6C45-B6B5FCE8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</p:spTree>
    <p:extLst>
      <p:ext uri="{BB962C8B-B14F-4D97-AF65-F5344CB8AC3E}">
        <p14:creationId xmlns:p14="http://schemas.microsoft.com/office/powerpoint/2010/main" val="26227996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이중 </a:t>
            </a:r>
            <a:r>
              <a:rPr lang="en-US" altLang="ko-KR"/>
              <a:t>for </a:t>
            </a:r>
            <a:r>
              <a:rPr lang="ko-KR" altLang="en-US"/>
              <a:t>루프나 삼중 </a:t>
            </a:r>
            <a:r>
              <a:rPr lang="en-US" altLang="ko-KR"/>
              <a:t>for </a:t>
            </a:r>
            <a:r>
              <a:rPr lang="ko-KR" altLang="en-US"/>
              <a:t>루프의 경우 코드를 이해하는 것이 어려워지기 때문에 중첩 루프는 삼중 루프 이상의 구조를 잘 사용하지 않음</a:t>
            </a:r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75D9EC-E68D-8BF3-6C45-B6B5FCE8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</p:spTree>
    <p:extLst>
      <p:ext uri="{BB962C8B-B14F-4D97-AF65-F5344CB8AC3E}">
        <p14:creationId xmlns:p14="http://schemas.microsoft.com/office/powerpoint/2010/main" val="38696365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4</a:t>
            </a:r>
            <a:r>
              <a:rPr lang="en-US" altLang="ko-KR" sz="2400"/>
              <a:t>.2.1 </a:t>
            </a:r>
            <a:r>
              <a:rPr lang="ko-KR" altLang="en-US" sz="2400"/>
              <a:t>중첩 </a:t>
            </a:r>
            <a:r>
              <a:rPr lang="en-US" altLang="ko-KR" sz="2400"/>
              <a:t>for </a:t>
            </a:r>
            <a:r>
              <a:rPr lang="ko-KR" altLang="en-US" sz="2400"/>
              <a:t>루프를 이용한 패턴 만들기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DA18E2A-0538-D4E7-258F-086DFC60296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다음과 같은 패턴 만들어 보기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87" y="2222520"/>
            <a:ext cx="9391154" cy="268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649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4</a:t>
            </a:r>
            <a:r>
              <a:rPr lang="en-US" altLang="ko-KR" sz="2400"/>
              <a:t>.2.1 </a:t>
            </a:r>
            <a:r>
              <a:rPr lang="ko-KR" altLang="en-US" sz="2400"/>
              <a:t>중첩 </a:t>
            </a:r>
            <a:r>
              <a:rPr lang="en-US" altLang="ko-KR" sz="2400"/>
              <a:t>for </a:t>
            </a:r>
            <a:r>
              <a:rPr lang="ko-KR" altLang="en-US" sz="2400"/>
              <a:t>루프를 이용한 패턴 만들기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DA18E2A-0538-D4E7-258F-086DFC60296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67257" y="4312021"/>
            <a:ext cx="4766207" cy="1662496"/>
          </a:xfrm>
        </p:spPr>
        <p:txBody>
          <a:bodyPr/>
          <a:lstStyle/>
          <a:p>
            <a:pPr fontAlgn="base"/>
            <a:r>
              <a:rPr lang="ko-KR" altLang="en-US" sz="2000"/>
              <a:t>이중 </a:t>
            </a:r>
            <a:r>
              <a:rPr lang="en-US" altLang="ko-KR" sz="2000"/>
              <a:t>for </a:t>
            </a:r>
            <a:r>
              <a:rPr lang="ko-KR" altLang="en-US" sz="2000"/>
              <a:t>루프를 사용하여 외부 루프에서는 </a:t>
            </a:r>
            <a:r>
              <a:rPr lang="en-US" altLang="ko-KR" sz="2000" err="1"/>
              <a:t>i</a:t>
            </a:r>
            <a:r>
              <a:rPr lang="en-US" altLang="ko-KR" sz="2000"/>
              <a:t> </a:t>
            </a:r>
            <a:r>
              <a:rPr lang="ko-KR" altLang="en-US" sz="2000"/>
              <a:t>값이 </a:t>
            </a:r>
            <a:r>
              <a:rPr lang="en-US" altLang="ko-KR" sz="2000"/>
              <a:t>0</a:t>
            </a:r>
            <a:r>
              <a:rPr lang="ko-KR" altLang="en-US" sz="2000"/>
              <a:t>에서 </a:t>
            </a:r>
            <a:r>
              <a:rPr lang="en-US" altLang="ko-KR" sz="2000"/>
              <a:t>1</a:t>
            </a:r>
            <a:r>
              <a:rPr lang="ko-KR" altLang="en-US" sz="2000"/>
              <a:t>씩 증가하도록 하고 내부 루프에서는 </a:t>
            </a:r>
            <a:r>
              <a:rPr lang="en-US" altLang="ko-KR" sz="2000" err="1"/>
              <a:t>i</a:t>
            </a:r>
            <a:r>
              <a:rPr lang="ko-KR" altLang="en-US" sz="2000"/>
              <a:t>의 </a:t>
            </a:r>
            <a:r>
              <a:rPr lang="ko-KR" altLang="en-US"/>
              <a:t>개</a:t>
            </a:r>
            <a:r>
              <a:rPr lang="ko-KR" altLang="en-US" sz="2000"/>
              <a:t>수만큼의 공백을 ‘</a:t>
            </a:r>
            <a:r>
              <a:rPr lang="en-US" altLang="ko-KR" sz="2000"/>
              <a:t>#’ </a:t>
            </a:r>
            <a:r>
              <a:rPr lang="ko-KR" altLang="en-US" sz="2000"/>
              <a:t>표시 앞에 추가</a:t>
            </a:r>
          </a:p>
          <a:p>
            <a:pPr fontAlgn="base"/>
            <a:endParaRPr lang="en-US" altLang="ko-KR" sz="2000"/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51361EC5-7FCD-CF9C-0FA3-0CE543B4677E}"/>
              </a:ext>
            </a:extLst>
          </p:cNvPr>
          <p:cNvSpPr txBox="1">
            <a:spLocks/>
          </p:cNvSpPr>
          <p:nvPr/>
        </p:nvSpPr>
        <p:spPr>
          <a:xfrm>
            <a:off x="6125911" y="4312021"/>
            <a:ext cx="4941952" cy="1662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9388" indent="-179388" algn="l" defTabSz="914400" rtl="0" eaLnBrk="1" latinLnBrk="1" hangingPunct="1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363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2000"/>
              <a:t>이중 </a:t>
            </a:r>
            <a:r>
              <a:rPr lang="en-US" altLang="ko-KR" sz="2000"/>
              <a:t>for </a:t>
            </a:r>
            <a:r>
              <a:rPr lang="ko-KR" altLang="en-US" sz="2000"/>
              <a:t>루프를 사용하지 않고 다음과 같이 </a:t>
            </a:r>
            <a:r>
              <a:rPr lang="en-US" altLang="ko-KR" sz="2000"/>
              <a:t>print</a:t>
            </a:r>
            <a:r>
              <a:rPr lang="ko-KR" altLang="en-US" sz="2000"/>
              <a:t>문 내에 공백의 출력횟수를 지정하는 방식</a:t>
            </a:r>
            <a:r>
              <a:rPr lang="en-US" altLang="ko-KR" sz="2000"/>
              <a:t>(' ' * </a:t>
            </a:r>
            <a:r>
              <a:rPr lang="en-US" altLang="ko-KR" sz="2000" err="1"/>
              <a:t>i</a:t>
            </a:r>
            <a:r>
              <a:rPr lang="en-US" altLang="ko-KR" sz="2000"/>
              <a:t>)</a:t>
            </a:r>
          </a:p>
          <a:p>
            <a:pPr fontAlgn="base"/>
            <a:r>
              <a:rPr lang="en-US" altLang="ko-KR" sz="2000"/>
              <a:t>for_pattern.py</a:t>
            </a:r>
            <a:r>
              <a:rPr lang="ko-KR" altLang="en-US" sz="2000"/>
              <a:t>의 방식이 더 이해하기 쉽고 간단함</a:t>
            </a:r>
          </a:p>
          <a:p>
            <a:pPr fontAlgn="base"/>
            <a:endParaRPr lang="en-US" altLang="ko-KR" sz="200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911" y="1612453"/>
            <a:ext cx="4858444" cy="219685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137" y="1612453"/>
            <a:ext cx="4652446" cy="269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383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4</a:t>
            </a:r>
            <a:r>
              <a:rPr lang="en-US" altLang="ko-KR" sz="2400"/>
              <a:t>.2.1 </a:t>
            </a:r>
            <a:r>
              <a:rPr lang="ko-KR" altLang="en-US" sz="2400"/>
              <a:t>중첩 </a:t>
            </a:r>
            <a:r>
              <a:rPr lang="en-US" altLang="ko-KR" sz="2400"/>
              <a:t>for </a:t>
            </a:r>
            <a:r>
              <a:rPr lang="ko-KR" altLang="en-US" sz="2400"/>
              <a:t>루프를 이용한 패턴 만들기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711898"/>
            <a:ext cx="10015538" cy="432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4.2.2 </a:t>
            </a:r>
            <a:r>
              <a:rPr lang="ko-KR" altLang="en-US"/>
              <a:t>상향식 문제풀이 기법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DA18E2A-0538-D4E7-258F-086DFC60296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이중 </a:t>
            </a:r>
            <a:r>
              <a:rPr lang="en-US" altLang="ko-KR"/>
              <a:t>for </a:t>
            </a:r>
            <a:r>
              <a:rPr lang="ko-KR" altLang="en-US"/>
              <a:t>루프를 사용하여 다음과 같은 패턴 만들어보기</a:t>
            </a:r>
          </a:p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153" y="2243999"/>
            <a:ext cx="9363635" cy="23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370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4.2.2 </a:t>
            </a:r>
            <a:r>
              <a:rPr lang="ko-KR" altLang="en-US"/>
              <a:t>상향식 문제풀이 기법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DA18E2A-0538-D4E7-258F-086DFC60296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4, 3, 2, 1, 0</a:t>
            </a:r>
            <a:r>
              <a:rPr lang="ko-KR" altLang="en-US"/>
              <a:t>을 순서대로 출력하는 프로그램</a:t>
            </a:r>
          </a:p>
          <a:p>
            <a:endParaRPr lang="ko-KR" altLang="en-US"/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120" y="2315247"/>
            <a:ext cx="7434433" cy="325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549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4.2.2 </a:t>
            </a:r>
            <a:r>
              <a:rPr lang="ko-KR" altLang="en-US"/>
              <a:t>상향식 문제풀이 기법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DA18E2A-0538-D4E7-258F-086DFC60296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/>
              <a:t>‘</a:t>
            </a:r>
            <a:r>
              <a:rPr lang="en-US" altLang="ko-KR" sz="2000"/>
              <a:t>+’ </a:t>
            </a:r>
            <a:r>
              <a:rPr lang="ko-KR" altLang="en-US" sz="2000"/>
              <a:t>문자의 증가 패턴인 </a:t>
            </a:r>
            <a:r>
              <a:rPr lang="en-US" altLang="ko-KR" sz="2000"/>
              <a:t>1, 3, 5, 7, 9</a:t>
            </a:r>
            <a:r>
              <a:rPr lang="ko-KR" altLang="en-US" sz="2000"/>
              <a:t>를 출력</a:t>
            </a:r>
            <a:endParaRPr lang="ko-KR" altLang="en-US"/>
          </a:p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968" y="2298612"/>
            <a:ext cx="8598137" cy="335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154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4.2.2 </a:t>
            </a:r>
            <a:r>
              <a:rPr lang="ko-KR" altLang="en-US"/>
              <a:t>상향식 문제풀이 기법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DA18E2A-0538-D4E7-258F-086DFC60296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앞서 완성한 두 가지 기능을 바탕으로 삼각형 패턴을 출력해보기</a:t>
            </a:r>
            <a:endParaRPr lang="en-US" altLang="ko-KR"/>
          </a:p>
          <a:p>
            <a:r>
              <a:rPr lang="ko-KR" altLang="en-US"/>
              <a:t>패턴을 출력하기 위해 우선 공백을 </a:t>
            </a:r>
            <a:r>
              <a:rPr lang="en-US" altLang="ko-KR"/>
              <a:t>for j in range(n - </a:t>
            </a:r>
            <a:r>
              <a:rPr lang="en-US" altLang="ko-KR" err="1"/>
              <a:t>i</a:t>
            </a:r>
            <a:r>
              <a:rPr lang="en-US" altLang="ko-KR"/>
              <a:t> - 1):</a:t>
            </a:r>
            <a:r>
              <a:rPr lang="ko-KR" altLang="en-US"/>
              <a:t>를 이용하여 출력한 다음</a:t>
            </a:r>
            <a:r>
              <a:rPr lang="en-US" altLang="ko-KR"/>
              <a:t>, ‘+’ </a:t>
            </a:r>
            <a:r>
              <a:rPr lang="ko-KR" altLang="en-US"/>
              <a:t>패턴을 </a:t>
            </a:r>
            <a:r>
              <a:rPr lang="en-US" altLang="ko-KR"/>
              <a:t>for j in range(2 * </a:t>
            </a:r>
            <a:r>
              <a:rPr lang="en-US" altLang="ko-KR" err="1"/>
              <a:t>i</a:t>
            </a:r>
            <a:r>
              <a:rPr lang="en-US" altLang="ko-KR"/>
              <a:t> + 1):</a:t>
            </a:r>
            <a:r>
              <a:rPr lang="ko-KR" altLang="en-US"/>
              <a:t>를 이용하여 출력</a:t>
            </a:r>
          </a:p>
          <a:p>
            <a:pPr marL="0" indent="0">
              <a:buNone/>
            </a:pPr>
            <a:endParaRPr lang="en-US" altLang="ko-KR" b="1"/>
          </a:p>
          <a:p>
            <a:r>
              <a:rPr lang="ko-KR" altLang="en-US"/>
              <a:t>이와 같은 기법을</a:t>
            </a:r>
            <a:r>
              <a:rPr lang="ko-KR" altLang="en-US" b="1"/>
              <a:t> 상향식</a:t>
            </a:r>
            <a:r>
              <a:rPr lang="en-US" altLang="ko-KR" b="1" baseline="30000">
                <a:solidFill>
                  <a:schemeClr val="accent5"/>
                </a:solidFill>
              </a:rPr>
              <a:t>Bottom up</a:t>
            </a:r>
            <a:r>
              <a:rPr lang="ko-KR" altLang="en-US" baseline="30000">
                <a:solidFill>
                  <a:schemeClr val="accent5"/>
                </a:solidFill>
              </a:rPr>
              <a:t> </a:t>
            </a:r>
            <a:r>
              <a:rPr lang="ko-KR" altLang="en-US"/>
              <a:t>문제풀이 기법이라고 함</a:t>
            </a:r>
            <a:endParaRPr lang="en-US" altLang="ko-KR"/>
          </a:p>
          <a:p>
            <a:pPr lvl="1"/>
            <a:r>
              <a:rPr lang="ko-KR" altLang="en-US"/>
              <a:t>작은 기능을 구현하여 이 기능을 바탕으로 전체 기능을 구현하는 것</a:t>
            </a:r>
            <a:endParaRPr lang="en-US" altLang="ko-KR"/>
          </a:p>
          <a:p>
            <a:pPr lvl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02172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D967C8-A0E2-D102-EA4F-8429E3635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삼각형 패턴을 출력하는 기능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A6C729-1123-0119-7742-79B96F21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966748"/>
            <a:ext cx="10015538" cy="381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365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5413328-F7B7-9A97-70D1-A7993A8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915115"/>
            <a:ext cx="10015538" cy="334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9997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6D561D-6DA7-5481-6246-8ED370B6F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/>
              <a:t>삼각형 패턴을 출력하는 기능을 가진 짧은 코드</a:t>
            </a:r>
            <a:endParaRPr lang="en-US" altLang="ko-KR" sz="24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E5D5531-6E75-C449-6366-BA1C730C9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568158"/>
            <a:ext cx="10015538" cy="261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290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66" y="3066799"/>
            <a:ext cx="8999569" cy="2681309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323129-C27F-C5FD-2537-52A9A973A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4.2.3 </a:t>
            </a:r>
            <a:r>
              <a:rPr lang="ko-KR" altLang="en-US"/>
              <a:t>소수 구하기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685DB79-FD85-CDE0-05A9-3D97533D6BF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이중 </a:t>
            </a:r>
            <a:r>
              <a:rPr lang="en-US" altLang="ko-KR"/>
              <a:t>for</a:t>
            </a:r>
            <a:r>
              <a:rPr lang="ko-KR" altLang="en-US"/>
              <a:t>문을 활용해 소수를 구하는 프로그램을 구현</a:t>
            </a:r>
            <a:endParaRPr lang="en-US" altLang="ko-KR"/>
          </a:p>
          <a:p>
            <a:r>
              <a:rPr lang="ko-KR" altLang="en-US"/>
              <a:t>소수란 </a:t>
            </a:r>
            <a:r>
              <a:rPr lang="en-US" altLang="ko-KR"/>
              <a:t>1</a:t>
            </a:r>
            <a:r>
              <a:rPr lang="ko-KR" altLang="en-US"/>
              <a:t>과 자기 자신 이외의 약수를 가지지 않는 수</a:t>
            </a:r>
            <a:endParaRPr lang="en-US" altLang="ko-KR"/>
          </a:p>
          <a:p>
            <a:r>
              <a:rPr lang="ko-KR" altLang="en-US"/>
              <a:t>다음과 같은 코드로 구현할 수 있다</a:t>
            </a:r>
          </a:p>
          <a:p>
            <a:endParaRPr lang="ko-KR" altLang="en-US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7042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42" y="1628145"/>
            <a:ext cx="7826834" cy="5015936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BEACD-A6E3-AB2D-5C04-BFA810848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부터 </a:t>
            </a:r>
            <a:r>
              <a:rPr lang="en-US" altLang="ko-KR"/>
              <a:t>100</a:t>
            </a:r>
            <a:r>
              <a:rPr lang="ko-KR" altLang="en-US"/>
              <a:t>까지의 소수 구하기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루프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31" y="2344731"/>
            <a:ext cx="6982397" cy="110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603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4.3.1 while </a:t>
            </a:r>
            <a:r>
              <a:rPr lang="ko-KR" altLang="en-US" sz="2400"/>
              <a:t>반복문의 구조</a:t>
            </a:r>
            <a:endParaRPr lang="en-US" altLang="ko-KR" sz="24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4.3 while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37A69B7-1581-C132-7A8D-822271D637C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조건이 참인 경우에 계속 실행하는 </a:t>
            </a:r>
            <a:r>
              <a:rPr lang="ko-KR" altLang="en-US" err="1"/>
              <a:t>반복문</a:t>
            </a:r>
            <a:endParaRPr lang="ko-KR" altLang="en-US"/>
          </a:p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b="10728"/>
          <a:stretch/>
        </p:blipFill>
        <p:spPr>
          <a:xfrm>
            <a:off x="2675883" y="2457470"/>
            <a:ext cx="6010917" cy="311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94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411314-D3C3-11B0-1E3A-2EA00881F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smtClean="0"/>
              <a:t>while </a:t>
            </a:r>
            <a:r>
              <a:rPr lang="ko-KR" altLang="en-US" sz="2400" smtClean="0"/>
              <a:t>문의 </a:t>
            </a:r>
            <a:r>
              <a:rPr lang="ko-KR" altLang="en-US" sz="2400"/>
              <a:t>문법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4.3 while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3D3CF5-0119-14A0-8DC3-851544C2441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en-US" altLang="ko-KR" smtClean="0"/>
              <a:t>if </a:t>
            </a:r>
            <a:r>
              <a:rPr lang="ko-KR" altLang="en-US" smtClean="0"/>
              <a:t>문과 </a:t>
            </a:r>
            <a:r>
              <a:rPr lang="ko-KR" altLang="en-US"/>
              <a:t>매우 유사</a:t>
            </a:r>
          </a:p>
          <a:p>
            <a:r>
              <a:rPr lang="ko-KR" altLang="en-US"/>
              <a:t>조건식이 참이라면 계속 반복하여 해당 코드를 실행</a:t>
            </a:r>
          </a:p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479" y="2755222"/>
            <a:ext cx="9712311" cy="240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489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411314-D3C3-11B0-1E3A-2EA00881F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smtClean="0"/>
              <a:t>while </a:t>
            </a:r>
            <a:r>
              <a:rPr lang="ko-KR" altLang="en-US" sz="2400" smtClean="0"/>
              <a:t>문의 </a:t>
            </a:r>
            <a:r>
              <a:rPr lang="ko-KR" altLang="en-US" sz="2400"/>
              <a:t>문법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4.3 while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3D3CF5-0119-14A0-8DC3-851544C2441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3576" y="1700809"/>
            <a:ext cx="4878438" cy="4345428"/>
          </a:xfrm>
        </p:spPr>
        <p:txBody>
          <a:bodyPr/>
          <a:lstStyle/>
          <a:p>
            <a:pPr fontAlgn="base"/>
            <a:r>
              <a:rPr lang="en-US" altLang="ko-KR" err="1"/>
              <a:t>i</a:t>
            </a:r>
            <a:r>
              <a:rPr lang="ko-KR" altLang="en-US" err="1"/>
              <a:t>를</a:t>
            </a:r>
            <a:r>
              <a:rPr lang="ko-KR" altLang="en-US"/>
              <a:t> </a:t>
            </a:r>
            <a:r>
              <a:rPr lang="en-US" altLang="ko-KR"/>
              <a:t>0</a:t>
            </a:r>
            <a:r>
              <a:rPr lang="ko-KR" altLang="en-US"/>
              <a:t>부터 </a:t>
            </a:r>
            <a:r>
              <a:rPr lang="en-US" altLang="ko-KR"/>
              <a:t>1</a:t>
            </a:r>
            <a:r>
              <a:rPr lang="ko-KR" altLang="en-US"/>
              <a:t>씩 증가시키며 </a:t>
            </a:r>
            <a:r>
              <a:rPr lang="en-US" altLang="ko-KR"/>
              <a:t>5</a:t>
            </a:r>
            <a:r>
              <a:rPr lang="ko-KR" altLang="en-US"/>
              <a:t>보다 작을 때까지 </a:t>
            </a:r>
            <a:r>
              <a:rPr lang="en-US" altLang="ko-KR"/>
              <a:t>while </a:t>
            </a:r>
            <a:r>
              <a:rPr lang="ko-KR" altLang="en-US"/>
              <a:t>내부의 코드를 반복함</a:t>
            </a:r>
            <a:endParaRPr lang="en-US" altLang="ko-KR"/>
          </a:p>
          <a:p>
            <a:pPr fontAlgn="base"/>
            <a:r>
              <a:rPr lang="ko-KR" altLang="en-US"/>
              <a:t>다음과 같이 새로 작성 가능</a:t>
            </a:r>
          </a:p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E1D4B86-EE77-D63F-3EBC-843DA9622967}"/>
              </a:ext>
            </a:extLst>
          </p:cNvPr>
          <p:cNvGrpSpPr/>
          <p:nvPr/>
        </p:nvGrpSpPr>
        <p:grpSpPr>
          <a:xfrm>
            <a:off x="1007437" y="1732263"/>
            <a:ext cx="5101694" cy="4282520"/>
            <a:chOff x="886731" y="341597"/>
            <a:chExt cx="7100332" cy="5960238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5374" y="2022131"/>
              <a:ext cx="7091689" cy="4279704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6731" y="341597"/>
              <a:ext cx="7100332" cy="15695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0499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411314-D3C3-11B0-1E3A-2EA00881F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smtClean="0"/>
              <a:t>while </a:t>
            </a:r>
            <a:r>
              <a:rPr lang="ko-KR" altLang="en-US" sz="2400" smtClean="0"/>
              <a:t>문의 </a:t>
            </a:r>
            <a:r>
              <a:rPr lang="ko-KR" altLang="en-US" sz="2400"/>
              <a:t>문법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4.3 while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3D3CF5-0119-14A0-8DC3-851544C2441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44234" y="1700809"/>
            <a:ext cx="4537779" cy="4345428"/>
          </a:xfrm>
        </p:spPr>
        <p:txBody>
          <a:bodyPr/>
          <a:lstStyle/>
          <a:p>
            <a:pPr fontAlgn="base"/>
            <a:r>
              <a:rPr lang="ko-KR" altLang="en-US"/>
              <a:t>반복실행의 횟수가 명확한 경우는 </a:t>
            </a:r>
            <a:r>
              <a:rPr lang="en-US" altLang="ko-KR" smtClean="0"/>
              <a:t>while </a:t>
            </a:r>
            <a:r>
              <a:rPr lang="ko-KR" altLang="en-US" smtClean="0"/>
              <a:t>문의 </a:t>
            </a:r>
            <a:r>
              <a:rPr lang="ko-KR" altLang="en-US"/>
              <a:t>코드가 길어지기 때문에 </a:t>
            </a:r>
            <a:r>
              <a:rPr lang="en-US" altLang="ko-KR" smtClean="0"/>
              <a:t>for </a:t>
            </a:r>
            <a:r>
              <a:rPr lang="ko-KR" altLang="en-US" smtClean="0"/>
              <a:t>문을 </a:t>
            </a:r>
            <a:r>
              <a:rPr lang="ko-KR" altLang="en-US"/>
              <a:t>사용하는 것이 더 나은 방법</a:t>
            </a:r>
          </a:p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4" y="1700808"/>
            <a:ext cx="5403589" cy="394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301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917" y="2703114"/>
            <a:ext cx="9206889" cy="2626988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7E165E-3668-F840-DA76-1A7F6D191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smtClean="0"/>
              <a:t>while </a:t>
            </a:r>
            <a:r>
              <a:rPr lang="ko-KR" altLang="en-US" sz="2400" smtClean="0"/>
              <a:t>문과 </a:t>
            </a:r>
            <a:r>
              <a:rPr lang="en-US" altLang="ko-KR" sz="2400" smtClean="0"/>
              <a:t>for </a:t>
            </a:r>
            <a:r>
              <a:rPr lang="ko-KR" altLang="en-US" sz="2400" smtClean="0"/>
              <a:t>문 </a:t>
            </a:r>
            <a:r>
              <a:rPr lang="ko-KR" altLang="en-US" sz="2400"/>
              <a:t>비교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4.3 while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55A289-D06A-6BDE-3436-D41E0302212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smtClean="0"/>
              <a:t>while </a:t>
            </a:r>
            <a:r>
              <a:rPr lang="ko-KR" altLang="en-US" smtClean="0"/>
              <a:t>문은 </a:t>
            </a:r>
            <a:r>
              <a:rPr lang="ko-KR" altLang="en-US"/>
              <a:t>수행횟수를 정확히 모르지만 수행의 조건이 명확한 경우에 더 적합</a:t>
            </a:r>
            <a:endParaRPr lang="en-US" altLang="ko-KR"/>
          </a:p>
          <a:p>
            <a:r>
              <a:rPr lang="ko-KR" altLang="en-US"/>
              <a:t>반복 횟수가 명확한 경우 </a:t>
            </a:r>
            <a:r>
              <a:rPr lang="en-US" altLang="ko-KR" smtClean="0"/>
              <a:t>for </a:t>
            </a:r>
            <a:r>
              <a:rPr lang="ko-KR" altLang="en-US" smtClean="0"/>
              <a:t>문이 </a:t>
            </a:r>
            <a:r>
              <a:rPr lang="ko-KR" altLang="en-US"/>
              <a:t>적합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3256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4.3.2 while </a:t>
            </a:r>
            <a:r>
              <a:rPr lang="ko-KR" altLang="en-US"/>
              <a:t>반복문과 입력조건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4.3 while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C81730-BE29-1DE0-FEC7-9AC6846C3DE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사용자로부터 </a:t>
            </a:r>
            <a:r>
              <a:rPr lang="en-US" altLang="ko-KR"/>
              <a:t>'</a:t>
            </a:r>
            <a:r>
              <a:rPr lang="ko-KR" altLang="en-US"/>
              <a:t>가위</a:t>
            </a:r>
            <a:r>
              <a:rPr lang="en-US" altLang="ko-KR"/>
              <a:t>', '</a:t>
            </a:r>
            <a:r>
              <a:rPr lang="ko-KR" altLang="en-US"/>
              <a:t>바위</a:t>
            </a:r>
            <a:r>
              <a:rPr lang="en-US" altLang="ko-KR"/>
              <a:t>', '</a:t>
            </a:r>
            <a:r>
              <a:rPr lang="ko-KR" altLang="en-US"/>
              <a:t>보</a:t>
            </a:r>
            <a:r>
              <a:rPr lang="en-US" altLang="ko-KR"/>
              <a:t>'</a:t>
            </a:r>
            <a:r>
              <a:rPr lang="ko-KR" altLang="en-US"/>
              <a:t>를 입력으로 받아서 이 값을 출력하는 게임 프로그램</a:t>
            </a:r>
            <a:r>
              <a:rPr lang="en-US" altLang="ko-KR"/>
              <a:t> </a:t>
            </a:r>
            <a:r>
              <a:rPr lang="ko-KR" altLang="en-US"/>
              <a:t>만들기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143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4.3.2 while </a:t>
            </a:r>
            <a:r>
              <a:rPr lang="ko-KR" altLang="en-US"/>
              <a:t>반복문과 입력조건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4.3 while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C81730-BE29-1DE0-FEC7-9AC6846C3D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58000" y="1700809"/>
            <a:ext cx="4224014" cy="4345428"/>
          </a:xfrm>
        </p:spPr>
        <p:txBody>
          <a:bodyPr/>
          <a:lstStyle/>
          <a:p>
            <a:r>
              <a:rPr lang="ko-KR" altLang="en-US"/>
              <a:t>원하는 값 입력 시 실행되도록 하는 반복문에 적합함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4" y="1700808"/>
            <a:ext cx="5702707" cy="411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230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4.3.2 while </a:t>
            </a:r>
            <a:r>
              <a:rPr lang="ko-KR" altLang="en-US"/>
              <a:t>반복문과 입력조건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4.3 while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C81730-BE29-1DE0-FEC7-9AC6846C3D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58000" y="1700809"/>
            <a:ext cx="4224014" cy="4345428"/>
          </a:xfrm>
        </p:spPr>
        <p:txBody>
          <a:bodyPr/>
          <a:lstStyle/>
          <a:p>
            <a:pPr fontAlgn="base"/>
            <a:r>
              <a:rPr lang="ko-KR" altLang="en-US"/>
              <a:t>입력 값의 범위를 양의 자연수로 한정하려고 할 경우에도 </a:t>
            </a:r>
            <a:r>
              <a:rPr lang="en-US" altLang="ko-KR"/>
              <a:t>while </a:t>
            </a:r>
            <a:r>
              <a:rPr lang="ko-KR" altLang="en-US"/>
              <a:t>문을 사용하는 것이 적합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7" y="1700808"/>
            <a:ext cx="5525423" cy="352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7838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4.3.2 while </a:t>
            </a:r>
            <a:r>
              <a:rPr lang="ko-KR" altLang="en-US"/>
              <a:t>반복문과 입력조건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4.3 while </a:t>
            </a:r>
            <a:r>
              <a:rPr lang="ko-KR" altLang="en-US" err="1"/>
              <a:t>반복문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C81730-BE29-1DE0-FEC7-9AC6846C3D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58000" y="1700809"/>
            <a:ext cx="4224014" cy="4345428"/>
          </a:xfrm>
        </p:spPr>
        <p:txBody>
          <a:bodyPr/>
          <a:lstStyle/>
          <a:p>
            <a:pPr fontAlgn="base"/>
            <a:r>
              <a:rPr lang="en-US" altLang="ko-KR"/>
              <a:t>n &lt;= 0</a:t>
            </a:r>
            <a:r>
              <a:rPr lang="ko-KR" altLang="en-US"/>
              <a:t>이라는 조건을 만족할 경우 재입력을 받는 부분이 핵심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4" y="1749760"/>
            <a:ext cx="5555835" cy="397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755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err="1"/>
              <a:t>반복문을</a:t>
            </a:r>
            <a:r>
              <a:rPr lang="ko-KR" altLang="en-US"/>
              <a:t> 제어하는 키워드</a:t>
            </a:r>
            <a:endParaRPr lang="en-US" altLang="ko-KR"/>
          </a:p>
          <a:p>
            <a:pPr lvl="1"/>
            <a:r>
              <a:rPr lang="ko-KR" altLang="en-US"/>
              <a:t>반복 실행을 종료 </a:t>
            </a:r>
            <a:r>
              <a:rPr lang="en-US" altLang="ko-KR"/>
              <a:t>-&gt; break</a:t>
            </a:r>
            <a:endParaRPr lang="ko-KR" altLang="en-US"/>
          </a:p>
          <a:p>
            <a:pPr lvl="1"/>
            <a:r>
              <a:rPr lang="ko-KR" altLang="en-US" err="1"/>
              <a:t>반복문</a:t>
            </a:r>
            <a:r>
              <a:rPr lang="ko-KR" altLang="en-US"/>
              <a:t> 루프 내의 나머지 실행부를 건너뛰고 계속해서</a:t>
            </a:r>
            <a:r>
              <a:rPr lang="en-US" altLang="ko-KR"/>
              <a:t> </a:t>
            </a:r>
            <a:r>
              <a:rPr lang="ko-KR" altLang="en-US"/>
              <a:t>반복 루프를 실행 </a:t>
            </a: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continue</a:t>
            </a:r>
          </a:p>
          <a:p>
            <a:pPr lvl="1"/>
            <a:r>
              <a:rPr lang="en-US" altLang="ko-KR"/>
              <a:t>continue</a:t>
            </a:r>
            <a:r>
              <a:rPr lang="ko-KR" altLang="en-US"/>
              <a:t>는 반복 실행을 종료하지 않음</a:t>
            </a:r>
          </a:p>
          <a:p>
            <a:pPr lvl="1"/>
            <a:endParaRPr lang="ko-KR" altLang="en-US"/>
          </a:p>
          <a:p>
            <a:pPr lvl="1"/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4.4 break</a:t>
            </a:r>
            <a:r>
              <a:rPr lang="ko-KR" altLang="en-US"/>
              <a:t>와 </a:t>
            </a:r>
            <a:r>
              <a:rPr lang="en-US" altLang="ko-KR"/>
              <a:t>continue</a:t>
            </a:r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922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break</a:t>
            </a:r>
            <a:r>
              <a:rPr lang="ko-KR" altLang="en-US" sz="2400"/>
              <a:t>를 표현한 흐름도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4.4 break</a:t>
            </a:r>
            <a:r>
              <a:rPr lang="ko-KR" altLang="en-US"/>
              <a:t>와 </a:t>
            </a:r>
            <a:r>
              <a:rPr lang="en-US" altLang="ko-KR"/>
              <a:t>continue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2F3E63-B9F9-A09B-FE3C-E10F7C524D4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while</a:t>
            </a:r>
            <a:r>
              <a:rPr lang="ko-KR" altLang="en-US"/>
              <a:t>이나 반복문은 조건이 참이면 블록내의 문장을 수행</a:t>
            </a:r>
          </a:p>
          <a:p>
            <a:r>
              <a:rPr lang="ko-KR" altLang="en-US"/>
              <a:t>도중에서 </a:t>
            </a:r>
            <a:r>
              <a:rPr lang="en-US" altLang="ko-KR"/>
              <a:t>break</a:t>
            </a:r>
            <a:r>
              <a:rPr lang="ko-KR" altLang="en-US"/>
              <a:t>를 만나면 그 즉시 반복 실행을 종료하고 루프를 빠져나옴</a:t>
            </a:r>
          </a:p>
          <a:p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429" y="2708808"/>
            <a:ext cx="4245359" cy="333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870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break</a:t>
            </a:r>
            <a:r>
              <a:rPr lang="ko-KR" altLang="en-US" sz="2400"/>
              <a:t>를 표현한 흐름도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4.4 break</a:t>
            </a:r>
            <a:r>
              <a:rPr lang="ko-KR" altLang="en-US"/>
              <a:t>와 </a:t>
            </a:r>
            <a:r>
              <a:rPr lang="en-US" altLang="ko-KR"/>
              <a:t>continue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2F3E63-B9F9-A09B-FE3C-E10F7C524D4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243482" y="1700809"/>
            <a:ext cx="3838532" cy="4345428"/>
          </a:xfrm>
        </p:spPr>
        <p:txBody>
          <a:bodyPr/>
          <a:lstStyle/>
          <a:p>
            <a:pPr fontAlgn="base"/>
            <a:r>
              <a:rPr lang="ko-KR" altLang="en-US"/>
              <a:t>모음에 해당하면 </a:t>
            </a:r>
            <a:r>
              <a:rPr lang="en-US" altLang="ko-KR"/>
              <a:t>break</a:t>
            </a:r>
          </a:p>
          <a:p>
            <a:pPr fontAlgn="base"/>
            <a:r>
              <a:rPr lang="ko-KR" altLang="en-US"/>
              <a:t>그렇지 않으면 </a:t>
            </a:r>
            <a:r>
              <a:rPr lang="en-US" altLang="ko-KR"/>
              <a:t>print</a:t>
            </a:r>
            <a:r>
              <a:rPr lang="ko-KR" altLang="en-US"/>
              <a:t>를 이용하여 출력</a:t>
            </a:r>
          </a:p>
          <a:p>
            <a:pPr fontAlgn="base"/>
            <a:r>
              <a:rPr lang="en-US" altLang="ko-KR"/>
              <a:t>break</a:t>
            </a:r>
            <a:r>
              <a:rPr lang="ko-KR" altLang="en-US"/>
              <a:t>를 작동시키면 반복문의 나머지 부분을 실행하지 않고 루프를 중지시킴</a:t>
            </a:r>
          </a:p>
          <a:p>
            <a:pPr fontAlgn="base"/>
            <a:endParaRPr lang="ko-KR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677A137-7B2E-EB61-A52A-42256213012F}"/>
              </a:ext>
            </a:extLst>
          </p:cNvPr>
          <p:cNvGrpSpPr/>
          <p:nvPr/>
        </p:nvGrpSpPr>
        <p:grpSpPr>
          <a:xfrm>
            <a:off x="1007434" y="1700808"/>
            <a:ext cx="6028599" cy="4126251"/>
            <a:chOff x="929109" y="691774"/>
            <a:chExt cx="7150863" cy="4894380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/>
            <a:srcRect r="7245"/>
            <a:stretch/>
          </p:blipFill>
          <p:spPr>
            <a:xfrm>
              <a:off x="929110" y="3830552"/>
              <a:ext cx="7150862" cy="1755602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9109" y="691774"/>
              <a:ext cx="7136321" cy="29319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8957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continue</a:t>
            </a:r>
            <a:r>
              <a:rPr lang="ko-KR" altLang="en-US" sz="2400"/>
              <a:t>를 표현한 흐름도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4.4 break</a:t>
            </a:r>
            <a:r>
              <a:rPr lang="ko-KR" altLang="en-US"/>
              <a:t>와 </a:t>
            </a:r>
            <a:r>
              <a:rPr lang="en-US" altLang="ko-KR"/>
              <a:t>continue</a:t>
            </a:r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694265D-C909-7C35-F9A6-5F570C4D4A8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/>
              <a:t>루프를 빠져나오지 않고 </a:t>
            </a:r>
            <a:r>
              <a:rPr lang="en-US" altLang="ko-KR"/>
              <a:t>continue </a:t>
            </a:r>
            <a:r>
              <a:rPr lang="ko-KR" altLang="en-US"/>
              <a:t>아래의 문장만을 건너뛰는 역할</a:t>
            </a:r>
          </a:p>
          <a:p>
            <a:r>
              <a:rPr lang="ko-KR" altLang="en-US"/>
              <a:t>반복문이 종료되는 것은 조건이 거짓일 때에만 해당</a:t>
            </a:r>
          </a:p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965" y="2623611"/>
            <a:ext cx="5244679" cy="353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588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continue</a:t>
            </a:r>
            <a:r>
              <a:rPr lang="ko-KR" altLang="en-US" sz="2400"/>
              <a:t>를 표현한 흐름도</a:t>
            </a: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4.4 break</a:t>
            </a:r>
            <a:r>
              <a:rPr lang="ko-KR" altLang="en-US"/>
              <a:t>와 </a:t>
            </a:r>
            <a:r>
              <a:rPr lang="en-US" altLang="ko-KR"/>
              <a:t>continue</a:t>
            </a:r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694265D-C909-7C35-F9A6-5F570C4D4A8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fontAlgn="base"/>
            <a:r>
              <a:rPr lang="en-US" altLang="ko-KR"/>
              <a:t>continue</a:t>
            </a:r>
            <a:r>
              <a:rPr lang="ko-KR" altLang="en-US"/>
              <a:t>를 넣게 되면 아래에 있는 아래의 나머지 부분</a:t>
            </a:r>
            <a:r>
              <a:rPr lang="en-US" altLang="ko-KR"/>
              <a:t>, </a:t>
            </a:r>
            <a:br>
              <a:rPr lang="en-US" altLang="ko-KR"/>
            </a:br>
            <a:r>
              <a:rPr lang="ko-KR" altLang="en-US"/>
              <a:t>즉 </a:t>
            </a:r>
            <a:r>
              <a:rPr lang="en-US" altLang="ko-KR"/>
              <a:t>print</a:t>
            </a:r>
            <a:r>
              <a:rPr lang="ko-KR" altLang="en-US"/>
              <a:t>를 실행하지 않고 반복문의 처음으로 돌아가는 기능을 함</a:t>
            </a:r>
          </a:p>
          <a:p>
            <a:pPr lvl="1"/>
            <a:endParaRPr lang="en-US" altLang="ko-KR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379" y="1636532"/>
            <a:ext cx="2739635" cy="359726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34" y="1636531"/>
            <a:ext cx="7050773" cy="3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075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99D37-C6AC-6D27-24A0-3E330C75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4.4 break</a:t>
            </a:r>
            <a:r>
              <a:rPr lang="ko-KR" altLang="en-US"/>
              <a:t>와 </a:t>
            </a:r>
            <a:r>
              <a:rPr lang="en-US" altLang="ko-KR"/>
              <a:t>continue</a:t>
            </a:r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483359"/>
            <a:ext cx="10015538" cy="220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560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LAB </a:t>
            </a:r>
            <a:r>
              <a:rPr lang="ko-KR" altLang="en-US"/>
              <a:t>문제를 하나하나 풀어봅시다</a:t>
            </a:r>
            <a:r>
              <a:rPr lang="en-US" altLang="ko-KR"/>
              <a:t>.</a:t>
            </a:r>
          </a:p>
          <a:p>
            <a:r>
              <a:rPr lang="en-US" altLang="ko-KR"/>
              <a:t>4</a:t>
            </a:r>
            <a:r>
              <a:rPr lang="ko-KR" altLang="en-US"/>
              <a:t>장의 연습문제를 하나씩 풀어보며 </a:t>
            </a:r>
            <a:r>
              <a:rPr lang="en-US" altLang="ko-KR"/>
              <a:t>4</a:t>
            </a:r>
            <a:r>
              <a:rPr lang="ko-KR" altLang="en-US"/>
              <a:t>장의 내용을 복습해 봅시다</a:t>
            </a:r>
            <a:r>
              <a:rPr lang="en-US" altLang="ko-KR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할일</a:t>
            </a:r>
          </a:p>
        </p:txBody>
      </p:sp>
    </p:spTree>
    <p:extLst>
      <p:ext uri="{BB962C8B-B14F-4D97-AF65-F5344CB8AC3E}">
        <p14:creationId xmlns:p14="http://schemas.microsoft.com/office/powerpoint/2010/main" val="30599208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9" y="2179177"/>
            <a:ext cx="6626705" cy="4095532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3495675" y="1255713"/>
            <a:ext cx="9144000" cy="2387600"/>
          </a:xfrm>
        </p:spPr>
        <p:txBody>
          <a:bodyPr/>
          <a:lstStyle/>
          <a:p>
            <a:r>
              <a:rPr lang="en-US" altLang="ko-KR"/>
              <a:t>Questions?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033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6326</TotalTime>
  <Words>1513</Words>
  <Application>Microsoft Office PowerPoint</Application>
  <PresentationFormat>와이드스크린</PresentationFormat>
  <Paragraphs>231</Paragraphs>
  <Slides>70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4" baseType="lpstr">
      <vt:lpstr>D2Coding</vt:lpstr>
      <vt:lpstr>맑은 고딕</vt:lpstr>
      <vt:lpstr>Arial</vt:lpstr>
      <vt:lpstr>Office 테마</vt:lpstr>
      <vt:lpstr>PowerPoint 프레젠테이션</vt:lpstr>
      <vt:lpstr>PowerPoint 프레젠테이션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4.1 for 반복문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4.2 중첩 for 루프</vt:lpstr>
      <vt:lpstr>4.3 while 반복문</vt:lpstr>
      <vt:lpstr>4.3 while 반복문</vt:lpstr>
      <vt:lpstr>4.3 while 반복문</vt:lpstr>
      <vt:lpstr>4.3 while 반복문</vt:lpstr>
      <vt:lpstr>4.3 while 반복문</vt:lpstr>
      <vt:lpstr>4.3 while 반복문</vt:lpstr>
      <vt:lpstr>4.3 while 반복문</vt:lpstr>
      <vt:lpstr>4.3 while 반복문</vt:lpstr>
      <vt:lpstr>4.3 while 반복문</vt:lpstr>
      <vt:lpstr>4.4 break와 continue</vt:lpstr>
      <vt:lpstr>4.4 break와 continue</vt:lpstr>
      <vt:lpstr>4.4 break와 continue</vt:lpstr>
      <vt:lpstr>4.4 break와 continue</vt:lpstr>
      <vt:lpstr>4.4 break와 continue</vt:lpstr>
      <vt:lpstr>4.4 break와 continue</vt:lpstr>
      <vt:lpstr>할일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쫄깃한 파이썬</dc:title>
  <dc:creator>dongupak</dc:creator>
  <cp:lastModifiedBy>박 동규</cp:lastModifiedBy>
  <cp:revision>199</cp:revision>
  <dcterms:created xsi:type="dcterms:W3CDTF">2019-07-01T11:22:40Z</dcterms:created>
  <dcterms:modified xsi:type="dcterms:W3CDTF">2024-09-30T02:26:42Z</dcterms:modified>
</cp:coreProperties>
</file>