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0"/>
  </p:notesMasterIdLst>
  <p:sldIdLst>
    <p:sldId id="256" r:id="rId5"/>
    <p:sldId id="280" r:id="rId6"/>
    <p:sldId id="330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07" r:id="rId22"/>
    <p:sldId id="328" r:id="rId23"/>
    <p:sldId id="312" r:id="rId24"/>
    <p:sldId id="311" r:id="rId25"/>
    <p:sldId id="329" r:id="rId26"/>
    <p:sldId id="275" r:id="rId27"/>
    <p:sldId id="258" r:id="rId28"/>
    <p:sldId id="276" r:id="rId2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714"/>
  </p:normalViewPr>
  <p:slideViewPr>
    <p:cSldViewPr snapToGrid="0" snapToObjects="1" showGuides="1">
      <p:cViewPr varScale="1">
        <p:scale>
          <a:sx n="71" d="100"/>
          <a:sy n="71" d="100"/>
        </p:scale>
        <p:origin x="760" y="472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>
            <a:off x="571500" y="4749800"/>
            <a:ext cx="11868094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0" y="5016500"/>
            <a:ext cx="11861800" cy="1016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" name="Image"/>
          <p:cNvSpPr>
            <a:spLocks noGrp="1"/>
          </p:cNvSpPr>
          <p:nvPr>
            <p:ph type="pic" idx="13"/>
          </p:nvPr>
        </p:nvSpPr>
        <p:spPr>
          <a:xfrm>
            <a:off x="0" y="-25400"/>
            <a:ext cx="13004800" cy="77253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571500" y="3289300"/>
            <a:ext cx="11861800" cy="31750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ody Level One…"/>
          <p:cNvSpPr txBox="1">
            <a:spLocks noGrp="1"/>
          </p:cNvSpPr>
          <p:nvPr>
            <p:ph type="body" idx="1"/>
          </p:nvPr>
        </p:nvSpPr>
        <p:spPr>
          <a:xfrm>
            <a:off x="889000" y="889000"/>
            <a:ext cx="11214100" cy="79629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Line"/>
          <p:cNvSpPr/>
          <p:nvPr/>
        </p:nvSpPr>
        <p:spPr>
          <a:xfrm flipH="1">
            <a:off x="9055098" y="508000"/>
            <a:ext cx="128" cy="79756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9" name="Line"/>
          <p:cNvSpPr/>
          <p:nvPr/>
        </p:nvSpPr>
        <p:spPr>
          <a:xfrm>
            <a:off x="9055096" y="4464050"/>
            <a:ext cx="3448503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0" name="Image"/>
          <p:cNvSpPr>
            <a:spLocks noGrp="1"/>
          </p:cNvSpPr>
          <p:nvPr>
            <p:ph type="pic" sz="half" idx="13"/>
          </p:nvPr>
        </p:nvSpPr>
        <p:spPr>
          <a:xfrm>
            <a:off x="9168011" y="4584788"/>
            <a:ext cx="6506665" cy="4343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Image"/>
          <p:cNvSpPr>
            <a:spLocks noGrp="1"/>
          </p:cNvSpPr>
          <p:nvPr>
            <p:ph type="pic" sz="quarter" idx="14"/>
          </p:nvPr>
        </p:nvSpPr>
        <p:spPr>
          <a:xfrm>
            <a:off x="9182100" y="-101600"/>
            <a:ext cx="3365500" cy="5003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Image"/>
          <p:cNvSpPr>
            <a:spLocks noGrp="1"/>
          </p:cNvSpPr>
          <p:nvPr>
            <p:ph type="pic" idx="15"/>
          </p:nvPr>
        </p:nvSpPr>
        <p:spPr>
          <a:xfrm>
            <a:off x="-800100" y="469900"/>
            <a:ext cx="11049000" cy="805399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20700" y="8661400"/>
            <a:ext cx="8369300" cy="939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9842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457200">
              <a:spcBef>
                <a:spcPts val="0"/>
              </a:spcBef>
              <a:buSzTx/>
              <a:buFontTx/>
              <a:buNone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2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92600"/>
            <a:ext cx="10464800" cy="7112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457200">
              <a:spcBef>
                <a:spcPts val="2400"/>
              </a:spcBef>
              <a:buSzTx/>
              <a:buFontTx/>
              <a:buNone/>
              <a:defRPr sz="4000"/>
            </a:lvl1pPr>
          </a:lstStyle>
          <a:p>
            <a:r>
              <a:t>“Type a quote here.”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mage"/>
          <p:cNvSpPr>
            <a:spLocks noGrp="1"/>
          </p:cNvSpPr>
          <p:nvPr>
            <p:ph type="pic" idx="13"/>
          </p:nvPr>
        </p:nvSpPr>
        <p:spPr>
          <a:xfrm>
            <a:off x="-177800" y="0"/>
            <a:ext cx="133731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6AFA72-17FE-73F3-A9F8-E7DA7584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1CC64-0DFB-6528-F5E6-DB68BCE1B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0AA316-3450-4EA4-FA77-C4841A22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A0AB-1C7A-478A-B0EA-078A06573497}" type="datetimeFigureOut">
              <a:rPr lang="ko-KR" altLang="en-US" smtClean="0"/>
              <a:t>2026. 3. 19.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6B74D-24B7-CFA3-4D41-EC37345B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FCE80B-FDD1-1486-DC9F-BA44DA3A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9613" y="9181564"/>
            <a:ext cx="320601" cy="318036"/>
          </a:xfrm>
        </p:spPr>
        <p:txBody>
          <a:bodyPr/>
          <a:lstStyle/>
          <a:p>
            <a:fld id="{25622C16-82A0-4AFC-8901-9A5EADFE2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3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79464-37EC-FD2C-DC39-B1484BBF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27B60F-0A5C-5D01-D840-1C01EFD17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92F2A7-DE37-054D-5345-E97539750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8CA8D-DE8C-8D15-174D-96464965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A0AB-1C7A-478A-B0EA-078A06573497}" type="datetimeFigureOut">
              <a:rPr lang="ko-KR" altLang="en-US" smtClean="0"/>
              <a:t>2026. 3. 19.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29236D-A803-47AE-4AD9-A3FCCF23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73F1CD-E9DD-6028-67A2-21588745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9613" y="9181564"/>
            <a:ext cx="320601" cy="318036"/>
          </a:xfrm>
        </p:spPr>
        <p:txBody>
          <a:bodyPr/>
          <a:lstStyle/>
          <a:p>
            <a:fld id="{25622C16-82A0-4AFC-8901-9A5EADFE23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90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571500" y="1968500"/>
            <a:ext cx="11868106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222500"/>
            <a:ext cx="11861800" cy="666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199" y="9199778"/>
            <a:ext cx="312015" cy="2998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transition spd="med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457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914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371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1828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22860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2743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3200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3657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4114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coolbrise@knu.ac.k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oblesse.com/&#52852;&#49828;&#54028;&#47476;-&#45796;&#48708;&#53944;-&#54532;&#47532;&#46300;&#47532;&#55176;&#47484;-&#44592;&#50613;&#54616;&#45796;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news.hada.io/topic?id=26871" TargetMode="Externa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db.com/title/tt4846340" TargetMode="External"/><Relationship Id="rId2" Type="http://schemas.openxmlformats.org/officeDocument/2006/relationships/hyperlink" Target="https://www.aladin.co.kr/shop/wproduct.aspx?ItemId=323084753" TargetMode="Externa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12382269-04B2-787B-33A3-0700D96F2EEF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28" name="컴퓨팅사고와 SW코딩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컴퓨팅사고와 SW코딩</a:t>
            </a:r>
          </a:p>
        </p:txBody>
      </p:sp>
      <p:sp>
        <p:nvSpPr>
          <p:cNvPr id="129" name="안병준 coolbrise@knu.ac.kr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72516">
              <a:defRPr sz="2548"/>
            </a:pPr>
            <a:r>
              <a:t>안병준 </a:t>
            </a:r>
            <a:r>
              <a:rPr u="sng">
                <a:hlinkClick r:id="rId2"/>
              </a:rPr>
              <a:t>coolbrise@knu.ac.kr</a:t>
            </a:r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40F53711-BEC3-AA40-7D13-9C0EE04E449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3004799" cy="769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F359986-0DCD-F60E-26AF-A9ACFA08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</p:spPr>
        <p:txBody>
          <a:bodyPr/>
          <a:lstStyle/>
          <a:p>
            <a:r>
              <a:rPr lang="en-US" dirty="0"/>
              <a:t>Caspar David Friedrich, </a:t>
            </a:r>
            <a:br>
              <a:rPr lang="en-US" dirty="0"/>
            </a:br>
            <a:r>
              <a:rPr lang="en-US" dirty="0"/>
              <a:t>Wanderer Above the Sea of Fog</a:t>
            </a:r>
          </a:p>
        </p:txBody>
      </p:sp>
      <p:pic>
        <p:nvPicPr>
          <p:cNvPr id="10" name="Picture Placeholder 9" descr="A person standing on a rock looking at clouds&#10;&#10;AI-generated content may be incorrect.">
            <a:extLst>
              <a:ext uri="{FF2B5EF4-FFF2-40B4-BE49-F238E27FC236}">
                <a16:creationId xmlns:a16="http://schemas.microsoft.com/office/drawing/2014/main" id="{6F8E97D1-EEE1-D6F9-D1D1-76FBC3C11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075" y="2222500"/>
            <a:ext cx="5200650" cy="6667500"/>
          </a:xfr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18DFE2-DB7C-5162-7EC1-F6FAFE876DA1}"/>
              </a:ext>
            </a:extLst>
          </p:cNvPr>
          <p:cNvSpPr txBox="1"/>
          <p:nvPr/>
        </p:nvSpPr>
        <p:spPr>
          <a:xfrm>
            <a:off x="571501" y="8922871"/>
            <a:ext cx="1186179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3200" dirty="0">
                <a:hlinkClick r:id="rId3"/>
              </a:rPr>
              <a:t>https://</a:t>
            </a:r>
            <a:r>
              <a:rPr lang="en-US" sz="3200" dirty="0" err="1">
                <a:hlinkClick r:id="rId3"/>
              </a:rPr>
              <a:t>noblesse.com</a:t>
            </a:r>
            <a:r>
              <a:rPr lang="en-US" sz="3200" dirty="0">
                <a:hlinkClick r:id="rId3"/>
              </a:rPr>
              <a:t>/</a:t>
            </a:r>
            <a:r>
              <a:rPr lang="ko-KR" altLang="en-US" sz="3200" dirty="0" err="1">
                <a:hlinkClick r:id="rId3"/>
              </a:rPr>
              <a:t>카스파르</a:t>
            </a:r>
            <a:r>
              <a:rPr lang="en-US" altLang="ko-KR" sz="3200" dirty="0">
                <a:hlinkClick r:id="rId3"/>
              </a:rPr>
              <a:t>-</a:t>
            </a:r>
            <a:r>
              <a:rPr lang="ko-KR" altLang="en-US" sz="3200" dirty="0" err="1">
                <a:hlinkClick r:id="rId3"/>
              </a:rPr>
              <a:t>다비트</a:t>
            </a:r>
            <a:r>
              <a:rPr lang="en-US" altLang="ko-KR" sz="3200" dirty="0">
                <a:hlinkClick r:id="rId3"/>
              </a:rPr>
              <a:t>-</a:t>
            </a:r>
            <a:r>
              <a:rPr lang="ko-KR" altLang="en-US" sz="3200" dirty="0">
                <a:hlinkClick r:id="rId3"/>
              </a:rPr>
              <a:t>프리드리히를</a:t>
            </a:r>
            <a:r>
              <a:rPr lang="en-US" altLang="ko-KR" sz="3200" dirty="0">
                <a:hlinkClick r:id="rId3"/>
              </a:rPr>
              <a:t>-</a:t>
            </a:r>
            <a:r>
              <a:rPr lang="ko-KR" altLang="en-US" sz="3200" dirty="0">
                <a:hlinkClick r:id="rId3"/>
              </a:rPr>
              <a:t>기억하다</a:t>
            </a:r>
            <a:r>
              <a:rPr lang="en-US" altLang="ko-KR" sz="3200" dirty="0">
                <a:hlinkClick r:id="rId3"/>
              </a:rPr>
              <a:t>/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3742818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4EE15-A842-082B-32C7-78555CB0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88EAAE9-A1C1-0062-B350-326EA910692D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49980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FFEF-5C67-7BFC-C938-B5FE3A82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&#10;&#10;AI-generated content may be incorrect.">
            <a:extLst>
              <a:ext uri="{FF2B5EF4-FFF2-40B4-BE49-F238E27FC236}">
                <a16:creationId xmlns:a16="http://schemas.microsoft.com/office/drawing/2014/main" id="{CD36B7F3-2CF0-BDD3-7684-8C24E54A06CD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2611766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EACB-D566-919C-14D9-081EE9EA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 with an electrical circuit&#10;&#10;AI-generated content may be incorrect.">
            <a:extLst>
              <a:ext uri="{FF2B5EF4-FFF2-40B4-BE49-F238E27FC236}">
                <a16:creationId xmlns:a16="http://schemas.microsoft.com/office/drawing/2014/main" id="{0608ABFF-A800-C523-755A-2CF92060606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2731165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959E-3283-593B-EE38-CC2B8721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 with different types of computer files&#10;&#10;AI-generated content may be incorrect.">
            <a:extLst>
              <a:ext uri="{FF2B5EF4-FFF2-40B4-BE49-F238E27FC236}">
                <a16:creationId xmlns:a16="http://schemas.microsoft.com/office/drawing/2014/main" id="{7FB497C7-8E07-14F5-5EE0-8E2373C427DC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0361318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583A-A76B-905C-5E0B-E9E0C47D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&#10;&#10;AI-generated content may be incorrect.">
            <a:extLst>
              <a:ext uri="{FF2B5EF4-FFF2-40B4-BE49-F238E27FC236}">
                <a16:creationId xmlns:a16="http://schemas.microsoft.com/office/drawing/2014/main" id="{C5F88E17-6160-D70B-D22B-CA0E80E29E91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5880085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39700-2192-950F-8C90-30D10A2B2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 with a beard and a person with a mirror&#10;&#10;AI-generated content may be incorrect.">
            <a:extLst>
              <a:ext uri="{FF2B5EF4-FFF2-40B4-BE49-F238E27FC236}">
                <a16:creationId xmlns:a16="http://schemas.microsoft.com/office/drawing/2014/main" id="{ECFC33F3-86E8-341F-4EC1-CC692405729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3724854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B50A-64A3-9C42-D932-9DBBC01F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 and a child&#10;&#10;AI-generated content may be incorrect.">
            <a:extLst>
              <a:ext uri="{FF2B5EF4-FFF2-40B4-BE49-F238E27FC236}">
                <a16:creationId xmlns:a16="http://schemas.microsoft.com/office/drawing/2014/main" id="{1F208FAD-19A1-67B7-49CB-759FC127F3F7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2929126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444B1-31C5-01D1-02F6-6BB58830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two people on a unicycle&#10;&#10;AI-generated content may be incorrect.">
            <a:extLst>
              <a:ext uri="{FF2B5EF4-FFF2-40B4-BE49-F238E27FC236}">
                <a16:creationId xmlns:a16="http://schemas.microsoft.com/office/drawing/2014/main" id="{96BB53B5-E9BA-84B8-3558-66D6B95CD5C2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3642486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B091-3BBC-A22E-B50C-13DA542B6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 wearing a hat&#10;&#10;AI-generated content may be incorrect.">
            <a:extLst>
              <a:ext uri="{FF2B5EF4-FFF2-40B4-BE49-F238E27FC236}">
                <a16:creationId xmlns:a16="http://schemas.microsoft.com/office/drawing/2014/main" id="{6C45B74A-DE64-C977-4040-244E1435E83F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4576419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5157-88CC-60A1-896E-7D2AE61E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 with a mathematical formula&#10;&#10;AI-generated content may be incorrect.">
            <a:extLst>
              <a:ext uri="{FF2B5EF4-FFF2-40B4-BE49-F238E27FC236}">
                <a16:creationId xmlns:a16="http://schemas.microsoft.com/office/drawing/2014/main" id="{2DE5685D-8F54-57C3-8D3C-33740084D82A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067806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BC21-E9EA-C833-7CB3-EBFE06CB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Cartoon of a cartoon of two people with an ice cream cone&#10;&#10;AI-generated content may be incorrect.">
            <a:extLst>
              <a:ext uri="{FF2B5EF4-FFF2-40B4-BE49-F238E27FC236}">
                <a16:creationId xmlns:a16="http://schemas.microsoft.com/office/drawing/2014/main" id="{5FEE9E38-927E-BF20-4C87-2D17B8B845FB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297310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3BF2-A700-D8CC-8F49-61F7BCC1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few different types of objects&#10;&#10;AI-generated content may be incorrect.">
            <a:extLst>
              <a:ext uri="{FF2B5EF4-FFF2-40B4-BE49-F238E27FC236}">
                <a16:creationId xmlns:a16="http://schemas.microsoft.com/office/drawing/2014/main" id="{B21DD87F-50B2-2EB1-F315-920B81366A9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769863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236A3-B11E-5445-66AA-BFA35482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 playing a game&#10;&#10;AI-generated content may be incorrect.">
            <a:extLst>
              <a:ext uri="{FF2B5EF4-FFF2-40B4-BE49-F238E27FC236}">
                <a16:creationId xmlns:a16="http://schemas.microsoft.com/office/drawing/2014/main" id="{DE93C551-CF51-F499-A2D8-E3EB0332BEE3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343769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18858-0CE6-48A0-07E5-302F53D2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chess board&#10;&#10;AI-generated content may be incorrect.">
            <a:extLst>
              <a:ext uri="{FF2B5EF4-FFF2-40B4-BE49-F238E27FC236}">
                <a16:creationId xmlns:a16="http://schemas.microsoft.com/office/drawing/2014/main" id="{09FA260F-8786-2F9A-AEE2-B07A185EE9A9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8792883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A0BD-CCA5-AD22-D34A-BFB84880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cartoon of a person playing chess&#10;&#10;AI-generated content may be incorrect.">
            <a:extLst>
              <a:ext uri="{FF2B5EF4-FFF2-40B4-BE49-F238E27FC236}">
                <a16:creationId xmlns:a16="http://schemas.microsoft.com/office/drawing/2014/main" id="{B99A418D-228A-9116-B272-C16976B1A27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 b="13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9932566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 descr="텍스트, 친필, 만화 영화, 클립아트이(가) 표시된 사진&#10;&#10;자동 생성된 설명">
            <a:extLst>
              <a:ext uri="{FF2B5EF4-FFF2-40B4-BE49-F238E27FC236}">
                <a16:creationId xmlns:a16="http://schemas.microsoft.com/office/drawing/2014/main" id="{991BE798-12C9-F182-5F52-82375EBFB58B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" b="15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6372683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7F1106-99D7-4EE3-3264-B2D91C3B7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hlinkClick r:id="rId2"/>
              </a:rPr>
              <a:t>Claude Code </a:t>
            </a:r>
            <a:r>
              <a:rPr lang="ko-KR" altLang="en-US" sz="3600" b="1" dirty="0">
                <a:hlinkClick r:id="rId2"/>
              </a:rPr>
              <a:t>해커톤 수상자 명단에 개발자가 한 명도 없습니다</a:t>
            </a:r>
            <a:r>
              <a:rPr lang="en-US" altLang="ko-KR" sz="3600" b="1" dirty="0">
                <a:hlinkClick r:id="rId2"/>
              </a:rPr>
              <a:t>.</a:t>
            </a:r>
            <a:br>
              <a:rPr lang="ko-KR" altLang="en-US" sz="3600" dirty="0">
                <a:hlinkClick r:id="rId2"/>
              </a:rPr>
            </a:br>
            <a:endParaRPr lang="en-US" dirty="0"/>
          </a:p>
        </p:txBody>
      </p:sp>
      <p:pic>
        <p:nvPicPr>
          <p:cNvPr id="4" name="Picture Placeholder 3" descr="A computer with a brain and text&#10;&#10;AI-generated content may be incorrect.">
            <a:extLst>
              <a:ext uri="{FF2B5EF4-FFF2-40B4-BE49-F238E27FC236}">
                <a16:creationId xmlns:a16="http://schemas.microsoft.com/office/drawing/2014/main" id="{6D96A14F-9D36-7F0C-B7F9-ACF79B44A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249773"/>
            <a:ext cx="11861800" cy="6612953"/>
          </a:xfrm>
          <a:noFill/>
        </p:spPr>
      </p:pic>
    </p:spTree>
    <p:extLst>
      <p:ext uri="{BB962C8B-B14F-4D97-AF65-F5344CB8AC3E}">
        <p14:creationId xmlns:p14="http://schemas.microsoft.com/office/powerpoint/2010/main" val="297255919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EDAF82F-CD08-DAAD-E072-C51824A9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</p:spPr>
        <p:txBody>
          <a:bodyPr/>
          <a:lstStyle/>
          <a:p>
            <a:r>
              <a:rPr lang="en-US" dirty="0"/>
              <a:t>Share your MD language experience</a:t>
            </a:r>
          </a:p>
        </p:txBody>
      </p:sp>
      <p:pic>
        <p:nvPicPr>
          <p:cNvPr id="6" name="Picture 5" descr="A person standing at a podium with a microphone&#10;&#10;AI-generated content may be incorrect.">
            <a:extLst>
              <a:ext uri="{FF2B5EF4-FFF2-40B4-BE49-F238E27FC236}">
                <a16:creationId xmlns:a16="http://schemas.microsoft.com/office/drawing/2014/main" id="{76E433F3-382D-235D-E77A-D19A3B6B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"/>
          <a:stretch>
            <a:fillRect/>
          </a:stretch>
        </p:blipFill>
        <p:spPr>
          <a:xfrm>
            <a:off x="571500" y="2222500"/>
            <a:ext cx="11861800" cy="6667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3274471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 descr="텍스트, 실내, 의류, 컴퓨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F4E2C0-6779-7C86-792A-2C6E71AEF69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1" r="1" b="4416"/>
          <a:stretch/>
        </p:blipFill>
        <p:spPr>
          <a:xfrm>
            <a:off x="-177800" y="10"/>
            <a:ext cx="13373100" cy="9753590"/>
          </a:xfrm>
          <a:noFill/>
        </p:spPr>
      </p:pic>
    </p:spTree>
    <p:extLst>
      <p:ext uri="{BB962C8B-B14F-4D97-AF65-F5344CB8AC3E}">
        <p14:creationId xmlns:p14="http://schemas.microsoft.com/office/powerpoint/2010/main" val="61447481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D6C3B-BC9B-740F-CACE-1355D88B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quote on a dark background&#10;&#10;AI-generated content may be incorrect.">
            <a:extLst>
              <a:ext uri="{FF2B5EF4-FFF2-40B4-BE49-F238E27FC236}">
                <a16:creationId xmlns:a16="http://schemas.microsoft.com/office/drawing/2014/main" id="{FA307547-5866-1E43-E97D-270985B99856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8" r="1143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2462370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Further Stud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Further Studies</a:t>
            </a:r>
          </a:p>
        </p:txBody>
      </p:sp>
      <p:sp>
        <p:nvSpPr>
          <p:cNvPr id="181" name="The Missing Semester of Your CS Educ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Book</a:t>
            </a:r>
          </a:p>
          <a:p>
            <a:pPr lvl="1"/>
            <a:r>
              <a:rPr lang="ko-KR" altLang="en-US" dirty="0">
                <a:hlinkClick r:id="rId2"/>
              </a:rPr>
              <a:t>라틴어 수업 </a:t>
            </a:r>
            <a:r>
              <a:rPr lang="en-US" altLang="ko-KR" dirty="0">
                <a:hlinkClick r:id="rId2"/>
              </a:rPr>
              <a:t>: </a:t>
            </a:r>
            <a:r>
              <a:rPr lang="ko-KR" altLang="en-US" dirty="0">
                <a:hlinkClick r:id="rId2"/>
              </a:rPr>
              <a:t>알라딘</a:t>
            </a:r>
            <a:endParaRPr lang="en-US" altLang="ko-KR" dirty="0"/>
          </a:p>
          <a:p>
            <a:r>
              <a:rPr lang="en-US" dirty="0"/>
              <a:t>Watch a movie</a:t>
            </a:r>
          </a:p>
          <a:p>
            <a:pPr lvl="1"/>
            <a:r>
              <a:rPr lang="en-US" dirty="0">
                <a:hlinkClick r:id="rId3"/>
              </a:rPr>
              <a:t>https://www.imdb.com/title/tt4846340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B1DA40E-888B-172F-1F6F-49503082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도반</a:t>
            </a:r>
            <a:r>
              <a:rPr lang="en-US" altLang="ko-KR" dirty="0"/>
              <a:t>(</a:t>
            </a:r>
            <a:r>
              <a:rPr lang="ko-KR" altLang="en-US" dirty="0"/>
              <a:t>道伴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C1F177-DEBB-B1D9-FE22-9342B14A7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"</a:t>
            </a:r>
            <a:r>
              <a:rPr lang="ko-KR" altLang="en-US" dirty="0" err="1"/>
              <a:t>도반</a:t>
            </a:r>
            <a:r>
              <a:rPr lang="en-US" altLang="ko-KR" dirty="0"/>
              <a:t>(</a:t>
            </a:r>
            <a:r>
              <a:rPr lang="ko-KR" altLang="en-US" dirty="0"/>
              <a:t>道伴</a:t>
            </a:r>
            <a:r>
              <a:rPr lang="en-US" altLang="ko-KR" dirty="0"/>
              <a:t>)"</a:t>
            </a:r>
            <a:r>
              <a:rPr lang="ko-KR" altLang="en-US" dirty="0"/>
              <a:t>이라는 단어는 불교에서 유래된 표현으로</a:t>
            </a:r>
            <a:r>
              <a:rPr lang="en-US" altLang="ko-KR" dirty="0"/>
              <a:t>, </a:t>
            </a:r>
            <a:r>
              <a:rPr lang="ko-KR" altLang="en-US" dirty="0"/>
              <a:t>함께 수행하거나 진리를 추구하는 동료를 뜻합니다</a:t>
            </a:r>
            <a:r>
              <a:rPr lang="en-US" altLang="ko-KR" dirty="0"/>
              <a:t>. </a:t>
            </a:r>
            <a:r>
              <a:rPr lang="ko-KR" altLang="en-US" dirty="0"/>
              <a:t>이 단어를 풀이하면 </a:t>
            </a:r>
            <a:r>
              <a:rPr lang="en-US" altLang="ko-KR" dirty="0"/>
              <a:t>"</a:t>
            </a:r>
            <a:r>
              <a:rPr lang="ko-KR" altLang="en-US" dirty="0"/>
              <a:t>도</a:t>
            </a:r>
            <a:r>
              <a:rPr lang="en-US" altLang="ko-KR" dirty="0"/>
              <a:t>(</a:t>
            </a:r>
            <a:r>
              <a:rPr lang="ko-KR" altLang="en-US" dirty="0"/>
              <a:t>道</a:t>
            </a:r>
            <a:r>
              <a:rPr lang="en-US" altLang="ko-KR" dirty="0"/>
              <a:t>)"</a:t>
            </a:r>
            <a:r>
              <a:rPr lang="ko-KR" altLang="en-US" dirty="0"/>
              <a:t>는 깨달음의 길이나 진리를 의미하고</a:t>
            </a:r>
            <a:r>
              <a:rPr lang="en-US" altLang="ko-KR" dirty="0"/>
              <a:t>, "</a:t>
            </a:r>
            <a:r>
              <a:rPr lang="ko-KR" altLang="en-US" dirty="0"/>
              <a:t>반</a:t>
            </a:r>
            <a:r>
              <a:rPr lang="en-US" altLang="ko-KR" dirty="0"/>
              <a:t>(</a:t>
            </a:r>
            <a:r>
              <a:rPr lang="ko-KR" altLang="en-US" dirty="0"/>
              <a:t>伴</a:t>
            </a:r>
            <a:r>
              <a:rPr lang="en-US" altLang="ko-KR" dirty="0"/>
              <a:t>)"</a:t>
            </a:r>
            <a:r>
              <a:rPr lang="ko-KR" altLang="en-US" dirty="0"/>
              <a:t>은 동반자</a:t>
            </a:r>
            <a:r>
              <a:rPr lang="en-US" altLang="ko-KR" dirty="0"/>
              <a:t>, </a:t>
            </a:r>
            <a:r>
              <a:rPr lang="ko-KR" altLang="en-US" dirty="0"/>
              <a:t>즉 함께 길을 가는 사람을 뜻합니다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불교 수행에서 깨달음의 길은 혼자 걷기 힘들고</a:t>
            </a:r>
            <a:r>
              <a:rPr lang="en-US" altLang="ko-KR" dirty="0"/>
              <a:t>, </a:t>
            </a:r>
            <a:r>
              <a:rPr lang="ko-KR" altLang="en-US" dirty="0"/>
              <a:t>때로는 어려움과 고난이 따르기 마련입니다</a:t>
            </a:r>
            <a:r>
              <a:rPr lang="en-US" altLang="ko-KR" dirty="0"/>
              <a:t>. </a:t>
            </a:r>
            <a:r>
              <a:rPr lang="ko-KR" altLang="en-US" dirty="0"/>
              <a:t>이러한 여정을 함께 걸으며 서로 격려하고 도움을 주는 사람을 </a:t>
            </a:r>
            <a:r>
              <a:rPr lang="en-US" altLang="ko-KR" dirty="0"/>
              <a:t>"</a:t>
            </a:r>
            <a:r>
              <a:rPr lang="ko-KR" altLang="en-US" dirty="0" err="1"/>
              <a:t>도반</a:t>
            </a:r>
            <a:r>
              <a:rPr lang="en-US" altLang="ko-KR" dirty="0"/>
              <a:t> (</a:t>
            </a:r>
            <a:r>
              <a:rPr lang="ko-KR" altLang="en-US" dirty="0"/>
              <a:t>道伴</a:t>
            </a:r>
            <a:r>
              <a:rPr lang="en-US" altLang="ko-KR" dirty="0"/>
              <a:t>) "</a:t>
            </a:r>
            <a:r>
              <a:rPr lang="ko-KR" altLang="en-US" dirty="0"/>
              <a:t>이라고 부릅니다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이 개념이 현대적으로 확장되면서 단순히 불교 수행에 국한되지 않고</a:t>
            </a:r>
            <a:r>
              <a:rPr lang="en-US" altLang="ko-KR" dirty="0"/>
              <a:t>, </a:t>
            </a:r>
            <a:r>
              <a:rPr lang="ko-KR" altLang="en-US" dirty="0"/>
              <a:t>공부나 자기 성장 같은 목표를 공유하며 함께 노력하는 사람들을 의미하는 데도 사용되고 있습니다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 err="1"/>
              <a:t>도반</a:t>
            </a:r>
            <a:r>
              <a:rPr lang="en-US" altLang="ko-KR" dirty="0"/>
              <a:t> (</a:t>
            </a:r>
            <a:r>
              <a:rPr lang="ko-KR" altLang="en-US" dirty="0"/>
              <a:t>道伴</a:t>
            </a:r>
            <a:r>
              <a:rPr lang="en-US" altLang="ko-KR" dirty="0"/>
              <a:t>)</a:t>
            </a:r>
            <a:r>
              <a:rPr lang="ko-KR" altLang="en-US" dirty="0"/>
              <a:t>은 단순한 친구나 동료를 넘어서</a:t>
            </a:r>
            <a:r>
              <a:rPr lang="en-US" altLang="ko-KR" dirty="0"/>
              <a:t>, </a:t>
            </a:r>
            <a:r>
              <a:rPr lang="ko-KR" altLang="en-US" dirty="0"/>
              <a:t>같은 목적을 향해 진심으로 함께하는 사람이라는 점에서 더 깊은 유대감과 의미를 담고 있다고 볼 수 있어요</a:t>
            </a:r>
            <a:r>
              <a:rPr lang="en-US" altLang="ko-KR" dirty="0"/>
              <a:t>. </a:t>
            </a:r>
            <a:r>
              <a:rPr lang="ko-KR" altLang="en-US" dirty="0"/>
              <a:t>😊</a:t>
            </a:r>
          </a:p>
        </p:txBody>
      </p:sp>
    </p:spTree>
    <p:extLst>
      <p:ext uri="{BB962C8B-B14F-4D97-AF65-F5344CB8AC3E}">
        <p14:creationId xmlns:p14="http://schemas.microsoft.com/office/powerpoint/2010/main" val="2937187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– Guido Van Rossum"/>
          <p:cNvSpPr txBox="1"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– </a:t>
            </a:r>
            <a:r>
              <a:rPr lang="en-US" dirty="0"/>
              <a:t>Hidden Figures</a:t>
            </a:r>
            <a:endParaRPr dirty="0"/>
          </a:p>
        </p:txBody>
      </p:sp>
      <p:sp>
        <p:nvSpPr>
          <p:cNvPr id="184" name="“I have this hope that there is a better way. Higher-level tools that actually let you see the structure of the software more clearly will be of tremendous value.”"/>
          <p:cNvSpPr txBox="1">
            <a:spLocks noGrp="1"/>
          </p:cNvSpPr>
          <p:nvPr>
            <p:ph type="body" idx="14"/>
          </p:nvPr>
        </p:nvSpPr>
        <p:spPr>
          <a:xfrm>
            <a:off x="1270000" y="4289127"/>
            <a:ext cx="10464800" cy="718145"/>
          </a:xfrm>
          <a:prstGeom prst="rect">
            <a:avLst/>
          </a:prstGeom>
        </p:spPr>
        <p:txBody>
          <a:bodyPr/>
          <a:lstStyle/>
          <a:p>
            <a:r>
              <a:rPr dirty="0"/>
              <a:t>“</a:t>
            </a:r>
            <a:r>
              <a:rPr lang="en-US" dirty="0"/>
              <a:t>Here at NASA we all pee the same color.</a:t>
            </a:r>
            <a:r>
              <a:rPr dirty="0"/>
              <a:t>”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98CCAA510C50B49874D604CDF61E6B5" ma:contentTypeVersion="10" ma:contentTypeDescription="새 문서를 만듭니다." ma:contentTypeScope="" ma:versionID="7cc5456dd315bb3473ee3449107a602b">
  <xsd:schema xmlns:xsd="http://www.w3.org/2001/XMLSchema" xmlns:xs="http://www.w3.org/2001/XMLSchema" xmlns:p="http://schemas.microsoft.com/office/2006/metadata/properties" xmlns:ns3="d5d3a902-ba94-4916-8dd8-0c0faeabce73" targetNamespace="http://schemas.microsoft.com/office/2006/metadata/properties" ma:root="true" ma:fieldsID="9f3bc81e509825696c111654d2552d90" ns3:_="">
    <xsd:import namespace="d5d3a902-ba94-4916-8dd8-0c0faeabce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3a902-ba94-4916-8dd8-0c0faeabce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5d3a902-ba94-4916-8dd8-0c0faeabce73" xsi:nil="true"/>
  </documentManagement>
</p:properties>
</file>

<file path=customXml/itemProps1.xml><?xml version="1.0" encoding="utf-8"?>
<ds:datastoreItem xmlns:ds="http://schemas.openxmlformats.org/officeDocument/2006/customXml" ds:itemID="{583F3226-5D2D-438D-8554-D4042D5326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d3a902-ba94-4916-8dd8-0c0faeabce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1F48B4-2CCC-4691-8DCD-99F3D9B3B2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9AEC42-6C79-4C3A-AEA1-ABBFADA4B66A}">
  <ds:schemaRefs>
    <ds:schemaRef ds:uri="d5d3a902-ba94-4916-8dd8-0c0faeabce73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2532</TotalTime>
  <Words>223</Words>
  <Application>Microsoft Macintosh PowerPoint</Application>
  <PresentationFormat>Custom</PresentationFormat>
  <Paragraphs>18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Helvetica</vt:lpstr>
      <vt:lpstr>Helvetica Neue</vt:lpstr>
      <vt:lpstr>Helvetica Neue Light</vt:lpstr>
      <vt:lpstr>Helvetica Neue Medium</vt:lpstr>
      <vt:lpstr>ModernPortfolio</vt:lpstr>
      <vt:lpstr>컴퓨팅사고와 SW코딩</vt:lpstr>
      <vt:lpstr>Caspar David Friedrich,  Wanderer Above the Sea of Fog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Claude Code 해커톤 수상자 명단에 개발자가 한 명도 없습니다. </vt:lpstr>
      <vt:lpstr>Share your MD language experience</vt:lpstr>
      <vt:lpstr>PowerPoint Presentation</vt:lpstr>
      <vt:lpstr>PowerPoint Presentation</vt:lpstr>
      <vt:lpstr>Further Studies</vt:lpstr>
      <vt:lpstr>도반(道伴)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컴퓨팅사고와 SW코딩</dc:title>
  <dc:creator>Brise</dc:creator>
  <cp:lastModifiedBy>Byung Jun An</cp:lastModifiedBy>
  <cp:revision>11</cp:revision>
  <dcterms:modified xsi:type="dcterms:W3CDTF">2026-03-19T11:59:05Z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0x010100298CCAA510C50B49874D604CDF61E6B5</vt:lpwstr>
  </property>
</Properties>
</file>