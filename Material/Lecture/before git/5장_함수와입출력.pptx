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490" r:id="rId2"/>
    <p:sldId id="257" r:id="rId3"/>
    <p:sldId id="258" r:id="rId4"/>
    <p:sldId id="300" r:id="rId5"/>
    <p:sldId id="425" r:id="rId6"/>
    <p:sldId id="333" r:id="rId7"/>
    <p:sldId id="426" r:id="rId8"/>
    <p:sldId id="378" r:id="rId9"/>
    <p:sldId id="427" r:id="rId10"/>
    <p:sldId id="428" r:id="rId11"/>
    <p:sldId id="429" r:id="rId12"/>
    <p:sldId id="430" r:id="rId13"/>
    <p:sldId id="431" r:id="rId14"/>
    <p:sldId id="278" r:id="rId15"/>
    <p:sldId id="432" r:id="rId16"/>
    <p:sldId id="303" r:id="rId17"/>
    <p:sldId id="433" r:id="rId18"/>
    <p:sldId id="434" r:id="rId19"/>
    <p:sldId id="304" r:id="rId20"/>
    <p:sldId id="384" r:id="rId21"/>
    <p:sldId id="260" r:id="rId22"/>
    <p:sldId id="335" r:id="rId23"/>
    <p:sldId id="336" r:id="rId24"/>
    <p:sldId id="337" r:id="rId25"/>
    <p:sldId id="435" r:id="rId26"/>
    <p:sldId id="385" r:id="rId27"/>
    <p:sldId id="436" r:id="rId28"/>
    <p:sldId id="339" r:id="rId29"/>
    <p:sldId id="437" r:id="rId30"/>
    <p:sldId id="438" r:id="rId31"/>
    <p:sldId id="439" r:id="rId32"/>
    <p:sldId id="387" r:id="rId33"/>
    <p:sldId id="440" r:id="rId34"/>
    <p:sldId id="441" r:id="rId35"/>
    <p:sldId id="442" r:id="rId36"/>
    <p:sldId id="310" r:id="rId37"/>
    <p:sldId id="342" r:id="rId38"/>
    <p:sldId id="443" r:id="rId39"/>
    <p:sldId id="444" r:id="rId40"/>
    <p:sldId id="389" r:id="rId41"/>
    <p:sldId id="313" r:id="rId42"/>
    <p:sldId id="343" r:id="rId43"/>
    <p:sldId id="344" r:id="rId44"/>
    <p:sldId id="445" r:id="rId45"/>
    <p:sldId id="346" r:id="rId46"/>
    <p:sldId id="347" r:id="rId47"/>
    <p:sldId id="314" r:id="rId48"/>
    <p:sldId id="446" r:id="rId49"/>
    <p:sldId id="315" r:id="rId50"/>
    <p:sldId id="447" r:id="rId51"/>
    <p:sldId id="448" r:id="rId52"/>
    <p:sldId id="450" r:id="rId53"/>
    <p:sldId id="451" r:id="rId54"/>
    <p:sldId id="452" r:id="rId55"/>
    <p:sldId id="453" r:id="rId56"/>
    <p:sldId id="398" r:id="rId57"/>
    <p:sldId id="454" r:id="rId58"/>
    <p:sldId id="455" r:id="rId59"/>
    <p:sldId id="456" r:id="rId60"/>
    <p:sldId id="457" r:id="rId61"/>
    <p:sldId id="458" r:id="rId62"/>
    <p:sldId id="349" r:id="rId63"/>
    <p:sldId id="459" r:id="rId64"/>
    <p:sldId id="460" r:id="rId65"/>
    <p:sldId id="461" r:id="rId66"/>
    <p:sldId id="462" r:id="rId67"/>
    <p:sldId id="319" r:id="rId68"/>
    <p:sldId id="403" r:id="rId69"/>
    <p:sldId id="463" r:id="rId70"/>
    <p:sldId id="464" r:id="rId71"/>
    <p:sldId id="465" r:id="rId72"/>
    <p:sldId id="466" r:id="rId73"/>
    <p:sldId id="467" r:id="rId74"/>
    <p:sldId id="468" r:id="rId75"/>
    <p:sldId id="469" r:id="rId76"/>
    <p:sldId id="470" r:id="rId77"/>
    <p:sldId id="471" r:id="rId78"/>
    <p:sldId id="472" r:id="rId79"/>
    <p:sldId id="473" r:id="rId80"/>
    <p:sldId id="474" r:id="rId81"/>
    <p:sldId id="475" r:id="rId82"/>
    <p:sldId id="476" r:id="rId83"/>
    <p:sldId id="412" r:id="rId84"/>
    <p:sldId id="477" r:id="rId85"/>
    <p:sldId id="478" r:id="rId86"/>
    <p:sldId id="479" r:id="rId87"/>
    <p:sldId id="480" r:id="rId88"/>
    <p:sldId id="367" r:id="rId89"/>
    <p:sldId id="481" r:id="rId90"/>
    <p:sldId id="482" r:id="rId91"/>
    <p:sldId id="483" r:id="rId92"/>
    <p:sldId id="484" r:id="rId93"/>
    <p:sldId id="372" r:id="rId94"/>
    <p:sldId id="485" r:id="rId95"/>
    <p:sldId id="486" r:id="rId96"/>
    <p:sldId id="373" r:id="rId97"/>
    <p:sldId id="487" r:id="rId98"/>
    <p:sldId id="488" r:id="rId99"/>
    <p:sldId id="489" r:id="rId100"/>
    <p:sldId id="376" r:id="rId101"/>
    <p:sldId id="417" r:id="rId102"/>
  </p:sldIdLst>
  <p:sldSz cx="12192000" cy="6858000"/>
  <p:notesSz cx="6858000" cy="9144000"/>
  <p:embeddedFontLst>
    <p:embeddedFont>
      <p:font typeface="D2Coding" panose="020B0600000101010101" charset="-127"/>
      <p:regular r:id="rId103"/>
      <p:bold r:id="rId104"/>
    </p:embeddedFont>
    <p:embeddedFont>
      <p:font typeface="맑은 고딕" panose="020B0503020000020004" pitchFamily="50" charset="-127"/>
      <p:regular r:id="rId105"/>
      <p:bold r:id="rId10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FDD"/>
    <a:srgbClr val="80C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microsoft.com/office/2016/11/relationships/changesInfo" Target="changesInfos/changesInfo1.xml"/><Relationship Id="rId16" Type="http://schemas.openxmlformats.org/officeDocument/2006/relationships/slide" Target="slides/slide15.xml"/><Relationship Id="rId107" Type="http://schemas.openxmlformats.org/officeDocument/2006/relationships/commentAuthors" Target="commentAuthor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.fntdata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동규" userId="cebcdd3f-733e-4af1-b963-9742717e494c" providerId="ADAL" clId="{1F42BE09-01DC-4C6D-B1B1-ED0199136055}"/>
    <pc:docChg chg="modSld">
      <pc:chgData name="박동규" userId="cebcdd3f-733e-4af1-b963-9742717e494c" providerId="ADAL" clId="{1F42BE09-01DC-4C6D-B1B1-ED0199136055}" dt="2021-01-25T14:08:10.694" v="33" actId="14100"/>
      <pc:docMkLst>
        <pc:docMk/>
      </pc:docMkLst>
      <pc:sldChg chg="modSp mod">
        <pc:chgData name="박동규" userId="cebcdd3f-733e-4af1-b963-9742717e494c" providerId="ADAL" clId="{1F42BE09-01DC-4C6D-B1B1-ED0199136055}" dt="2021-01-25T14:08:10.694" v="33" actId="14100"/>
        <pc:sldMkLst>
          <pc:docMk/>
          <pc:sldMk cId="2258733903" sldId="413"/>
        </pc:sldMkLst>
        <pc:spChg chg="mod">
          <ac:chgData name="박동규" userId="cebcdd3f-733e-4af1-b963-9742717e494c" providerId="ADAL" clId="{1F42BE09-01DC-4C6D-B1B1-ED0199136055}" dt="2021-01-25T14:08:10.694" v="33" actId="14100"/>
          <ac:spMkLst>
            <pc:docMk/>
            <pc:sldMk cId="2258733903" sldId="413"/>
            <ac:spMk id="3" creationId="{00000000-0000-0000-0000-000000000000}"/>
          </ac:spMkLst>
        </pc:spChg>
      </pc:sldChg>
    </pc:docChg>
  </pc:docChgLst>
  <pc:docChgLst>
    <pc:chgData name="안혜강" userId="98b22b6e-56f4-4429-b5e0-faac91709a9d" providerId="ADAL" clId="{2CB4BDB4-343E-48BB-BC5F-F6BC8D06DE0C}"/>
    <pc:docChg chg="modSld">
      <pc:chgData name="안혜강" userId="98b22b6e-56f4-4429-b5e0-faac91709a9d" providerId="ADAL" clId="{2CB4BDB4-343E-48BB-BC5F-F6BC8D06DE0C}" dt="2021-02-26T05:07:24.668" v="2" actId="113"/>
      <pc:docMkLst>
        <pc:docMk/>
      </pc:docMkLst>
      <pc:sldChg chg="modSp">
        <pc:chgData name="안혜강" userId="98b22b6e-56f4-4429-b5e0-faac91709a9d" providerId="ADAL" clId="{2CB4BDB4-343E-48BB-BC5F-F6BC8D06DE0C}" dt="2021-02-26T05:07:24.668" v="2" actId="113"/>
        <pc:sldMkLst>
          <pc:docMk/>
          <pc:sldMk cId="2258733903" sldId="413"/>
        </pc:sldMkLst>
        <pc:graphicFrameChg chg="modGraphic">
          <ac:chgData name="안혜강" userId="98b22b6e-56f4-4429-b5e0-faac91709a9d" providerId="ADAL" clId="{2CB4BDB4-343E-48BB-BC5F-F6BC8D06DE0C}" dt="2021-02-26T05:07:24.668" v="2" actId="113"/>
          <ac:graphicFrameMkLst>
            <pc:docMk/>
            <pc:sldMk cId="2258733903" sldId="413"/>
            <ac:graphicFrameMk id="4" creationId="{47083B40-337D-45E5-88DA-70D3A0D60120}"/>
          </ac:graphicFrameMkLst>
        </pc:graphicFrameChg>
      </pc:sldChg>
      <pc:sldChg chg="modSp">
        <pc:chgData name="안혜강" userId="98b22b6e-56f4-4429-b5e0-faac91709a9d" providerId="ADAL" clId="{2CB4BDB4-343E-48BB-BC5F-F6BC8D06DE0C}" dt="2021-02-26T05:07:20.147" v="1" actId="115"/>
        <pc:sldMkLst>
          <pc:docMk/>
          <pc:sldMk cId="1245367120" sldId="415"/>
        </pc:sldMkLst>
        <pc:graphicFrameChg chg="modGraphic">
          <ac:chgData name="안혜강" userId="98b22b6e-56f4-4429-b5e0-faac91709a9d" providerId="ADAL" clId="{2CB4BDB4-343E-48BB-BC5F-F6BC8D06DE0C}" dt="2021-02-26T05:07:20.147" v="1" actId="115"/>
          <ac:graphicFrameMkLst>
            <pc:docMk/>
            <pc:sldMk cId="1245367120" sldId="415"/>
            <ac:graphicFrameMk id="4" creationId="{DC747D22-CC36-419F-8B46-BE56BF69D7B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1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93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351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38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>
                <a:solidFill>
                  <a:schemeClr val="accent6">
                    <a:lumMod val="50000"/>
                  </a:schemeClr>
                </a:solidFill>
              </a:rPr>
              <a:t>5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 smtClean="0"/>
              <a:t> 함수와 입출력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274183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0B311AD-F140-4E7F-B04A-4F42D0C7BE44}"/>
              </a:ext>
            </a:extLst>
          </p:cNvPr>
          <p:cNvGrpSpPr/>
          <p:nvPr/>
        </p:nvGrpSpPr>
        <p:grpSpPr>
          <a:xfrm>
            <a:off x="568689" y="540276"/>
            <a:ext cx="11054621" cy="5777447"/>
            <a:chOff x="1043098" y="4462353"/>
            <a:chExt cx="6985286" cy="1832681"/>
          </a:xfrm>
        </p:grpSpPr>
        <p:sp>
          <p:nvSpPr>
            <p:cNvPr id="9" name="모서리가 둥근 직사각형 2">
              <a:extLst>
                <a:ext uri="{FF2B5EF4-FFF2-40B4-BE49-F238E27FC236}">
                  <a16:creationId xmlns:a16="http://schemas.microsoft.com/office/drawing/2014/main" id="{72D4A0C0-21BD-4390-9A3B-8C2230B227C1}"/>
                </a:ext>
              </a:extLst>
            </p:cNvPr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414991F-E749-45F4-9BEA-4D17CD401EAF}"/>
                </a:ext>
              </a:extLst>
            </p:cNvPr>
            <p:cNvGrpSpPr/>
            <p:nvPr/>
          </p:nvGrpSpPr>
          <p:grpSpPr>
            <a:xfrm>
              <a:off x="1043608" y="4481073"/>
              <a:ext cx="6984776" cy="1813961"/>
              <a:chOff x="643260" y="2641203"/>
              <a:chExt cx="6984776" cy="181396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8E10B1A-83E2-4152-A86F-1470C6956557}"/>
                  </a:ext>
                </a:extLst>
              </p:cNvPr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 dirty="0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직사각형 32">
                <a:extLst>
                  <a:ext uri="{FF2B5EF4-FFF2-40B4-BE49-F238E27FC236}">
                    <a16:creationId xmlns:a16="http://schemas.microsoft.com/office/drawing/2014/main" id="{458C4078-5D5D-453E-8B7E-F242E49DD9BB}"/>
                  </a:ext>
                </a:extLst>
              </p:cNvPr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" name="직사각형 23">
                <a:extLst>
                  <a:ext uri="{FF2B5EF4-FFF2-40B4-BE49-F238E27FC236}">
                    <a16:creationId xmlns:a16="http://schemas.microsoft.com/office/drawing/2014/main" id="{32A114FE-7655-4188-8816-CF919A3AF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9284" y="2856461"/>
                <a:ext cx="6696744" cy="1254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spc="-100" dirty="0">
                    <a:latin typeface="+mn-ea"/>
                  </a:rPr>
                  <a:t>•  </a:t>
                </a:r>
                <a:r>
                  <a:rPr lang="ko-KR" altLang="en-US" sz="1600" dirty="0">
                    <a:latin typeface="+mn-ea"/>
                  </a:rPr>
                  <a:t>함수에 대해 이해하고 그 필요성을 설명할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</a:t>
                </a:r>
                <a:r>
                  <a:rPr lang="ko-KR" altLang="en-US" sz="1600" dirty="0">
                    <a:latin typeface="+mn-ea"/>
                  </a:rPr>
                  <a:t>내장 함수와 사용자 정의 함수를 이해하고 설명할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</a:t>
                </a:r>
                <a:r>
                  <a:rPr lang="ko-KR" altLang="en-US" sz="1600" dirty="0">
                    <a:latin typeface="+mn-ea"/>
                  </a:rPr>
                  <a:t>사용자 정의 함수를 </a:t>
                </a:r>
                <a:r>
                  <a:rPr lang="en-US" altLang="ko-KR" sz="1600" dirty="0" err="1">
                    <a:latin typeface="+mn-ea"/>
                  </a:rPr>
                  <a:t>def</a:t>
                </a:r>
                <a:r>
                  <a:rPr lang="en-US" altLang="ko-KR" sz="1600" dirty="0">
                    <a:latin typeface="+mn-ea"/>
                  </a:rPr>
                  <a:t> </a:t>
                </a:r>
                <a:r>
                  <a:rPr lang="ko-KR" altLang="en-US" sz="1600" dirty="0">
                    <a:latin typeface="+mn-ea"/>
                  </a:rPr>
                  <a:t>문을 이용하여 정의하고 호출할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</a:t>
                </a:r>
                <a:r>
                  <a:rPr lang="ko-KR" altLang="en-US" sz="1600" dirty="0">
                    <a:latin typeface="+mn-ea"/>
                  </a:rPr>
                  <a:t>호출되는 함수에 값을 전달하기 위하여 매개변수를 사용할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</a:t>
                </a:r>
                <a:r>
                  <a:rPr lang="ko-KR" altLang="en-US" sz="1600" dirty="0" err="1">
                    <a:latin typeface="+mn-ea"/>
                  </a:rPr>
                  <a:t>지역변수와</a:t>
                </a:r>
                <a:r>
                  <a:rPr lang="ko-KR" altLang="en-US" sz="1600" dirty="0">
                    <a:latin typeface="+mn-ea"/>
                  </a:rPr>
                  <a:t> </a:t>
                </a:r>
                <a:r>
                  <a:rPr lang="ko-KR" altLang="en-US" sz="1600" dirty="0" err="1">
                    <a:latin typeface="+mn-ea"/>
                  </a:rPr>
                  <a:t>전역변수를</a:t>
                </a:r>
                <a:r>
                  <a:rPr lang="ko-KR" altLang="en-US" sz="1600" dirty="0">
                    <a:latin typeface="+mn-ea"/>
                  </a:rPr>
                  <a:t> 올바르게 사용할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</a:t>
                </a:r>
                <a:r>
                  <a:rPr lang="ko-KR" altLang="en-US" sz="1600" dirty="0">
                    <a:latin typeface="+mn-ea"/>
                  </a:rPr>
                  <a:t>함수의 </a:t>
                </a:r>
                <a:r>
                  <a:rPr lang="ko-KR" altLang="en-US" sz="1600" dirty="0" err="1">
                    <a:latin typeface="+mn-ea"/>
                  </a:rPr>
                  <a:t>반환문에</a:t>
                </a:r>
                <a:r>
                  <a:rPr lang="ko-KR" altLang="en-US" sz="1600" dirty="0">
                    <a:latin typeface="+mn-ea"/>
                  </a:rPr>
                  <a:t> 대해 이해하고 그 필요성을 설명할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</a:t>
                </a:r>
                <a:r>
                  <a:rPr lang="ko-KR" altLang="en-US" sz="1600" dirty="0">
                    <a:latin typeface="+mn-ea"/>
                  </a:rPr>
                  <a:t>다중 </a:t>
                </a:r>
                <a:r>
                  <a:rPr lang="ko-KR" altLang="en-US" sz="1600" dirty="0" err="1">
                    <a:latin typeface="+mn-ea"/>
                  </a:rPr>
                  <a:t>반환문을</a:t>
                </a:r>
                <a:r>
                  <a:rPr lang="ko-KR" altLang="en-US" sz="1600" dirty="0">
                    <a:latin typeface="+mn-ea"/>
                  </a:rPr>
                  <a:t> 사용하여 여러 개의 값을 반환할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</a:t>
                </a:r>
                <a:r>
                  <a:rPr lang="ko-KR" altLang="en-US" sz="1600" dirty="0">
                    <a:latin typeface="+mn-ea"/>
                  </a:rPr>
                  <a:t>출력 함수와 입력 함수의 목적과 사용 방법을 설명할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input() </a:t>
                </a:r>
                <a:r>
                  <a:rPr lang="ko-KR" altLang="en-US" sz="1600" dirty="0">
                    <a:latin typeface="+mn-ea"/>
                  </a:rPr>
                  <a:t>함수를 이용한 입력 방법에 대해 이해하고 사용할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format() </a:t>
                </a:r>
                <a:r>
                  <a:rPr lang="ko-KR" altLang="en-US" sz="1600" dirty="0">
                    <a:latin typeface="+mn-ea"/>
                  </a:rPr>
                  <a:t>메소드와 </a:t>
                </a:r>
                <a:r>
                  <a:rPr lang="ko-KR" altLang="en-US" sz="1600" dirty="0" err="1">
                    <a:latin typeface="+mn-ea"/>
                  </a:rPr>
                  <a:t>플레이스</a:t>
                </a:r>
                <a:r>
                  <a:rPr lang="ko-KR" altLang="en-US" sz="1600" dirty="0">
                    <a:latin typeface="+mn-ea"/>
                  </a:rPr>
                  <a:t> 홀더를 이용한 출력을 할 수 있다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>
                    <a:latin typeface="+mn-ea"/>
                  </a:rPr>
                  <a:t>• </a:t>
                </a:r>
                <a:r>
                  <a:rPr lang="ko-KR" altLang="en-US" sz="1600" dirty="0" err="1">
                    <a:latin typeface="+mn-ea"/>
                  </a:rPr>
                  <a:t>파이썬의</a:t>
                </a:r>
                <a:r>
                  <a:rPr lang="ko-KR" altLang="en-US" sz="1600" dirty="0">
                    <a:latin typeface="+mn-ea"/>
                  </a:rPr>
                  <a:t> 다양한 내장 함수를 사용할 수 있다</a:t>
                </a:r>
                <a:r>
                  <a:rPr lang="en-US" altLang="ko-KR" sz="1600" dirty="0">
                    <a:latin typeface="+mn-ea"/>
                  </a:rPr>
                  <a:t>.</a:t>
                </a:r>
                <a:endParaRPr lang="en-US" altLang="ko-KR" sz="1600" spc="-100" dirty="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2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217" y="1794338"/>
            <a:ext cx="5625423" cy="310670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61" y="1810553"/>
            <a:ext cx="5151161" cy="309049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569071" y="5866231"/>
            <a:ext cx="2296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출처</a:t>
            </a:r>
            <a:r>
              <a:rPr lang="en-US" altLang="ko-KR" dirty="0"/>
              <a:t>: bricklink.com)</a:t>
            </a:r>
            <a:endParaRPr lang="ko-KR" altLang="en-US" dirty="0"/>
          </a:p>
        </p:txBody>
      </p:sp>
      <p:sp>
        <p:nvSpPr>
          <p:cNvPr id="13" name="설명선 1 12"/>
          <p:cNvSpPr/>
          <p:nvPr/>
        </p:nvSpPr>
        <p:spPr>
          <a:xfrm>
            <a:off x="3303265" y="5311665"/>
            <a:ext cx="4067353" cy="734324"/>
          </a:xfrm>
          <a:prstGeom prst="borderCallout1">
            <a:avLst>
              <a:gd name="adj1" fmla="val -357"/>
              <a:gd name="adj2" fmla="val 47363"/>
              <a:gd name="adj3" fmla="val -203714"/>
              <a:gd name="adj4" fmla="val 8137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여러분이 사용하는 프로그램도 많은 부품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함수나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클래스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으로 이루어져 있습니다</a:t>
            </a:r>
          </a:p>
        </p:txBody>
      </p:sp>
    </p:spTree>
    <p:extLst>
      <p:ext uri="{BB962C8B-B14F-4D97-AF65-F5344CB8AC3E}">
        <p14:creationId xmlns:p14="http://schemas.microsoft.com/office/powerpoint/2010/main" val="194719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반복적으로 사용되는 코드 </a:t>
            </a:r>
            <a:r>
              <a:rPr lang="en-US" altLang="ko-KR" dirty="0"/>
              <a:t>-</a:t>
            </a:r>
            <a:r>
              <a:rPr lang="ko-KR" altLang="en-US" dirty="0"/>
              <a:t> 덩어리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ko-KR" altLang="en-US" b="1" dirty="0"/>
              <a:t>블록</a:t>
            </a:r>
            <a:r>
              <a:rPr lang="en-US" altLang="ko-KR" b="1" baseline="30000" dirty="0">
                <a:solidFill>
                  <a:schemeClr val="accent5"/>
                </a:solidFill>
              </a:rPr>
              <a:t>block</a:t>
            </a:r>
            <a:r>
              <a:rPr lang="en-US" altLang="ko-KR" dirty="0"/>
              <a:t>)</a:t>
            </a:r>
            <a:r>
              <a:rPr lang="ko-KR" altLang="en-US" dirty="0"/>
              <a:t>라고 함</a:t>
            </a:r>
          </a:p>
          <a:p>
            <a:pPr fontAlgn="base"/>
            <a:r>
              <a:rPr lang="ko-KR" altLang="en-US" dirty="0"/>
              <a:t>기능에 따라 미리 만들어진 블록은 필요할 때 </a:t>
            </a:r>
            <a:r>
              <a:rPr lang="ko-KR" altLang="en-US" b="1" dirty="0"/>
              <a:t>호출</a:t>
            </a:r>
            <a:r>
              <a:rPr lang="en-US" altLang="ko-KR" b="1" baseline="30000" dirty="0">
                <a:solidFill>
                  <a:schemeClr val="accent5"/>
                </a:solidFill>
              </a:rPr>
              <a:t>function call</a:t>
            </a:r>
            <a:r>
              <a:rPr lang="ko-KR" altLang="en-US" dirty="0"/>
              <a:t>함</a:t>
            </a:r>
          </a:p>
          <a:p>
            <a:pPr fontAlgn="base"/>
            <a:r>
              <a:rPr lang="ko-KR" altLang="en-US" dirty="0" err="1"/>
              <a:t>파이썬에서</a:t>
            </a:r>
            <a:r>
              <a:rPr lang="ko-KR" altLang="en-US" dirty="0"/>
              <a:t> 미리 만들어서 제공하는 함수는 인터프리터에 포함되어 배포되는데 이러한 함수를 </a:t>
            </a:r>
            <a:r>
              <a:rPr lang="ko-KR" altLang="en-US" b="1" dirty="0" err="1"/>
              <a:t>내장함수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built-in function</a:t>
            </a:r>
            <a:r>
              <a:rPr lang="ko-KR" altLang="en-US" sz="2400" dirty="0"/>
              <a:t>라고 함</a:t>
            </a:r>
            <a:endParaRPr lang="ko-KR" altLang="en-US" dirty="0"/>
          </a:p>
          <a:p>
            <a:pPr lvl="1" fontAlgn="base"/>
            <a:r>
              <a:rPr lang="ko-KR" altLang="en-US" dirty="0"/>
              <a:t>대표적으로 </a:t>
            </a:r>
            <a:r>
              <a:rPr lang="en-US" altLang="ko-KR" dirty="0"/>
              <a:t>print()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fontAlgn="base"/>
            <a:r>
              <a:rPr lang="ko-KR" altLang="en-US" dirty="0"/>
              <a:t>사용자가 직접 필요한 함수를 만들 수 있음</a:t>
            </a:r>
            <a:endParaRPr lang="en-US" altLang="ko-KR" dirty="0"/>
          </a:p>
          <a:p>
            <a:pPr fontAlgn="base"/>
            <a:r>
              <a:rPr lang="ko-KR" altLang="en-US" dirty="0"/>
              <a:t>이러한 함수를 </a:t>
            </a:r>
            <a:r>
              <a:rPr lang="ko-KR" altLang="en-US" b="1" dirty="0"/>
              <a:t>사용자 정의 함수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user defined function</a:t>
            </a:r>
            <a:r>
              <a:rPr lang="ko-KR" altLang="en-US" dirty="0"/>
              <a:t>라고 함</a:t>
            </a:r>
            <a:endParaRPr lang="en-US" altLang="ko-KR" dirty="0"/>
          </a:p>
          <a:p>
            <a:pPr fontAlgn="base"/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ko-KR" altLang="en-US" dirty="0"/>
              <a:t>키워드 사용 </a:t>
            </a:r>
            <a:r>
              <a:rPr lang="en-US" altLang="ko-KR" dirty="0"/>
              <a:t>: define</a:t>
            </a:r>
            <a:r>
              <a:rPr lang="ko-KR" altLang="en-US" dirty="0"/>
              <a:t>의 약자</a:t>
            </a:r>
          </a:p>
          <a:p>
            <a:pPr lvl="1" fontAlgn="base"/>
            <a:r>
              <a:rPr lang="en-US" altLang="ko-KR" dirty="0" err="1"/>
              <a:t>def</a:t>
            </a:r>
            <a:r>
              <a:rPr lang="ko-KR" altLang="en-US" dirty="0"/>
              <a:t>를 이용한 함수 정의 방법을 배워볼 예정</a:t>
            </a:r>
            <a:endParaRPr lang="en-US" altLang="ko-KR" dirty="0"/>
          </a:p>
          <a:p>
            <a:pPr marL="685800" lvl="2" fontAlgn="base">
              <a:spcBef>
                <a:spcPts val="1000"/>
              </a:spcBef>
            </a:pPr>
            <a:endParaRPr lang="ko-KR" altLang="en-US" sz="2400" dirty="0"/>
          </a:p>
          <a:p>
            <a:pPr marL="228600" lvl="1" fontAlgn="base">
              <a:spcBef>
                <a:spcPts val="1000"/>
              </a:spcBef>
            </a:pPr>
            <a:endParaRPr lang="ko-KR" altLang="en-US" dirty="0"/>
          </a:p>
          <a:p>
            <a:pPr marL="228600" lvl="1" fontAlgn="base">
              <a:spcBef>
                <a:spcPts val="1000"/>
              </a:spcBef>
            </a:pPr>
            <a:endParaRPr lang="en-US" altLang="ko-KR" dirty="0"/>
          </a:p>
          <a:p>
            <a:pPr fontAlgn="base"/>
            <a:endParaRPr lang="en-US" altLang="ko-KR" dirty="0"/>
          </a:p>
          <a:p>
            <a:pPr marL="0" indent="0" fontAlgn="base">
              <a:buNone/>
            </a:pP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502601-06F0-B666-741F-C51F9736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</p:spTree>
    <p:extLst>
      <p:ext uri="{BB962C8B-B14F-4D97-AF65-F5344CB8AC3E}">
        <p14:creationId xmlns:p14="http://schemas.microsoft.com/office/powerpoint/2010/main" val="3165148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02601-06F0-B666-741F-C51F9736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874044" y="1268413"/>
            <a:ext cx="840105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3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19" y="4393803"/>
            <a:ext cx="9088957" cy="106160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19" y="1796271"/>
            <a:ext cx="9088957" cy="242317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return</a:t>
            </a:r>
            <a:r>
              <a:rPr lang="ko-KR" altLang="en-US" dirty="0"/>
              <a:t>문이 없는 간단한 코드로 함수를 정의하고 호출하기</a:t>
            </a:r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95379D-5626-8FE7-713E-D43B0641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</p:spTree>
    <p:extLst>
      <p:ext uri="{BB962C8B-B14F-4D97-AF65-F5344CB8AC3E}">
        <p14:creationId xmlns:p14="http://schemas.microsoft.com/office/powerpoint/2010/main" val="222734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6275294" y="1128237"/>
            <a:ext cx="4806720" cy="4917999"/>
          </a:xfrm>
        </p:spPr>
        <p:txBody>
          <a:bodyPr/>
          <a:lstStyle/>
          <a:p>
            <a:r>
              <a:rPr lang="en-US" altLang="ko-KR" dirty="0" err="1"/>
              <a:t>print_star</a:t>
            </a:r>
            <a:r>
              <a:rPr lang="en-US" altLang="ko-KR" dirty="0"/>
              <a:t>()</a:t>
            </a:r>
            <a:r>
              <a:rPr lang="ko-KR" altLang="en-US" dirty="0"/>
              <a:t>라는 </a:t>
            </a:r>
            <a:r>
              <a:rPr lang="ko-KR" altLang="en-US" b="1" dirty="0"/>
              <a:t>함수는 어떤 일을 하도록 정의된 명령어들의 집합</a:t>
            </a:r>
            <a:r>
              <a:rPr lang="en-US" altLang="ko-KR" dirty="0"/>
              <a:t>(</a:t>
            </a:r>
            <a:r>
              <a:rPr lang="ko-KR" altLang="en-US" dirty="0"/>
              <a:t>혹은 블록</a:t>
            </a:r>
            <a:r>
              <a:rPr lang="en-US" altLang="ko-KR" dirty="0"/>
              <a:t>)</a:t>
            </a:r>
            <a:r>
              <a:rPr lang="ko-KR" altLang="en-US" dirty="0"/>
              <a:t>이며 이 집합은 외부에서 호출할 때마다 수행되는 것을 확인해 볼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95379D-5626-8FE7-713E-D43B0641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29481A5-F609-388B-BB52-2A62467C75BF}"/>
              </a:ext>
            </a:extLst>
          </p:cNvPr>
          <p:cNvGrpSpPr/>
          <p:nvPr/>
        </p:nvGrpSpPr>
        <p:grpSpPr>
          <a:xfrm>
            <a:off x="998288" y="1246102"/>
            <a:ext cx="4995160" cy="4556761"/>
            <a:chOff x="315804" y="601109"/>
            <a:chExt cx="6439237" cy="587409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804" y="601109"/>
              <a:ext cx="6439237" cy="334905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804" y="4203588"/>
              <a:ext cx="6439237" cy="22716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3048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EE47A-0256-E39D-C90D-E5DF0950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133403"/>
            <a:ext cx="10015538" cy="490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16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EE47A-0256-E39D-C90D-E5DF0950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4B83B6B-651F-DBC3-FE94-CEB045B89EFD}"/>
              </a:ext>
            </a:extLst>
          </p:cNvPr>
          <p:cNvGrpSpPr/>
          <p:nvPr/>
        </p:nvGrpSpPr>
        <p:grpSpPr>
          <a:xfrm>
            <a:off x="946262" y="1622612"/>
            <a:ext cx="10299476" cy="3852875"/>
            <a:chOff x="448731" y="1203459"/>
            <a:chExt cx="11252201" cy="4209275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50507" y="1203459"/>
              <a:ext cx="5950425" cy="4209275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l="369"/>
            <a:stretch/>
          </p:blipFill>
          <p:spPr>
            <a:xfrm>
              <a:off x="448732" y="1203459"/>
              <a:ext cx="5088467" cy="2140870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4"/>
            <a:srcRect l="456" t="15939" r="8367"/>
            <a:stretch/>
          </p:blipFill>
          <p:spPr>
            <a:xfrm>
              <a:off x="448731" y="3124199"/>
              <a:ext cx="5080001" cy="9831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6808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BC23D3-FC91-B729-E136-CF02BE08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01768" y="1128713"/>
            <a:ext cx="8945601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45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BC23D3-FC91-B729-E136-CF02BE08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E8E7372-5C4F-C8D8-8871-7F6FACBA9EA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33247" y="1128237"/>
            <a:ext cx="5048767" cy="4917999"/>
          </a:xfrm>
        </p:spPr>
        <p:txBody>
          <a:bodyPr/>
          <a:lstStyle/>
          <a:p>
            <a:pPr fontAlgn="base"/>
            <a:r>
              <a:rPr lang="ko-KR" altLang="en-US" dirty="0"/>
              <a:t>한번 만들어진 함수는 다른 프로그램에서 재사용이 가능</a:t>
            </a:r>
            <a:endParaRPr lang="en-US" altLang="ko-KR" dirty="0"/>
          </a:p>
          <a:p>
            <a:pPr fontAlgn="base"/>
            <a:r>
              <a:rPr lang="ko-KR" altLang="en-US" dirty="0"/>
              <a:t>프로그램 개발의 시간과 비용을 절약할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99" y="1222895"/>
            <a:ext cx="4667825" cy="479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37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BC23D3-FC91-B729-E136-CF02BE08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59731" y="1292225"/>
            <a:ext cx="88296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04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BC23D3-FC91-B729-E136-CF02BE08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함수의 역할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50206" y="1916113"/>
            <a:ext cx="88487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26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41" y="2118305"/>
            <a:ext cx="4686506" cy="2583937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함수와 매개변수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65" y="2118305"/>
            <a:ext cx="6524023" cy="220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40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BC23D3-FC91-B729-E136-CF02BE08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함수와 매개변수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04" y="2183954"/>
            <a:ext cx="4635305" cy="2896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2104" y="1642316"/>
            <a:ext cx="2508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mtClean="0">
                <a:latin typeface="+mn-ea"/>
              </a:rPr>
              <a:t>복습 </a:t>
            </a:r>
            <a:r>
              <a:rPr lang="en-US" altLang="ko-KR" sz="2000" smtClean="0">
                <a:latin typeface="+mn-ea"/>
              </a:rPr>
              <a:t>: </a:t>
            </a:r>
            <a:r>
              <a:rPr lang="ko-KR" altLang="en-US" sz="2000" smtClean="0">
                <a:latin typeface="+mn-ea"/>
              </a:rPr>
              <a:t>코드 </a:t>
            </a:r>
            <a:r>
              <a:rPr lang="en-US" altLang="ko-KR" sz="2000" dirty="0">
                <a:latin typeface="+mn-ea"/>
              </a:rPr>
              <a:t>5-2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48240" y="5221899"/>
            <a:ext cx="86934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/>
              <a:t>별표를 출력하는 함수를 </a:t>
            </a:r>
            <a:r>
              <a:rPr lang="en-US" altLang="ko-KR" sz="2400" smtClean="0"/>
              <a:t>4</a:t>
            </a:r>
            <a:r>
              <a:rPr lang="ko-KR" altLang="en-US" sz="2400" smtClean="0"/>
              <a:t>번 호출한다</a:t>
            </a:r>
            <a:r>
              <a:rPr lang="en-US" altLang="ko-KR" sz="2400" smtClean="0"/>
              <a:t>.</a:t>
            </a:r>
          </a:p>
          <a:p>
            <a:r>
              <a:rPr lang="ko-KR" altLang="en-US" sz="2400" smtClean="0"/>
              <a:t>이 출력 줄의 수를 효과적으로 제어할 수 있는 방법이 없을까</a:t>
            </a:r>
            <a:r>
              <a:rPr lang="en-US" altLang="ko-KR" sz="2400" smtClean="0"/>
              <a:t>?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585917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6D67E-D6C6-0416-7193-002FF833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함수와 매개변수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995718" y="1128713"/>
            <a:ext cx="8157701" cy="4918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99858" y="3943323"/>
            <a:ext cx="655500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400" smtClean="0"/>
              <a:t>인자를 사용하자</a:t>
            </a:r>
            <a:r>
              <a:rPr lang="en-US" altLang="ko-KR" sz="2400" smtClean="0"/>
              <a:t>.</a:t>
            </a:r>
          </a:p>
          <a:p>
            <a:r>
              <a:rPr lang="ko-KR" altLang="en-US" sz="2400" smtClean="0"/>
              <a:t>이 출력 줄의 수를 효과적으로 제어할 수 있다</a:t>
            </a:r>
            <a:r>
              <a:rPr lang="en-US" altLang="ko-KR" sz="2400" smtClean="0"/>
              <a:t>.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163669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6D67E-D6C6-0416-7193-002FF833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함수와 매개변수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35B73B-BF1F-55DF-137A-DFE5FDD6A25F}"/>
              </a:ext>
            </a:extLst>
          </p:cNvPr>
          <p:cNvGrpSpPr/>
          <p:nvPr/>
        </p:nvGrpSpPr>
        <p:grpSpPr>
          <a:xfrm>
            <a:off x="2984643" y="1048871"/>
            <a:ext cx="5827663" cy="5171241"/>
            <a:chOff x="1804726" y="202450"/>
            <a:chExt cx="7218448" cy="640537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4727" y="202450"/>
              <a:ext cx="7218447" cy="3745298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t="3320"/>
            <a:stretch/>
          </p:blipFill>
          <p:spPr>
            <a:xfrm>
              <a:off x="1804726" y="3947748"/>
              <a:ext cx="7218447" cy="2660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6949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6D67E-D6C6-0416-7193-002FF833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함수와 매개변수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859" y="1081412"/>
            <a:ext cx="6409342" cy="5046997"/>
          </a:xfrm>
          <a:prstGeom prst="rect">
            <a:avLst/>
          </a:prstGeom>
        </p:spPr>
      </p:pic>
      <p:sp>
        <p:nvSpPr>
          <p:cNvPr id="3" name="설명선 1 7"/>
          <p:cNvSpPr/>
          <p:nvPr/>
        </p:nvSpPr>
        <p:spPr>
          <a:xfrm>
            <a:off x="6366065" y="2670422"/>
            <a:ext cx="3028950" cy="278789"/>
          </a:xfrm>
          <a:prstGeom prst="borderCallout1">
            <a:avLst>
              <a:gd name="adj1" fmla="val 50374"/>
              <a:gd name="adj2" fmla="val -225"/>
              <a:gd name="adj3" fmla="val 44327"/>
              <a:gd name="adj4" fmla="val -8725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인자가 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이면 </a:t>
            </a:r>
            <a:r>
              <a:rPr lang="en-US" altLang="ko-KR" sz="1400" dirty="0">
                <a:solidFill>
                  <a:schemeClr val="tx1"/>
                </a:solidFill>
              </a:rPr>
              <a:t>Hello</a:t>
            </a:r>
            <a:r>
              <a:rPr lang="ko-KR" altLang="en-US" sz="1400" dirty="0">
                <a:solidFill>
                  <a:schemeClr val="tx1"/>
                </a:solidFill>
              </a:rPr>
              <a:t>를 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회 출력</a:t>
            </a:r>
          </a:p>
        </p:txBody>
      </p:sp>
      <p:sp>
        <p:nvSpPr>
          <p:cNvPr id="13" name="설명선 1 12"/>
          <p:cNvSpPr/>
          <p:nvPr/>
        </p:nvSpPr>
        <p:spPr>
          <a:xfrm>
            <a:off x="6366065" y="3286701"/>
            <a:ext cx="3028950" cy="278789"/>
          </a:xfrm>
          <a:prstGeom prst="borderCallout1">
            <a:avLst>
              <a:gd name="adj1" fmla="val 50374"/>
              <a:gd name="adj2" fmla="val -225"/>
              <a:gd name="adj3" fmla="val -11501"/>
              <a:gd name="adj4" fmla="val -8779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인자가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이면 </a:t>
            </a:r>
            <a:r>
              <a:rPr lang="en-US" altLang="ko-KR" sz="1400" dirty="0">
                <a:solidFill>
                  <a:schemeClr val="tx1"/>
                </a:solidFill>
              </a:rPr>
              <a:t>Hello</a:t>
            </a:r>
            <a:r>
              <a:rPr lang="ko-KR" altLang="en-US" sz="1400" dirty="0">
                <a:solidFill>
                  <a:schemeClr val="tx1"/>
                </a:solidFill>
              </a:rPr>
              <a:t>를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회 출력</a:t>
            </a:r>
          </a:p>
        </p:txBody>
      </p:sp>
      <p:sp>
        <p:nvSpPr>
          <p:cNvPr id="14" name="설명선 1 13"/>
          <p:cNvSpPr/>
          <p:nvPr/>
        </p:nvSpPr>
        <p:spPr>
          <a:xfrm>
            <a:off x="5432209" y="3986860"/>
            <a:ext cx="3028950" cy="278789"/>
          </a:xfrm>
          <a:prstGeom prst="borderCallout1">
            <a:avLst>
              <a:gd name="adj1" fmla="val 50374"/>
              <a:gd name="adj2" fmla="val -225"/>
              <a:gd name="adj3" fmla="val -72908"/>
              <a:gd name="adj4" fmla="val -5568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인자가 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이면 </a:t>
            </a:r>
            <a:r>
              <a:rPr lang="en-US" altLang="ko-KR" sz="1400" dirty="0">
                <a:solidFill>
                  <a:schemeClr val="tx1"/>
                </a:solidFill>
              </a:rPr>
              <a:t>Hello</a:t>
            </a:r>
            <a:r>
              <a:rPr lang="ko-KR" altLang="en-US" sz="1400" dirty="0">
                <a:solidFill>
                  <a:schemeClr val="tx1"/>
                </a:solidFill>
              </a:rPr>
              <a:t>를 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회 출력</a:t>
            </a:r>
          </a:p>
        </p:txBody>
      </p:sp>
    </p:spTree>
    <p:extLst>
      <p:ext uri="{BB962C8B-B14F-4D97-AF65-F5344CB8AC3E}">
        <p14:creationId xmlns:p14="http://schemas.microsoft.com/office/powerpoint/2010/main" val="3546070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l="1716" t="16664" r="1540" b="14396"/>
          <a:stretch/>
        </p:blipFill>
        <p:spPr>
          <a:xfrm>
            <a:off x="5376332" y="5164666"/>
            <a:ext cx="6430028" cy="38996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t="15901" r="2561" b="10850"/>
          <a:stretch/>
        </p:blipFill>
        <p:spPr>
          <a:xfrm>
            <a:off x="5535137" y="4233333"/>
            <a:ext cx="5039730" cy="4318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r="22869"/>
          <a:stretch/>
        </p:blipFill>
        <p:spPr>
          <a:xfrm>
            <a:off x="722194" y="3993129"/>
            <a:ext cx="3929792" cy="12428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rcRect b="34824"/>
          <a:stretch/>
        </p:blipFill>
        <p:spPr>
          <a:xfrm>
            <a:off x="775215" y="1256621"/>
            <a:ext cx="5518010" cy="2561951"/>
          </a:xfrm>
          <a:prstGeom prst="rect">
            <a:avLst/>
          </a:prstGeom>
        </p:spPr>
      </p:pic>
      <p:sp>
        <p:nvSpPr>
          <p:cNvPr id="7" name="내용 개체 틀 5"/>
          <p:cNvSpPr>
            <a:spLocks noGrp="1"/>
          </p:cNvSpPr>
          <p:nvPr>
            <p:ph idx="14"/>
          </p:nvPr>
        </p:nvSpPr>
        <p:spPr>
          <a:xfrm>
            <a:off x="6640558" y="1128237"/>
            <a:ext cx="4441456" cy="4917999"/>
          </a:xfrm>
        </p:spPr>
        <p:txBody>
          <a:bodyPr/>
          <a:lstStyle/>
          <a:p>
            <a:pPr fontAlgn="base"/>
            <a:r>
              <a:rPr lang="ko-KR" altLang="en-US" dirty="0"/>
              <a:t>함수 호출 시에 인자를 하나만 넣어주게 되면 함수에서 필요한 </a:t>
            </a:r>
            <a:r>
              <a:rPr lang="en-US" altLang="ko-KR" dirty="0"/>
              <a:t>b</a:t>
            </a:r>
            <a:r>
              <a:rPr lang="ko-KR" altLang="en-US" dirty="0"/>
              <a:t>라는 매개변수의 값이 없으므로 </a:t>
            </a:r>
            <a:r>
              <a:rPr lang="en-US" altLang="ko-KR" dirty="0" err="1"/>
              <a:t>TypeError</a:t>
            </a:r>
            <a:r>
              <a:rPr lang="en-US" altLang="ko-KR" dirty="0"/>
              <a:t> </a:t>
            </a:r>
            <a:r>
              <a:rPr lang="ko-KR" altLang="en-US" dirty="0"/>
              <a:t>메시지가 나타나며 실행되지 않음</a:t>
            </a:r>
          </a:p>
          <a:p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2E75F18-B2B0-46C5-6C67-966F8FA7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함수와 매개변수</a:t>
            </a:r>
          </a:p>
        </p:txBody>
      </p:sp>
      <p:sp>
        <p:nvSpPr>
          <p:cNvPr id="2" name="아래쪽 화살표 1"/>
          <p:cNvSpPr/>
          <p:nvPr/>
        </p:nvSpPr>
        <p:spPr>
          <a:xfrm>
            <a:off x="6143105" y="4729093"/>
            <a:ext cx="307571" cy="2724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설명선 1 13"/>
          <p:cNvSpPr/>
          <p:nvPr/>
        </p:nvSpPr>
        <p:spPr>
          <a:xfrm>
            <a:off x="8121237" y="3750657"/>
            <a:ext cx="3828716" cy="333643"/>
          </a:xfrm>
          <a:prstGeom prst="borderCallout1">
            <a:avLst>
              <a:gd name="adj1" fmla="val 50374"/>
              <a:gd name="adj2" fmla="val -225"/>
              <a:gd name="adj3" fmla="val 160919"/>
              <a:gd name="adj4" fmla="val -3419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이 경우 인자의 수가 일치하지 않음</a:t>
            </a:r>
            <a:r>
              <a:rPr lang="en-US" altLang="ko-KR" sz="1600" dirty="0">
                <a:solidFill>
                  <a:schemeClr val="tx1"/>
                </a:solidFill>
              </a:rPr>
              <a:t>!!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D57BE86-8166-D940-81CF-F9F45CDD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함수와 매개변수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234324"/>
            <a:ext cx="10015538" cy="470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03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5.3 </a:t>
            </a:r>
            <a:r>
              <a:rPr lang="ko-KR" altLang="en-US" dirty="0"/>
              <a:t>매개변수를 활용한 </a:t>
            </a:r>
            <a:r>
              <a:rPr lang="en-US" altLang="ko-KR" dirty="0"/>
              <a:t>2</a:t>
            </a:r>
            <a:r>
              <a:rPr lang="ko-KR" altLang="en-US" dirty="0"/>
              <a:t>차 방정식의 근 구하기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BE3ECD-19C9-50FD-EAFA-FAF65203AB9E}"/>
              </a:ext>
            </a:extLst>
          </p:cNvPr>
          <p:cNvGrpSpPr/>
          <p:nvPr/>
        </p:nvGrpSpPr>
        <p:grpSpPr>
          <a:xfrm>
            <a:off x="3698393" y="2189622"/>
            <a:ext cx="4032444" cy="2986064"/>
            <a:chOff x="3513665" y="1951559"/>
            <a:chExt cx="4940159" cy="3658236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13665" y="3804737"/>
              <a:ext cx="4940159" cy="1805058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1350" y="1951559"/>
              <a:ext cx="4757863" cy="1512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9342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D8EB5CB3-3E81-B365-BBFE-8E6997867F60}"/>
              </a:ext>
            </a:extLst>
          </p:cNvPr>
          <p:cNvGrpSpPr/>
          <p:nvPr/>
        </p:nvGrpSpPr>
        <p:grpSpPr>
          <a:xfrm>
            <a:off x="991090" y="1128237"/>
            <a:ext cx="4791146" cy="4333931"/>
            <a:chOff x="641466" y="499078"/>
            <a:chExt cx="5588529" cy="505522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466" y="4656512"/>
              <a:ext cx="5548035" cy="897786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r="4966"/>
            <a:stretch/>
          </p:blipFill>
          <p:spPr>
            <a:xfrm>
              <a:off x="641466" y="499078"/>
              <a:ext cx="5588529" cy="3765351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6526306" y="1128237"/>
            <a:ext cx="4555708" cy="4917999"/>
          </a:xfrm>
        </p:spPr>
        <p:txBody>
          <a:bodyPr/>
          <a:lstStyle/>
          <a:p>
            <a:r>
              <a:rPr lang="en-US" altLang="ko-KR" dirty="0"/>
              <a:t>a(a != 0), b, c</a:t>
            </a:r>
            <a:r>
              <a:rPr lang="ko-KR" altLang="en-US" dirty="0"/>
              <a:t>를 해당하는 값을 방정식에 맞게 입력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a, b, c</a:t>
            </a:r>
            <a:r>
              <a:rPr lang="ko-KR" altLang="en-US" dirty="0"/>
              <a:t>에 해당하는 해를 변수 </a:t>
            </a:r>
            <a:r>
              <a:rPr lang="en-US" altLang="ko-KR" dirty="0"/>
              <a:t>r1, r2</a:t>
            </a:r>
            <a:r>
              <a:rPr lang="ko-KR" altLang="en-US" dirty="0"/>
              <a:t>에 저장하여 출력</a:t>
            </a:r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723336-B56C-BF29-F96E-F4E3F3D5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매개변수를 활용한 </a:t>
            </a:r>
            <a:r>
              <a:rPr lang="en-US" altLang="ko-KR" dirty="0"/>
              <a:t>2</a:t>
            </a:r>
            <a:r>
              <a:rPr lang="ko-KR" altLang="en-US" dirty="0"/>
              <a:t>차 방정식의 근 구하기</a:t>
            </a:r>
          </a:p>
        </p:txBody>
      </p:sp>
    </p:spTree>
    <p:extLst>
      <p:ext uri="{BB962C8B-B14F-4D97-AF65-F5344CB8AC3E}">
        <p14:creationId xmlns:p14="http://schemas.microsoft.com/office/powerpoint/2010/main" val="103147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E3413D2-69C6-B678-47D2-01ED7628C25F}"/>
              </a:ext>
            </a:extLst>
          </p:cNvPr>
          <p:cNvGrpSpPr/>
          <p:nvPr/>
        </p:nvGrpSpPr>
        <p:grpSpPr>
          <a:xfrm>
            <a:off x="1192305" y="1594331"/>
            <a:ext cx="6311439" cy="4537528"/>
            <a:chOff x="371668" y="1004344"/>
            <a:chExt cx="6813988" cy="4898829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668" y="3858364"/>
              <a:ext cx="6813988" cy="2044809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668" y="1004344"/>
              <a:ext cx="6813988" cy="2938647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변수 </a:t>
            </a:r>
            <a:r>
              <a:rPr lang="en-US" altLang="ko-KR" dirty="0"/>
              <a:t>a, b, c</a:t>
            </a:r>
            <a:r>
              <a:rPr lang="ko-KR" altLang="en-US" dirty="0"/>
              <a:t>의 값을 </a:t>
            </a:r>
            <a:r>
              <a:rPr lang="en-US" altLang="ko-KR" dirty="0"/>
              <a:t>2, -6, -8</a:t>
            </a:r>
            <a:r>
              <a:rPr lang="ko-KR" altLang="en-US" dirty="0"/>
              <a:t>로 바꾼 방정식의 해를 구하고 싶을 때</a:t>
            </a:r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37AAFB-2F55-6FB9-085E-59811BDC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매개변수를 활용한 </a:t>
            </a:r>
            <a:r>
              <a:rPr lang="en-US" altLang="ko-KR" dirty="0"/>
              <a:t>2</a:t>
            </a:r>
            <a:r>
              <a:rPr lang="ko-KR" altLang="en-US" dirty="0"/>
              <a:t>차 방정식의 근 구하기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76598"/>
            <a:ext cx="4408784" cy="130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02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문제점</a:t>
            </a:r>
            <a:endParaRPr lang="en-US" altLang="ko-KR" dirty="0"/>
          </a:p>
          <a:p>
            <a:pPr lvl="1"/>
            <a:r>
              <a:rPr lang="ko-KR" altLang="en-US" dirty="0"/>
              <a:t>변수 </a:t>
            </a:r>
            <a:r>
              <a:rPr lang="en-US" altLang="ko-KR" dirty="0"/>
              <a:t>a, b, c</a:t>
            </a:r>
            <a:r>
              <a:rPr lang="ko-KR" altLang="en-US" dirty="0"/>
              <a:t>에 원하는 계수를 입력하고</a:t>
            </a:r>
            <a:r>
              <a:rPr lang="en-US" altLang="ko-KR" dirty="0"/>
              <a:t>, </a:t>
            </a:r>
            <a:r>
              <a:rPr lang="ko-KR" altLang="en-US" dirty="0"/>
              <a:t>다시 </a:t>
            </a:r>
            <a:r>
              <a:rPr lang="en-US" altLang="ko-KR" dirty="0"/>
              <a:t>r1, r2</a:t>
            </a:r>
            <a:r>
              <a:rPr lang="ko-KR" altLang="en-US" dirty="0"/>
              <a:t>의 수식을 구해줘야 함</a:t>
            </a:r>
            <a:endParaRPr lang="en-US" altLang="ko-KR" dirty="0"/>
          </a:p>
          <a:p>
            <a:pPr lvl="1"/>
            <a:r>
              <a:rPr lang="ko-KR" altLang="en-US" dirty="0"/>
              <a:t>복사</a:t>
            </a:r>
            <a:r>
              <a:rPr lang="en-US" altLang="ko-KR" dirty="0"/>
              <a:t>, </a:t>
            </a:r>
            <a:r>
              <a:rPr lang="ko-KR" altLang="en-US" dirty="0"/>
              <a:t>붙여넣기를 한다 해도 코드가 중복되는 부분이 많고 불필요하게 긴 것을 한눈에 알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6A3355-A0FD-43F7-7533-FCE7959F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매개변수를 활용한 </a:t>
            </a:r>
            <a:r>
              <a:rPr lang="en-US" altLang="ko-KR" dirty="0"/>
              <a:t>2</a:t>
            </a:r>
            <a:r>
              <a:rPr lang="ko-KR" altLang="en-US" dirty="0"/>
              <a:t>차 방정식의 근 구하기</a:t>
            </a:r>
          </a:p>
        </p:txBody>
      </p:sp>
    </p:spTree>
    <p:extLst>
      <p:ext uri="{BB962C8B-B14F-4D97-AF65-F5344CB8AC3E}">
        <p14:creationId xmlns:p14="http://schemas.microsoft.com/office/powerpoint/2010/main" val="333954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6A3355-A0FD-43F7-7533-FCE7959F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매개변수를 활용한 </a:t>
            </a:r>
            <a:r>
              <a:rPr lang="en-US" altLang="ko-KR" dirty="0"/>
              <a:t>2</a:t>
            </a:r>
            <a:r>
              <a:rPr lang="ko-KR" altLang="en-US" dirty="0"/>
              <a:t>차 방정식의 근 구하기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-14333"/>
          <a:stretch/>
        </p:blipFill>
        <p:spPr>
          <a:xfrm>
            <a:off x="859844" y="4600088"/>
            <a:ext cx="10822482" cy="149413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r="21896"/>
          <a:stretch/>
        </p:blipFill>
        <p:spPr>
          <a:xfrm>
            <a:off x="859843" y="1381427"/>
            <a:ext cx="5901347" cy="3130720"/>
          </a:xfrm>
          <a:prstGeom prst="rect">
            <a:avLst/>
          </a:prstGeom>
        </p:spPr>
      </p:pic>
      <p:sp>
        <p:nvSpPr>
          <p:cNvPr id="13" name="내용 개체 틀 2"/>
          <p:cNvSpPr txBox="1">
            <a:spLocks/>
          </p:cNvSpPr>
          <p:nvPr/>
        </p:nvSpPr>
        <p:spPr>
          <a:xfrm>
            <a:off x="6897655" y="1618218"/>
            <a:ext cx="4335121" cy="1106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ko-KR" altLang="en-US" sz="1600" b="1" dirty="0">
                <a:solidFill>
                  <a:srgbClr val="FF0000"/>
                </a:solidFill>
              </a:rPr>
              <a:t>밖에서 넘겨준 계수 </a:t>
            </a:r>
            <a:r>
              <a:rPr lang="en-US" altLang="ko-KR" sz="1600" b="1" dirty="0">
                <a:solidFill>
                  <a:srgbClr val="FF0000"/>
                </a:solidFill>
              </a:rPr>
              <a:t>3</a:t>
            </a:r>
            <a:r>
              <a:rPr lang="ko-KR" altLang="en-US" sz="1600" b="1" dirty="0">
                <a:solidFill>
                  <a:srgbClr val="FF0000"/>
                </a:solidFill>
              </a:rPr>
              <a:t>개 </a:t>
            </a:r>
            <a:r>
              <a:rPr lang="en-US" altLang="ko-KR" sz="1600" b="1" dirty="0">
                <a:solidFill>
                  <a:srgbClr val="FF0000"/>
                </a:solidFill>
              </a:rPr>
              <a:t>a, b, c</a:t>
            </a:r>
            <a:r>
              <a:rPr lang="ko-KR" altLang="en-US" sz="1600" b="1" dirty="0">
                <a:solidFill>
                  <a:srgbClr val="FF0000"/>
                </a:solidFill>
              </a:rPr>
              <a:t>를 매개변수로 받고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함수 몸체에 근의 공식 연산을 한 후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결과 </a:t>
            </a:r>
            <a:r>
              <a:rPr lang="en-US" altLang="ko-KR" sz="1600" b="1" dirty="0">
                <a:solidFill>
                  <a:srgbClr val="FF0000"/>
                </a:solidFill>
              </a:rPr>
              <a:t>r1, r2</a:t>
            </a:r>
            <a:r>
              <a:rPr lang="ko-KR" altLang="en-US" sz="1600" b="1" dirty="0">
                <a:solidFill>
                  <a:srgbClr val="FF0000"/>
                </a:solidFill>
              </a:rPr>
              <a:t>를 출력하는 코드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 marL="0"/>
            <a:r>
              <a:rPr lang="ko-KR" altLang="en-US" sz="1600" b="1" dirty="0">
                <a:solidFill>
                  <a:srgbClr val="FF0000"/>
                </a:solidFill>
              </a:rPr>
              <a:t>코드가 훨씬 간결해지고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사용하기 편리함</a:t>
            </a:r>
          </a:p>
        </p:txBody>
      </p:sp>
      <p:cxnSp>
        <p:nvCxnSpPr>
          <p:cNvPr id="14" name="직선 화살표 연결선 13"/>
          <p:cNvCxnSpPr>
            <a:cxnSpLocks/>
            <a:stCxn id="13" idx="1"/>
          </p:cNvCxnSpPr>
          <p:nvPr/>
        </p:nvCxnSpPr>
        <p:spPr>
          <a:xfrm flipH="1">
            <a:off x="3436408" y="2171703"/>
            <a:ext cx="3461247" cy="1107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325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44A69-C822-AF4B-9935-C5F0AA48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매개변수를 활용한 </a:t>
            </a:r>
            <a:r>
              <a:rPr lang="en-US" altLang="ko-KR" dirty="0"/>
              <a:t>2</a:t>
            </a:r>
            <a:r>
              <a:rPr lang="ko-KR" altLang="en-US" dirty="0"/>
              <a:t>차 방정식의 근 구하기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196455" y="1128713"/>
            <a:ext cx="7756228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0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44A69-C822-AF4B-9935-C5F0AA48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return</a:t>
            </a:r>
            <a:r>
              <a:rPr lang="ko-KR" altLang="en-US" dirty="0"/>
              <a:t>을 이용한 결과값 반환과 </a:t>
            </a:r>
            <a:r>
              <a:rPr lang="ko-KR" altLang="en-US" dirty="0" err="1"/>
              <a:t>튜플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27" y="2198347"/>
            <a:ext cx="3824519" cy="256006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775" y="1581302"/>
            <a:ext cx="6412404" cy="369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59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반환문</a:t>
            </a:r>
            <a:r>
              <a:rPr lang="ko-KR" altLang="en-US" dirty="0"/>
              <a:t> </a:t>
            </a:r>
            <a:r>
              <a:rPr lang="en-US" altLang="ko-KR" dirty="0"/>
              <a:t>return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return</a:t>
            </a:r>
            <a:r>
              <a:rPr lang="ko-KR" altLang="en-US" dirty="0"/>
              <a:t>을 이용한 결과값 반환과 </a:t>
            </a:r>
            <a:r>
              <a:rPr lang="ko-KR" altLang="en-US" dirty="0" err="1"/>
              <a:t>튜플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356104-A674-C4A4-DCCE-75F14CEA81D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일반적으로</a:t>
            </a:r>
            <a:r>
              <a:rPr lang="en-US" altLang="ko-KR" dirty="0"/>
              <a:t> </a:t>
            </a:r>
            <a:r>
              <a:rPr lang="en-US" altLang="ko-KR" dirty="0" err="1"/>
              <a:t>함수</a:t>
            </a:r>
            <a:r>
              <a:rPr lang="en-US" altLang="ko-KR" dirty="0"/>
              <a:t> </a:t>
            </a:r>
            <a:r>
              <a:rPr lang="en-US" altLang="ko-KR" dirty="0" err="1"/>
              <a:t>내부는</a:t>
            </a:r>
            <a:r>
              <a:rPr lang="en-US" altLang="ko-KR" dirty="0"/>
              <a:t> </a:t>
            </a:r>
            <a:r>
              <a:rPr lang="en-US" altLang="ko-KR" b="1" dirty="0" err="1"/>
              <a:t>블랙박스</a:t>
            </a:r>
            <a:r>
              <a:rPr lang="en-US" altLang="ko-KR" b="1" baseline="30000" dirty="0" err="1">
                <a:solidFill>
                  <a:schemeClr val="accent5"/>
                </a:solidFill>
              </a:rPr>
              <a:t>black</a:t>
            </a:r>
            <a:r>
              <a:rPr lang="en-US" altLang="ko-KR" b="1" baseline="30000" dirty="0">
                <a:solidFill>
                  <a:schemeClr val="accent5"/>
                </a:solidFill>
              </a:rPr>
              <a:t> </a:t>
            </a:r>
            <a:r>
              <a:rPr lang="en-US" altLang="ko-KR" b="1" baseline="30000" dirty="0" err="1">
                <a:solidFill>
                  <a:schemeClr val="accent5"/>
                </a:solidFill>
              </a:rPr>
              <a:t>box</a:t>
            </a:r>
            <a:r>
              <a:rPr lang="en-US" altLang="ko-KR" dirty="0" err="1"/>
              <a:t>라고</a:t>
            </a:r>
            <a:r>
              <a:rPr lang="en-US" altLang="ko-KR" dirty="0"/>
              <a:t> </a:t>
            </a:r>
            <a:r>
              <a:rPr lang="en-US" altLang="ko-KR" dirty="0" err="1"/>
              <a:t>가정</a:t>
            </a:r>
            <a:endParaRPr lang="en-US" altLang="ko-KR" dirty="0"/>
          </a:p>
          <a:p>
            <a:r>
              <a:rPr lang="ko-KR" altLang="en-US" dirty="0"/>
              <a:t>함수의 내부는 특정한 코드를 가지고 있으며 주어진 일을 수행하고 결과를 반환할 수 있음</a:t>
            </a:r>
          </a:p>
          <a:p>
            <a:r>
              <a:rPr lang="en-US" altLang="ko-KR" b="1" dirty="0"/>
              <a:t>return </a:t>
            </a:r>
            <a:r>
              <a:rPr lang="ko-KR" altLang="en-US" dirty="0"/>
              <a:t>키워드를 사용하여 하나 이상의 값을 반환해 줄 수 있음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4006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반환문</a:t>
            </a:r>
            <a:r>
              <a:rPr lang="ko-KR" altLang="en-US" dirty="0"/>
              <a:t> </a:t>
            </a:r>
            <a:r>
              <a:rPr lang="en-US" altLang="ko-KR" dirty="0"/>
              <a:t>return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return</a:t>
            </a:r>
            <a:r>
              <a:rPr lang="ko-KR" altLang="en-US" dirty="0"/>
              <a:t>을 이용한 결과값 반환과 </a:t>
            </a:r>
            <a:r>
              <a:rPr lang="ko-KR" altLang="en-US" dirty="0" err="1"/>
              <a:t>튜플</a:t>
            </a:r>
            <a:endParaRPr 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654566" y="1700213"/>
            <a:ext cx="6840006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7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반환문</a:t>
            </a:r>
            <a:r>
              <a:rPr lang="ko-KR" altLang="en-US" dirty="0"/>
              <a:t> </a:t>
            </a:r>
            <a:r>
              <a:rPr lang="en-US" altLang="ko-KR" dirty="0"/>
              <a:t>return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return</a:t>
            </a:r>
            <a:r>
              <a:rPr lang="ko-KR" altLang="en-US" dirty="0"/>
              <a:t>을 이용한 결과값 반환과 </a:t>
            </a:r>
            <a:r>
              <a:rPr lang="ko-KR" altLang="en-US" dirty="0" err="1"/>
              <a:t>튜플</a:t>
            </a:r>
            <a:endParaRPr 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6F92D92-369A-39FF-D967-033E38329F1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return을</a:t>
            </a:r>
            <a:r>
              <a:rPr lang="en-US" altLang="ko-KR" dirty="0"/>
              <a:t> </a:t>
            </a:r>
            <a:r>
              <a:rPr lang="en-US" altLang="ko-KR" dirty="0" err="1"/>
              <a:t>이용하여</a:t>
            </a:r>
            <a:r>
              <a:rPr lang="en-US" altLang="ko-KR" dirty="0"/>
              <a:t> </a:t>
            </a:r>
            <a:r>
              <a:rPr lang="en-US" altLang="ko-KR" dirty="0" err="1"/>
              <a:t>값을</a:t>
            </a:r>
            <a:r>
              <a:rPr lang="en-US" altLang="ko-KR" dirty="0"/>
              <a:t> </a:t>
            </a:r>
            <a:r>
              <a:rPr lang="en-US" altLang="ko-KR" dirty="0" err="1"/>
              <a:t>반환할</a:t>
            </a:r>
            <a:r>
              <a:rPr lang="en-US" altLang="ko-KR" dirty="0"/>
              <a:t> </a:t>
            </a:r>
            <a:r>
              <a:rPr lang="en-US" altLang="ko-KR" dirty="0" err="1"/>
              <a:t>때는</a:t>
            </a:r>
            <a:r>
              <a:rPr lang="en-US" altLang="ko-KR" dirty="0"/>
              <a:t> </a:t>
            </a:r>
            <a:r>
              <a:rPr lang="en-US" altLang="ko-KR" dirty="0" err="1"/>
              <a:t>다음과</a:t>
            </a:r>
            <a:r>
              <a:rPr lang="en-US" altLang="ko-KR" dirty="0"/>
              <a:t> </a:t>
            </a:r>
            <a:r>
              <a:rPr lang="en-US" altLang="ko-KR" dirty="0" err="1"/>
              <a:t>같이</a:t>
            </a:r>
            <a:r>
              <a:rPr lang="en-US" altLang="ko-KR" dirty="0"/>
              <a:t> return </a:t>
            </a:r>
            <a:r>
              <a:rPr lang="en-US" altLang="ko-KR" dirty="0" err="1"/>
              <a:t>키워드</a:t>
            </a:r>
            <a:r>
              <a:rPr lang="en-US" altLang="ko-KR" dirty="0"/>
              <a:t> </a:t>
            </a:r>
            <a:r>
              <a:rPr lang="en-US" altLang="ko-KR" dirty="0" err="1"/>
              <a:t>다음에</a:t>
            </a:r>
            <a:r>
              <a:rPr lang="en-US" altLang="ko-KR" dirty="0"/>
              <a:t> </a:t>
            </a:r>
            <a:r>
              <a:rPr lang="en-US" altLang="ko-KR" dirty="0" err="1"/>
              <a:t>수식을</a:t>
            </a:r>
            <a:r>
              <a:rPr lang="en-US" altLang="ko-KR" dirty="0"/>
              <a:t> </a:t>
            </a:r>
            <a:r>
              <a:rPr lang="en-US" altLang="ko-KR" dirty="0" err="1"/>
              <a:t>입력하여</a:t>
            </a:r>
            <a:r>
              <a:rPr lang="en-US" altLang="ko-KR" dirty="0"/>
              <a:t> </a:t>
            </a:r>
            <a:r>
              <a:rPr lang="en-US" altLang="ko-KR" dirty="0" err="1"/>
              <a:t>수식의</a:t>
            </a:r>
            <a:r>
              <a:rPr lang="en-US" altLang="ko-KR" dirty="0"/>
              <a:t> </a:t>
            </a:r>
            <a:r>
              <a:rPr lang="en-US" altLang="ko-KR" dirty="0" err="1"/>
              <a:t>결과를</a:t>
            </a:r>
            <a:r>
              <a:rPr lang="en-US" altLang="ko-KR" dirty="0"/>
              <a:t> </a:t>
            </a:r>
            <a:r>
              <a:rPr lang="en-US" altLang="ko-KR" dirty="0" err="1"/>
              <a:t>반환하는</a:t>
            </a:r>
            <a:r>
              <a:rPr lang="en-US" altLang="ko-KR" dirty="0"/>
              <a:t> </a:t>
            </a:r>
            <a:r>
              <a:rPr lang="en-US" altLang="ko-KR" dirty="0" err="1"/>
              <a:t>것도</a:t>
            </a:r>
            <a:r>
              <a:rPr lang="en-US" altLang="ko-KR" dirty="0"/>
              <a:t> </a:t>
            </a:r>
            <a:r>
              <a:rPr lang="en-US" altLang="ko-KR" dirty="0" err="1"/>
              <a:t>가능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6D7FD63-A7D0-5216-FAC1-7EC97C9F2A26}"/>
              </a:ext>
            </a:extLst>
          </p:cNvPr>
          <p:cNvGrpSpPr/>
          <p:nvPr/>
        </p:nvGrpSpPr>
        <p:grpSpPr>
          <a:xfrm>
            <a:off x="1438786" y="2510366"/>
            <a:ext cx="8422390" cy="3535871"/>
            <a:chOff x="685749" y="2018327"/>
            <a:chExt cx="10698126" cy="449126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r="13366"/>
            <a:stretch/>
          </p:blipFill>
          <p:spPr>
            <a:xfrm>
              <a:off x="685750" y="6070456"/>
              <a:ext cx="5074970" cy="439137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l="2557" t="17737" r="8926" b="12138"/>
            <a:stretch/>
          </p:blipFill>
          <p:spPr>
            <a:xfrm>
              <a:off x="685749" y="5085325"/>
              <a:ext cx="5077534" cy="734450"/>
            </a:xfrm>
            <a:prstGeom prst="rect">
              <a:avLst/>
            </a:prstGeom>
          </p:spPr>
        </p:pic>
        <p:sp>
          <p:nvSpPr>
            <p:cNvPr id="9" name="오른쪽 중괄호 8"/>
            <p:cNvSpPr/>
            <p:nvPr/>
          </p:nvSpPr>
          <p:spPr>
            <a:xfrm>
              <a:off x="6248400" y="5219700"/>
              <a:ext cx="295275" cy="1200150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12384" y="5573874"/>
              <a:ext cx="4671491" cy="5082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두 가지 방법의 결과는 동일함</a:t>
              </a:r>
              <a:endParaRPr lang="ko-KR" altLang="en-US" dirty="0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9504" y="2018327"/>
              <a:ext cx="8528771" cy="26982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1887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반환문</a:t>
            </a:r>
            <a:r>
              <a:rPr lang="ko-KR" altLang="en-US" dirty="0"/>
              <a:t> </a:t>
            </a:r>
            <a:r>
              <a:rPr lang="en-US" altLang="ko-KR" dirty="0"/>
              <a:t>return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return</a:t>
            </a:r>
            <a:r>
              <a:rPr lang="ko-KR" altLang="en-US" dirty="0"/>
              <a:t>을 이용한 결과값 반환과 </a:t>
            </a:r>
            <a:r>
              <a:rPr lang="ko-KR" altLang="en-US" dirty="0" err="1"/>
              <a:t>튜플</a:t>
            </a:r>
            <a:endParaRPr 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E50E3D9-481F-5364-6779-3EEB6FC49184}"/>
              </a:ext>
            </a:extLst>
          </p:cNvPr>
          <p:cNvGrpSpPr/>
          <p:nvPr/>
        </p:nvGrpSpPr>
        <p:grpSpPr>
          <a:xfrm>
            <a:off x="2822030" y="1533721"/>
            <a:ext cx="8150772" cy="4412522"/>
            <a:chOff x="1844874" y="1533720"/>
            <a:chExt cx="9329412" cy="5050593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 rotWithShape="1">
            <a:blip r:embed="rId2"/>
            <a:srcRect r="3709"/>
            <a:stretch/>
          </p:blipFill>
          <p:spPr>
            <a:xfrm>
              <a:off x="1844875" y="5475316"/>
              <a:ext cx="7256584" cy="1108997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3"/>
            <a:srcRect r="12730"/>
            <a:stretch/>
          </p:blipFill>
          <p:spPr>
            <a:xfrm>
              <a:off x="1844874" y="1533720"/>
              <a:ext cx="7239960" cy="3790560"/>
            </a:xfrm>
            <a:prstGeom prst="rect">
              <a:avLst/>
            </a:prstGeom>
          </p:spPr>
        </p:pic>
        <p:sp>
          <p:nvSpPr>
            <p:cNvPr id="15" name="설명선 1 12"/>
            <p:cNvSpPr/>
            <p:nvPr/>
          </p:nvSpPr>
          <p:spPr>
            <a:xfrm>
              <a:off x="5551615" y="3453077"/>
              <a:ext cx="3635457" cy="333643"/>
            </a:xfrm>
            <a:prstGeom prst="borderCallout1">
              <a:avLst>
                <a:gd name="adj1" fmla="val 50374"/>
                <a:gd name="adj2" fmla="val -225"/>
                <a:gd name="adj3" fmla="val -1166"/>
                <a:gd name="adj4" fmla="val -4468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두 근 </a:t>
              </a:r>
              <a:r>
                <a:rPr lang="en-US" altLang="ko-KR" sz="1600" dirty="0">
                  <a:solidFill>
                    <a:schemeClr val="tx1"/>
                  </a:solidFill>
                </a:rPr>
                <a:t>r1, r2</a:t>
              </a:r>
              <a:r>
                <a:rPr lang="ko-KR" altLang="en-US" sz="1600" dirty="0">
                  <a:solidFill>
                    <a:schemeClr val="tx1"/>
                  </a:solidFill>
                </a:rPr>
                <a:t>를 반환함</a:t>
              </a:r>
            </a:p>
          </p:txBody>
        </p:sp>
        <p:sp>
          <p:nvSpPr>
            <p:cNvPr id="16" name="설명선 1 13"/>
            <p:cNvSpPr/>
            <p:nvPr/>
          </p:nvSpPr>
          <p:spPr>
            <a:xfrm>
              <a:off x="7538829" y="4711330"/>
              <a:ext cx="3635457" cy="659366"/>
            </a:xfrm>
            <a:prstGeom prst="borderCallout1">
              <a:avLst>
                <a:gd name="adj1" fmla="val 50374"/>
                <a:gd name="adj2" fmla="val -225"/>
                <a:gd name="adj3" fmla="val -1166"/>
                <a:gd name="adj4" fmla="val -4383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result1, result2</a:t>
              </a:r>
              <a:r>
                <a:rPr lang="ko-KR" altLang="en-US" sz="1600" dirty="0">
                  <a:solidFill>
                    <a:schemeClr val="tx1"/>
                  </a:solidFill>
                </a:rPr>
                <a:t>가 </a:t>
              </a:r>
              <a:r>
                <a:rPr lang="en-US" altLang="ko-KR" sz="1600" dirty="0">
                  <a:solidFill>
                    <a:schemeClr val="tx1"/>
                  </a:solidFill>
                </a:rPr>
                <a:t>r1, r2</a:t>
              </a:r>
              <a:r>
                <a:rPr lang="ko-KR" altLang="en-US" sz="1600" dirty="0">
                  <a:solidFill>
                    <a:schemeClr val="tx1"/>
                  </a:solidFill>
                </a:rPr>
                <a:t>의 값을 받아온다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90345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F752A78-159C-0AD9-F3B9-910764A0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return</a:t>
            </a:r>
            <a:r>
              <a:rPr lang="ko-KR" altLang="en-US" dirty="0"/>
              <a:t>을 이용한 결과값 반환과 </a:t>
            </a:r>
            <a:r>
              <a:rPr lang="ko-KR" altLang="en-US" dirty="0" err="1"/>
              <a:t>튜플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213376" y="1128713"/>
            <a:ext cx="972238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855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F752A78-159C-0AD9-F3B9-910764A0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return</a:t>
            </a:r>
            <a:r>
              <a:rPr lang="ko-KR" altLang="en-US" dirty="0"/>
              <a:t>을 이용한 결과값 반환과 </a:t>
            </a:r>
            <a:r>
              <a:rPr lang="ko-KR" altLang="en-US" dirty="0" err="1"/>
              <a:t>튜플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1E4D27-2D3F-C0ED-99C8-AAF9CFF2281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위의 코드에서는 계수 </a:t>
            </a:r>
            <a:r>
              <a:rPr lang="en-US" altLang="ko-KR" dirty="0"/>
              <a:t>a, b, c</a:t>
            </a:r>
            <a:r>
              <a:rPr lang="ko-KR" altLang="en-US" dirty="0"/>
              <a:t>를 매개변수로 받아서 근의 공식으로 해를 계산해 변수 </a:t>
            </a:r>
            <a:r>
              <a:rPr lang="en-US" altLang="ko-KR" dirty="0"/>
              <a:t>r1, r2</a:t>
            </a:r>
            <a:r>
              <a:rPr lang="ko-KR" altLang="en-US" dirty="0"/>
              <a:t>에 저장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return</a:t>
            </a:r>
            <a:r>
              <a:rPr lang="ko-KR" altLang="en-US" dirty="0"/>
              <a:t>문으로 두 값을 반환</a:t>
            </a:r>
            <a:endParaRPr lang="en-US" altLang="ko-KR" dirty="0"/>
          </a:p>
          <a:p>
            <a:r>
              <a:rPr lang="ko-KR" altLang="en-US" spc="-40" dirty="0"/>
              <a:t>함수 외부에서는 함수 </a:t>
            </a:r>
            <a:r>
              <a:rPr lang="en-US" altLang="ko-KR" spc="-40" dirty="0" err="1"/>
              <a:t>get_root</a:t>
            </a:r>
            <a:r>
              <a:rPr lang="ko-KR" altLang="en-US" spc="-40" dirty="0"/>
              <a:t>를 호출해 그 해를 변수 </a:t>
            </a:r>
            <a:r>
              <a:rPr lang="en-US" altLang="ko-KR" spc="-40" dirty="0"/>
              <a:t>result1, result2</a:t>
            </a:r>
            <a:r>
              <a:rPr lang="ko-KR" altLang="en-US" spc="-40" dirty="0"/>
              <a:t>에 저장하여 출력</a:t>
            </a:r>
            <a:endParaRPr lang="en-US" altLang="ko-KR" spc="-40" dirty="0"/>
          </a:p>
          <a:p>
            <a:r>
              <a:rPr lang="ko-KR" altLang="en-US" dirty="0"/>
              <a:t>이와 같이 두 개 이상의 값을 반환하는 반환문을 </a:t>
            </a:r>
            <a:r>
              <a:rPr lang="ko-KR" altLang="en-US" b="1" dirty="0"/>
              <a:t>다중 </a:t>
            </a:r>
            <a:r>
              <a:rPr lang="ko-KR" altLang="en-US" b="1" dirty="0" err="1"/>
              <a:t>반환문</a:t>
            </a:r>
            <a:r>
              <a:rPr lang="en-US" altLang="ko-KR" b="1" baseline="30000" dirty="0">
                <a:solidFill>
                  <a:schemeClr val="accent5"/>
                </a:solidFill>
              </a:rPr>
              <a:t>multiple return statement</a:t>
            </a:r>
            <a:r>
              <a:rPr lang="ko-KR" altLang="en-US" dirty="0"/>
              <a:t>이라고 함</a:t>
            </a:r>
            <a:endParaRPr lang="en-US" altLang="ko-KR" dirty="0"/>
          </a:p>
          <a:p>
            <a:r>
              <a:rPr lang="ko-KR" altLang="en-US" dirty="0"/>
              <a:t>다중 반환문에서 쉼표로 구분되는 두 개의 값은 </a:t>
            </a:r>
            <a:r>
              <a:rPr lang="ko-KR" altLang="en-US" dirty="0" err="1"/>
              <a:t>튜플</a:t>
            </a:r>
            <a:r>
              <a:rPr lang="ko-KR" altLang="en-US" dirty="0"/>
              <a:t> 형으로 반환이 이루어짐</a:t>
            </a:r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6235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F752A78-159C-0AD9-F3B9-910764A0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return</a:t>
            </a:r>
            <a:r>
              <a:rPr lang="ko-KR" altLang="en-US" dirty="0"/>
              <a:t>을 이용한 결과값 반환과 </a:t>
            </a:r>
            <a:r>
              <a:rPr lang="ko-KR" altLang="en-US" dirty="0" err="1"/>
              <a:t>튜플</a:t>
            </a:r>
            <a:endParaRPr lang="ko-KR" altLang="en-US" dirty="0"/>
          </a:p>
        </p:txBody>
      </p:sp>
      <p:pic>
        <p:nvPicPr>
          <p:cNvPr id="2" name="내용 개체 틀 1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800984" y="1128713"/>
            <a:ext cx="854716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07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F752A78-159C-0AD9-F3B9-910764A0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5.5 </a:t>
            </a:r>
            <a:r>
              <a:rPr lang="ko-KR" altLang="en-US" dirty="0"/>
              <a:t>전역 변수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342738E-70C4-DB37-10C6-C695E6BBA79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67258" y="1128237"/>
            <a:ext cx="3468884" cy="4917999"/>
          </a:xfrm>
        </p:spPr>
        <p:txBody>
          <a:bodyPr/>
          <a:lstStyle/>
          <a:p>
            <a:r>
              <a:rPr lang="ko-KR" altLang="en-US" dirty="0"/>
              <a:t>전역변수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global variable</a:t>
            </a:r>
          </a:p>
          <a:p>
            <a:pPr lvl="1"/>
            <a:r>
              <a:rPr lang="ko-KR" altLang="en-US" dirty="0"/>
              <a:t>함수 바깥에서 선언되거나</a:t>
            </a:r>
            <a:r>
              <a:rPr lang="en-US" altLang="ko-KR" dirty="0"/>
              <a:t> </a:t>
            </a:r>
            <a:r>
              <a:rPr lang="ko-KR" altLang="en-US" dirty="0"/>
              <a:t>전체 영역에서 사용 가능한 변수</a:t>
            </a:r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87" y="1467262"/>
            <a:ext cx="6708389" cy="44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34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90293A6-F6B5-D214-B104-10B1199F081A}"/>
              </a:ext>
            </a:extLst>
          </p:cNvPr>
          <p:cNvGrpSpPr/>
          <p:nvPr/>
        </p:nvGrpSpPr>
        <p:grpSpPr>
          <a:xfrm>
            <a:off x="592144" y="1378689"/>
            <a:ext cx="10801997" cy="4100621"/>
            <a:chOff x="188732" y="1070032"/>
            <a:chExt cx="11901385" cy="4517967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3306" y="1070032"/>
              <a:ext cx="6616811" cy="4517967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188732" y="4486810"/>
              <a:ext cx="4935061" cy="9155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base" latinLnBrk="0"/>
              <a:r>
                <a:rPr lang="en-US" altLang="ko-KR" sz="1600" dirty="0">
                  <a:latin typeface="+mn-ea"/>
                </a:rPr>
                <a:t>[</a:t>
              </a:r>
              <a:r>
                <a:rPr lang="ko-KR" altLang="en-US" sz="1600" dirty="0">
                  <a:latin typeface="+mn-ea"/>
                </a:rPr>
                <a:t>그림 </a:t>
              </a:r>
              <a:r>
                <a:rPr lang="en-US" altLang="ko-KR" sz="1600" dirty="0">
                  <a:latin typeface="+mn-ea"/>
                </a:rPr>
                <a:t>5-7] </a:t>
              </a:r>
              <a:r>
                <a:rPr lang="ko-KR" altLang="en-US" sz="1600" dirty="0" err="1">
                  <a:latin typeface="+mn-ea"/>
                </a:rPr>
                <a:t>파이썬</a:t>
              </a:r>
              <a:r>
                <a:rPr lang="ko-KR" altLang="en-US" sz="1600" dirty="0">
                  <a:latin typeface="+mn-ea"/>
                </a:rPr>
                <a:t> 스크립트 파일과 전역변수</a:t>
              </a:r>
              <a:r>
                <a:rPr lang="en-US" altLang="ko-KR" sz="1600" dirty="0">
                  <a:latin typeface="+mn-ea"/>
                </a:rPr>
                <a:t>, </a:t>
              </a:r>
            </a:p>
            <a:p>
              <a:pPr algn="ctr" fontAlgn="base" latinLnBrk="0"/>
              <a:r>
                <a:rPr lang="ko-KR" altLang="en-US" sz="1600" dirty="0">
                  <a:latin typeface="+mn-ea"/>
                </a:rPr>
                <a:t>그리고 이 </a:t>
              </a:r>
              <a:r>
                <a:rPr lang="ko-KR" altLang="en-US" sz="1600" dirty="0" err="1">
                  <a:latin typeface="+mn-ea"/>
                </a:rPr>
                <a:t>전역변수를</a:t>
              </a:r>
              <a:r>
                <a:rPr lang="ko-KR" altLang="en-US" sz="1600" dirty="0">
                  <a:latin typeface="+mn-ea"/>
                </a:rPr>
                <a:t> 사용하는</a:t>
              </a:r>
              <a:endParaRPr lang="en-US" altLang="ko-KR" sz="1600" dirty="0">
                <a:latin typeface="+mn-ea"/>
              </a:endParaRPr>
            </a:p>
            <a:p>
              <a:pPr algn="ctr" fontAlgn="base" latinLnBrk="0"/>
              <a:r>
                <a:rPr lang="ko-KR" altLang="en-US" sz="1600" dirty="0">
                  <a:latin typeface="+mn-ea"/>
                </a:rPr>
                <a:t> </a:t>
              </a:r>
              <a:r>
                <a:rPr lang="en-US" altLang="ko-KR" sz="1600" dirty="0" err="1">
                  <a:latin typeface="+mn-ea"/>
                </a:rPr>
                <a:t>print_sum</a:t>
              </a:r>
              <a:r>
                <a:rPr lang="en-US" altLang="ko-KR" sz="1600" dirty="0">
                  <a:latin typeface="+mn-ea"/>
                </a:rPr>
                <a:t>() </a:t>
              </a:r>
              <a:r>
                <a:rPr lang="ko-KR" altLang="en-US" sz="1600" dirty="0">
                  <a:latin typeface="+mn-ea"/>
                </a:rPr>
                <a:t>함수</a:t>
              </a:r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732" y="1862602"/>
              <a:ext cx="4971259" cy="2243885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0BDE82B4-6C3C-1F1D-CB19-AC65B51F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5.5 </a:t>
            </a:r>
            <a:r>
              <a:rPr lang="ko-KR" altLang="en-US" dirty="0"/>
              <a:t>전역 변수</a:t>
            </a:r>
          </a:p>
        </p:txBody>
      </p:sp>
    </p:spTree>
    <p:extLst>
      <p:ext uri="{BB962C8B-B14F-4D97-AF65-F5344CB8AC3E}">
        <p14:creationId xmlns:p14="http://schemas.microsoft.com/office/powerpoint/2010/main" val="3214444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7494494" y="1128237"/>
            <a:ext cx="3587520" cy="4917999"/>
          </a:xfrm>
        </p:spPr>
        <p:txBody>
          <a:bodyPr/>
          <a:lstStyle/>
          <a:p>
            <a:pPr fontAlgn="base"/>
            <a:r>
              <a:rPr lang="en-US" altLang="ko-KR" dirty="0" err="1"/>
              <a:t>print_sum</a:t>
            </a:r>
            <a:r>
              <a:rPr lang="en-US" altLang="ko-KR" dirty="0"/>
              <a:t>()</a:t>
            </a:r>
            <a:r>
              <a:rPr lang="ko-KR" altLang="en-US" dirty="0"/>
              <a:t>을 수행한 다음 함수 외부에서 다시 한번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를 합하여 </a:t>
            </a:r>
            <a:r>
              <a:rPr lang="en-US" altLang="ko-KR" dirty="0"/>
              <a:t>result</a:t>
            </a:r>
            <a:r>
              <a:rPr lang="ko-KR" altLang="en-US" dirty="0"/>
              <a:t>에 대입하고 그 결과를 출력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4DA093-7AB1-A138-CF9C-948BB7A7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5.5 </a:t>
            </a:r>
            <a:r>
              <a:rPr lang="ko-KR" altLang="en-US" dirty="0"/>
              <a:t>전역 변수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26EFD3C-C717-9199-1317-A6EED177DAAE}"/>
              </a:ext>
            </a:extLst>
          </p:cNvPr>
          <p:cNvGrpSpPr/>
          <p:nvPr/>
        </p:nvGrpSpPr>
        <p:grpSpPr>
          <a:xfrm>
            <a:off x="813968" y="1305491"/>
            <a:ext cx="6497493" cy="4620179"/>
            <a:chOff x="419521" y="687267"/>
            <a:chExt cx="7214096" cy="512973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521" y="687267"/>
              <a:ext cx="7214096" cy="5129735"/>
            </a:xfrm>
            <a:prstGeom prst="rect">
              <a:avLst/>
            </a:prstGeom>
          </p:spPr>
        </p:pic>
        <p:sp>
          <p:nvSpPr>
            <p:cNvPr id="12" name="설명선 1 11"/>
            <p:cNvSpPr/>
            <p:nvPr/>
          </p:nvSpPr>
          <p:spPr>
            <a:xfrm>
              <a:off x="2949172" y="3351671"/>
              <a:ext cx="3703208" cy="333643"/>
            </a:xfrm>
            <a:prstGeom prst="borderCallout1">
              <a:avLst>
                <a:gd name="adj1" fmla="val 50374"/>
                <a:gd name="adj2" fmla="val -225"/>
                <a:gd name="adj3" fmla="val -25033"/>
                <a:gd name="adj4" fmla="val -45332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10, 20</a:t>
              </a:r>
              <a:r>
                <a:rPr lang="ko-KR" altLang="en-US" sz="1400" dirty="0">
                  <a:solidFill>
                    <a:schemeClr val="tx1"/>
                  </a:solidFill>
                </a:rPr>
                <a:t>을</a:t>
              </a:r>
              <a:r>
                <a:rPr lang="en-US" altLang="ko-KR" sz="1400" dirty="0">
                  <a:solidFill>
                    <a:schemeClr val="tx1"/>
                  </a:solidFill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</a:rPr>
                <a:t>참조하는 </a:t>
              </a:r>
              <a:r>
                <a:rPr lang="en-US" altLang="ko-KR" sz="1400" dirty="0">
                  <a:solidFill>
                    <a:schemeClr val="tx1"/>
                  </a:solidFill>
                </a:rPr>
                <a:t>a, b </a:t>
              </a:r>
              <a:r>
                <a:rPr lang="ko-KR" altLang="en-US" sz="1400" dirty="0">
                  <a:solidFill>
                    <a:schemeClr val="tx1"/>
                  </a:solidFill>
                </a:rPr>
                <a:t>변수 생성</a:t>
              </a:r>
            </a:p>
          </p:txBody>
        </p:sp>
        <p:sp>
          <p:nvSpPr>
            <p:cNvPr id="13" name="설명선 1 12"/>
            <p:cNvSpPr/>
            <p:nvPr/>
          </p:nvSpPr>
          <p:spPr>
            <a:xfrm>
              <a:off x="3183883" y="2785847"/>
              <a:ext cx="3538171" cy="482062"/>
            </a:xfrm>
            <a:prstGeom prst="borderCallout1">
              <a:avLst>
                <a:gd name="adj1" fmla="val 50374"/>
                <a:gd name="adj2" fmla="val -225"/>
                <a:gd name="adj3" fmla="val -186910"/>
                <a:gd name="adj4" fmla="val -42895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100, 200</a:t>
              </a:r>
              <a:r>
                <a:rPr lang="ko-KR" altLang="en-US" sz="1400" dirty="0">
                  <a:solidFill>
                    <a:schemeClr val="tx1"/>
                  </a:solidFill>
                </a:rPr>
                <a:t>을</a:t>
              </a:r>
              <a:r>
                <a:rPr lang="en-US" altLang="ko-KR" sz="1400" dirty="0">
                  <a:solidFill>
                    <a:schemeClr val="tx1"/>
                  </a:solidFill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</a:rPr>
                <a:t>참조하는 </a:t>
              </a:r>
              <a:r>
                <a:rPr lang="ko-KR" altLang="en-US" sz="1400" dirty="0">
                  <a:solidFill>
                    <a:srgbClr val="FF0000"/>
                  </a:solidFill>
                </a:rPr>
                <a:t>새로운</a:t>
              </a:r>
              <a:r>
                <a:rPr lang="ko-KR" altLang="en-US" sz="1400" dirty="0">
                  <a:solidFill>
                    <a:schemeClr val="tx1"/>
                  </a:solidFill>
                </a:rPr>
                <a:t> 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a, b </a:t>
              </a:r>
              <a:r>
                <a:rPr lang="ko-KR" altLang="en-US" sz="1400" dirty="0">
                  <a:solidFill>
                    <a:schemeClr val="tx1"/>
                  </a:solidFill>
                </a:rPr>
                <a:t>변수 생성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90585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E9E9C51-DFB6-2162-9C38-851AC459D87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할당</a:t>
            </a:r>
            <a:r>
              <a:rPr lang="en-US" altLang="ko-KR" b="1" baseline="30000" dirty="0">
                <a:solidFill>
                  <a:schemeClr val="accent5"/>
                </a:solidFill>
              </a:rPr>
              <a:t>assign</a:t>
            </a:r>
          </a:p>
          <a:p>
            <a:pPr lvl="1" fontAlgn="base"/>
            <a:r>
              <a:rPr lang="en-US" altLang="ko-KR" dirty="0"/>
              <a:t>a = 100, b = 200</a:t>
            </a:r>
          </a:p>
          <a:p>
            <a:pPr fontAlgn="base"/>
            <a:r>
              <a:rPr lang="ko-KR" altLang="en-US" dirty="0"/>
              <a:t>지역 변수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local variable</a:t>
            </a:r>
          </a:p>
          <a:p>
            <a:pPr fontAlgn="base"/>
            <a:r>
              <a:rPr lang="ko-KR" altLang="en-US" dirty="0"/>
              <a:t>참조</a:t>
            </a:r>
            <a:r>
              <a:rPr lang="en-US" altLang="ko-KR" b="1" baseline="30000" dirty="0">
                <a:solidFill>
                  <a:schemeClr val="accent5"/>
                </a:solidFill>
              </a:rPr>
              <a:t>reference</a:t>
            </a:r>
          </a:p>
          <a:p>
            <a:pPr fontAlgn="base"/>
            <a:endParaRPr lang="en-US" altLang="ko-KR" dirty="0"/>
          </a:p>
          <a:p>
            <a:pPr lvl="1" fontAlgn="base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979BB0F-3685-D957-5B59-6DEE1EED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5.5 </a:t>
            </a:r>
            <a:r>
              <a:rPr lang="ko-KR" altLang="en-US" dirty="0"/>
              <a:t>전역 변수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7740055-6170-377B-3127-6CA23845D29E}"/>
              </a:ext>
            </a:extLst>
          </p:cNvPr>
          <p:cNvGrpSpPr/>
          <p:nvPr/>
        </p:nvGrpSpPr>
        <p:grpSpPr>
          <a:xfrm>
            <a:off x="4722969" y="1228165"/>
            <a:ext cx="6617384" cy="4788276"/>
            <a:chOff x="4722968" y="422449"/>
            <a:chExt cx="6942327" cy="502340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2968" y="1803863"/>
              <a:ext cx="6942327" cy="3641988"/>
            </a:xfrm>
            <a:prstGeom prst="rect">
              <a:avLst/>
            </a:prstGeom>
          </p:spPr>
        </p:pic>
        <p:grpSp>
          <p:nvGrpSpPr>
            <p:cNvPr id="30" name="그룹 29"/>
            <p:cNvGrpSpPr/>
            <p:nvPr/>
          </p:nvGrpSpPr>
          <p:grpSpPr>
            <a:xfrm>
              <a:off x="5351789" y="422449"/>
              <a:ext cx="2056106" cy="2151418"/>
              <a:chOff x="5351789" y="422449"/>
              <a:chExt cx="2056106" cy="2151418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5351789" y="422449"/>
                <a:ext cx="2056106" cy="6149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a, b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가 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10, 20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을 참조함</a:t>
                </a:r>
              </a:p>
            </p:txBody>
          </p:sp>
          <p:cxnSp>
            <p:nvCxnSpPr>
              <p:cNvPr id="26" name="직선 연결선 25"/>
              <p:cNvCxnSpPr>
                <a:cxnSpLocks/>
                <a:stCxn id="6" idx="2"/>
              </p:cNvCxnSpPr>
              <p:nvPr/>
            </p:nvCxnSpPr>
            <p:spPr>
              <a:xfrm>
                <a:off x="6379842" y="1037377"/>
                <a:ext cx="484115" cy="1536490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30"/>
            <p:cNvGrpSpPr/>
            <p:nvPr/>
          </p:nvGrpSpPr>
          <p:grpSpPr>
            <a:xfrm>
              <a:off x="8752884" y="430335"/>
              <a:ext cx="2225852" cy="1550865"/>
              <a:chOff x="8752884" y="430335"/>
              <a:chExt cx="2225852" cy="1550865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8752884" y="430335"/>
                <a:ext cx="2225852" cy="6149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a, b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가 새 객체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100, 200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을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참조함</a:t>
                </a:r>
              </a:p>
            </p:txBody>
          </p:sp>
          <p:cxnSp>
            <p:nvCxnSpPr>
              <p:cNvPr id="28" name="직선 연결선 27"/>
              <p:cNvCxnSpPr>
                <a:cxnSpLocks/>
                <a:stCxn id="27" idx="2"/>
              </p:cNvCxnSpPr>
              <p:nvPr/>
            </p:nvCxnSpPr>
            <p:spPr>
              <a:xfrm>
                <a:off x="9865811" y="1045263"/>
                <a:ext cx="124856" cy="935937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1261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979BB0F-3685-D957-5B59-6DEE1EED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5.5 </a:t>
            </a:r>
            <a:r>
              <a:rPr lang="ko-KR" altLang="en-US" dirty="0"/>
              <a:t>전역 변수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367447A-392D-269F-9D62-F80CEA62AED9}"/>
              </a:ext>
            </a:extLst>
          </p:cNvPr>
          <p:cNvGrpSpPr/>
          <p:nvPr/>
        </p:nvGrpSpPr>
        <p:grpSpPr>
          <a:xfrm>
            <a:off x="945638" y="1084728"/>
            <a:ext cx="9750325" cy="5567741"/>
            <a:chOff x="309381" y="405716"/>
            <a:chExt cx="11545414" cy="6335386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381" y="4341462"/>
              <a:ext cx="6872815" cy="239964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14319" y="405716"/>
              <a:ext cx="4483420" cy="731640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82451" y="1574087"/>
              <a:ext cx="5472344" cy="1264526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9383" y="532696"/>
              <a:ext cx="5684094" cy="3815535"/>
            </a:xfrm>
            <a:prstGeom prst="rect">
              <a:avLst/>
            </a:prstGeom>
          </p:spPr>
        </p:pic>
        <p:sp>
          <p:nvSpPr>
            <p:cNvPr id="14" name="설명선 1 9"/>
            <p:cNvSpPr/>
            <p:nvPr/>
          </p:nvSpPr>
          <p:spPr>
            <a:xfrm>
              <a:off x="2061066" y="1708826"/>
              <a:ext cx="3932411" cy="497524"/>
            </a:xfrm>
            <a:prstGeom prst="borderCallout1">
              <a:avLst>
                <a:gd name="adj1" fmla="val 50374"/>
                <a:gd name="adj2" fmla="val -225"/>
                <a:gd name="adj3" fmla="val -13635"/>
                <a:gd name="adj4" fmla="val -715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schemeClr val="tx1"/>
                  </a:solidFill>
                </a:rPr>
                <a:t>전역변수</a:t>
              </a:r>
              <a:r>
                <a:rPr lang="ko-KR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ko-KR" sz="1400" dirty="0">
                  <a:solidFill>
                    <a:schemeClr val="tx1"/>
                  </a:solidFill>
                </a:rPr>
                <a:t>a, b</a:t>
              </a:r>
              <a:r>
                <a:rPr lang="ko-KR" altLang="en-US" sz="1400" dirty="0">
                  <a:solidFill>
                    <a:schemeClr val="tx1"/>
                  </a:solidFill>
                </a:rPr>
                <a:t>가 </a:t>
              </a:r>
              <a:r>
                <a:rPr lang="en-US" altLang="ko-KR" sz="1400" dirty="0">
                  <a:solidFill>
                    <a:schemeClr val="tx1"/>
                  </a:solidFill>
                </a:rPr>
                <a:t>100, 200</a:t>
              </a:r>
              <a:r>
                <a:rPr lang="ko-KR" altLang="en-US" sz="1400" dirty="0">
                  <a:solidFill>
                    <a:schemeClr val="tx1"/>
                  </a:solidFill>
                </a:rPr>
                <a:t>을 </a:t>
              </a:r>
              <a:r>
                <a:rPr lang="ko-KR" altLang="en-US" sz="1600" dirty="0">
                  <a:solidFill>
                    <a:schemeClr val="tx1"/>
                  </a:solidFill>
                </a:rPr>
                <a:t>참조함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6843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AA07F58-8AFC-DA7A-DBD0-536AA034C7F8}"/>
              </a:ext>
            </a:extLst>
          </p:cNvPr>
          <p:cNvGrpSpPr/>
          <p:nvPr/>
        </p:nvGrpSpPr>
        <p:grpSpPr>
          <a:xfrm>
            <a:off x="3723199" y="627682"/>
            <a:ext cx="7224433" cy="5420779"/>
            <a:chOff x="2448731" y="532782"/>
            <a:chExt cx="7452298" cy="5822594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9007" y="532782"/>
              <a:ext cx="7445600" cy="3022471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8731" y="3218977"/>
              <a:ext cx="7452298" cy="3136399"/>
            </a:xfrm>
            <a:prstGeom prst="rect">
              <a:avLst/>
            </a:prstGeom>
          </p:spPr>
        </p:pic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2A50950C-3FFA-2F38-2F9A-0149AD02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5.5 </a:t>
            </a:r>
            <a:r>
              <a:rPr lang="ko-KR" altLang="en-US" dirty="0"/>
              <a:t>전역 변수</a:t>
            </a:r>
          </a:p>
        </p:txBody>
      </p:sp>
    </p:spTree>
    <p:extLst>
      <p:ext uri="{BB962C8B-B14F-4D97-AF65-F5344CB8AC3E}">
        <p14:creationId xmlns:p14="http://schemas.microsoft.com/office/powerpoint/2010/main" val="2599266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F175E53-182A-5278-00E4-7C9D37D98215}"/>
              </a:ext>
            </a:extLst>
          </p:cNvPr>
          <p:cNvGrpSpPr/>
          <p:nvPr/>
        </p:nvGrpSpPr>
        <p:grpSpPr>
          <a:xfrm>
            <a:off x="904883" y="1828131"/>
            <a:ext cx="10518739" cy="3201737"/>
            <a:chOff x="306177" y="1617534"/>
            <a:chExt cx="11507335" cy="350265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7345" y="1639519"/>
              <a:ext cx="5996167" cy="3480665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3"/>
            <a:srcRect t="11227" b="21628"/>
            <a:stretch/>
          </p:blipFill>
          <p:spPr>
            <a:xfrm>
              <a:off x="306177" y="4281056"/>
              <a:ext cx="5214091" cy="39889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4"/>
            <a:srcRect l="1655" b="4392"/>
            <a:stretch/>
          </p:blipFill>
          <p:spPr>
            <a:xfrm>
              <a:off x="383192" y="1617534"/>
              <a:ext cx="4528282" cy="2480878"/>
            </a:xfrm>
            <a:prstGeom prst="rect">
              <a:avLst/>
            </a:prstGeom>
          </p:spPr>
        </p:pic>
        <p:sp>
          <p:nvSpPr>
            <p:cNvPr id="10" name="오른쪽 화살표 9"/>
            <p:cNvSpPr/>
            <p:nvPr/>
          </p:nvSpPr>
          <p:spPr>
            <a:xfrm>
              <a:off x="5082268" y="3174112"/>
              <a:ext cx="563880" cy="4114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0974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함수에 특정한 작업을 위임하기 위하여 정확한 인자를 넣어주는 것도 필요하지만 가끔씩은 위와 같은 에러를 예방하고</a:t>
            </a:r>
            <a:r>
              <a:rPr lang="en-US" altLang="ko-KR" dirty="0"/>
              <a:t>, </a:t>
            </a:r>
            <a:r>
              <a:rPr lang="ko-KR" altLang="en-US" dirty="0"/>
              <a:t>좀 더 유연성 있는 작업을 위해서 디폴트 값을 사용하는 것이 편리할 때가 있음</a:t>
            </a:r>
          </a:p>
          <a:p>
            <a:r>
              <a:rPr lang="ko-KR" altLang="en-US" dirty="0"/>
              <a:t>이때 사용하는 것이 </a:t>
            </a:r>
            <a:r>
              <a:rPr lang="ko-KR" altLang="en-US" b="1" dirty="0"/>
              <a:t>디폴트 인자</a:t>
            </a:r>
            <a:r>
              <a:rPr lang="en-US" altLang="ko-KR" b="1" baseline="30000" dirty="0">
                <a:solidFill>
                  <a:schemeClr val="accent5"/>
                </a:solidFill>
              </a:rPr>
              <a:t>default argument</a:t>
            </a:r>
            <a:endParaRPr lang="ko-KR" altLang="en-US" b="1" baseline="30000" dirty="0">
              <a:solidFill>
                <a:schemeClr val="accent5"/>
              </a:solidFill>
            </a:endParaRPr>
          </a:p>
          <a:p>
            <a:r>
              <a:rPr lang="en-US" altLang="ko-KR" dirty="0"/>
              <a:t>[</a:t>
            </a:r>
            <a:r>
              <a:rPr lang="ko-KR" altLang="en-US" dirty="0"/>
              <a:t>코드 </a:t>
            </a:r>
            <a:r>
              <a:rPr lang="en-US" altLang="ko-KR" dirty="0"/>
              <a:t>5-19]</a:t>
            </a:r>
            <a:r>
              <a:rPr lang="ko-KR" altLang="en-US" dirty="0"/>
              <a:t>와 같이 매개변수에 </a:t>
            </a:r>
            <a:r>
              <a:rPr lang="en-US" altLang="ko-KR" dirty="0"/>
              <a:t>= 1</a:t>
            </a:r>
            <a:r>
              <a:rPr lang="ko-KR" altLang="en-US" dirty="0"/>
              <a:t>과 같이 디폴트 값을 할당</a:t>
            </a:r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3F1A92-1B52-CD80-6532-D1B03291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</p:spTree>
    <p:extLst>
      <p:ext uri="{BB962C8B-B14F-4D97-AF65-F5344CB8AC3E}">
        <p14:creationId xmlns:p14="http://schemas.microsoft.com/office/powerpoint/2010/main" val="38774187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62" y="2041071"/>
            <a:ext cx="7062677" cy="409975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인자 없이 호출해도 디폴트 값 </a:t>
            </a:r>
            <a:r>
              <a:rPr lang="en-US" altLang="ko-KR" dirty="0"/>
              <a:t>1</a:t>
            </a:r>
            <a:r>
              <a:rPr lang="ko-KR" altLang="en-US" dirty="0"/>
              <a:t>을 매개변수 </a:t>
            </a:r>
            <a:r>
              <a:rPr lang="en-US" altLang="ko-KR" dirty="0"/>
              <a:t>n</a:t>
            </a:r>
            <a:r>
              <a:rPr lang="ko-KR" altLang="en-US" dirty="0"/>
              <a:t>에 전달하므로 한 줄의 별표 라인이 정상적으로 출력됨</a:t>
            </a:r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7EAF65-BEE5-3C07-5E14-96304921B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</p:spTree>
    <p:extLst>
      <p:ext uri="{BB962C8B-B14F-4D97-AF65-F5344CB8AC3E}">
        <p14:creationId xmlns:p14="http://schemas.microsoft.com/office/powerpoint/2010/main" val="39928285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print_star</a:t>
            </a:r>
            <a:r>
              <a:rPr lang="en-US" altLang="ko-KR" dirty="0"/>
              <a:t>() </a:t>
            </a:r>
            <a:r>
              <a:rPr lang="ko-KR" altLang="en-US" dirty="0"/>
              <a:t>함수 호출 시 인자 </a:t>
            </a:r>
            <a:r>
              <a:rPr lang="en-US" altLang="ko-KR" dirty="0"/>
              <a:t>2</a:t>
            </a:r>
            <a:r>
              <a:rPr lang="ko-KR" altLang="en-US" dirty="0"/>
              <a:t>를 입력하게 되면 디폴트 값 </a:t>
            </a:r>
            <a:r>
              <a:rPr lang="en-US" altLang="ko-KR" dirty="0"/>
              <a:t>1</a:t>
            </a:r>
            <a:r>
              <a:rPr lang="ko-KR" altLang="en-US" dirty="0"/>
              <a:t>을 취하지 않고 인자 값 </a:t>
            </a:r>
            <a:r>
              <a:rPr lang="en-US" altLang="ko-KR" dirty="0"/>
              <a:t>2</a:t>
            </a:r>
            <a:r>
              <a:rPr lang="ko-KR" altLang="en-US" dirty="0"/>
              <a:t>를 </a:t>
            </a:r>
            <a:r>
              <a:rPr lang="en-US" altLang="ko-KR" dirty="0"/>
              <a:t>n </a:t>
            </a:r>
            <a:r>
              <a:rPr lang="ko-KR" altLang="en-US" dirty="0"/>
              <a:t>값으로 가짐</a:t>
            </a:r>
            <a:endParaRPr lang="en-US" altLang="ko-KR" dirty="0"/>
          </a:p>
          <a:p>
            <a:r>
              <a:rPr lang="ko-KR" altLang="en-US" dirty="0"/>
              <a:t>이 경우 </a:t>
            </a:r>
            <a:r>
              <a:rPr lang="en-US" altLang="ko-KR" dirty="0"/>
              <a:t>2</a:t>
            </a:r>
            <a:r>
              <a:rPr lang="ko-KR" altLang="en-US" dirty="0"/>
              <a:t>개의 별표 줄을 출력</a:t>
            </a:r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7EAF65-BEE5-3C07-5E14-96304921B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49" y="2494103"/>
            <a:ext cx="7908645" cy="27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58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2091405"/>
            <a:ext cx="5132293" cy="380895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두 개의 매개변수를 사용하는 </a:t>
            </a:r>
            <a:r>
              <a:rPr lang="en-US" altLang="ko-KR" dirty="0"/>
              <a:t>div()</a:t>
            </a:r>
            <a:r>
              <a:rPr lang="ko-KR" altLang="en-US" dirty="0"/>
              <a:t>라는 함수</a:t>
            </a:r>
          </a:p>
          <a:p>
            <a:r>
              <a:rPr lang="ko-KR" altLang="en-US" dirty="0"/>
              <a:t>두 번째 매개변수에 </a:t>
            </a:r>
            <a:r>
              <a:rPr lang="en-US" altLang="ko-KR" dirty="0"/>
              <a:t>2</a:t>
            </a:r>
            <a:r>
              <a:rPr lang="ko-KR" altLang="en-US" dirty="0"/>
              <a:t>라는 디폴트 값을 할당</a:t>
            </a:r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EECB2A-B737-D2CB-913D-9A4DC31B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</p:spTree>
    <p:extLst>
      <p:ext uri="{BB962C8B-B14F-4D97-AF65-F5344CB8AC3E}">
        <p14:creationId xmlns:p14="http://schemas.microsoft.com/office/powerpoint/2010/main" val="3313618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60" y="3692046"/>
            <a:ext cx="7319981" cy="6709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" y="1910899"/>
            <a:ext cx="8497387" cy="1110996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다음과 같이 첫 번째 매개변수에 디폴트 값 </a:t>
            </a:r>
            <a:r>
              <a:rPr lang="en-US" altLang="ko-KR" dirty="0"/>
              <a:t>2</a:t>
            </a:r>
            <a:r>
              <a:rPr lang="ko-KR" altLang="en-US" dirty="0"/>
              <a:t>를 할당하고 두 번째 매개변수를 생략한다면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에러메시지를 출력함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디폴트 매개변수는 전체 변수에 대해 모두 할당하거나 매개변수의 </a:t>
            </a:r>
            <a:r>
              <a:rPr lang="ko-KR" altLang="en-US" u="sng" dirty="0"/>
              <a:t>출현 순서상 뒤에 있는 변수</a:t>
            </a:r>
            <a:r>
              <a:rPr lang="ko-KR" altLang="en-US" dirty="0"/>
              <a:t>부터 할당하여야 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220D30D-2B88-6F59-D547-1222A4C0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</p:spTree>
    <p:extLst>
      <p:ext uri="{BB962C8B-B14F-4D97-AF65-F5344CB8AC3E}">
        <p14:creationId xmlns:p14="http://schemas.microsoft.com/office/powerpoint/2010/main" val="30598144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8589BD44-1B83-8A99-0EB8-B84D36AACF8C}"/>
              </a:ext>
            </a:extLst>
          </p:cNvPr>
          <p:cNvGrpSpPr/>
          <p:nvPr/>
        </p:nvGrpSpPr>
        <p:grpSpPr>
          <a:xfrm>
            <a:off x="904882" y="1308847"/>
            <a:ext cx="10455417" cy="4252368"/>
            <a:chOff x="292714" y="861067"/>
            <a:chExt cx="11556386" cy="4700148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4257" y="1721219"/>
              <a:ext cx="6034843" cy="161182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r="20439"/>
            <a:stretch/>
          </p:blipFill>
          <p:spPr>
            <a:xfrm>
              <a:off x="292714" y="861067"/>
              <a:ext cx="5177060" cy="4700148"/>
            </a:xfrm>
            <a:prstGeom prst="rect">
              <a:avLst/>
            </a:prstGeom>
          </p:spPr>
        </p:pic>
        <p:cxnSp>
          <p:nvCxnSpPr>
            <p:cNvPr id="4" name="직선 화살표 연결선 3"/>
            <p:cNvCxnSpPr/>
            <p:nvPr/>
          </p:nvCxnSpPr>
          <p:spPr>
            <a:xfrm flipV="1">
              <a:off x="2370667" y="2629324"/>
              <a:ext cx="4097866" cy="1771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/>
            <p:nvPr/>
          </p:nvCxnSpPr>
          <p:spPr>
            <a:xfrm flipV="1">
              <a:off x="2370667" y="2895600"/>
              <a:ext cx="4097866" cy="18845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 flipV="1">
              <a:off x="2885007" y="3173220"/>
              <a:ext cx="3583526" cy="1642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153AB9F-C56D-1F7B-FCB1-EC1D3A08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</p:spTree>
    <p:extLst>
      <p:ext uri="{BB962C8B-B14F-4D97-AF65-F5344CB8AC3E}">
        <p14:creationId xmlns:p14="http://schemas.microsoft.com/office/powerpoint/2010/main" val="22988731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7" y="1627257"/>
            <a:ext cx="5722370" cy="4492531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5.6.2 </a:t>
            </a:r>
            <a:r>
              <a:rPr lang="ko-KR" altLang="en-US" dirty="0">
                <a:latin typeface="+mj-ea"/>
              </a:rPr>
              <a:t>키워드 인자</a:t>
            </a:r>
            <a:r>
              <a:rPr lang="en-US" altLang="ko-KR" b="1" baseline="30000" dirty="0">
                <a:solidFill>
                  <a:schemeClr val="accent5"/>
                </a:solidFill>
                <a:latin typeface="+mj-ea"/>
                <a:cs typeface="+mn-cs"/>
              </a:rPr>
              <a:t>keyword argument</a:t>
            </a:r>
            <a:endParaRPr 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  <a:endParaRPr lang="ko-KR" altLang="en-US" b="1" baseline="30000" dirty="0">
              <a:solidFill>
                <a:schemeClr val="accent5"/>
              </a:solidFill>
              <a:latin typeface="+mj-ea"/>
              <a:cs typeface="+mn-cs"/>
            </a:endParaRP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B52A882-C98A-3697-16DC-D743648B92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983507" y="1700809"/>
            <a:ext cx="4098508" cy="4345428"/>
          </a:xfrm>
        </p:spPr>
        <p:txBody>
          <a:bodyPr/>
          <a:lstStyle/>
          <a:p>
            <a:r>
              <a:rPr lang="ko-KR" altLang="en-US" dirty="0"/>
              <a:t>함수를 호출할 때 인자의 </a:t>
            </a:r>
            <a:r>
              <a:rPr lang="ko-KR" altLang="en-US" dirty="0" err="1"/>
              <a:t>값만을</a:t>
            </a:r>
            <a:r>
              <a:rPr lang="ko-KR" altLang="en-US" dirty="0"/>
              <a:t> 전달하는 것이 아니라 그 인자의 이름을 함께 명시하여 전달하는 방식</a:t>
            </a:r>
          </a:p>
          <a:p>
            <a:endParaRPr lang="en-US" altLang="ko-KR" dirty="0"/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기본 인자 전달 방식을 </a:t>
            </a:r>
            <a:r>
              <a:rPr lang="ko-KR" altLang="en-US" b="1" dirty="0"/>
              <a:t>위치 인자</a:t>
            </a:r>
            <a:r>
              <a:rPr lang="en-US" altLang="ko-KR" b="1" baseline="30000" dirty="0">
                <a:solidFill>
                  <a:schemeClr val="accent5"/>
                </a:solidFill>
              </a:rPr>
              <a:t>positional argument</a:t>
            </a:r>
            <a:r>
              <a:rPr lang="ko-KR" altLang="en-US" b="1" baseline="30000" dirty="0">
                <a:solidFill>
                  <a:schemeClr val="accent5"/>
                </a:solidFill>
              </a:rPr>
              <a:t> </a:t>
            </a:r>
            <a:r>
              <a:rPr lang="ko-KR" altLang="en-US" dirty="0"/>
              <a:t>방식이라고 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576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5.6.2 </a:t>
            </a:r>
            <a:r>
              <a:rPr lang="ko-KR" altLang="en-US" dirty="0">
                <a:latin typeface="+mj-ea"/>
              </a:rPr>
              <a:t>키워드 인자</a:t>
            </a:r>
            <a:r>
              <a:rPr lang="en-US" altLang="ko-KR" b="1" baseline="30000" dirty="0">
                <a:solidFill>
                  <a:schemeClr val="accent5"/>
                </a:solidFill>
                <a:latin typeface="+mj-ea"/>
                <a:cs typeface="+mn-cs"/>
              </a:rPr>
              <a:t>keyword argument</a:t>
            </a:r>
            <a:endParaRPr 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  <a:endParaRPr lang="ko-KR" altLang="en-US" b="1" baseline="30000" dirty="0">
              <a:solidFill>
                <a:schemeClr val="accent5"/>
              </a:solidFill>
              <a:latin typeface="+mj-ea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6A54472-2485-939A-4D78-72D6FBF08CFE}"/>
              </a:ext>
            </a:extLst>
          </p:cNvPr>
          <p:cNvGrpSpPr/>
          <p:nvPr/>
        </p:nvGrpSpPr>
        <p:grpSpPr>
          <a:xfrm>
            <a:off x="2084799" y="1916832"/>
            <a:ext cx="8022401" cy="4099054"/>
            <a:chOff x="1353338" y="624180"/>
            <a:chExt cx="8867550" cy="4530884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2"/>
            <a:srcRect r="14206"/>
            <a:stretch/>
          </p:blipFill>
          <p:spPr>
            <a:xfrm>
              <a:off x="1353338" y="3866217"/>
              <a:ext cx="8863004" cy="1288847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3338" y="3023958"/>
              <a:ext cx="8867550" cy="684442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5865" y="624180"/>
              <a:ext cx="8293003" cy="2241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48205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5.6.2 </a:t>
            </a:r>
            <a:r>
              <a:rPr lang="ko-KR" altLang="en-US" dirty="0">
                <a:latin typeface="+mj-ea"/>
              </a:rPr>
              <a:t>키워드 인자</a:t>
            </a:r>
            <a:r>
              <a:rPr lang="en-US" altLang="ko-KR" b="1" baseline="30000" dirty="0">
                <a:solidFill>
                  <a:schemeClr val="accent5"/>
                </a:solidFill>
                <a:latin typeface="+mj-ea"/>
                <a:cs typeface="+mn-cs"/>
              </a:rPr>
              <a:t>keyword argument</a:t>
            </a:r>
            <a:endParaRPr 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  <a:endParaRPr lang="ko-KR" altLang="en-US" b="1" baseline="30000" dirty="0">
              <a:solidFill>
                <a:schemeClr val="accent5"/>
              </a:solidFill>
              <a:latin typeface="+mj-ea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18A26E3-D209-96A8-7E8B-71A8EAF1C26D}"/>
              </a:ext>
            </a:extLst>
          </p:cNvPr>
          <p:cNvGrpSpPr/>
          <p:nvPr/>
        </p:nvGrpSpPr>
        <p:grpSpPr>
          <a:xfrm>
            <a:off x="2384611" y="1767715"/>
            <a:ext cx="5880757" cy="4263410"/>
            <a:chOff x="674069" y="91171"/>
            <a:chExt cx="8910507" cy="645990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2303" y="4489641"/>
              <a:ext cx="8161613" cy="2061438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1645" y="2971041"/>
              <a:ext cx="8302931" cy="748625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052" y="659342"/>
              <a:ext cx="8327524" cy="2046383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446414" y="3659236"/>
              <a:ext cx="7775283" cy="8860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위의 코드와 아래 코드는 그 결과가 동일하다</a:t>
              </a:r>
              <a:r>
                <a:rPr lang="en-US" altLang="ko-KR" sz="1600" dirty="0"/>
                <a:t>,</a:t>
              </a:r>
            </a:p>
            <a:p>
              <a:r>
                <a:rPr lang="ko-KR" altLang="en-US" sz="1600" dirty="0"/>
                <a:t>키워드 인자를 사용하면 인자의 위치는 중요하지 않다</a:t>
              </a:r>
            </a:p>
          </p:txBody>
        </p:sp>
        <p:sp>
          <p:nvSpPr>
            <p:cNvPr id="16" name="원호 15"/>
            <p:cNvSpPr/>
            <p:nvPr/>
          </p:nvSpPr>
          <p:spPr>
            <a:xfrm rot="10800000">
              <a:off x="706580" y="980900"/>
              <a:ext cx="1097281" cy="2385753"/>
            </a:xfrm>
            <a:prstGeom prst="arc">
              <a:avLst>
                <a:gd name="adj1" fmla="val 16200000"/>
                <a:gd name="adj2" fmla="val 5334999"/>
              </a:avLst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7" name="원호 16"/>
            <p:cNvSpPr/>
            <p:nvPr/>
          </p:nvSpPr>
          <p:spPr>
            <a:xfrm rot="10800000">
              <a:off x="706579" y="3488865"/>
              <a:ext cx="1097281" cy="1207825"/>
            </a:xfrm>
            <a:prstGeom prst="arc">
              <a:avLst>
                <a:gd name="adj1" fmla="val 16269912"/>
                <a:gd name="adj2" fmla="val 5334999"/>
              </a:avLst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8" name="원호 17"/>
            <p:cNvSpPr/>
            <p:nvPr/>
          </p:nvSpPr>
          <p:spPr>
            <a:xfrm rot="10800000">
              <a:off x="674069" y="4795414"/>
              <a:ext cx="1097281" cy="1207825"/>
            </a:xfrm>
            <a:prstGeom prst="arc">
              <a:avLst>
                <a:gd name="adj1" fmla="val 16269912"/>
                <a:gd name="adj2" fmla="val 5334999"/>
              </a:avLst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86634" y="91171"/>
              <a:ext cx="7464391" cy="51297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위치와 상관없이 키워드에 의해서 인자 값이 결정됨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93750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5.6.2 </a:t>
            </a:r>
            <a:r>
              <a:rPr lang="ko-KR" altLang="en-US" dirty="0">
                <a:latin typeface="+mj-ea"/>
              </a:rPr>
              <a:t>키워드 인자</a:t>
            </a:r>
            <a:r>
              <a:rPr lang="en-US" altLang="ko-KR" b="1" baseline="30000" dirty="0">
                <a:solidFill>
                  <a:schemeClr val="accent5"/>
                </a:solidFill>
                <a:latin typeface="+mj-ea"/>
                <a:cs typeface="+mn-cs"/>
              </a:rPr>
              <a:t>keyword argument</a:t>
            </a:r>
            <a:endParaRPr 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  <a:endParaRPr lang="ko-KR" altLang="en-US" b="1" baseline="30000" dirty="0">
              <a:solidFill>
                <a:schemeClr val="accent5"/>
              </a:solidFill>
              <a:latin typeface="+mj-ea"/>
              <a:cs typeface="+mn-cs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A6FDC5D7-D25C-ECED-F592-0674660CF86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키워드 인자와 위치 인자를 섞어서 사용할 적에는 </a:t>
            </a:r>
            <a:r>
              <a:rPr lang="ko-KR" altLang="en-US" dirty="0">
                <a:solidFill>
                  <a:srgbClr val="FF0000"/>
                </a:solidFill>
              </a:rPr>
              <a:t>반드시 위치인자가 먼저 나타나야 한다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위의 경우는 오류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8ADCB22-F345-4D79-E9E2-BAF62188C157}"/>
              </a:ext>
            </a:extLst>
          </p:cNvPr>
          <p:cNvGrpSpPr/>
          <p:nvPr/>
        </p:nvGrpSpPr>
        <p:grpSpPr>
          <a:xfrm>
            <a:off x="2084561" y="1576264"/>
            <a:ext cx="7644737" cy="3292532"/>
            <a:chOff x="1690472" y="457865"/>
            <a:chExt cx="7789568" cy="3354909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1A24A20-8DCA-24B6-2E4C-4DC3BBAADE66}"/>
                </a:ext>
              </a:extLst>
            </p:cNvPr>
            <p:cNvGrpSpPr/>
            <p:nvPr/>
          </p:nvGrpSpPr>
          <p:grpSpPr>
            <a:xfrm>
              <a:off x="1690472" y="457865"/>
              <a:ext cx="7789568" cy="3023083"/>
              <a:chOff x="1690472" y="457865"/>
              <a:chExt cx="7789568" cy="3023083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F6299D73-B94F-1BDD-B38D-40CD584FD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90472" y="2874789"/>
                <a:ext cx="6239870" cy="606159"/>
              </a:xfrm>
              <a:prstGeom prst="rect">
                <a:avLst/>
              </a:prstGeom>
            </p:spPr>
          </p:pic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60B18410-1356-7A7D-216B-C87F8B6D35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6790" y="457865"/>
                <a:ext cx="6923250" cy="2131682"/>
              </a:xfrm>
              <a:prstGeom prst="rect">
                <a:avLst/>
              </a:prstGeom>
            </p:spPr>
          </p:pic>
        </p:grpSp>
        <p:sp>
          <p:nvSpPr>
            <p:cNvPr id="13" name="곱셈 기호 7">
              <a:extLst>
                <a:ext uri="{FF2B5EF4-FFF2-40B4-BE49-F238E27FC236}">
                  <a16:creationId xmlns:a16="http://schemas.microsoft.com/office/drawing/2014/main" id="{50D205F4-2BD9-334B-3473-ADAE1E6170E8}"/>
                </a:ext>
              </a:extLst>
            </p:cNvPr>
            <p:cNvSpPr/>
            <p:nvPr/>
          </p:nvSpPr>
          <p:spPr>
            <a:xfrm>
              <a:off x="6018415" y="2589547"/>
              <a:ext cx="1113905" cy="1223227"/>
            </a:xfrm>
            <a:prstGeom prst="mathMultiply">
              <a:avLst>
                <a:gd name="adj1" fmla="val 1080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8413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5.6.2 </a:t>
            </a:r>
            <a:r>
              <a:rPr lang="ko-KR" altLang="en-US" dirty="0">
                <a:latin typeface="+mj-ea"/>
              </a:rPr>
              <a:t>키워드 인자</a:t>
            </a:r>
            <a:r>
              <a:rPr lang="en-US" altLang="ko-KR" b="1" baseline="30000" dirty="0">
                <a:solidFill>
                  <a:schemeClr val="accent5"/>
                </a:solidFill>
                <a:latin typeface="+mj-ea"/>
                <a:cs typeface="+mn-cs"/>
              </a:rPr>
              <a:t>keyword argument</a:t>
            </a:r>
            <a:endParaRPr 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  <a:endParaRPr lang="ko-KR" altLang="en-US" b="1" baseline="30000" dirty="0">
              <a:solidFill>
                <a:schemeClr val="accent5"/>
              </a:solidFill>
              <a:latin typeface="+mj-ea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6370E90-5C74-C9F6-F8B6-4E2D999ECF32}"/>
              </a:ext>
            </a:extLst>
          </p:cNvPr>
          <p:cNvGrpSpPr/>
          <p:nvPr/>
        </p:nvGrpSpPr>
        <p:grpSpPr>
          <a:xfrm>
            <a:off x="1771875" y="1700808"/>
            <a:ext cx="8125162" cy="4185060"/>
            <a:chOff x="1287779" y="702732"/>
            <a:chExt cx="9819333" cy="505768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45E53EE-0242-DF77-C401-8351F95D2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7779" y="3643960"/>
              <a:ext cx="9819333" cy="211645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66F98C1-927F-8FEA-12DB-4D1008EC6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069" y="702732"/>
              <a:ext cx="8374076" cy="2552243"/>
            </a:xfrm>
            <a:prstGeom prst="rect">
              <a:avLst/>
            </a:prstGeom>
          </p:spPr>
        </p:pic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D0E5F9CD-21EE-569B-A1B0-0B7A28ACE394}"/>
                </a:ext>
              </a:extLst>
            </p:cNvPr>
            <p:cNvCxnSpPr/>
            <p:nvPr/>
          </p:nvCxnSpPr>
          <p:spPr>
            <a:xfrm>
              <a:off x="9110133" y="5198533"/>
              <a:ext cx="181186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FAD686D-435B-E152-16B5-C52D4C056794}"/>
                </a:ext>
              </a:extLst>
            </p:cNvPr>
            <p:cNvCxnSpPr/>
            <p:nvPr/>
          </p:nvCxnSpPr>
          <p:spPr>
            <a:xfrm flipV="1">
              <a:off x="1540934" y="5604933"/>
              <a:ext cx="2878666" cy="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90630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5.6.2 </a:t>
            </a:r>
            <a:r>
              <a:rPr lang="ko-KR" altLang="en-US" dirty="0">
                <a:latin typeface="+mj-ea"/>
              </a:rPr>
              <a:t>키워드 인자</a:t>
            </a:r>
            <a:r>
              <a:rPr lang="en-US" altLang="ko-KR" b="1" baseline="30000" dirty="0">
                <a:solidFill>
                  <a:schemeClr val="accent5"/>
                </a:solidFill>
                <a:latin typeface="+mj-ea"/>
                <a:cs typeface="+mn-cs"/>
              </a:rPr>
              <a:t>keyword argument</a:t>
            </a:r>
            <a:endParaRPr 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  <a:endParaRPr lang="ko-KR" altLang="en-US" b="1" baseline="30000" dirty="0">
              <a:solidFill>
                <a:schemeClr val="accent5"/>
              </a:solidFill>
              <a:latin typeface="+mj-ea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73856"/>
          <a:stretch/>
        </p:blipFill>
        <p:spPr>
          <a:xfrm>
            <a:off x="1007434" y="2453590"/>
            <a:ext cx="7533089" cy="64191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74239"/>
          <a:stretch/>
        </p:blipFill>
        <p:spPr>
          <a:xfrm>
            <a:off x="1007436" y="1675117"/>
            <a:ext cx="7533088" cy="632520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CF4796F-5371-416B-9131-8298E13CB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786508"/>
              </p:ext>
            </p:extLst>
          </p:nvPr>
        </p:nvGraphicFramePr>
        <p:xfrm>
          <a:off x="1035818" y="3325709"/>
          <a:ext cx="7509769" cy="2575520"/>
        </p:xfrm>
        <a:graphic>
          <a:graphicData uri="http://schemas.openxmlformats.org/drawingml/2006/table">
            <a:tbl>
              <a:tblPr/>
              <a:tblGrid>
                <a:gridCol w="7509769">
                  <a:extLst>
                    <a:ext uri="{9D8B030D-6E8A-4147-A177-3AD203B41FA5}">
                      <a16:colId xmlns:a16="http://schemas.microsoft.com/office/drawing/2014/main" val="3892209160"/>
                    </a:ext>
                  </a:extLst>
                </a:gridCol>
              </a:tblGrid>
              <a:tr h="251117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&gt;&gt;&gt;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def</a:t>
                      </a: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300" kern="0" spc="0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func</a:t>
                      </a: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(a, b, c) :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...     print(a, b, c)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...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&gt;&gt;&gt; </a:t>
                      </a:r>
                      <a:r>
                        <a:rPr lang="en-US" altLang="ko-KR" sz="1300" kern="0" spc="0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func</a:t>
                      </a: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(1, 2, 3)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1 2 3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&gt;&gt;&gt; </a:t>
                      </a:r>
                      <a:r>
                        <a:rPr lang="en-US" altLang="ko-KR" sz="1300" kern="0" spc="0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func</a:t>
                      </a: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(1, c=2, b=3)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1 3 2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&gt;&gt;&gt; </a:t>
                      </a:r>
                      <a:r>
                        <a:rPr lang="en-US" altLang="ko-KR" sz="1300" kern="0" spc="0" dirty="0" err="1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func</a:t>
                      </a:r>
                      <a:r>
                        <a:rPr lang="en-US" altLang="ko-KR" sz="1300" kern="0" spc="0" dirty="0"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(1, b=2, 3)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altLang="ko-KR" sz="1300" kern="0" spc="0" dirty="0" err="1">
                          <a:solidFill>
                            <a:srgbClr val="FF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SyntaxError</a:t>
                      </a:r>
                      <a:r>
                        <a:rPr lang="en-US" altLang="ko-KR" sz="1300" kern="0" spc="0" dirty="0">
                          <a:solidFill>
                            <a:srgbClr val="FF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positional argument follows keyword argument</a:t>
                      </a:r>
                    </a:p>
                  </a:txBody>
                  <a:tcPr marL="53214" marR="53214" marT="14712" marB="147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779749"/>
                  </a:ext>
                </a:extLst>
              </a:tr>
            </a:tbl>
          </a:graphicData>
        </a:graphic>
      </p:graphicFrame>
      <p:sp>
        <p:nvSpPr>
          <p:cNvPr id="12" name="곱셈 기호 8"/>
          <p:cNvSpPr/>
          <p:nvPr/>
        </p:nvSpPr>
        <p:spPr>
          <a:xfrm>
            <a:off x="2972953" y="5304830"/>
            <a:ext cx="915164" cy="1004981"/>
          </a:xfrm>
          <a:prstGeom prst="mathMultiply">
            <a:avLst>
              <a:gd name="adj1" fmla="val 1080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120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5.6.2 </a:t>
            </a:r>
            <a:r>
              <a:rPr lang="ko-KR" altLang="en-US" dirty="0">
                <a:latin typeface="+mj-ea"/>
              </a:rPr>
              <a:t>키워드 인자</a:t>
            </a:r>
            <a:r>
              <a:rPr lang="en-US" altLang="ko-KR" b="1" baseline="30000" dirty="0">
                <a:solidFill>
                  <a:schemeClr val="accent5"/>
                </a:solidFill>
                <a:latin typeface="+mj-ea"/>
                <a:cs typeface="+mn-cs"/>
              </a:rPr>
              <a:t>keyword argument</a:t>
            </a:r>
            <a:endParaRPr 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  <a:endParaRPr lang="ko-KR" altLang="en-US" b="1" baseline="30000" dirty="0">
              <a:solidFill>
                <a:schemeClr val="accent5"/>
              </a:solidFill>
              <a:latin typeface="+mj-ea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C9228ED-FF5A-A962-6A34-2E739EB5F111}"/>
              </a:ext>
            </a:extLst>
          </p:cNvPr>
          <p:cNvGrpSpPr/>
          <p:nvPr/>
        </p:nvGrpSpPr>
        <p:grpSpPr>
          <a:xfrm>
            <a:off x="1007434" y="1663467"/>
            <a:ext cx="9258062" cy="4272850"/>
            <a:chOff x="1007434" y="1663466"/>
            <a:chExt cx="10212646" cy="4713417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r="16830"/>
            <a:stretch/>
          </p:blipFill>
          <p:spPr>
            <a:xfrm>
              <a:off x="1007434" y="5037112"/>
              <a:ext cx="7453037" cy="1339771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434" y="1663466"/>
              <a:ext cx="7451433" cy="2640589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7434" y="4097362"/>
              <a:ext cx="7446860" cy="832652"/>
            </a:xfrm>
            <a:prstGeom prst="rect">
              <a:avLst/>
            </a:prstGeom>
          </p:spPr>
        </p:pic>
        <p:sp>
          <p:nvSpPr>
            <p:cNvPr id="13" name="원호 12"/>
            <p:cNvSpPr/>
            <p:nvPr/>
          </p:nvSpPr>
          <p:spPr>
            <a:xfrm rot="10800000" flipH="1" flipV="1">
              <a:off x="4948479" y="2478314"/>
              <a:ext cx="1518152" cy="1850047"/>
            </a:xfrm>
            <a:prstGeom prst="arc">
              <a:avLst>
                <a:gd name="adj1" fmla="val 16201500"/>
                <a:gd name="adj2" fmla="val 5334999"/>
              </a:avLst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원호 13"/>
            <p:cNvSpPr/>
            <p:nvPr/>
          </p:nvSpPr>
          <p:spPr>
            <a:xfrm rot="10800000" flipH="1" flipV="1">
              <a:off x="4644391" y="3616255"/>
              <a:ext cx="903760" cy="1040508"/>
            </a:xfrm>
            <a:prstGeom prst="arc">
              <a:avLst>
                <a:gd name="adj1" fmla="val 16308261"/>
                <a:gd name="adj2" fmla="val 5334999"/>
              </a:avLst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770719" y="3708126"/>
              <a:ext cx="4449361" cy="3734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첫번째 인자의 값에 의해 </a:t>
              </a:r>
              <a:r>
                <a:rPr lang="ko-KR" altLang="en-US" sz="1600" dirty="0" err="1"/>
                <a:t>반환값이</a:t>
              </a:r>
              <a:r>
                <a:rPr lang="ko-KR" altLang="en-US" sz="1600" dirty="0"/>
                <a:t> 결정됨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78209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2D17B6E-3128-E6C8-ADF6-319D011A7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5.6.2 </a:t>
            </a:r>
            <a:r>
              <a:rPr lang="ko-KR" altLang="en-US" dirty="0">
                <a:latin typeface="+mj-ea"/>
              </a:rPr>
              <a:t>키워드 인자</a:t>
            </a:r>
            <a:r>
              <a:rPr lang="en-US" altLang="ko-KR" b="1" baseline="30000" dirty="0">
                <a:solidFill>
                  <a:schemeClr val="accent5"/>
                </a:solidFill>
                <a:latin typeface="+mj-ea"/>
                <a:cs typeface="+mn-cs"/>
              </a:rPr>
              <a:t>keyword argument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9480CB3-3AF6-18FF-5F01-7E862343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7CFAB6-17AF-2456-242F-73B47158EAE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위의 경우 </a:t>
            </a:r>
            <a:r>
              <a:rPr lang="en-US" altLang="ko-KR" dirty="0" err="1"/>
              <a:t>func</a:t>
            </a:r>
            <a:r>
              <a:rPr lang="en-US" altLang="ko-KR" dirty="0"/>
              <a:t>(0, radius=5)</a:t>
            </a:r>
            <a:r>
              <a:rPr lang="ko-KR" altLang="en-US" dirty="0"/>
              <a:t>를 입력하였는데 첫</a:t>
            </a:r>
            <a:r>
              <a:rPr lang="en-US" altLang="ko-KR" dirty="0"/>
              <a:t> </a:t>
            </a:r>
            <a:r>
              <a:rPr lang="ko-KR" altLang="en-US" dirty="0"/>
              <a:t>인자 </a:t>
            </a:r>
            <a:r>
              <a:rPr lang="en-US" altLang="ko-KR" dirty="0"/>
              <a:t>0</a:t>
            </a:r>
            <a:r>
              <a:rPr lang="ko-KR" altLang="en-US" dirty="0"/>
              <a:t>은 함수 내부에서 </a:t>
            </a:r>
            <a:r>
              <a:rPr lang="en-US" altLang="ko-KR" dirty="0" err="1"/>
              <a:t>rect</a:t>
            </a:r>
            <a:r>
              <a:rPr lang="en-US" altLang="ko-KR" dirty="0"/>
              <a:t> shape</a:t>
            </a:r>
            <a:r>
              <a:rPr lang="ko-KR" altLang="en-US" dirty="0"/>
              <a:t>을 의미함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따라서 문법적인 오류는 없으나 논리적인 문제점이 있음</a:t>
            </a:r>
            <a:r>
              <a:rPr lang="en-US" altLang="ko-KR" dirty="0"/>
              <a:t>, </a:t>
            </a:r>
            <a:r>
              <a:rPr lang="ko-KR" altLang="en-US" dirty="0"/>
              <a:t>첫 매개변수가 </a:t>
            </a:r>
            <a:r>
              <a:rPr lang="en-US" altLang="ko-KR" dirty="0"/>
              <a:t>0</a:t>
            </a:r>
            <a:r>
              <a:rPr lang="ko-KR" altLang="en-US" dirty="0"/>
              <a:t>일 경우</a:t>
            </a:r>
            <a:endParaRPr lang="en-US" altLang="ko-KR" dirty="0"/>
          </a:p>
          <a:p>
            <a:r>
              <a:rPr lang="ko-KR" altLang="en-US" dirty="0"/>
              <a:t>디폴트 인자 </a:t>
            </a:r>
            <a:r>
              <a:rPr lang="en-US" altLang="ko-KR" dirty="0"/>
              <a:t>width, heigh</a:t>
            </a:r>
            <a:r>
              <a:rPr lang="ko-KR" altLang="en-US" dirty="0"/>
              <a:t>가 각각 </a:t>
            </a:r>
            <a:r>
              <a:rPr lang="en-US" altLang="ko-KR" dirty="0"/>
              <a:t>1</a:t>
            </a:r>
            <a:r>
              <a:rPr lang="ko-KR" altLang="en-US" dirty="0"/>
              <a:t>로 처리된 후 아래 문장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kern="0" dirty="0">
                <a:solidFill>
                  <a:schemeClr val="accent5"/>
                </a:solidFill>
              </a:rPr>
              <a:t>  return width * height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이 실행되어 </a:t>
            </a:r>
            <a:r>
              <a:rPr lang="en-US" altLang="ko-KR" dirty="0" err="1"/>
              <a:t>rect_area</a:t>
            </a:r>
            <a:r>
              <a:rPr lang="ko-KR" altLang="en-US" dirty="0"/>
              <a:t>는 </a:t>
            </a:r>
            <a:r>
              <a:rPr lang="en-US" altLang="ko-KR" dirty="0"/>
              <a:t>1</a:t>
            </a:r>
            <a:r>
              <a:rPr lang="ko-KR" altLang="en-US" dirty="0"/>
              <a:t>이 됨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2AD2C4-BA11-994B-FE8E-FE304C8BF3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325"/>
          <a:stretch/>
        </p:blipFill>
        <p:spPr>
          <a:xfrm>
            <a:off x="1109986" y="3498653"/>
            <a:ext cx="7798370" cy="6000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DAFCC0-77F8-E05C-D1A0-87B57BAE43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389"/>
          <a:stretch/>
        </p:blipFill>
        <p:spPr>
          <a:xfrm>
            <a:off x="1109986" y="1929451"/>
            <a:ext cx="7788314" cy="419883"/>
          </a:xfrm>
          <a:prstGeom prst="rect">
            <a:avLst/>
          </a:prstGeom>
        </p:spPr>
      </p:pic>
      <p:sp>
        <p:nvSpPr>
          <p:cNvPr id="8" name="곱셈 기호 9">
            <a:extLst>
              <a:ext uri="{FF2B5EF4-FFF2-40B4-BE49-F238E27FC236}">
                <a16:creationId xmlns:a16="http://schemas.microsoft.com/office/drawing/2014/main" id="{35081501-A512-B108-65B7-64BCBC558248}"/>
              </a:ext>
            </a:extLst>
          </p:cNvPr>
          <p:cNvSpPr/>
          <p:nvPr/>
        </p:nvSpPr>
        <p:spPr>
          <a:xfrm>
            <a:off x="5004143" y="1490782"/>
            <a:ext cx="1113905" cy="1223227"/>
          </a:xfrm>
          <a:prstGeom prst="mathMultiply">
            <a:avLst>
              <a:gd name="adj1" fmla="val 1080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5054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EC16F40D-DEAA-B9D9-29A6-CF81F86B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E4AFF0E-D5BA-7D9C-594B-7793A9464811}"/>
              </a:ext>
            </a:extLst>
          </p:cNvPr>
          <p:cNvGrpSpPr/>
          <p:nvPr/>
        </p:nvGrpSpPr>
        <p:grpSpPr>
          <a:xfrm>
            <a:off x="2056135" y="1169215"/>
            <a:ext cx="7616783" cy="4898752"/>
            <a:chOff x="1652723" y="450167"/>
            <a:chExt cx="9097194" cy="5850882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2"/>
            <a:srcRect r="410"/>
            <a:stretch/>
          </p:blipFill>
          <p:spPr>
            <a:xfrm>
              <a:off x="1652723" y="450167"/>
              <a:ext cx="9097194" cy="5551588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3"/>
            <a:srcRect l="208" r="503"/>
            <a:stretch/>
          </p:blipFill>
          <p:spPr>
            <a:xfrm>
              <a:off x="1652724" y="4915571"/>
              <a:ext cx="9097193" cy="1385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5738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FCF2BF8-B572-978D-91A2-DFD78FA97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5.6.3 </a:t>
            </a:r>
            <a:r>
              <a:rPr lang="ko-KR" altLang="en-US" sz="2400" dirty="0"/>
              <a:t>가변적인 인자전달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5677A5B-7912-308E-32DF-CB627B2B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56D24F-645B-28E7-7D6B-8C92A16DC40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인자의 개수를 미리 알 수 없을 경우에는 어떻게 해야만 할까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59187E4-F922-122A-7740-CAAE8F9A2A55}"/>
              </a:ext>
            </a:extLst>
          </p:cNvPr>
          <p:cNvGrpSpPr/>
          <p:nvPr/>
        </p:nvGrpSpPr>
        <p:grpSpPr>
          <a:xfrm>
            <a:off x="1067257" y="1592632"/>
            <a:ext cx="10609593" cy="3458980"/>
            <a:chOff x="500977" y="1580325"/>
            <a:chExt cx="10609593" cy="345898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942D7E8-2F18-2805-A016-764F98E14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977" y="1580325"/>
              <a:ext cx="5166301" cy="345898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B077EED-74B0-DA2D-31E6-79F4A6FD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17380" y="1580325"/>
              <a:ext cx="5074553" cy="244303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514376D-1FE4-9987-C825-65F1E724B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7380" y="3903182"/>
              <a:ext cx="5093190" cy="11361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5651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FCF2BF8-B572-978D-91A2-DFD78FA97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5.6.3 </a:t>
            </a:r>
            <a:r>
              <a:rPr lang="ko-KR" altLang="en-US" sz="2400" dirty="0"/>
              <a:t>가변적인 인자전달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5677A5B-7912-308E-32DF-CB627B2B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56D24F-645B-28E7-7D6B-8C92A16DC40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67258" y="1700809"/>
            <a:ext cx="4589472" cy="4345428"/>
          </a:xfrm>
        </p:spPr>
        <p:txBody>
          <a:bodyPr/>
          <a:lstStyle/>
          <a:p>
            <a:pPr fontAlgn="base"/>
            <a:r>
              <a:rPr lang="ko-KR" altLang="en-US" dirty="0"/>
              <a:t>인자의 수가 정해지지 않은</a:t>
            </a:r>
            <a:endParaRPr lang="en-US" altLang="ko-KR" dirty="0"/>
          </a:p>
          <a:p>
            <a:pPr marL="0" indent="0" fontAlgn="base">
              <a:buNone/>
            </a:pPr>
            <a:r>
              <a:rPr lang="ko-KR" altLang="en-US" dirty="0"/>
              <a:t> </a:t>
            </a:r>
            <a:r>
              <a:rPr lang="ko-KR" altLang="en-US" b="1" dirty="0"/>
              <a:t>가변 인자</a:t>
            </a:r>
            <a:r>
              <a:rPr lang="en-US" altLang="ko-KR" b="1" baseline="30000" dirty="0">
                <a:solidFill>
                  <a:schemeClr val="accent5"/>
                </a:solidFill>
              </a:rPr>
              <a:t>arbitrary argument</a:t>
            </a:r>
          </a:p>
          <a:p>
            <a:pPr marL="0" indent="0" fontAlgn="base">
              <a:buNone/>
            </a:pPr>
            <a:endParaRPr lang="en-US" altLang="ko-KR" dirty="0"/>
          </a:p>
          <a:p>
            <a:pPr marL="0" indent="0" fontAlgn="base">
              <a:buNone/>
            </a:pPr>
            <a:r>
              <a:rPr lang="ko-KR" altLang="en-US" dirty="0"/>
              <a:t>→별표</a:t>
            </a:r>
            <a:r>
              <a:rPr lang="en-US" altLang="ko-KR" dirty="0"/>
              <a:t>(*)</a:t>
            </a:r>
            <a:r>
              <a:rPr lang="ko-KR" altLang="en-US" dirty="0"/>
              <a:t>를 매개변수의 </a:t>
            </a:r>
            <a:endParaRPr lang="en-US" altLang="ko-KR" dirty="0"/>
          </a:p>
          <a:p>
            <a:pPr marL="0" indent="0" fontAlgn="base">
              <a:buNone/>
            </a:pPr>
            <a:r>
              <a:rPr lang="en-US" altLang="ko-KR" dirty="0"/>
              <a:t>   </a:t>
            </a:r>
            <a:r>
              <a:rPr lang="ko-KR" altLang="en-US" dirty="0"/>
              <a:t>앞에 넣어 사용</a:t>
            </a:r>
          </a:p>
          <a:p>
            <a:endParaRPr lang="en-US" altLang="ko-KR" dirty="0"/>
          </a:p>
          <a:p>
            <a:r>
              <a:rPr lang="ko-KR" altLang="en-US" dirty="0"/>
              <a:t>가변적 인자는 </a:t>
            </a:r>
            <a:r>
              <a:rPr lang="ko-KR" altLang="en-US" dirty="0" err="1"/>
              <a:t>튜플이나</a:t>
            </a:r>
            <a:r>
              <a:rPr lang="ko-KR" altLang="en-US" dirty="0"/>
              <a:t> 리스트와 비슷하게 </a:t>
            </a:r>
            <a:r>
              <a:rPr lang="en-US" altLang="ko-KR" dirty="0"/>
              <a:t>for - in</a:t>
            </a:r>
            <a:r>
              <a:rPr lang="ko-KR" altLang="en-US" dirty="0"/>
              <a:t>문에서 사용가능</a:t>
            </a:r>
          </a:p>
          <a:p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957E40E-D32E-6AF5-FE90-D6E0A239A9C9}"/>
              </a:ext>
            </a:extLst>
          </p:cNvPr>
          <p:cNvGrpSpPr/>
          <p:nvPr/>
        </p:nvGrpSpPr>
        <p:grpSpPr>
          <a:xfrm>
            <a:off x="6096000" y="1211629"/>
            <a:ext cx="4589473" cy="4834608"/>
            <a:chOff x="6388766" y="745895"/>
            <a:chExt cx="5021811" cy="529003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05FDD3B-D218-75B2-1FA7-D1527DD01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8766" y="745895"/>
              <a:ext cx="5021811" cy="5290038"/>
            </a:xfrm>
            <a:prstGeom prst="rect">
              <a:avLst/>
            </a:prstGeom>
          </p:spPr>
        </p:pic>
        <p:sp>
          <p:nvSpPr>
            <p:cNvPr id="11" name="원호 10">
              <a:extLst>
                <a:ext uri="{FF2B5EF4-FFF2-40B4-BE49-F238E27FC236}">
                  <a16:creationId xmlns:a16="http://schemas.microsoft.com/office/drawing/2014/main" id="{B63D8521-DF18-84CF-A68A-0EFF7542C821}"/>
                </a:ext>
              </a:extLst>
            </p:cNvPr>
            <p:cNvSpPr/>
            <p:nvPr/>
          </p:nvSpPr>
          <p:spPr>
            <a:xfrm>
              <a:off x="9039573" y="2748950"/>
              <a:ext cx="1022465" cy="1924649"/>
            </a:xfrm>
            <a:prstGeom prst="arc">
              <a:avLst>
                <a:gd name="adj1" fmla="val 17767607"/>
                <a:gd name="adj2" fmla="val 5074060"/>
              </a:avLst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모서리가 둥근 직사각형 2">
              <a:extLst>
                <a:ext uri="{FF2B5EF4-FFF2-40B4-BE49-F238E27FC236}">
                  <a16:creationId xmlns:a16="http://schemas.microsoft.com/office/drawing/2014/main" id="{A6B63C73-CAD3-7450-F2A6-B9BB3895E33A}"/>
                </a:ext>
              </a:extLst>
            </p:cNvPr>
            <p:cNvSpPr/>
            <p:nvPr/>
          </p:nvSpPr>
          <p:spPr>
            <a:xfrm>
              <a:off x="6525706" y="4143108"/>
              <a:ext cx="3108745" cy="1077285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모서리가 둥근 직사각형 13">
              <a:extLst>
                <a:ext uri="{FF2B5EF4-FFF2-40B4-BE49-F238E27FC236}">
                  <a16:creationId xmlns:a16="http://schemas.microsoft.com/office/drawing/2014/main" id="{7E57F17D-3551-7E46-9CCA-E38CA8EC8C02}"/>
                </a:ext>
              </a:extLst>
            </p:cNvPr>
            <p:cNvSpPr/>
            <p:nvPr/>
          </p:nvSpPr>
          <p:spPr>
            <a:xfrm>
              <a:off x="6525705" y="5269449"/>
              <a:ext cx="3108745" cy="640079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원호 13">
              <a:extLst>
                <a:ext uri="{FF2B5EF4-FFF2-40B4-BE49-F238E27FC236}">
                  <a16:creationId xmlns:a16="http://schemas.microsoft.com/office/drawing/2014/main" id="{BD096A9D-DB63-1512-269A-15ED2152B445}"/>
                </a:ext>
              </a:extLst>
            </p:cNvPr>
            <p:cNvSpPr/>
            <p:nvPr/>
          </p:nvSpPr>
          <p:spPr>
            <a:xfrm>
              <a:off x="8246533" y="3268133"/>
              <a:ext cx="1865457" cy="2359583"/>
            </a:xfrm>
            <a:prstGeom prst="arc">
              <a:avLst>
                <a:gd name="adj1" fmla="val 16200000"/>
                <a:gd name="adj2" fmla="val 4035287"/>
              </a:avLst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59489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FCF2BF8-B572-978D-91A2-DFD78FA97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5.6.3 </a:t>
            </a:r>
            <a:r>
              <a:rPr lang="ko-KR" altLang="en-US" sz="2400" dirty="0"/>
              <a:t>가변적인 인자전달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5677A5B-7912-308E-32DF-CB627B2B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56D24F-645B-28E7-7D6B-8C92A16DC40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59387" y="1700809"/>
            <a:ext cx="4016189" cy="4345428"/>
          </a:xfrm>
        </p:spPr>
        <p:txBody>
          <a:bodyPr/>
          <a:lstStyle/>
          <a:p>
            <a:pPr fontAlgn="base"/>
            <a:r>
              <a:rPr lang="en-US" altLang="ko-KR" dirty="0" err="1"/>
              <a:t>len</a:t>
            </a:r>
            <a:r>
              <a:rPr lang="en-US" altLang="ko-KR" dirty="0"/>
              <a:t>() </a:t>
            </a:r>
            <a:r>
              <a:rPr lang="ko-KR" altLang="en-US" dirty="0"/>
              <a:t>함수를 이용하여 다음과 같이 가변적으로 전달된 인자의 개수를 출력하는 것도 가능</a:t>
            </a:r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1700808"/>
            <a:ext cx="5652620" cy="408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067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2E0FE7-CB1D-C508-3685-01EA5F4B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5.6.3 </a:t>
            </a:r>
            <a:r>
              <a:rPr lang="ko-KR" altLang="en-US" sz="2400" dirty="0"/>
              <a:t>가변적인 인자전달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CCE106-1A8E-1342-76DA-F678CB8A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20619C7-C894-0AB5-88C3-EFC6DBE83A7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67258" y="1700809"/>
            <a:ext cx="3719895" cy="4345428"/>
          </a:xfrm>
        </p:spPr>
        <p:txBody>
          <a:bodyPr/>
          <a:lstStyle/>
          <a:p>
            <a:r>
              <a:rPr lang="ko-KR" altLang="en-US" dirty="0"/>
              <a:t>숫자의 합을 구하는 프로그램</a:t>
            </a:r>
          </a:p>
          <a:p>
            <a:r>
              <a:rPr lang="en-US" altLang="ko-KR" dirty="0" err="1"/>
              <a:t>sum_num</a:t>
            </a:r>
            <a:r>
              <a:rPr lang="en-US" altLang="ko-KR" dirty="0"/>
              <a:t>() </a:t>
            </a:r>
            <a:r>
              <a:rPr lang="ko-KR" altLang="en-US" dirty="0"/>
              <a:t>함수에 전달될 인자의 개수를 미리 알 수 없는 경우</a:t>
            </a:r>
            <a:r>
              <a:rPr lang="en-US" altLang="ko-KR" dirty="0"/>
              <a:t>, </a:t>
            </a:r>
            <a:r>
              <a:rPr lang="ko-KR" altLang="en-US" dirty="0"/>
              <a:t>가변인자를 받는 *</a:t>
            </a:r>
            <a:r>
              <a:rPr lang="en-US" altLang="ko-KR" dirty="0"/>
              <a:t>numbers</a:t>
            </a:r>
            <a:r>
              <a:rPr lang="ko-KR" altLang="en-US" dirty="0"/>
              <a:t>라는 매개변수를 사용하여 전체 인자를 </a:t>
            </a:r>
            <a:r>
              <a:rPr lang="ko-KR" altLang="en-US" dirty="0" err="1"/>
              <a:t>튜플</a:t>
            </a:r>
            <a:r>
              <a:rPr lang="ko-KR" altLang="en-US" dirty="0"/>
              <a:t> 형식으로 받을 수 있음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803B83A-3E10-3369-2ADE-6EB68A29741A}"/>
              </a:ext>
            </a:extLst>
          </p:cNvPr>
          <p:cNvGrpSpPr/>
          <p:nvPr/>
        </p:nvGrpSpPr>
        <p:grpSpPr>
          <a:xfrm>
            <a:off x="4787153" y="1799419"/>
            <a:ext cx="6770814" cy="3615263"/>
            <a:chOff x="641375" y="2265672"/>
            <a:chExt cx="8222121" cy="439018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29BA87F-B502-DBC6-A4DF-B14D1B644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375" y="5361510"/>
              <a:ext cx="8207346" cy="1294348"/>
            </a:xfrm>
            <a:prstGeom prst="rect">
              <a:avLst/>
            </a:prstGeom>
          </p:spPr>
        </p:pic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5C757D2-8EEC-8096-2B76-031C7482ECAF}"/>
                </a:ext>
              </a:extLst>
            </p:cNvPr>
            <p:cNvGrpSpPr/>
            <p:nvPr/>
          </p:nvGrpSpPr>
          <p:grpSpPr>
            <a:xfrm>
              <a:off x="641375" y="2265672"/>
              <a:ext cx="8222121" cy="3087852"/>
              <a:chOff x="641375" y="2265672"/>
              <a:chExt cx="8222121" cy="3087852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D0C9B8CE-D335-AA0B-96AD-E3537BFC03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375" y="2265672"/>
                <a:ext cx="8222121" cy="2511699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A7491E4B-7F0B-AFCC-A8EF-05EA958C73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13000"/>
              <a:stretch/>
            </p:blipFill>
            <p:spPr>
              <a:xfrm>
                <a:off x="641375" y="4562994"/>
                <a:ext cx="8207346" cy="79053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034301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66578C-F64E-4480-5B0F-9C6CA151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5.6.3 </a:t>
            </a:r>
            <a:r>
              <a:rPr lang="ko-KR" altLang="en-US" sz="2400" dirty="0"/>
              <a:t>가변적인 인자전달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01A707D-38BB-9A99-3CCE-4C4E0037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함수의 인자 전달 방식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053103" y="1700213"/>
            <a:ext cx="6042931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859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 err="1"/>
              <a:t>재귀함수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recursion</a:t>
            </a:r>
            <a:r>
              <a:rPr lang="ko-KR" altLang="en-US" dirty="0"/>
              <a:t>란 함수 내부에서 자기 자신을 호출하는 함수를 말함</a:t>
            </a:r>
            <a:endParaRPr lang="en-US" altLang="ko-KR" dirty="0"/>
          </a:p>
          <a:p>
            <a:r>
              <a:rPr lang="ko-KR" altLang="en-US" dirty="0"/>
              <a:t>절차적 기법으로 해결하기 어려운 문제를 직관적이고 간단하게 해결 가능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ko-KR" altLang="en-US" dirty="0"/>
              <a:t>재귀함수</a:t>
            </a:r>
          </a:p>
        </p:txBody>
      </p:sp>
    </p:spTree>
    <p:extLst>
      <p:ext uri="{BB962C8B-B14F-4D97-AF65-F5344CB8AC3E}">
        <p14:creationId xmlns:p14="http://schemas.microsoft.com/office/powerpoint/2010/main" val="36262868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pc="-40" dirty="0"/>
              <a:t>함수 </a:t>
            </a:r>
            <a:r>
              <a:rPr lang="en-US" altLang="ko-KR" spc="-40" dirty="0"/>
              <a:t>factorial()</a:t>
            </a:r>
            <a:r>
              <a:rPr lang="ko-KR" altLang="en-US" spc="-40" dirty="0"/>
              <a:t>은 </a:t>
            </a:r>
            <a:r>
              <a:rPr lang="en-US" altLang="ko-KR" spc="-40" dirty="0"/>
              <a:t>n! = n * (n-1)! </a:t>
            </a:r>
            <a:r>
              <a:rPr lang="ko-KR" altLang="en-US" spc="-40" dirty="0"/>
              <a:t>이라는 정의에 맞게 다음과 같이 다시 정의가 가능함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ko-KR" altLang="en-US" dirty="0"/>
              <a:t>재귀함수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CE6D93-1CC7-9AB5-8D89-BB9743A1D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852" y="1770382"/>
            <a:ext cx="7629607" cy="412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354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864E0A9-408E-4759-2BD5-9C5D1242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피보나치 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C3ACDE5-D4EF-6407-D4C3-03AA26FD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ko-KR" altLang="en-US" dirty="0"/>
              <a:t>재귀함수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73A8BF-1595-E3D4-CC96-4D257FB1F55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피보나치 수열의 첫번째 항</a:t>
            </a:r>
            <a:r>
              <a:rPr lang="en-US" altLang="ko-KR" dirty="0"/>
              <a:t> F</a:t>
            </a:r>
            <a:r>
              <a:rPr lang="en-US" altLang="ko-KR" baseline="-25000" dirty="0"/>
              <a:t>0</a:t>
            </a:r>
            <a:r>
              <a:rPr lang="ko-KR" altLang="en-US" dirty="0"/>
              <a:t>은 </a:t>
            </a:r>
            <a:r>
              <a:rPr lang="en-US" altLang="ko-KR" dirty="0"/>
              <a:t>0</a:t>
            </a:r>
            <a:r>
              <a:rPr lang="ko-KR" altLang="en-US" dirty="0"/>
              <a:t>이고</a:t>
            </a:r>
            <a:r>
              <a:rPr lang="en-US" altLang="ko-KR" dirty="0"/>
              <a:t>, F</a:t>
            </a:r>
            <a:r>
              <a:rPr lang="en-US" altLang="ko-KR" baseline="-25000" dirty="0"/>
              <a:t>1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en-US" altLang="ko-KR" dirty="0" err="1"/>
              <a:t>F</a:t>
            </a:r>
            <a:r>
              <a:rPr lang="en-US" altLang="ko-KR" baseline="-25000" dirty="0" err="1"/>
              <a:t>n</a:t>
            </a:r>
            <a:r>
              <a:rPr lang="ko-KR" altLang="en-US" dirty="0"/>
              <a:t>은 다음과 같이 정의된다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이 정의에 따르면 피보나치 수열은 다음과 같다</a:t>
            </a:r>
            <a:endParaRPr lang="en-US" altLang="ko-KR" dirty="0"/>
          </a:p>
          <a:p>
            <a:pPr lvl="1"/>
            <a:r>
              <a:rPr lang="en-US" altLang="ko-KR" dirty="0"/>
              <a:t>0, 1, 1, 2, 3, 5, 8, 13, 21,...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0B909C5-4C58-1DFA-B2D8-EF8EA8BD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155" y="2200843"/>
            <a:ext cx="4352925" cy="342900"/>
          </a:xfrm>
          <a:prstGeom prst="rect">
            <a:avLst/>
          </a:prstGeom>
        </p:spPr>
      </p:pic>
      <p:pic>
        <p:nvPicPr>
          <p:cNvPr id="8" name="Picture 2" descr="https://upload.wikimedia.org/wikipedia/commons/8/83/FibonacciBlocks.png">
            <a:extLst>
              <a:ext uri="{FF2B5EF4-FFF2-40B4-BE49-F238E27FC236}">
                <a16:creationId xmlns:a16="http://schemas.microsoft.com/office/drawing/2014/main" id="{75020904-59E0-2178-5BA4-4F7186542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67869" y="3772852"/>
            <a:ext cx="3716908" cy="230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1EB14D-4DA4-CDED-86DB-C19BBDC7BF66}"/>
              </a:ext>
            </a:extLst>
          </p:cNvPr>
          <p:cNvSpPr txBox="1"/>
          <p:nvPr/>
        </p:nvSpPr>
        <p:spPr>
          <a:xfrm>
            <a:off x="8244597" y="5754992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출처</a:t>
            </a:r>
            <a:r>
              <a:rPr lang="en-US" altLang="ko-KR" sz="1600"/>
              <a:t>:</a:t>
            </a:r>
            <a:r>
              <a:rPr lang="ko-KR" altLang="en-US" sz="1600"/>
              <a:t>위키백과</a:t>
            </a:r>
          </a:p>
        </p:txBody>
      </p:sp>
    </p:spTree>
    <p:extLst>
      <p:ext uri="{BB962C8B-B14F-4D97-AF65-F5344CB8AC3E}">
        <p14:creationId xmlns:p14="http://schemas.microsoft.com/office/powerpoint/2010/main" val="10531983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864E0A9-408E-4759-2BD5-9C5D1242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피보나치 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C3ACDE5-D4EF-6407-D4C3-03AA26FD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ko-KR" altLang="en-US" dirty="0"/>
              <a:t>재귀함수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07438" y="1700808"/>
            <a:ext cx="6202988" cy="4316560"/>
            <a:chOff x="1205346" y="-340822"/>
            <a:chExt cx="9227128" cy="6520681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2"/>
            <a:srcRect l="182" r="168"/>
            <a:stretch/>
          </p:blipFill>
          <p:spPr>
            <a:xfrm>
              <a:off x="1205346" y="-340822"/>
              <a:ext cx="9227128" cy="2986133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3"/>
            <a:srcRect l="193" t="2476" r="404" b="1"/>
            <a:stretch/>
          </p:blipFill>
          <p:spPr>
            <a:xfrm>
              <a:off x="1205346" y="2184564"/>
              <a:ext cx="9227128" cy="3995295"/>
            </a:xfrm>
            <a:prstGeom prst="rect">
              <a:avLst/>
            </a:prstGeom>
          </p:spPr>
        </p:pic>
      </p:grp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749" y="4943502"/>
            <a:ext cx="7070946" cy="112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780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864E0A9-408E-4759-2BD5-9C5D1242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피보나치 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C3ACDE5-D4EF-6407-D4C3-03AA26FD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ko-KR" altLang="en-US" dirty="0"/>
              <a:t>재귀함수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782037" y="1700213"/>
            <a:ext cx="8585064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289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2118173"/>
            <a:ext cx="8089670" cy="361159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>
                <a:solidFill>
                  <a:schemeClr val="accent5"/>
                </a:solidFill>
              </a:rPr>
              <a:t>input()</a:t>
            </a:r>
            <a:r>
              <a:rPr lang="ko-KR" altLang="en-US" dirty="0">
                <a:solidFill>
                  <a:schemeClr val="accent5"/>
                </a:solidFill>
              </a:rPr>
              <a:t>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 fontAlgn="base"/>
            <a:r>
              <a:rPr lang="ko-KR" altLang="en-US" dirty="0"/>
              <a:t>사용자로부터 입력을 받기 위한 함수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090" y="4471068"/>
            <a:ext cx="6845653" cy="124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700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97BEB7-B1EC-D096-675C-AD4C58729A92}"/>
              </a:ext>
            </a:extLst>
          </p:cNvPr>
          <p:cNvGrpSpPr/>
          <p:nvPr/>
        </p:nvGrpSpPr>
        <p:grpSpPr>
          <a:xfrm>
            <a:off x="1085850" y="1611692"/>
            <a:ext cx="8905875" cy="4436684"/>
            <a:chOff x="770345" y="1468816"/>
            <a:chExt cx="10371854" cy="516699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816" y="1468816"/>
              <a:ext cx="7760216" cy="2379649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345" y="3990109"/>
              <a:ext cx="7760216" cy="2645705"/>
            </a:xfrm>
            <a:prstGeom prst="rect">
              <a:avLst/>
            </a:prstGeom>
          </p:spPr>
        </p:pic>
        <p:sp>
          <p:nvSpPr>
            <p:cNvPr id="5" name="설명선 1 4"/>
            <p:cNvSpPr/>
            <p:nvPr/>
          </p:nvSpPr>
          <p:spPr>
            <a:xfrm>
              <a:off x="6759456" y="4222686"/>
              <a:ext cx="4382743" cy="382385"/>
            </a:xfrm>
            <a:prstGeom prst="borderCallout1">
              <a:avLst>
                <a:gd name="adj1" fmla="val 50374"/>
                <a:gd name="adj2" fmla="val -225"/>
                <a:gd name="adj3" fmla="val 123155"/>
                <a:gd name="adj4" fmla="val -441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/>
                  </a:solidFill>
                </a:rPr>
                <a:t>int</a:t>
              </a:r>
              <a:r>
                <a:rPr lang="en-US" altLang="ko-KR" dirty="0">
                  <a:solidFill>
                    <a:schemeClr val="tx1"/>
                  </a:solidFill>
                </a:rPr>
                <a:t>() </a:t>
              </a:r>
              <a:r>
                <a:rPr lang="ko-KR" altLang="en-US" dirty="0">
                  <a:solidFill>
                    <a:schemeClr val="tx1"/>
                  </a:solidFill>
                </a:rPr>
                <a:t>함수로 감싸야 정수 값이 됨</a:t>
              </a:r>
            </a:p>
          </p:txBody>
        </p:sp>
        <p:sp>
          <p:nvSpPr>
            <p:cNvPr id="6" name="설명선 1 5"/>
            <p:cNvSpPr/>
            <p:nvPr/>
          </p:nvSpPr>
          <p:spPr>
            <a:xfrm>
              <a:off x="6759456" y="4794305"/>
              <a:ext cx="4382743" cy="382385"/>
            </a:xfrm>
            <a:prstGeom prst="borderCallout1">
              <a:avLst>
                <a:gd name="adj1" fmla="val 50374"/>
                <a:gd name="adj2" fmla="val -225"/>
                <a:gd name="adj3" fmla="val 123155"/>
                <a:gd name="adj4" fmla="val -441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/>
                  </a:solidFill>
                </a:rPr>
                <a:t>int</a:t>
              </a:r>
              <a:r>
                <a:rPr lang="en-US" altLang="ko-KR" dirty="0">
                  <a:solidFill>
                    <a:schemeClr val="tx1"/>
                  </a:solidFill>
                </a:rPr>
                <a:t>() </a:t>
              </a:r>
              <a:r>
                <a:rPr lang="ko-KR" altLang="en-US" dirty="0">
                  <a:solidFill>
                    <a:schemeClr val="tx1"/>
                  </a:solidFill>
                </a:rPr>
                <a:t>함수로 감싸야 정수 값이 됨</a:t>
              </a:r>
            </a:p>
          </p:txBody>
        </p:sp>
      </p:grp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71914F5A-DACB-0403-5884-E23130C68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5.8.1 input() </a:t>
            </a:r>
            <a:r>
              <a:rPr lang="ko-KR" altLang="en-US" dirty="0"/>
              <a:t>함수와 </a:t>
            </a:r>
            <a:r>
              <a:rPr lang="en-US" altLang="ko-KR" dirty="0"/>
              <a:t>int() </a:t>
            </a:r>
            <a:r>
              <a:rPr lang="ko-KR" altLang="en-US" dirty="0"/>
              <a:t>함수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</p:spTree>
    <p:extLst>
      <p:ext uri="{BB962C8B-B14F-4D97-AF65-F5344CB8AC3E}">
        <p14:creationId xmlns:p14="http://schemas.microsoft.com/office/powerpoint/2010/main" val="7703820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372D55B-233D-E6D8-1B2C-D70B140DB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5.8.1 input() </a:t>
            </a:r>
            <a:r>
              <a:rPr lang="ko-KR" altLang="en-US" dirty="0"/>
              <a:t>함수와 </a:t>
            </a:r>
            <a:r>
              <a:rPr lang="en-US" altLang="ko-KR" dirty="0"/>
              <a:t>int() </a:t>
            </a:r>
            <a:r>
              <a:rPr lang="ko-KR" altLang="en-US" dirty="0"/>
              <a:t>함수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66C25B-0967-0B68-9BCF-0FBA492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0B418E-3379-0B81-EFEB-8AF11998AC2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‘100’이라는 </a:t>
            </a:r>
            <a:r>
              <a:rPr lang="en-US" altLang="ko-KR" dirty="0" err="1"/>
              <a:t>문자형을</a:t>
            </a:r>
            <a:r>
              <a:rPr lang="en-US" altLang="ko-KR" dirty="0"/>
              <a:t> </a:t>
            </a:r>
            <a:r>
              <a:rPr lang="en-US" altLang="ko-KR" dirty="0" err="1"/>
              <a:t>정수</a:t>
            </a:r>
            <a:r>
              <a:rPr lang="en-US" altLang="ko-KR" dirty="0"/>
              <a:t> 100으로 </a:t>
            </a:r>
            <a:r>
              <a:rPr lang="en-US" altLang="ko-KR" dirty="0" err="1"/>
              <a:t>변환할</a:t>
            </a:r>
            <a:r>
              <a:rPr lang="en-US" altLang="ko-KR" dirty="0"/>
              <a:t> 수 </a:t>
            </a:r>
            <a:r>
              <a:rPr lang="en-US" altLang="ko-KR" dirty="0" err="1"/>
              <a:t>있는</a:t>
            </a:r>
            <a:r>
              <a:rPr lang="en-US" altLang="ko-KR" dirty="0"/>
              <a:t> </a:t>
            </a:r>
            <a:r>
              <a:rPr lang="en-US" altLang="ko-KR" dirty="0" err="1"/>
              <a:t>방법</a:t>
            </a:r>
            <a:r>
              <a:rPr lang="ko-KR" altLang="en-US" dirty="0"/>
              <a:t>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int()</a:t>
            </a:r>
            <a:r>
              <a:rPr lang="ko-KR" altLang="en-US" dirty="0"/>
              <a:t> 함수를 이용하여 괄호 안의 문자열을 정수형으로 변환하기</a:t>
            </a:r>
            <a:endParaRPr lang="en-US" altLang="ko-KR" dirty="0"/>
          </a:p>
          <a:p>
            <a:r>
              <a:rPr lang="en-US" altLang="ko-KR" dirty="0"/>
              <a:t>int() </a:t>
            </a:r>
            <a:r>
              <a:rPr lang="ko-KR" altLang="en-US" dirty="0"/>
              <a:t>함수 대신에 </a:t>
            </a:r>
            <a:r>
              <a:rPr lang="en-US" altLang="ko-KR" dirty="0"/>
              <a:t>float() </a:t>
            </a:r>
            <a:r>
              <a:rPr lang="ko-KR" altLang="en-US" dirty="0"/>
              <a:t>함수를 사용하면 실수 값으로 변환할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85663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372D55B-233D-E6D8-1B2C-D70B140DB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5.8.1 input() </a:t>
            </a:r>
            <a:r>
              <a:rPr lang="ko-KR" altLang="en-US" dirty="0"/>
              <a:t>함수와 </a:t>
            </a:r>
            <a:r>
              <a:rPr lang="en-US" altLang="ko-KR" dirty="0"/>
              <a:t>int() </a:t>
            </a:r>
            <a:r>
              <a:rPr lang="ko-KR" altLang="en-US" dirty="0"/>
              <a:t>함수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66C25B-0967-0B68-9BCF-0FBA492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0B418E-3379-0B81-EFEB-8AF11998AC2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한꺼번에 여러 개의 입력 값 받기</a:t>
            </a:r>
            <a:endParaRPr lang="en-US" altLang="ko-KR" dirty="0"/>
          </a:p>
          <a:p>
            <a:r>
              <a:rPr lang="ko-KR" altLang="en-US" dirty="0"/>
              <a:t>이를 위해서는 앞에서 배운 </a:t>
            </a:r>
            <a:r>
              <a:rPr lang="en-US" altLang="ko-KR" dirty="0"/>
              <a:t>split() </a:t>
            </a:r>
            <a:r>
              <a:rPr lang="ko-KR" altLang="en-US" dirty="0"/>
              <a:t>메소드를 사용하여 입력된 문자를 공백 단위로 </a:t>
            </a:r>
            <a:r>
              <a:rPr lang="ko-KR" altLang="en-US" dirty="0" err="1"/>
              <a:t>나누어주는</a:t>
            </a:r>
            <a:r>
              <a:rPr lang="ko-KR" altLang="en-US" dirty="0"/>
              <a:t> 작업이 필요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F8AA56-BEEC-0098-8DDB-6D020161E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230" y="3061649"/>
            <a:ext cx="8774273" cy="2824811"/>
          </a:xfrm>
          <a:prstGeom prst="rect">
            <a:avLst/>
          </a:prstGeom>
        </p:spPr>
      </p:pic>
      <p:sp>
        <p:nvSpPr>
          <p:cNvPr id="6" name="설명선 1 3">
            <a:extLst>
              <a:ext uri="{FF2B5EF4-FFF2-40B4-BE49-F238E27FC236}">
                <a16:creationId xmlns:a16="http://schemas.microsoft.com/office/drawing/2014/main" id="{448FC495-EA82-35D1-3E4D-8F80095904AB}"/>
              </a:ext>
            </a:extLst>
          </p:cNvPr>
          <p:cNvSpPr/>
          <p:nvPr/>
        </p:nvSpPr>
        <p:spPr>
          <a:xfrm>
            <a:off x="5437355" y="4721682"/>
            <a:ext cx="3182770" cy="382385"/>
          </a:xfrm>
          <a:prstGeom prst="borderCallout1">
            <a:avLst>
              <a:gd name="adj1" fmla="val 50374"/>
              <a:gd name="adj2" fmla="val -225"/>
              <a:gd name="adj3" fmla="val -85541"/>
              <a:gd name="adj4" fmla="val -129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공백으로 구분하여 입력함</a:t>
            </a:r>
          </a:p>
        </p:txBody>
      </p:sp>
    </p:spTree>
    <p:extLst>
      <p:ext uri="{BB962C8B-B14F-4D97-AF65-F5344CB8AC3E}">
        <p14:creationId xmlns:p14="http://schemas.microsoft.com/office/powerpoint/2010/main" val="427191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372D55B-233D-E6D8-1B2C-D70B140DB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5.8.1 input() </a:t>
            </a:r>
            <a:r>
              <a:rPr lang="ko-KR" altLang="en-US" dirty="0"/>
              <a:t>함수와 </a:t>
            </a:r>
            <a:r>
              <a:rPr lang="en-US" altLang="ko-KR" dirty="0"/>
              <a:t>int() </a:t>
            </a:r>
            <a:r>
              <a:rPr lang="ko-KR" altLang="en-US" dirty="0"/>
              <a:t>함수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66C25B-0967-0B68-9BCF-0FBA492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0B418E-3379-0B81-EFEB-8AF11998AC2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정수형 다중 입력과 문자열 다중입력과의 차이점은 각 변수에 문자열을 할당한 뒤 </a:t>
            </a:r>
            <a:r>
              <a:rPr lang="en-US" altLang="ko-KR" dirty="0"/>
              <a:t>int() </a:t>
            </a:r>
            <a:r>
              <a:rPr lang="ko-KR" altLang="en-US" dirty="0"/>
              <a:t>함수를 이용해서 정수형으로 형 변환을 해야 함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A7E964-F962-F2AA-A50D-0B28AA4B5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40" y="2559560"/>
            <a:ext cx="7357971" cy="208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30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372D55B-233D-E6D8-1B2C-D70B140DB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5.8.1 input() </a:t>
            </a:r>
            <a:r>
              <a:rPr lang="ko-KR" altLang="en-US" dirty="0"/>
              <a:t>함수와 </a:t>
            </a:r>
            <a:r>
              <a:rPr lang="en-US" altLang="ko-KR" dirty="0"/>
              <a:t>int() </a:t>
            </a:r>
            <a:r>
              <a:rPr lang="ko-KR" altLang="en-US" dirty="0"/>
              <a:t>함수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66C25B-0967-0B68-9BCF-0FBA492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0B418E-3379-0B81-EFEB-8AF11998AC2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split() </a:t>
            </a:r>
            <a:r>
              <a:rPr lang="ko-KR" altLang="en-US" dirty="0">
                <a:latin typeface="+mj-lt"/>
              </a:rPr>
              <a:t>메소드의 디폴트 </a:t>
            </a:r>
            <a:r>
              <a:rPr lang="ko-KR" altLang="en-US" dirty="0" err="1">
                <a:latin typeface="+mj-lt"/>
              </a:rPr>
              <a:t>구분자</a:t>
            </a:r>
            <a:r>
              <a:rPr lang="en-US" altLang="ko-KR" b="1" baseline="30000" dirty="0">
                <a:solidFill>
                  <a:schemeClr val="accent5"/>
                </a:solidFill>
                <a:latin typeface="+mj-lt"/>
              </a:rPr>
              <a:t>separator</a:t>
            </a:r>
            <a:r>
              <a:rPr lang="ko-KR" altLang="en-US" dirty="0">
                <a:latin typeface="+mj-lt"/>
              </a:rPr>
              <a:t>인 공백 대신 쉼표를 사용</a:t>
            </a:r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081463-9C06-A931-7170-52C4948EA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689" y="2372199"/>
            <a:ext cx="7357972" cy="21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933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372D55B-233D-E6D8-1B2C-D70B140DB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66C25B-0967-0B68-9BCF-0FBA492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A09089-48CA-9A96-FE05-352B0D219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11" y="1838226"/>
            <a:ext cx="8695395" cy="361811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9FE4A37-5527-4A02-731D-619C0EC16E50}"/>
              </a:ext>
            </a:extLst>
          </p:cNvPr>
          <p:cNvSpPr/>
          <p:nvPr/>
        </p:nvSpPr>
        <p:spPr>
          <a:xfrm>
            <a:off x="5175156" y="2422754"/>
            <a:ext cx="511357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000" dirty="0" err="1"/>
              <a:t>구분자</a:t>
            </a:r>
            <a:r>
              <a:rPr lang="en-US" altLang="ko-KR" sz="2000" b="1" baseline="30000" dirty="0">
                <a:solidFill>
                  <a:schemeClr val="accent5"/>
                </a:solidFill>
              </a:rPr>
              <a:t>separator</a:t>
            </a:r>
          </a:p>
          <a:p>
            <a:r>
              <a:rPr lang="ko-KR" altLang="en-US" sz="1600" dirty="0"/>
              <a:t>한 문자열을 하나 이상의 개별 문자열로 나누는 문자</a:t>
            </a:r>
            <a:endParaRPr lang="en-US" altLang="ko-KR" sz="1600" dirty="0"/>
          </a:p>
        </p:txBody>
      </p:sp>
      <p:sp>
        <p:nvSpPr>
          <p:cNvPr id="11" name="설명선 1 5">
            <a:extLst>
              <a:ext uri="{FF2B5EF4-FFF2-40B4-BE49-F238E27FC236}">
                <a16:creationId xmlns:a16="http://schemas.microsoft.com/office/drawing/2014/main" id="{08043739-69E6-0146-67B3-36B1DBF6D558}"/>
              </a:ext>
            </a:extLst>
          </p:cNvPr>
          <p:cNvSpPr/>
          <p:nvPr/>
        </p:nvSpPr>
        <p:spPr>
          <a:xfrm>
            <a:off x="5855886" y="3171235"/>
            <a:ext cx="2831823" cy="330681"/>
          </a:xfrm>
          <a:prstGeom prst="borderCallout1">
            <a:avLst>
              <a:gd name="adj1" fmla="val 50374"/>
              <a:gd name="adj2" fmla="val -225"/>
              <a:gd name="adj3" fmla="val 94351"/>
              <a:gd name="adj4" fmla="val -5156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ea typeface="+mj-ea"/>
              </a:rPr>
              <a:t>디폴트 </a:t>
            </a:r>
            <a:r>
              <a:rPr lang="ko-KR" altLang="en-US" sz="1600" dirty="0" err="1">
                <a:solidFill>
                  <a:schemeClr val="tx1"/>
                </a:solidFill>
                <a:ea typeface="+mj-ea"/>
              </a:rPr>
              <a:t>구분자는</a:t>
            </a:r>
            <a:r>
              <a:rPr lang="ko-KR" altLang="en-US" sz="1600" dirty="0">
                <a:solidFill>
                  <a:schemeClr val="tx1"/>
                </a:solidFill>
                <a:ea typeface="+mj-ea"/>
              </a:rPr>
              <a:t> 공백</a:t>
            </a:r>
          </a:p>
        </p:txBody>
      </p:sp>
      <p:sp>
        <p:nvSpPr>
          <p:cNvPr id="12" name="설명선 1 6">
            <a:extLst>
              <a:ext uri="{FF2B5EF4-FFF2-40B4-BE49-F238E27FC236}">
                <a16:creationId xmlns:a16="http://schemas.microsoft.com/office/drawing/2014/main" id="{2C5D7466-62B5-B827-3323-99F6D9600B9D}"/>
              </a:ext>
            </a:extLst>
          </p:cNvPr>
          <p:cNvSpPr/>
          <p:nvPr/>
        </p:nvSpPr>
        <p:spPr>
          <a:xfrm>
            <a:off x="6058436" y="3730303"/>
            <a:ext cx="2831823" cy="330681"/>
          </a:xfrm>
          <a:prstGeom prst="borderCallout1">
            <a:avLst>
              <a:gd name="adj1" fmla="val 50374"/>
              <a:gd name="adj2" fmla="val -225"/>
              <a:gd name="adj3" fmla="val 123155"/>
              <a:gd name="adj4" fmla="val -4416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구분자로</a:t>
            </a:r>
            <a:r>
              <a:rPr lang="ko-KR" altLang="en-US" sz="1600" dirty="0">
                <a:solidFill>
                  <a:schemeClr val="tx1"/>
                </a:solidFill>
              </a:rPr>
              <a:t> 쉼표를 사용</a:t>
            </a:r>
          </a:p>
        </p:txBody>
      </p:sp>
      <p:sp>
        <p:nvSpPr>
          <p:cNvPr id="13" name="설명선 1 7">
            <a:extLst>
              <a:ext uri="{FF2B5EF4-FFF2-40B4-BE49-F238E27FC236}">
                <a16:creationId xmlns:a16="http://schemas.microsoft.com/office/drawing/2014/main" id="{151204F9-E71D-D831-38BE-38AFA6BF5493}"/>
              </a:ext>
            </a:extLst>
          </p:cNvPr>
          <p:cNvSpPr/>
          <p:nvPr/>
        </p:nvSpPr>
        <p:spPr>
          <a:xfrm>
            <a:off x="6596793" y="4382984"/>
            <a:ext cx="2831823" cy="330681"/>
          </a:xfrm>
          <a:prstGeom prst="borderCallout1">
            <a:avLst>
              <a:gd name="adj1" fmla="val 50374"/>
              <a:gd name="adj2" fmla="val -225"/>
              <a:gd name="adj3" fmla="val 123155"/>
              <a:gd name="adj4" fmla="val -4416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구분자로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세로바를</a:t>
            </a:r>
            <a:r>
              <a:rPr lang="ko-KR" altLang="en-US" sz="1600" dirty="0">
                <a:solidFill>
                  <a:schemeClr val="tx1"/>
                </a:solidFill>
              </a:rPr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17768273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46BF3F-B512-6EF9-2610-7C33412D3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9696BD-41CF-CAEE-04B4-33F625AC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783490" y="1565989"/>
            <a:ext cx="6427622" cy="515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670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46BF3F-B512-6EF9-2610-7C33412D3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9696BD-41CF-CAEE-04B4-33F625AC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B09075-015C-41E0-5CAF-5021F74CBE3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템플릿 문자열</a:t>
            </a:r>
            <a:r>
              <a:rPr lang="en-US" altLang="ko-KR" b="1" baseline="30000" dirty="0">
                <a:solidFill>
                  <a:schemeClr val="accent5"/>
                </a:solidFill>
              </a:rPr>
              <a:t>template string </a:t>
            </a:r>
            <a:r>
              <a:rPr lang="ko-KR" altLang="en-US" dirty="0"/>
              <a:t>혹은 베이스 문자열</a:t>
            </a:r>
            <a:r>
              <a:rPr lang="en-US" altLang="ko-KR" b="1" baseline="30000" dirty="0">
                <a:solidFill>
                  <a:schemeClr val="accent5"/>
                </a:solidFill>
              </a:rPr>
              <a:t>base string</a:t>
            </a:r>
          </a:p>
          <a:p>
            <a:pPr lvl="1"/>
            <a:r>
              <a:rPr lang="ko-KR" altLang="en-US" dirty="0"/>
              <a:t>코드를 대화창에 입력할 때 사용되는 문자열</a:t>
            </a:r>
            <a:endParaRPr lang="en-US" altLang="ko-KR" dirty="0"/>
          </a:p>
          <a:p>
            <a:pPr lvl="1"/>
            <a:r>
              <a:rPr lang="ko-KR" altLang="en-US" dirty="0"/>
              <a:t>출력 메소드 </a:t>
            </a:r>
            <a:r>
              <a:rPr lang="en-US" altLang="ko-KR" dirty="0"/>
              <a:t>format</a:t>
            </a:r>
            <a:r>
              <a:rPr lang="ko-KR" altLang="en-US" dirty="0"/>
              <a:t>을 호출하는 문자열</a:t>
            </a:r>
            <a:endParaRPr lang="en-US" altLang="ko-KR" dirty="0"/>
          </a:p>
          <a:p>
            <a:r>
              <a:rPr lang="ko-KR" altLang="en-US" dirty="0" err="1"/>
              <a:t>플레이스</a:t>
            </a:r>
            <a:r>
              <a:rPr lang="ko-KR" altLang="en-US" dirty="0"/>
              <a:t> 홀더</a:t>
            </a:r>
            <a:r>
              <a:rPr lang="en-US" altLang="ko-KR" b="1" baseline="30000" dirty="0" err="1">
                <a:solidFill>
                  <a:schemeClr val="accent5"/>
                </a:solidFill>
              </a:rPr>
              <a:t>placehoder</a:t>
            </a:r>
            <a:endParaRPr lang="en-US" altLang="ko-KR" b="1" baseline="30000" dirty="0">
              <a:solidFill>
                <a:schemeClr val="accent5"/>
              </a:solidFill>
            </a:endParaRPr>
          </a:p>
          <a:p>
            <a:pPr lvl="1"/>
            <a:r>
              <a:rPr lang="ko-KR" altLang="en-US" dirty="0"/>
              <a:t>인자의 출력을 목적으로 사용되는 중괄호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19834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46BF3F-B512-6EF9-2610-7C33412D3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9696BD-41CF-CAEE-04B4-33F625AC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3DE5DC-866E-FE06-6C40-BE9DFCE33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40" y="4454406"/>
            <a:ext cx="6531934" cy="16940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B831E9-3DA4-111F-B33C-3A68EEF305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1" r="3811"/>
          <a:stretch/>
        </p:blipFill>
        <p:spPr>
          <a:xfrm>
            <a:off x="1090540" y="3310337"/>
            <a:ext cx="6491417" cy="7803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1189A5-D43A-48A5-4A7D-4F9CADFCC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40" y="1634133"/>
            <a:ext cx="6482345" cy="1130723"/>
          </a:xfrm>
          <a:prstGeom prst="rect">
            <a:avLst/>
          </a:prstGeom>
        </p:spPr>
      </p:pic>
      <p:sp>
        <p:nvSpPr>
          <p:cNvPr id="11" name="설명선 1 5">
            <a:extLst>
              <a:ext uri="{FF2B5EF4-FFF2-40B4-BE49-F238E27FC236}">
                <a16:creationId xmlns:a16="http://schemas.microsoft.com/office/drawing/2014/main" id="{AED1E6C5-8792-6BA2-167D-4CA536A5DE0E}"/>
              </a:ext>
            </a:extLst>
          </p:cNvPr>
          <p:cNvSpPr/>
          <p:nvPr/>
        </p:nvSpPr>
        <p:spPr>
          <a:xfrm>
            <a:off x="3286966" y="2469761"/>
            <a:ext cx="1894634" cy="307874"/>
          </a:xfrm>
          <a:prstGeom prst="borderCallout1">
            <a:avLst>
              <a:gd name="adj1" fmla="val 50374"/>
              <a:gd name="adj2" fmla="val -225"/>
              <a:gd name="adj3" fmla="val -42314"/>
              <a:gd name="adj4" fmla="val -8431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플레이스</a:t>
            </a:r>
            <a:r>
              <a:rPr lang="ko-KR" altLang="en-US" sz="1600" dirty="0">
                <a:solidFill>
                  <a:schemeClr val="tx1"/>
                </a:solidFill>
              </a:rPr>
              <a:t> 홀더</a:t>
            </a:r>
          </a:p>
        </p:txBody>
      </p:sp>
      <p:sp>
        <p:nvSpPr>
          <p:cNvPr id="12" name="설명선 1 6">
            <a:extLst>
              <a:ext uri="{FF2B5EF4-FFF2-40B4-BE49-F238E27FC236}">
                <a16:creationId xmlns:a16="http://schemas.microsoft.com/office/drawing/2014/main" id="{6BA895CE-B81C-FD6F-8B6D-795563B92EF1}"/>
              </a:ext>
            </a:extLst>
          </p:cNvPr>
          <p:cNvSpPr/>
          <p:nvPr/>
        </p:nvSpPr>
        <p:spPr>
          <a:xfrm>
            <a:off x="4975969" y="1834214"/>
            <a:ext cx="3082181" cy="307874"/>
          </a:xfrm>
          <a:prstGeom prst="borderCallout1">
            <a:avLst>
              <a:gd name="adj1" fmla="val 50374"/>
              <a:gd name="adj2" fmla="val -225"/>
              <a:gd name="adj3" fmla="val 108501"/>
              <a:gd name="adj4" fmla="val -5077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플레이스</a:t>
            </a:r>
            <a:r>
              <a:rPr lang="ko-KR" altLang="en-US" sz="1600" dirty="0">
                <a:solidFill>
                  <a:schemeClr val="tx1"/>
                </a:solidFill>
              </a:rPr>
              <a:t> 홀더에 들어갈 내용</a:t>
            </a:r>
          </a:p>
        </p:txBody>
      </p:sp>
      <p:sp>
        <p:nvSpPr>
          <p:cNvPr id="13" name="설명선 1 7">
            <a:extLst>
              <a:ext uri="{FF2B5EF4-FFF2-40B4-BE49-F238E27FC236}">
                <a16:creationId xmlns:a16="http://schemas.microsoft.com/office/drawing/2014/main" id="{9C468AAB-3148-D8B5-9A3E-12C3C505FB16}"/>
              </a:ext>
            </a:extLst>
          </p:cNvPr>
          <p:cNvSpPr/>
          <p:nvPr/>
        </p:nvSpPr>
        <p:spPr>
          <a:xfrm>
            <a:off x="3418096" y="3775883"/>
            <a:ext cx="3325604" cy="314704"/>
          </a:xfrm>
          <a:prstGeom prst="borderCallout1">
            <a:avLst>
              <a:gd name="adj1" fmla="val 50374"/>
              <a:gd name="adj2" fmla="val -225"/>
              <a:gd name="adj3" fmla="val -66192"/>
              <a:gd name="adj4" fmla="val -2711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베이스 문자열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템플릿 문자열</a:t>
            </a:r>
          </a:p>
        </p:txBody>
      </p:sp>
      <p:sp>
        <p:nvSpPr>
          <p:cNvPr id="14" name="설명선 1 8">
            <a:extLst>
              <a:ext uri="{FF2B5EF4-FFF2-40B4-BE49-F238E27FC236}">
                <a16:creationId xmlns:a16="http://schemas.microsoft.com/office/drawing/2014/main" id="{E978B9C5-A7C3-CEF0-BB4E-A03E16F42DD4}"/>
              </a:ext>
            </a:extLst>
          </p:cNvPr>
          <p:cNvSpPr/>
          <p:nvPr/>
        </p:nvSpPr>
        <p:spPr>
          <a:xfrm>
            <a:off x="4613650" y="5866016"/>
            <a:ext cx="4454151" cy="307874"/>
          </a:xfrm>
          <a:prstGeom prst="borderCallout1">
            <a:avLst>
              <a:gd name="adj1" fmla="val 50374"/>
              <a:gd name="adj2" fmla="val -225"/>
              <a:gd name="adj3" fmla="val -48502"/>
              <a:gd name="adj4" fmla="val -3583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인덱스에 따라 </a:t>
            </a:r>
            <a:r>
              <a:rPr lang="en-US" altLang="ko-KR" sz="1600" dirty="0">
                <a:solidFill>
                  <a:schemeClr val="tx1"/>
                </a:solidFill>
              </a:rPr>
              <a:t>Python, Java</a:t>
            </a:r>
            <a:r>
              <a:rPr lang="ko-KR" altLang="en-US" sz="1600" dirty="0">
                <a:solidFill>
                  <a:schemeClr val="tx1"/>
                </a:solidFill>
              </a:rPr>
              <a:t>가 각각 들어감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262DAA-8CC3-A6C2-DC83-2DA8E157C92B}"/>
              </a:ext>
            </a:extLst>
          </p:cNvPr>
          <p:cNvSpPr/>
          <p:nvPr/>
        </p:nvSpPr>
        <p:spPr>
          <a:xfrm>
            <a:off x="1431170" y="3448909"/>
            <a:ext cx="1104331" cy="2379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6048978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46BF3F-B512-6EF9-2610-7C33412D3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9696BD-41CF-CAEE-04B4-33F625AC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6FB793-1269-A50B-0473-855D13C94D1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플레이스</a:t>
            </a:r>
            <a:r>
              <a:rPr lang="ko-KR" altLang="en-US" dirty="0"/>
              <a:t> 홀더 내에 필요한 정수 값</a:t>
            </a:r>
            <a:r>
              <a:rPr lang="en-US" altLang="ko-KR" dirty="0"/>
              <a:t>(</a:t>
            </a:r>
            <a:r>
              <a:rPr lang="ko-KR" altLang="en-US" dirty="0"/>
              <a:t>인덱스</a:t>
            </a:r>
            <a:r>
              <a:rPr lang="en-US" altLang="ko-KR" dirty="0"/>
              <a:t>)</a:t>
            </a:r>
            <a:r>
              <a:rPr lang="ko-KR" altLang="en-US" dirty="0"/>
              <a:t>을 할당하여 출력 순서를 제어할 수 있</a:t>
            </a:r>
            <a:r>
              <a:rPr lang="en-US" altLang="ko-KR" dirty="0"/>
              <a:t>.</a:t>
            </a:r>
            <a:r>
              <a:rPr lang="ko-KR" altLang="en-US" dirty="0"/>
              <a:t>다</a:t>
            </a:r>
            <a:r>
              <a:rPr lang="en-US" altLang="ko-KR" dirty="0"/>
              <a:t>(</a:t>
            </a:r>
            <a:r>
              <a:rPr lang="ko-KR" altLang="en-US" dirty="0"/>
              <a:t>디폴트로 </a:t>
            </a:r>
            <a:r>
              <a:rPr lang="en-US" altLang="ko-KR" dirty="0"/>
              <a:t>0, 1, ... </a:t>
            </a:r>
            <a:r>
              <a:rPr lang="ko-KR" altLang="en-US" dirty="0"/>
              <a:t>이 할당됨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4641A35-0F70-2BAD-5BC0-099F8C15656F}"/>
              </a:ext>
            </a:extLst>
          </p:cNvPr>
          <p:cNvGrpSpPr/>
          <p:nvPr/>
        </p:nvGrpSpPr>
        <p:grpSpPr>
          <a:xfrm>
            <a:off x="3241074" y="2517234"/>
            <a:ext cx="5506652" cy="3529003"/>
            <a:chOff x="2852893" y="1645962"/>
            <a:chExt cx="5929317" cy="379987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AD3365C-163B-9367-6782-B57348975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2894" y="4242004"/>
              <a:ext cx="5929316" cy="120383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49066EF-1C1B-2D45-F2DD-6D6EA3A75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2893" y="1645962"/>
              <a:ext cx="5929316" cy="234414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921E120-1870-59A7-B629-5992847EB457}"/>
                </a:ext>
              </a:extLst>
            </p:cNvPr>
            <p:cNvSpPr/>
            <p:nvPr/>
          </p:nvSpPr>
          <p:spPr>
            <a:xfrm>
              <a:off x="3905448" y="2698896"/>
              <a:ext cx="465513" cy="52370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F2E372C-177D-E7AC-7B10-DFBCE65035AF}"/>
                </a:ext>
              </a:extLst>
            </p:cNvPr>
            <p:cNvSpPr/>
            <p:nvPr/>
          </p:nvSpPr>
          <p:spPr>
            <a:xfrm>
              <a:off x="4980900" y="2698896"/>
              <a:ext cx="465513" cy="5220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1DA8368-9D64-64F4-E162-2418C14A0641}"/>
                </a:ext>
              </a:extLst>
            </p:cNvPr>
            <p:cNvSpPr/>
            <p:nvPr/>
          </p:nvSpPr>
          <p:spPr>
            <a:xfrm>
              <a:off x="3854638" y="4201908"/>
              <a:ext cx="465513" cy="5220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532DF2F-F87E-5965-4DB1-94A4B03C5186}"/>
                </a:ext>
              </a:extLst>
            </p:cNvPr>
            <p:cNvSpPr/>
            <p:nvPr/>
          </p:nvSpPr>
          <p:spPr>
            <a:xfrm>
              <a:off x="4904195" y="4204153"/>
              <a:ext cx="465513" cy="5220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78444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46BF3F-B512-6EF9-2610-7C33412D3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9696BD-41CF-CAEE-04B4-33F625AC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6FB793-1269-A50B-0473-855D13C94D1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{0}, {1}, {2}</a:t>
            </a:r>
            <a:r>
              <a:rPr lang="ko-KR" altLang="en-US" dirty="0"/>
              <a:t>와 같이 </a:t>
            </a:r>
            <a:r>
              <a:rPr lang="ko-KR" altLang="en-US" dirty="0" err="1"/>
              <a:t>플레이스</a:t>
            </a:r>
            <a:r>
              <a:rPr lang="ko-KR" altLang="en-US" dirty="0"/>
              <a:t> 홀더의 번호를 이용하여 다양한 출력을 할 수 있다</a:t>
            </a:r>
            <a:endParaRPr lang="en-US" altLang="ko-KR" dirty="0"/>
          </a:p>
          <a:p>
            <a:r>
              <a:rPr lang="ko-KR" altLang="en-US" dirty="0" err="1"/>
              <a:t>플레이스</a:t>
            </a:r>
            <a:r>
              <a:rPr lang="ko-KR" altLang="en-US" dirty="0"/>
              <a:t> 홀더에는 </a:t>
            </a:r>
            <a:r>
              <a:rPr lang="ko-KR" altLang="en-US" dirty="0" err="1"/>
              <a:t>문자열뿐만</a:t>
            </a:r>
            <a:r>
              <a:rPr lang="ko-KR" altLang="en-US" dirty="0"/>
              <a:t> 아니라 </a:t>
            </a:r>
            <a:r>
              <a:rPr lang="en-US" altLang="ko-KR" dirty="0"/>
              <a:t>100, 200</a:t>
            </a:r>
            <a:r>
              <a:rPr lang="ko-KR" altLang="en-US" dirty="0"/>
              <a:t>과 같은 정수형이나 실수형 등 임의의 자료형도 올 수 있음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1CE708-3828-A83F-0116-D2A8E70DC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3125810"/>
            <a:ext cx="87820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929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46BF3F-B512-6EF9-2610-7C33412D3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9696BD-41CF-CAEE-04B4-33F625AC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50BCDF-766C-E03B-1878-00D0C73A1E09}"/>
              </a:ext>
            </a:extLst>
          </p:cNvPr>
          <p:cNvGrpSpPr/>
          <p:nvPr/>
        </p:nvGrpSpPr>
        <p:grpSpPr>
          <a:xfrm>
            <a:off x="1082733" y="2260988"/>
            <a:ext cx="8625320" cy="3472268"/>
            <a:chOff x="2704927" y="2699915"/>
            <a:chExt cx="8743950" cy="351800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119BD91-C290-5E7A-496C-92DCAB597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04927" y="2699915"/>
              <a:ext cx="8743950" cy="185737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97565F2-69CC-0207-989B-B054CF4053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168"/>
            <a:stretch/>
          </p:blipFill>
          <p:spPr>
            <a:xfrm>
              <a:off x="2704927" y="4364180"/>
              <a:ext cx="8743950" cy="1853737"/>
            </a:xfrm>
            <a:prstGeom prst="rect">
              <a:avLst/>
            </a:prstGeom>
          </p:spPr>
        </p:pic>
      </p:grpSp>
      <p:sp>
        <p:nvSpPr>
          <p:cNvPr id="11" name="설명선 1 4">
            <a:extLst>
              <a:ext uri="{FF2B5EF4-FFF2-40B4-BE49-F238E27FC236}">
                <a16:creationId xmlns:a16="http://schemas.microsoft.com/office/drawing/2014/main" id="{F190F275-7106-056F-1917-E0A857053238}"/>
              </a:ext>
            </a:extLst>
          </p:cNvPr>
          <p:cNvSpPr/>
          <p:nvPr/>
        </p:nvSpPr>
        <p:spPr>
          <a:xfrm>
            <a:off x="4070175" y="1878603"/>
            <a:ext cx="3132666" cy="382385"/>
          </a:xfrm>
          <a:prstGeom prst="borderCallout1">
            <a:avLst>
              <a:gd name="adj1" fmla="val 50374"/>
              <a:gd name="adj2" fmla="val -225"/>
              <a:gd name="adj3" fmla="val 284025"/>
              <a:gd name="adj4" fmla="val -3507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인덱스를 중복할 수 있음</a:t>
            </a:r>
          </a:p>
        </p:txBody>
      </p:sp>
    </p:spTree>
    <p:extLst>
      <p:ext uri="{BB962C8B-B14F-4D97-AF65-F5344CB8AC3E}">
        <p14:creationId xmlns:p14="http://schemas.microsoft.com/office/powerpoint/2010/main" val="40579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F2346B-80C7-B765-81E2-FCAAEAD2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438D9FB-7FA0-958F-16AB-DADB9381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E8CB85-2CBC-B32A-6D6F-1E1AF4403EB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spc="-40" dirty="0"/>
              <a:t>format() </a:t>
            </a:r>
            <a:r>
              <a:rPr lang="ko-KR" altLang="en-US" spc="-40" dirty="0"/>
              <a:t>내부에는 문자열 </a:t>
            </a:r>
            <a:r>
              <a:rPr lang="ko-KR" altLang="en-US" spc="-40" dirty="0" err="1"/>
              <a:t>리터럴뿐만</a:t>
            </a:r>
            <a:r>
              <a:rPr lang="ko-KR" altLang="en-US" spc="-40" dirty="0"/>
              <a:t> 아니라 다음과 같이 변수나 객체를 넣을 수 있음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2BE16F1-0AB3-C184-8677-0787B8B174A5}"/>
              </a:ext>
            </a:extLst>
          </p:cNvPr>
          <p:cNvGrpSpPr/>
          <p:nvPr/>
        </p:nvGrpSpPr>
        <p:grpSpPr>
          <a:xfrm>
            <a:off x="1109986" y="2278577"/>
            <a:ext cx="10296525" cy="3647790"/>
            <a:chOff x="1190625" y="2179195"/>
            <a:chExt cx="11276084" cy="399482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4B42A32-44F6-F31D-655B-6C2A772A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0625" y="3803164"/>
              <a:ext cx="7815349" cy="237085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7E98689-DA11-0E85-950D-78E16AA08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0625" y="2179195"/>
              <a:ext cx="7815349" cy="162396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FE32402-DFB5-2810-B407-4FA583AE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822" y="4035137"/>
              <a:ext cx="6369887" cy="1609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71410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F2346B-80C7-B765-81E2-FCAAEAD2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f-</a:t>
            </a:r>
            <a:r>
              <a:rPr lang="ko-KR" altLang="en-US" smtClean="0"/>
              <a:t>문자열을 알아보자 </a:t>
            </a:r>
            <a:r>
              <a:rPr lang="en-US" altLang="ko-KR" smtClean="0"/>
              <a:t>: format() </a:t>
            </a:r>
            <a:r>
              <a:rPr lang="ko-KR" altLang="en-US" smtClean="0"/>
              <a:t>메소드보다 편리하다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438D9FB-7FA0-958F-16AB-DADB9381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E45BED7-E9C8-0794-6EE1-27D427B220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14"/>
          <a:stretch/>
        </p:blipFill>
        <p:spPr>
          <a:xfrm>
            <a:off x="2148336" y="4338749"/>
            <a:ext cx="8128174" cy="19095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5BA3CD4-DF35-3E70-7BCC-D7D29BF3D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336" y="1767920"/>
            <a:ext cx="8128174" cy="2484824"/>
          </a:xfrm>
          <a:prstGeom prst="rect">
            <a:avLst/>
          </a:prstGeom>
        </p:spPr>
      </p:pic>
      <p:sp>
        <p:nvSpPr>
          <p:cNvPr id="6" name="설명선 1 4">
            <a:extLst>
              <a:ext uri="{FF2B5EF4-FFF2-40B4-BE49-F238E27FC236}">
                <a16:creationId xmlns:a16="http://schemas.microsoft.com/office/drawing/2014/main" id="{F190F275-7106-056F-1917-E0A857053238}"/>
              </a:ext>
            </a:extLst>
          </p:cNvPr>
          <p:cNvSpPr/>
          <p:nvPr/>
        </p:nvSpPr>
        <p:spPr>
          <a:xfrm>
            <a:off x="8549896" y="2670949"/>
            <a:ext cx="3211468" cy="382385"/>
          </a:xfrm>
          <a:prstGeom prst="borderCallout1">
            <a:avLst>
              <a:gd name="adj1" fmla="val 50374"/>
              <a:gd name="adj2" fmla="val -225"/>
              <a:gd name="adj3" fmla="val 284025"/>
              <a:gd name="adj4" fmla="val -3507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중괄호 안에 변수명 사용가능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설명선 1 4">
            <a:extLst>
              <a:ext uri="{FF2B5EF4-FFF2-40B4-BE49-F238E27FC236}">
                <a16:creationId xmlns:a16="http://schemas.microsoft.com/office/drawing/2014/main" id="{F190F275-7106-056F-1917-E0A857053238}"/>
              </a:ext>
            </a:extLst>
          </p:cNvPr>
          <p:cNvSpPr/>
          <p:nvPr/>
        </p:nvSpPr>
        <p:spPr>
          <a:xfrm>
            <a:off x="749533" y="3021971"/>
            <a:ext cx="1012155" cy="382385"/>
          </a:xfrm>
          <a:prstGeom prst="borderCallout1">
            <a:avLst>
              <a:gd name="adj1" fmla="val 43793"/>
              <a:gd name="adj2" fmla="val 100892"/>
              <a:gd name="adj3" fmla="val 198465"/>
              <a:gd name="adj4" fmla="val 21605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f</a:t>
            </a:r>
            <a:r>
              <a:rPr lang="ko-KR" altLang="en-US" smtClean="0">
                <a:solidFill>
                  <a:schemeClr val="tx1"/>
                </a:solidFill>
              </a:rPr>
              <a:t>문자열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97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F2346B-80C7-B765-81E2-FCAAEAD2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5.8.2 </a:t>
            </a:r>
            <a:r>
              <a:rPr lang="ko-KR" altLang="en-US" dirty="0"/>
              <a:t>형식출력을 위한 </a:t>
            </a:r>
            <a:r>
              <a:rPr lang="en-US" altLang="ko-KR" dirty="0"/>
              <a:t>format() </a:t>
            </a:r>
            <a:r>
              <a:rPr lang="ko-KR" altLang="en-US" dirty="0"/>
              <a:t>메소드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438D9FB-7FA0-958F-16AB-DADB9381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40681" y="2287588"/>
            <a:ext cx="88677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571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CC3335D-B4DD-49FB-9D5C-8C9F2221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5.8.3 </a:t>
            </a:r>
            <a:r>
              <a:rPr lang="ko-KR" altLang="en-US" dirty="0">
                <a:latin typeface="+mj-ea"/>
              </a:rPr>
              <a:t>고급 </a:t>
            </a:r>
            <a:r>
              <a:rPr lang="en-US" altLang="ko-KR" dirty="0">
                <a:latin typeface="+mj-ea"/>
              </a:rPr>
              <a:t>format() </a:t>
            </a:r>
            <a:r>
              <a:rPr lang="ko-KR" altLang="en-US" dirty="0">
                <a:latin typeface="+mj-ea"/>
              </a:rPr>
              <a:t>메소드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  <a:endParaRPr lang="ko-KR" altLang="en-US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BC828-3888-61C0-E130-2704C88DB5F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ko-KR" altLang="en-US" dirty="0" err="1"/>
              <a:t>포매팅을</a:t>
            </a:r>
            <a:r>
              <a:rPr lang="ko-KR" altLang="en-US" dirty="0"/>
              <a:t> 더욱더 세밀하게 하기 위하여 </a:t>
            </a:r>
            <a:r>
              <a:rPr lang="en-US" altLang="ko-KR" dirty="0"/>
              <a:t>format() </a:t>
            </a:r>
            <a:r>
              <a:rPr lang="ko-KR" altLang="en-US" dirty="0"/>
              <a:t>메소드의 고급 기능에 대하여 알아보기</a:t>
            </a:r>
            <a:endParaRPr lang="en-US" altLang="ko-KR" dirty="0"/>
          </a:p>
          <a:p>
            <a:r>
              <a:rPr lang="en-US" altLang="ko-KR" dirty="0"/>
              <a:t>format() </a:t>
            </a:r>
            <a:r>
              <a:rPr lang="ko-KR" altLang="en-US" dirty="0"/>
              <a:t>메소드는 </a:t>
            </a:r>
            <a:r>
              <a:rPr lang="ko-KR" altLang="en-US" dirty="0" err="1"/>
              <a:t>플레이스</a:t>
            </a:r>
            <a:r>
              <a:rPr lang="ko-KR" altLang="en-US" dirty="0"/>
              <a:t> 홀더 내에 콜론</a:t>
            </a:r>
            <a:r>
              <a:rPr lang="en-US" altLang="ko-KR" dirty="0"/>
              <a:t>(:)</a:t>
            </a:r>
            <a:r>
              <a:rPr lang="ko-KR" altLang="en-US" dirty="0"/>
              <a:t>을 찍고 출력의 크기와 형식 지정을 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749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CC3335D-B4DD-49FB-9D5C-8C9F2221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5.8.3 </a:t>
            </a:r>
            <a:r>
              <a:rPr lang="ko-KR" altLang="en-US" dirty="0">
                <a:latin typeface="+mj-ea"/>
              </a:rPr>
              <a:t>고급 </a:t>
            </a:r>
            <a:r>
              <a:rPr lang="en-US" altLang="ko-KR" dirty="0">
                <a:latin typeface="+mj-ea"/>
              </a:rPr>
              <a:t>format() </a:t>
            </a:r>
            <a:r>
              <a:rPr lang="ko-KR" altLang="en-US" dirty="0">
                <a:latin typeface="+mj-ea"/>
              </a:rPr>
              <a:t>메소드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  <a:endParaRPr lang="ko-KR" altLang="en-US" dirty="0">
              <a:latin typeface="+mj-ea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64BC936-66C7-7C7D-F819-1833DD69A225}"/>
              </a:ext>
            </a:extLst>
          </p:cNvPr>
          <p:cNvGrpSpPr/>
          <p:nvPr/>
        </p:nvGrpSpPr>
        <p:grpSpPr>
          <a:xfrm>
            <a:off x="1007434" y="1576264"/>
            <a:ext cx="8144588" cy="4467236"/>
            <a:chOff x="1405670" y="871884"/>
            <a:chExt cx="9655868" cy="529616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DB00C75-A472-A8E8-4B6F-7A3E56810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5670" y="871884"/>
              <a:ext cx="9655868" cy="5296160"/>
            </a:xfrm>
            <a:prstGeom prst="rect">
              <a:avLst/>
            </a:prstGeom>
          </p:spPr>
        </p:pic>
        <p:sp>
          <p:nvSpPr>
            <p:cNvPr id="11" name="설명선 1 2">
              <a:extLst>
                <a:ext uri="{FF2B5EF4-FFF2-40B4-BE49-F238E27FC236}">
                  <a16:creationId xmlns:a16="http://schemas.microsoft.com/office/drawing/2014/main" id="{548CAB41-F707-2A24-148A-732C28DAEB28}"/>
                </a:ext>
              </a:extLst>
            </p:cNvPr>
            <p:cNvSpPr/>
            <p:nvPr/>
          </p:nvSpPr>
          <p:spPr>
            <a:xfrm>
              <a:off x="5277503" y="2505114"/>
              <a:ext cx="3019173" cy="583218"/>
            </a:xfrm>
            <a:prstGeom prst="borderCallout1">
              <a:avLst>
                <a:gd name="adj1" fmla="val 50374"/>
                <a:gd name="adj2" fmla="val -225"/>
                <a:gd name="adj3" fmla="val -26845"/>
                <a:gd name="adj4" fmla="val -63203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출력 칸 수 지정과 오른쪽 정렬 기능이 있음</a:t>
              </a:r>
            </a:p>
          </p:txBody>
        </p:sp>
        <p:sp>
          <p:nvSpPr>
            <p:cNvPr id="12" name="설명선 1 4">
              <a:extLst>
                <a:ext uri="{FF2B5EF4-FFF2-40B4-BE49-F238E27FC236}">
                  <a16:creationId xmlns:a16="http://schemas.microsoft.com/office/drawing/2014/main" id="{23892E93-52CF-45F6-0207-5DEA14381B0F}"/>
                </a:ext>
              </a:extLst>
            </p:cNvPr>
            <p:cNvSpPr/>
            <p:nvPr/>
          </p:nvSpPr>
          <p:spPr>
            <a:xfrm>
              <a:off x="5542279" y="4181040"/>
              <a:ext cx="2368513" cy="583218"/>
            </a:xfrm>
            <a:prstGeom prst="borderCallout1">
              <a:avLst>
                <a:gd name="adj1" fmla="val 50374"/>
                <a:gd name="adj2" fmla="val -225"/>
                <a:gd name="adj3" fmla="val -26845"/>
                <a:gd name="adj4" fmla="val -63203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오른쪽으로 정렬된 보기 좋은 출력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50407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CC3335D-B4DD-49FB-9D5C-8C9F2221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5.8.3 </a:t>
            </a:r>
            <a:r>
              <a:rPr lang="ko-KR" altLang="en-US" dirty="0">
                <a:latin typeface="+mj-ea"/>
              </a:rPr>
              <a:t>고급 </a:t>
            </a:r>
            <a:r>
              <a:rPr lang="en-US" altLang="ko-KR" dirty="0">
                <a:latin typeface="+mj-ea"/>
              </a:rPr>
              <a:t>format() </a:t>
            </a:r>
            <a:r>
              <a:rPr lang="ko-KR" altLang="en-US" dirty="0">
                <a:latin typeface="+mj-ea"/>
              </a:rPr>
              <a:t>메소드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  <a:endParaRPr lang="ko-KR" altLang="en-US" dirty="0">
              <a:latin typeface="+mj-ea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45444" y="2763838"/>
            <a:ext cx="885825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9707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CC3335D-B4DD-49FB-9D5C-8C9F2221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5.8.3 </a:t>
            </a:r>
            <a:r>
              <a:rPr lang="ko-KR" altLang="en-US" dirty="0">
                <a:latin typeface="+mj-ea"/>
              </a:rPr>
              <a:t>고급 </a:t>
            </a:r>
            <a:r>
              <a:rPr lang="en-US" altLang="ko-KR" dirty="0">
                <a:latin typeface="+mj-ea"/>
              </a:rPr>
              <a:t>format() </a:t>
            </a:r>
            <a:r>
              <a:rPr lang="ko-KR" altLang="en-US" dirty="0">
                <a:latin typeface="+mj-ea"/>
              </a:rPr>
              <a:t>메소드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  <a:endParaRPr lang="ko-KR" altLang="en-US" dirty="0">
              <a:latin typeface="+mj-ea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2E8FC89-5CBD-EA02-9E6F-7E543969A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92" y="4417634"/>
            <a:ext cx="9127395" cy="16066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434370-9642-7047-A5E0-57AE0A823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715" y="1828108"/>
            <a:ext cx="8169116" cy="25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518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CC3335D-B4DD-49FB-9D5C-8C9F2221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</a:rPr>
              <a:t>5.8.3 </a:t>
            </a:r>
            <a:r>
              <a:rPr lang="ko-KR" altLang="en-US" dirty="0">
                <a:latin typeface="+mj-ea"/>
              </a:rPr>
              <a:t>고급 </a:t>
            </a:r>
            <a:r>
              <a:rPr lang="en-US" altLang="ko-KR" dirty="0">
                <a:latin typeface="+mj-ea"/>
              </a:rPr>
              <a:t>format() </a:t>
            </a:r>
            <a:r>
              <a:rPr lang="ko-KR" altLang="en-US" dirty="0">
                <a:latin typeface="+mj-ea"/>
              </a:rPr>
              <a:t>메소드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  <a:endParaRPr lang="ko-KR" altLang="en-US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D7C59-0073-FCDF-B0F4-3E69A8D8F52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플레이스</a:t>
            </a:r>
            <a:r>
              <a:rPr lang="ko-KR" altLang="en-US" dirty="0"/>
              <a:t> 홀더에 출력을 할 때는 </a:t>
            </a:r>
            <a:r>
              <a:rPr lang="en-US" altLang="ko-KR" dirty="0"/>
              <a:t>key=value</a:t>
            </a:r>
            <a:r>
              <a:rPr lang="ko-KR" altLang="en-US" dirty="0"/>
              <a:t>와 같이 키와 값을 인자로 넘겨주고 이 키를 이용한 출력도 가능</a:t>
            </a:r>
          </a:p>
          <a:p>
            <a:r>
              <a:rPr lang="ko-KR" altLang="en-US" dirty="0"/>
              <a:t>부산시의 위도 </a:t>
            </a:r>
            <a:r>
              <a:rPr lang="en-US" altLang="ko-KR" dirty="0"/>
              <a:t>35.17N</a:t>
            </a:r>
            <a:r>
              <a:rPr lang="ko-KR" altLang="en-US" dirty="0"/>
              <a:t>와 경도 </a:t>
            </a:r>
            <a:r>
              <a:rPr lang="en-US" altLang="ko-KR" dirty="0"/>
              <a:t>129.07E</a:t>
            </a:r>
            <a:r>
              <a:rPr lang="ko-KR" altLang="en-US" dirty="0"/>
              <a:t>를 출력하는 경우</a:t>
            </a:r>
          </a:p>
          <a:p>
            <a:r>
              <a:rPr lang="ko-KR" altLang="en-US" dirty="0"/>
              <a:t>순서에 상관없이 키와 값 형식으로 입력된 정보가 유지되기만 하면 정상적인 출력을 얻을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9FDA2B-B843-CFCC-971F-14001F99A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01" y="3810979"/>
            <a:ext cx="7370168" cy="2342518"/>
          </a:xfrm>
          <a:prstGeom prst="rect">
            <a:avLst/>
          </a:prstGeom>
        </p:spPr>
      </p:pic>
      <p:sp>
        <p:nvSpPr>
          <p:cNvPr id="11" name="설명선 1 3">
            <a:extLst>
              <a:ext uri="{FF2B5EF4-FFF2-40B4-BE49-F238E27FC236}">
                <a16:creationId xmlns:a16="http://schemas.microsoft.com/office/drawing/2014/main" id="{C3085E83-831D-3987-9CAB-EA57FCFA066D}"/>
              </a:ext>
            </a:extLst>
          </p:cNvPr>
          <p:cNvSpPr/>
          <p:nvPr/>
        </p:nvSpPr>
        <p:spPr>
          <a:xfrm>
            <a:off x="7854268" y="5185964"/>
            <a:ext cx="2333194" cy="299294"/>
          </a:xfrm>
          <a:prstGeom prst="borderCallout1">
            <a:avLst>
              <a:gd name="adj1" fmla="val 50374"/>
              <a:gd name="adj2" fmla="val -225"/>
              <a:gd name="adj3" fmla="val 7813"/>
              <a:gd name="adj4" fmla="val -4032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키워드 인자와 유사</a:t>
            </a:r>
          </a:p>
        </p:txBody>
      </p:sp>
      <p:sp>
        <p:nvSpPr>
          <p:cNvPr id="12" name="설명선 1 5">
            <a:extLst>
              <a:ext uri="{FF2B5EF4-FFF2-40B4-BE49-F238E27FC236}">
                <a16:creationId xmlns:a16="http://schemas.microsoft.com/office/drawing/2014/main" id="{6137AC80-1B7F-D3CD-7DDE-C5BFE7C77871}"/>
              </a:ext>
            </a:extLst>
          </p:cNvPr>
          <p:cNvSpPr/>
          <p:nvPr/>
        </p:nvSpPr>
        <p:spPr>
          <a:xfrm>
            <a:off x="7372781" y="5913367"/>
            <a:ext cx="2333194" cy="299294"/>
          </a:xfrm>
          <a:prstGeom prst="borderCallout1">
            <a:avLst>
              <a:gd name="adj1" fmla="val 50374"/>
              <a:gd name="adj2" fmla="val -225"/>
              <a:gd name="adj3" fmla="val -39842"/>
              <a:gd name="adj4" fmla="val -1959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키워드 인자와 유사</a:t>
            </a:r>
          </a:p>
        </p:txBody>
      </p:sp>
    </p:spTree>
    <p:extLst>
      <p:ext uri="{BB962C8B-B14F-4D97-AF65-F5344CB8AC3E}">
        <p14:creationId xmlns:p14="http://schemas.microsoft.com/office/powerpoint/2010/main" val="40595500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5.8.4 </a:t>
            </a:r>
            <a:r>
              <a:rPr lang="ko-KR" altLang="en-US" dirty="0"/>
              <a:t>다양한 문자열 메소드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D2AD57-64B1-154F-920A-40743031930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파싱을 위한 </a:t>
            </a:r>
            <a:r>
              <a:rPr lang="en-US" altLang="ko-KR" dirty="0"/>
              <a:t>parse(), capitalize(), </a:t>
            </a:r>
            <a:r>
              <a:rPr lang="en-US" altLang="ko-KR" dirty="0" err="1"/>
              <a:t>casefold</a:t>
            </a:r>
            <a:r>
              <a:rPr lang="en-US" altLang="ko-KR" dirty="0"/>
              <a:t>(), count(), </a:t>
            </a:r>
            <a:r>
              <a:rPr lang="en-US" altLang="ko-KR" dirty="0" err="1"/>
              <a:t>endswith</a:t>
            </a:r>
            <a:r>
              <a:rPr lang="en-US" altLang="ko-KR" dirty="0"/>
              <a:t>(), </a:t>
            </a:r>
            <a:r>
              <a:rPr lang="en-US" altLang="ko-KR" dirty="0" err="1"/>
              <a:t>expandtabs</a:t>
            </a:r>
            <a:r>
              <a:rPr lang="en-US" altLang="ko-KR" dirty="0"/>
              <a:t>(), encode(), find(), index(), </a:t>
            </a:r>
            <a:r>
              <a:rPr lang="en-US" altLang="ko-KR" dirty="0" err="1"/>
              <a:t>isalnum</a:t>
            </a:r>
            <a:r>
              <a:rPr lang="en-US" altLang="ko-KR" dirty="0"/>
              <a:t>(), </a:t>
            </a:r>
            <a:r>
              <a:rPr lang="en-US" altLang="ko-KR" dirty="0" err="1"/>
              <a:t>isdecimal</a:t>
            </a:r>
            <a:r>
              <a:rPr lang="en-US" altLang="ko-KR" dirty="0"/>
              <a:t>()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이런 특수한 기능을 가지는 함수는 사용자에게 큰 편의성을 제공함</a:t>
            </a:r>
            <a:endParaRPr lang="en-US" altLang="ko-KR" dirty="0"/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장점이 될 수 있음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10683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5.8.4 </a:t>
            </a:r>
            <a:r>
              <a:rPr lang="ko-KR" altLang="en-US" dirty="0"/>
              <a:t>다양한 문자열 메소드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130138" y="1700213"/>
            <a:ext cx="7888862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9823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5.8.4 </a:t>
            </a:r>
            <a:r>
              <a:rPr lang="ko-KR" altLang="en-US" dirty="0"/>
              <a:t>다양한 문자열 메소드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345E697-006B-B17D-232E-99B7B7E50EC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upper() : </a:t>
            </a:r>
            <a:r>
              <a:rPr lang="ko-KR" altLang="en-US" dirty="0"/>
              <a:t>해당 문자열을 </a:t>
            </a:r>
            <a:r>
              <a:rPr lang="ko-KR" altLang="en-US" dirty="0">
                <a:solidFill>
                  <a:srgbClr val="FF0000"/>
                </a:solidFill>
              </a:rPr>
              <a:t>대문자</a:t>
            </a:r>
            <a:r>
              <a:rPr lang="ko-KR" altLang="en-US" dirty="0"/>
              <a:t>로 변환</a:t>
            </a:r>
            <a:endParaRPr lang="en-US" altLang="ko-KR" dirty="0"/>
          </a:p>
          <a:p>
            <a:r>
              <a:rPr lang="en-US" altLang="ko-KR" dirty="0"/>
              <a:t>lower() :</a:t>
            </a:r>
            <a:r>
              <a:rPr lang="ko-KR" altLang="en-US" dirty="0"/>
              <a:t> 해당 문자열을 </a:t>
            </a:r>
            <a:r>
              <a:rPr lang="ko-KR" altLang="en-US" dirty="0">
                <a:solidFill>
                  <a:srgbClr val="FF0000"/>
                </a:solidFill>
              </a:rPr>
              <a:t>소문자</a:t>
            </a:r>
            <a:r>
              <a:rPr lang="ko-KR" altLang="en-US" dirty="0"/>
              <a:t>로 변환</a:t>
            </a:r>
            <a:endParaRPr lang="en-US" altLang="ko-KR" dirty="0"/>
          </a:p>
          <a:p>
            <a:r>
              <a:rPr lang="en-US" altLang="ko-KR" dirty="0"/>
              <a:t>count() :</a:t>
            </a:r>
            <a:r>
              <a:rPr lang="ko-KR" altLang="en-US" dirty="0"/>
              <a:t> 매개변수로 넘어온 문자와 동일한 문자가 해당 문자열 내에 몇 번 등장하는지 그 </a:t>
            </a:r>
            <a:r>
              <a:rPr lang="ko-KR" altLang="en-US" dirty="0">
                <a:solidFill>
                  <a:srgbClr val="FF0000"/>
                </a:solidFill>
              </a:rPr>
              <a:t>횟수</a:t>
            </a:r>
            <a:r>
              <a:rPr lang="ko-KR" altLang="en-US" dirty="0"/>
              <a:t>를 반환</a:t>
            </a:r>
            <a:endParaRPr lang="en-US" altLang="ko-KR" dirty="0"/>
          </a:p>
          <a:p>
            <a:r>
              <a:rPr lang="en-US" altLang="ko-KR" dirty="0"/>
              <a:t>find() :</a:t>
            </a:r>
            <a:r>
              <a:rPr lang="ko-KR" altLang="en-US" dirty="0"/>
              <a:t> 매개변수로 넘어온 문자와 동일한 문자가 문자열에서 어디에서 있는지 그 </a:t>
            </a:r>
            <a:r>
              <a:rPr lang="ko-KR" altLang="en-US" dirty="0">
                <a:solidFill>
                  <a:srgbClr val="FF0000"/>
                </a:solidFill>
              </a:rPr>
              <a:t>인덱스</a:t>
            </a:r>
            <a:r>
              <a:rPr lang="ko-KR" altLang="en-US" dirty="0"/>
              <a:t>를 반환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5486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5.8.4 </a:t>
            </a:r>
            <a:r>
              <a:rPr lang="ko-KR" altLang="en-US" dirty="0"/>
              <a:t>다양한 문자열 메소드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150699A-04E6-0A91-0335-9E029180D45C}"/>
              </a:ext>
            </a:extLst>
          </p:cNvPr>
          <p:cNvGrpSpPr/>
          <p:nvPr/>
        </p:nvGrpSpPr>
        <p:grpSpPr>
          <a:xfrm>
            <a:off x="1096658" y="1605558"/>
            <a:ext cx="9180816" cy="4510105"/>
            <a:chOff x="744232" y="469236"/>
            <a:chExt cx="11811531" cy="580245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F8C0A68-9D2E-6463-59E0-8EB3A2488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4232" y="469236"/>
              <a:ext cx="7468343" cy="5802452"/>
            </a:xfrm>
            <a:prstGeom prst="rect">
              <a:avLst/>
            </a:prstGeom>
          </p:spPr>
        </p:pic>
        <p:sp>
          <p:nvSpPr>
            <p:cNvPr id="9" name="설명선 1 2">
              <a:extLst>
                <a:ext uri="{FF2B5EF4-FFF2-40B4-BE49-F238E27FC236}">
                  <a16:creationId xmlns:a16="http://schemas.microsoft.com/office/drawing/2014/main" id="{8FE483A8-487C-7DDD-C702-9C8E7A1125A1}"/>
                </a:ext>
              </a:extLst>
            </p:cNvPr>
            <p:cNvSpPr/>
            <p:nvPr/>
          </p:nvSpPr>
          <p:spPr>
            <a:xfrm>
              <a:off x="4598783" y="5066050"/>
              <a:ext cx="3613790" cy="390867"/>
            </a:xfrm>
            <a:prstGeom prst="borderCallout1">
              <a:avLst>
                <a:gd name="adj1" fmla="val 50374"/>
                <a:gd name="adj2" fmla="val -225"/>
                <a:gd name="adj3" fmla="val 85872"/>
                <a:gd name="adj4" fmla="val -67415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  <a:sym typeface="Wingdings" panose="05000000000000000000" pitchFamily="2" charset="2"/>
                </a:rPr>
                <a:t>여기서는 콜론</a:t>
              </a:r>
              <a:r>
                <a:rPr lang="en-US" altLang="ko-KR" sz="1400" dirty="0">
                  <a:solidFill>
                    <a:schemeClr val="tx1"/>
                  </a:solidFill>
                  <a:sym typeface="Wingdings" panose="05000000000000000000" pitchFamily="2" charset="2"/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  <a:sym typeface="Wingdings" panose="05000000000000000000" pitchFamily="2" charset="2"/>
                </a:rPr>
                <a:t>문자가 구분자임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7D9F4A2-24EB-882E-DE3B-60A47635841F}"/>
                </a:ext>
              </a:extLst>
            </p:cNvPr>
            <p:cNvSpPr/>
            <p:nvPr/>
          </p:nvSpPr>
          <p:spPr>
            <a:xfrm>
              <a:off x="6048892" y="2842430"/>
              <a:ext cx="6506871" cy="83153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ko-KR" altLang="en-US" sz="2000" dirty="0" err="1"/>
                <a:t>구분자</a:t>
              </a:r>
              <a:r>
                <a:rPr lang="en-US" altLang="ko-KR" sz="2000" b="1" baseline="30000" dirty="0">
                  <a:solidFill>
                    <a:schemeClr val="accent5"/>
                  </a:solidFill>
                </a:rPr>
                <a:t>separator</a:t>
              </a:r>
            </a:p>
            <a:p>
              <a:r>
                <a:rPr lang="ko-KR" altLang="en-US" sz="1600" dirty="0"/>
                <a:t>한 문자열을 하나 이상의 개별 문자열로 나누는 문자</a:t>
              </a:r>
              <a:endParaRPr lang="en-US" altLang="ko-K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219379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5.8.4 </a:t>
            </a:r>
            <a:r>
              <a:rPr lang="ko-KR" altLang="en-US" dirty="0"/>
              <a:t>다양한 문자열 메소드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69256" y="2754313"/>
            <a:ext cx="881062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3379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50" y="3429000"/>
            <a:ext cx="6591300" cy="214312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5.8.5 </a:t>
            </a:r>
            <a:r>
              <a:rPr lang="ko-KR" altLang="en-US" dirty="0"/>
              <a:t>내장함수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C3B8C-D21C-788D-E88B-9F948BE7D84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프로그래밍에서 함수는 흔히 </a:t>
            </a:r>
            <a:r>
              <a:rPr lang="ko-KR" altLang="en-US" b="1" dirty="0"/>
              <a:t>블랙박스</a:t>
            </a:r>
            <a:r>
              <a:rPr lang="en-US" altLang="ko-KR" b="1" baseline="30000" dirty="0">
                <a:solidFill>
                  <a:schemeClr val="accent5"/>
                </a:solidFill>
              </a:rPr>
              <a:t>black box</a:t>
            </a:r>
            <a:r>
              <a:rPr lang="ko-KR" altLang="en-US" dirty="0"/>
              <a:t>라는 비유를 함</a:t>
            </a:r>
          </a:p>
          <a:p>
            <a:r>
              <a:rPr lang="ko-KR" altLang="en-US" dirty="0"/>
              <a:t>함수를 호출하는 사용자는 제대로 된 입력 값을 주고 그 결과인 출력</a:t>
            </a:r>
            <a:r>
              <a:rPr lang="en-US" altLang="ko-KR" dirty="0"/>
              <a:t>(</a:t>
            </a:r>
            <a:r>
              <a:rPr lang="ko-KR" altLang="en-US" dirty="0"/>
              <a:t>결과 값</a:t>
            </a:r>
            <a:r>
              <a:rPr lang="en-US" altLang="ko-KR" dirty="0"/>
              <a:t>)</a:t>
            </a:r>
            <a:r>
              <a:rPr lang="ko-KR" altLang="en-US" dirty="0"/>
              <a:t>을 사용만 하면 되기 때문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22283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5.8.5 </a:t>
            </a:r>
            <a:r>
              <a:rPr lang="ko-KR" altLang="en-US" dirty="0"/>
              <a:t>내장함수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C3B8C-D21C-788D-E88B-9F948BE7D84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r>
              <a:rPr lang="en-US" altLang="ko-KR" dirty="0" err="1"/>
              <a:t>len</a:t>
            </a:r>
            <a:r>
              <a:rPr lang="en-US" altLang="ko-KR" dirty="0"/>
              <a:t>() </a:t>
            </a:r>
            <a:r>
              <a:rPr lang="ko-KR" altLang="en-US" dirty="0"/>
              <a:t>함수가 어떤 값을 반환하는지 알고 있기 때문에 자세한 동작 과정을 몰라도 사용함</a:t>
            </a:r>
          </a:p>
          <a:p>
            <a:r>
              <a:rPr lang="en-US" altLang="ko-KR" dirty="0"/>
              <a:t>print() </a:t>
            </a:r>
            <a:r>
              <a:rPr lang="ko-KR" altLang="en-US" dirty="0"/>
              <a:t>함수</a:t>
            </a:r>
            <a:r>
              <a:rPr lang="en-US" altLang="ko-KR" dirty="0"/>
              <a:t>, input() </a:t>
            </a:r>
            <a:r>
              <a:rPr lang="ko-KR" altLang="en-US" dirty="0"/>
              <a:t>함수도 이런 함수에 속함</a:t>
            </a:r>
          </a:p>
          <a:p>
            <a:r>
              <a:rPr lang="ko-KR" altLang="en-US" dirty="0" err="1"/>
              <a:t>파이썬에서</a:t>
            </a:r>
            <a:r>
              <a:rPr lang="ko-KR" altLang="en-US" dirty="0"/>
              <a:t> 기본으로 구현되어 있어 제공하는 함수를 </a:t>
            </a:r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ko-KR" altLang="en-US" b="1" dirty="0"/>
              <a:t>내장함수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built-in function</a:t>
            </a:r>
            <a:r>
              <a:rPr lang="ko-KR" altLang="en-US" dirty="0"/>
              <a:t>라고 한다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9CCF37-B273-D1BA-AD8A-DB7441C31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1" y="1700808"/>
            <a:ext cx="509587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73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5.8.5 </a:t>
            </a:r>
            <a:r>
              <a:rPr lang="ko-KR" altLang="en-US" dirty="0"/>
              <a:t>내장함수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FF62073-11B5-F0ED-C463-CC776EE5A947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130320" y="1700213"/>
            <a:ext cx="5888498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0861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922C2-6F4D-76FF-5114-FFA69043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927949" y="1128713"/>
            <a:ext cx="629323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416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922C2-6F4D-76FF-5114-FFA69043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5B24BD-4951-AE25-34CA-03870424034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>
                <a:ea typeface="D2Coding" panose="020B0609020101020101" pitchFamily="49" charset="-127"/>
              </a:rPr>
              <a:t>abs()</a:t>
            </a:r>
            <a:r>
              <a:rPr lang="en-US" altLang="ko-KR" dirty="0"/>
              <a:t> </a:t>
            </a:r>
            <a:r>
              <a:rPr lang="ko-KR" altLang="en-US" dirty="0"/>
              <a:t>함수는 </a:t>
            </a:r>
            <a:r>
              <a:rPr lang="en-US" altLang="ko-KR" dirty="0"/>
              <a:t>–100</a:t>
            </a:r>
            <a:r>
              <a:rPr lang="ko-KR" altLang="en-US" dirty="0"/>
              <a:t>이라는 정수를 입력 받아서 그 절댓값인 </a:t>
            </a:r>
            <a:r>
              <a:rPr lang="en-US" altLang="ko-KR" dirty="0"/>
              <a:t>100</a:t>
            </a:r>
            <a:r>
              <a:rPr lang="ko-KR" altLang="en-US" dirty="0"/>
              <a:t>을 반환</a:t>
            </a:r>
          </a:p>
          <a:p>
            <a:r>
              <a:rPr lang="en-US" altLang="ko-KR" dirty="0">
                <a:ea typeface="D2Coding" panose="020B0609020101020101" pitchFamily="49" charset="-127"/>
              </a:rPr>
              <a:t>min</a:t>
            </a:r>
            <a:r>
              <a:rPr lang="en-US" altLang="ko-KR" dirty="0"/>
              <a:t>() </a:t>
            </a:r>
            <a:r>
              <a:rPr lang="ko-KR" altLang="en-US" dirty="0"/>
              <a:t>함수는 </a:t>
            </a:r>
            <a:r>
              <a:rPr lang="en-US" altLang="ko-KR" dirty="0"/>
              <a:t>200, 100, 300, 400 </a:t>
            </a:r>
            <a:r>
              <a:rPr lang="ko-KR" altLang="en-US" dirty="0"/>
              <a:t>의 값을 가지는 정수들 중에서 가장 작은 값을 반환</a:t>
            </a:r>
          </a:p>
          <a:p>
            <a:r>
              <a:rPr lang="en-US" altLang="ko-KR" dirty="0">
                <a:ea typeface="D2Coding" panose="020B0609020101020101" pitchFamily="49" charset="-127"/>
              </a:rPr>
              <a:t>max</a:t>
            </a:r>
            <a:r>
              <a:rPr lang="en-US" altLang="ko-KR" dirty="0"/>
              <a:t>() </a:t>
            </a:r>
            <a:r>
              <a:rPr lang="ko-KR" altLang="en-US" dirty="0"/>
              <a:t>함수는 </a:t>
            </a:r>
            <a:r>
              <a:rPr lang="en-US" altLang="ko-KR" dirty="0"/>
              <a:t>200, 100, 300, 400 </a:t>
            </a:r>
            <a:r>
              <a:rPr lang="ko-KR" altLang="en-US" dirty="0"/>
              <a:t>의 값을 가지는 정수들 중에서 가장 큰 값을 반환</a:t>
            </a:r>
          </a:p>
          <a:p>
            <a:r>
              <a:rPr lang="en-US" altLang="ko-KR" dirty="0">
                <a:ea typeface="D2Coding" panose="020B0609020101020101" pitchFamily="49" charset="-127"/>
              </a:rPr>
              <a:t>id</a:t>
            </a:r>
            <a:r>
              <a:rPr lang="en-US" altLang="ko-KR" dirty="0"/>
              <a:t>() </a:t>
            </a:r>
            <a:r>
              <a:rPr lang="ko-KR" altLang="en-US" dirty="0"/>
              <a:t>함수는 “</a:t>
            </a:r>
            <a:r>
              <a:rPr lang="en-US" altLang="ko-KR" dirty="0"/>
              <a:t>FOO”</a:t>
            </a:r>
            <a:r>
              <a:rPr lang="ko-KR" altLang="en-US" dirty="0"/>
              <a:t>라는 문자열이 저장된 변수 </a:t>
            </a:r>
            <a:r>
              <a:rPr lang="en-US" altLang="ko-KR" dirty="0">
                <a:ea typeface="D2Coding" panose="020B0609020101020101" pitchFamily="49" charset="-127"/>
              </a:rPr>
              <a:t>str1</a:t>
            </a:r>
            <a:r>
              <a:rPr lang="ko-KR" altLang="en-US" dirty="0"/>
              <a:t>의 </a:t>
            </a:r>
            <a:r>
              <a:rPr lang="en-US" altLang="ko-KR" dirty="0"/>
              <a:t>identity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반환</a:t>
            </a:r>
            <a:endParaRPr lang="en-US" altLang="ko-KR" dirty="0"/>
          </a:p>
          <a:p>
            <a:r>
              <a:rPr lang="en-US" altLang="ko-KR" dirty="0">
                <a:ea typeface="D2Coding" panose="020B0609020101020101" pitchFamily="49" charset="-127"/>
              </a:rPr>
              <a:t>type</a:t>
            </a:r>
            <a:r>
              <a:rPr lang="en-US" altLang="ko-KR" dirty="0"/>
              <a:t>() </a:t>
            </a:r>
            <a:r>
              <a:rPr lang="ko-KR" altLang="en-US" dirty="0"/>
              <a:t>함수는 해당 변수의 자료형을 반환</a:t>
            </a:r>
            <a:r>
              <a:rPr lang="en-US" altLang="ko-KR" dirty="0" err="1">
                <a:ea typeface="D2Coding" panose="020B0609020101020101" pitchFamily="49" charset="-127"/>
              </a:rPr>
              <a:t>len</a:t>
            </a:r>
            <a:r>
              <a:rPr lang="en-US" altLang="ko-KR" dirty="0"/>
              <a:t>() </a:t>
            </a:r>
            <a:r>
              <a:rPr lang="ko-KR" altLang="en-US" dirty="0"/>
              <a:t>함수는 변수 </a:t>
            </a:r>
            <a:r>
              <a:rPr lang="en-US" altLang="ko-KR" dirty="0"/>
              <a:t>str1</a:t>
            </a:r>
            <a:r>
              <a:rPr lang="ko-KR" altLang="en-US" dirty="0"/>
              <a:t>에 저장된 문자열의 길이를 반환</a:t>
            </a:r>
          </a:p>
          <a:p>
            <a:r>
              <a:rPr lang="en-US" altLang="ko-KR" dirty="0">
                <a:ea typeface="D2Coding" panose="020B0609020101020101" pitchFamily="49" charset="-127"/>
              </a:rPr>
              <a:t>eval</a:t>
            </a:r>
            <a:r>
              <a:rPr lang="en-US" altLang="ko-KR" dirty="0"/>
              <a:t>() </a:t>
            </a:r>
            <a:r>
              <a:rPr lang="ko-KR" altLang="en-US" dirty="0"/>
              <a:t>함수는 문자열을 받아와 해당 문자열의 내용을 수식화해서 평가</a:t>
            </a:r>
            <a:r>
              <a:rPr lang="en-US" altLang="ko-KR" dirty="0"/>
              <a:t>(evaluate)</a:t>
            </a:r>
            <a:r>
              <a:rPr lang="ko-KR" altLang="en-US" dirty="0"/>
              <a:t>한 다음 평가한 값을 반환</a:t>
            </a:r>
            <a:endParaRPr lang="en-US" altLang="ko-KR" dirty="0"/>
          </a:p>
          <a:p>
            <a:r>
              <a:rPr lang="en-US" altLang="ko-KR" dirty="0">
                <a:ea typeface="D2Coding" panose="020B0609020101020101" pitchFamily="49" charset="-127"/>
              </a:rPr>
              <a:t>sorted</a:t>
            </a:r>
            <a:r>
              <a:rPr lang="en-US" altLang="ko-KR" dirty="0"/>
              <a:t>() </a:t>
            </a:r>
            <a:r>
              <a:rPr lang="ko-KR" altLang="en-US" dirty="0"/>
              <a:t>함수는 문자열을 받아와 해당 문자열을 구성하는 문자들을 알파벳순으로 정렬해 반환</a:t>
            </a:r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589597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922C2-6F4D-76FF-5114-FFA69043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5B24BD-4951-AE25-34CA-03870424034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파이썬은</a:t>
            </a:r>
            <a:r>
              <a:rPr lang="ko-KR" altLang="en-US" dirty="0"/>
              <a:t> </a:t>
            </a:r>
            <a:r>
              <a:rPr lang="ko-KR" altLang="en-US" b="1" dirty="0"/>
              <a:t>객체지향 프로그래밍 언어</a:t>
            </a:r>
            <a:r>
              <a:rPr lang="en-US" altLang="ko-KR" b="1" baseline="30000" dirty="0">
                <a:solidFill>
                  <a:schemeClr val="accent5"/>
                </a:solidFill>
              </a:rPr>
              <a:t>object oriented programming language</a:t>
            </a:r>
            <a:endParaRPr lang="en-US" altLang="ko-KR" sz="1800" b="1" baseline="30000" dirty="0">
              <a:solidFill>
                <a:schemeClr val="accent5"/>
              </a:solidFill>
            </a:endParaRPr>
          </a:p>
          <a:p>
            <a:r>
              <a:rPr lang="ko-KR" altLang="en-US" dirty="0"/>
              <a:t>다양한 속성과 기능을 가진 객체들이 프로그램을 구성하는 패러다임이 객체지향 언어의 핵심</a:t>
            </a:r>
            <a:endParaRPr lang="en-US" altLang="ko-KR" dirty="0"/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객체는 다른 객체와 구별되는 고유한 </a:t>
            </a:r>
            <a:r>
              <a:rPr lang="ko-KR" altLang="en-US" b="1" dirty="0" err="1"/>
              <a:t>식별값</a:t>
            </a:r>
            <a:r>
              <a:rPr lang="en-US" altLang="ko-KR" b="1" baseline="30000" dirty="0">
                <a:solidFill>
                  <a:schemeClr val="accent5"/>
                </a:solidFill>
              </a:rPr>
              <a:t>identity</a:t>
            </a:r>
            <a:r>
              <a:rPr lang="ko-KR" altLang="en-US" dirty="0"/>
              <a:t>을 가지고 있으며 </a:t>
            </a:r>
            <a:r>
              <a:rPr lang="en-US" altLang="ko-KR" dirty="0"/>
              <a:t>id() </a:t>
            </a:r>
            <a:r>
              <a:rPr lang="ko-KR" altLang="en-US" dirty="0"/>
              <a:t>함수는 이 객체의 식별 값을 정수형으로 반환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94826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922C2-6F4D-76FF-5114-FFA69043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59731" y="2663825"/>
            <a:ext cx="88296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7226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1791773"/>
            <a:ext cx="8829675" cy="359092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type() </a:t>
            </a:r>
            <a:r>
              <a:rPr lang="ko-KR" altLang="en-US" dirty="0"/>
              <a:t>함수는 객체의 </a:t>
            </a:r>
            <a:r>
              <a:rPr lang="ko-KR" altLang="en-US" dirty="0" err="1"/>
              <a:t>자료형을</a:t>
            </a:r>
            <a:r>
              <a:rPr lang="ko-KR" altLang="en-US" dirty="0"/>
              <a:t> 반환</a:t>
            </a:r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C64DBA-88E9-B995-47B9-092CC42F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입력함수와 출력함수</a:t>
            </a:r>
          </a:p>
        </p:txBody>
      </p:sp>
    </p:spTree>
    <p:extLst>
      <p:ext uri="{BB962C8B-B14F-4D97-AF65-F5344CB8AC3E}">
        <p14:creationId xmlns:p14="http://schemas.microsoft.com/office/powerpoint/2010/main" val="20001182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495675" y="1255713"/>
            <a:ext cx="9144000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75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7182</TotalTime>
  <Words>2515</Words>
  <Application>Microsoft Office PowerPoint</Application>
  <PresentationFormat>와이드스크린</PresentationFormat>
  <Paragraphs>383</Paragraphs>
  <Slides>101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101</vt:i4>
      </vt:variant>
    </vt:vector>
  </HeadingPairs>
  <TitlesOfParts>
    <vt:vector size="106" baseType="lpstr">
      <vt:lpstr>D2Coding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5.1 함수의 역할</vt:lpstr>
      <vt:lpstr>5.1 함수의 역할</vt:lpstr>
      <vt:lpstr>5.1 함수의 역할</vt:lpstr>
      <vt:lpstr>5.1 함수의 역할</vt:lpstr>
      <vt:lpstr>5.1 함수의 역할</vt:lpstr>
      <vt:lpstr>5.1 함수의 역할</vt:lpstr>
      <vt:lpstr>5.1 함수의 역할</vt:lpstr>
      <vt:lpstr>5.1 함수의 역할</vt:lpstr>
      <vt:lpstr>5.1 함수의 역할</vt:lpstr>
      <vt:lpstr>5.1 함수의 역할</vt:lpstr>
      <vt:lpstr>5.1 함수의 역할</vt:lpstr>
      <vt:lpstr>5.2 함수와 매개변수</vt:lpstr>
      <vt:lpstr>5.2 함수와 매개변수</vt:lpstr>
      <vt:lpstr>5.2 함수와 매개변수</vt:lpstr>
      <vt:lpstr>5.2 함수와 매개변수</vt:lpstr>
      <vt:lpstr>5.2 함수와 매개변수</vt:lpstr>
      <vt:lpstr>5.2 함수와 매개변수</vt:lpstr>
      <vt:lpstr>5.2 함수와 매개변수</vt:lpstr>
      <vt:lpstr>5.3 매개변수를 활용한 2차 방정식의 근 구하기</vt:lpstr>
      <vt:lpstr>5.3 매개변수를 활용한 2차 방정식의 근 구하기</vt:lpstr>
      <vt:lpstr>5.3 매개변수를 활용한 2차 방정식의 근 구하기</vt:lpstr>
      <vt:lpstr>5.3 매개변수를 활용한 2차 방정식의 근 구하기</vt:lpstr>
      <vt:lpstr>5.3 매개변수를 활용한 2차 방정식의 근 구하기</vt:lpstr>
      <vt:lpstr>5.3 매개변수를 활용한 2차 방정식의 근 구하기</vt:lpstr>
      <vt:lpstr>5.4 return을 이용한 결과값 반환과 튜플</vt:lpstr>
      <vt:lpstr>5.4 return을 이용한 결과값 반환과 튜플</vt:lpstr>
      <vt:lpstr>5.4 return을 이용한 결과값 반환과 튜플</vt:lpstr>
      <vt:lpstr>5.4 return을 이용한 결과값 반환과 튜플</vt:lpstr>
      <vt:lpstr>5.4 return을 이용한 결과값 반환과 튜플</vt:lpstr>
      <vt:lpstr>5.4 return을 이용한 결과값 반환과 튜플</vt:lpstr>
      <vt:lpstr>5.4 return을 이용한 결과값 반환과 튜플</vt:lpstr>
      <vt:lpstr>5.4 return을 이용한 결과값 반환과 튜플</vt:lpstr>
      <vt:lpstr>5.5 전역 변수</vt:lpstr>
      <vt:lpstr>5.5 전역 변수</vt:lpstr>
      <vt:lpstr>5.5 전역 변수</vt:lpstr>
      <vt:lpstr>5.5 전역 변수</vt:lpstr>
      <vt:lpstr>5.5 전역 변수</vt:lpstr>
      <vt:lpstr>5.5 전역 변수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5.6 함수의 인자 전달 방식</vt:lpstr>
      <vt:lpstr>5.7 재귀함수</vt:lpstr>
      <vt:lpstr>5.7 재귀함수</vt:lpstr>
      <vt:lpstr>5.7 재귀함수</vt:lpstr>
      <vt:lpstr>5.7 재귀함수</vt:lpstr>
      <vt:lpstr>5.7 재귀함수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5.8 입력함수와 출력함수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박 동규</cp:lastModifiedBy>
  <cp:revision>338</cp:revision>
  <dcterms:created xsi:type="dcterms:W3CDTF">2019-07-01T11:22:40Z</dcterms:created>
  <dcterms:modified xsi:type="dcterms:W3CDTF">2024-09-30T02:35:39Z</dcterms:modified>
</cp:coreProperties>
</file>