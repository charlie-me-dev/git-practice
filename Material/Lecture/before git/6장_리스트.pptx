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68" r:id="rId2"/>
    <p:sldId id="257" r:id="rId3"/>
    <p:sldId id="421" r:id="rId4"/>
    <p:sldId id="442" r:id="rId5"/>
    <p:sldId id="344" r:id="rId6"/>
    <p:sldId id="443" r:id="rId7"/>
    <p:sldId id="444" r:id="rId8"/>
    <p:sldId id="347" r:id="rId9"/>
    <p:sldId id="445" r:id="rId10"/>
    <p:sldId id="349" r:id="rId11"/>
    <p:sldId id="348" r:id="rId12"/>
    <p:sldId id="446" r:id="rId13"/>
    <p:sldId id="351" r:id="rId14"/>
    <p:sldId id="447" r:id="rId15"/>
    <p:sldId id="448" r:id="rId16"/>
    <p:sldId id="466" r:id="rId17"/>
    <p:sldId id="353" r:id="rId18"/>
    <p:sldId id="354" r:id="rId19"/>
    <p:sldId id="355" r:id="rId20"/>
    <p:sldId id="449" r:id="rId21"/>
    <p:sldId id="450" r:id="rId22"/>
    <p:sldId id="422" r:id="rId23"/>
    <p:sldId id="451" r:id="rId24"/>
    <p:sldId id="439" r:id="rId25"/>
    <p:sldId id="358" r:id="rId26"/>
    <p:sldId id="452" r:id="rId27"/>
    <p:sldId id="467" r:id="rId28"/>
    <p:sldId id="361" r:id="rId29"/>
    <p:sldId id="453" r:id="rId30"/>
    <p:sldId id="366" r:id="rId31"/>
    <p:sldId id="454" r:id="rId32"/>
    <p:sldId id="455" r:id="rId33"/>
    <p:sldId id="363" r:id="rId34"/>
    <p:sldId id="364" r:id="rId35"/>
    <p:sldId id="365" r:id="rId36"/>
    <p:sldId id="368" r:id="rId37"/>
    <p:sldId id="371" r:id="rId38"/>
    <p:sldId id="456" r:id="rId39"/>
    <p:sldId id="369" r:id="rId40"/>
    <p:sldId id="457" r:id="rId41"/>
    <p:sldId id="458" r:id="rId42"/>
    <p:sldId id="432" r:id="rId43"/>
    <p:sldId id="433" r:id="rId44"/>
    <p:sldId id="459" r:id="rId45"/>
    <p:sldId id="370" r:id="rId46"/>
    <p:sldId id="460" r:id="rId47"/>
    <p:sldId id="378" r:id="rId48"/>
    <p:sldId id="461" r:id="rId49"/>
    <p:sldId id="381" r:id="rId50"/>
    <p:sldId id="382" r:id="rId51"/>
    <p:sldId id="435" r:id="rId52"/>
    <p:sldId id="383" r:id="rId53"/>
    <p:sldId id="384" r:id="rId54"/>
    <p:sldId id="385" r:id="rId55"/>
    <p:sldId id="391" r:id="rId56"/>
    <p:sldId id="462" r:id="rId57"/>
    <p:sldId id="389" r:id="rId58"/>
    <p:sldId id="390" r:id="rId59"/>
    <p:sldId id="392" r:id="rId60"/>
    <p:sldId id="393" r:id="rId61"/>
    <p:sldId id="395" r:id="rId62"/>
    <p:sldId id="394" r:id="rId63"/>
    <p:sldId id="396" r:id="rId64"/>
    <p:sldId id="397" r:id="rId65"/>
    <p:sldId id="463" r:id="rId66"/>
    <p:sldId id="464" r:id="rId67"/>
    <p:sldId id="465" r:id="rId68"/>
    <p:sldId id="401" r:id="rId69"/>
    <p:sldId id="437" r:id="rId70"/>
    <p:sldId id="440" r:id="rId7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ongupak" initials="d" lastIdx="13" clrIdx="0">
    <p:extLst>
      <p:ext uri="{19B8F6BF-5375-455C-9EA6-DF929625EA0E}">
        <p15:presenceInfo xmlns:p15="http://schemas.microsoft.com/office/powerpoint/2012/main" userId="dongupak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86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commentAuthors" Target="commentAuthor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안혜강" userId="98b22b6e-56f4-4429-b5e0-faac91709a9d" providerId="ADAL" clId="{DE6B9A2C-69E9-4907-838C-27139D83D94B}"/>
    <pc:docChg chg="undo modSld">
      <pc:chgData name="안혜강" userId="98b22b6e-56f4-4429-b5e0-faac91709a9d" providerId="ADAL" clId="{DE6B9A2C-69E9-4907-838C-27139D83D94B}" dt="2021-02-26T05:17:27.094" v="14" actId="113"/>
      <pc:docMkLst>
        <pc:docMk/>
      </pc:docMkLst>
      <pc:sldChg chg="modSp">
        <pc:chgData name="안혜강" userId="98b22b6e-56f4-4429-b5e0-faac91709a9d" providerId="ADAL" clId="{DE6B9A2C-69E9-4907-838C-27139D83D94B}" dt="2021-02-26T05:09:59.391" v="1" actId="113"/>
        <pc:sldMkLst>
          <pc:docMk/>
          <pc:sldMk cId="2052784670" sldId="355"/>
        </pc:sldMkLst>
        <pc:graphicFrameChg chg="modGraphic">
          <ac:chgData name="안혜강" userId="98b22b6e-56f4-4429-b5e0-faac91709a9d" providerId="ADAL" clId="{DE6B9A2C-69E9-4907-838C-27139D83D94B}" dt="2021-02-26T05:09:59.391" v="1" actId="113"/>
          <ac:graphicFrameMkLst>
            <pc:docMk/>
            <pc:sldMk cId="2052784670" sldId="355"/>
            <ac:graphicFrameMk id="7" creationId="{00000000-0000-0000-0000-000000000000}"/>
          </ac:graphicFrameMkLst>
        </pc:graphicFrameChg>
      </pc:sldChg>
      <pc:sldChg chg="modSp">
        <pc:chgData name="안혜강" userId="98b22b6e-56f4-4429-b5e0-faac91709a9d" providerId="ADAL" clId="{DE6B9A2C-69E9-4907-838C-27139D83D94B}" dt="2021-02-26T05:11:07.802" v="12" actId="113"/>
        <pc:sldMkLst>
          <pc:docMk/>
          <pc:sldMk cId="96302233" sldId="358"/>
        </pc:sldMkLst>
        <pc:graphicFrameChg chg="modGraphic">
          <ac:chgData name="안혜강" userId="98b22b6e-56f4-4429-b5e0-faac91709a9d" providerId="ADAL" clId="{DE6B9A2C-69E9-4907-838C-27139D83D94B}" dt="2021-02-26T05:11:07.802" v="12" actId="113"/>
          <ac:graphicFrameMkLst>
            <pc:docMk/>
            <pc:sldMk cId="96302233" sldId="358"/>
            <ac:graphicFrameMk id="5" creationId="{00000000-0000-0000-0000-000000000000}"/>
          </ac:graphicFrameMkLst>
        </pc:graphicFrameChg>
      </pc:sldChg>
      <pc:sldChg chg="modSp">
        <pc:chgData name="안혜강" userId="98b22b6e-56f4-4429-b5e0-faac91709a9d" providerId="ADAL" clId="{DE6B9A2C-69E9-4907-838C-27139D83D94B}" dt="2021-02-26T05:17:27.094" v="14" actId="113"/>
        <pc:sldMkLst>
          <pc:docMk/>
          <pc:sldMk cId="4165007769" sldId="383"/>
        </pc:sldMkLst>
        <pc:graphicFrameChg chg="modGraphic">
          <ac:chgData name="안혜강" userId="98b22b6e-56f4-4429-b5e0-faac91709a9d" providerId="ADAL" clId="{DE6B9A2C-69E9-4907-838C-27139D83D94B}" dt="2021-02-26T05:17:27.094" v="14" actId="113"/>
          <ac:graphicFrameMkLst>
            <pc:docMk/>
            <pc:sldMk cId="4165007769" sldId="383"/>
            <ac:graphicFrameMk id="6" creationId="{00000000-0000-0000-0000-000000000000}"/>
          </ac:graphicFrameMkLst>
        </pc:graphicFrameChg>
      </pc:sldChg>
      <pc:sldChg chg="modSp">
        <pc:chgData name="안혜강" userId="98b22b6e-56f4-4429-b5e0-faac91709a9d" providerId="ADAL" clId="{DE6B9A2C-69E9-4907-838C-27139D83D94B}" dt="2021-02-26T05:10:48.851" v="10" actId="113"/>
        <pc:sldMkLst>
          <pc:docMk/>
          <pc:sldMk cId="4099132854" sldId="423"/>
        </pc:sldMkLst>
        <pc:graphicFrameChg chg="modGraphic">
          <ac:chgData name="안혜강" userId="98b22b6e-56f4-4429-b5e0-faac91709a9d" providerId="ADAL" clId="{DE6B9A2C-69E9-4907-838C-27139D83D94B}" dt="2021-02-26T05:10:48.851" v="10" actId="113"/>
          <ac:graphicFrameMkLst>
            <pc:docMk/>
            <pc:sldMk cId="4099132854" sldId="423"/>
            <ac:graphicFrameMk id="6" creationId="{00000000-0000-0000-0000-000000000000}"/>
          </ac:graphicFrameMkLst>
        </pc:graphicFrameChg>
      </pc:sldChg>
    </pc:docChg>
  </pc:docChgLst>
  <pc:docChgLst>
    <pc:chgData name="박동규" userId="cebcdd3f-733e-4af1-b963-9742717e494c" providerId="ADAL" clId="{9D47D9C2-294B-43B3-B690-CE3A39D12360}"/>
    <pc:docChg chg="modSld">
      <pc:chgData name="박동규" userId="cebcdd3f-733e-4af1-b963-9742717e494c" providerId="ADAL" clId="{9D47D9C2-294B-43B3-B690-CE3A39D12360}" dt="2021-08-13T10:31:35.069" v="1" actId="1076"/>
      <pc:docMkLst>
        <pc:docMk/>
      </pc:docMkLst>
      <pc:sldChg chg="modSp mod">
        <pc:chgData name="박동규" userId="cebcdd3f-733e-4af1-b963-9742717e494c" providerId="ADAL" clId="{9D47D9C2-294B-43B3-B690-CE3A39D12360}" dt="2021-08-13T10:15:00.640" v="0" actId="14100"/>
        <pc:sldMkLst>
          <pc:docMk/>
          <pc:sldMk cId="1570807444" sldId="348"/>
        </pc:sldMkLst>
        <pc:grpChg chg="mod">
          <ac:chgData name="박동규" userId="cebcdd3f-733e-4af1-b963-9742717e494c" providerId="ADAL" clId="{9D47D9C2-294B-43B3-B690-CE3A39D12360}" dt="2021-08-13T10:15:00.640" v="0" actId="14100"/>
          <ac:grpSpMkLst>
            <pc:docMk/>
            <pc:sldMk cId="1570807444" sldId="348"/>
            <ac:grpSpMk id="8" creationId="{00000000-0000-0000-0000-000000000000}"/>
          </ac:grpSpMkLst>
        </pc:grpChg>
      </pc:sldChg>
      <pc:sldChg chg="modSp mod">
        <pc:chgData name="박동규" userId="cebcdd3f-733e-4af1-b963-9742717e494c" providerId="ADAL" clId="{9D47D9C2-294B-43B3-B690-CE3A39D12360}" dt="2021-08-13T10:31:35.069" v="1" actId="1076"/>
        <pc:sldMkLst>
          <pc:docMk/>
          <pc:sldMk cId="1953174621" sldId="352"/>
        </pc:sldMkLst>
        <pc:picChg chg="mod">
          <ac:chgData name="박동규" userId="cebcdd3f-733e-4af1-b963-9742717e494c" providerId="ADAL" clId="{9D47D9C2-294B-43B3-B690-CE3A39D12360}" dt="2021-08-13T10:31:35.069" v="1" actId="1076"/>
          <ac:picMkLst>
            <pc:docMk/>
            <pc:sldMk cId="1953174621" sldId="352"/>
            <ac:picMk id="2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9E555-41BD-4F42-BACD-260A3D2E8810}" type="datetimeFigureOut">
              <a:rPr lang="ko-KR" altLang="en-US" smtClean="0"/>
              <a:t>2024-10-21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3DECF-8BA1-4923-867C-64FAB5EDD4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998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70C0D07-8B9B-7F79-ECEE-08F3ED4D9A77}"/>
              </a:ext>
            </a:extLst>
          </p:cNvPr>
          <p:cNvSpPr/>
          <p:nvPr userDrawn="1"/>
        </p:nvSpPr>
        <p:spPr>
          <a:xfrm>
            <a:off x="0" y="-3359"/>
            <a:ext cx="12192000" cy="980728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F687766E-4112-1C71-1153-BDA3370907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2122" y="188413"/>
            <a:ext cx="963548" cy="763829"/>
          </a:xfrm>
          <a:prstGeom prst="rect">
            <a:avLst/>
          </a:prstGeom>
        </p:spPr>
      </p:pic>
      <p:sp>
        <p:nvSpPr>
          <p:cNvPr id="11" name="내용 개체 틀 2"/>
          <p:cNvSpPr>
            <a:spLocks noGrp="1"/>
          </p:cNvSpPr>
          <p:nvPr>
            <p:ph idx="14" hasCustomPrompt="1"/>
          </p:nvPr>
        </p:nvSpPr>
        <p:spPr>
          <a:xfrm>
            <a:off x="1067257" y="1128237"/>
            <a:ext cx="10014757" cy="4917999"/>
          </a:xfrm>
        </p:spPr>
        <p:txBody>
          <a:bodyPr>
            <a:noAutofit/>
          </a:bodyPr>
          <a:lstStyle>
            <a:lvl1pPr marL="179388" indent="-179388">
              <a:lnSpc>
                <a:spcPct val="120000"/>
              </a:lnSpc>
              <a:spcBef>
                <a:spcPts val="480"/>
              </a:spcBef>
              <a:buClr>
                <a:schemeClr val="accent6"/>
              </a:buClr>
              <a:buFont typeface="Arial" pitchFamily="34" charset="0"/>
              <a:buChar char="•"/>
              <a:defRPr sz="2000"/>
            </a:lvl1pPr>
            <a:lvl2pPr marL="360363" indent="-180975">
              <a:buClr>
                <a:schemeClr val="accent6">
                  <a:lumMod val="75000"/>
                </a:schemeClr>
              </a:buClr>
              <a:buFont typeface="맑은 고딕" panose="020B0503020000020004" pitchFamily="50" charset="-127"/>
              <a:buChar char="-"/>
              <a:defRPr sz="1800"/>
            </a:lvl2pPr>
          </a:lstStyle>
          <a:p>
            <a:pPr lvl="0"/>
            <a:r>
              <a:rPr lang="ko-KR" altLang="en-US" dirty="0"/>
              <a:t>텍스트 스타일을 편집합니다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cxnSp>
        <p:nvCxnSpPr>
          <p:cNvPr id="16" name="직선 연결선 15"/>
          <p:cNvCxnSpPr>
            <a:cxnSpLocks/>
          </p:cNvCxnSpPr>
          <p:nvPr userDrawn="1"/>
        </p:nvCxnSpPr>
        <p:spPr>
          <a:xfrm>
            <a:off x="501901" y="6251050"/>
            <a:ext cx="11125323" cy="0"/>
          </a:xfrm>
          <a:prstGeom prst="line">
            <a:avLst/>
          </a:prstGeom>
          <a:ln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904883" y="346646"/>
            <a:ext cx="10177131" cy="562074"/>
          </a:xfrm>
        </p:spPr>
        <p:txBody>
          <a:bodyPr>
            <a:noAutofit/>
          </a:bodyPr>
          <a:lstStyle>
            <a:lvl1pPr algn="l">
              <a:defRPr sz="3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ko-KR" altLang="en-US" dirty="0"/>
              <a:t>텍스트 스타일을 편집합니다</a:t>
            </a:r>
          </a:p>
        </p:txBody>
      </p:sp>
      <p:sp>
        <p:nvSpPr>
          <p:cNvPr id="31" name="타원 30"/>
          <p:cNvSpPr/>
          <p:nvPr userDrawn="1"/>
        </p:nvSpPr>
        <p:spPr>
          <a:xfrm>
            <a:off x="368312" y="69338"/>
            <a:ext cx="192021" cy="144016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17" name="모서리가 둥근 직사각형 16"/>
          <p:cNvSpPr/>
          <p:nvPr userDrawn="1"/>
        </p:nvSpPr>
        <p:spPr>
          <a:xfrm>
            <a:off x="10544174" y="83680"/>
            <a:ext cx="1024433" cy="218397"/>
          </a:xfrm>
          <a:prstGeom prst="roundRect">
            <a:avLst/>
          </a:prstGeom>
          <a:noFill/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19" name="TextBox 18"/>
          <p:cNvSpPr txBox="1"/>
          <p:nvPr userDrawn="1"/>
        </p:nvSpPr>
        <p:spPr>
          <a:xfrm>
            <a:off x="10582275" y="90475"/>
            <a:ext cx="1038454" cy="196208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75" spc="0" dirty="0">
                <a:solidFill>
                  <a:schemeClr val="bg1"/>
                </a:solidFill>
                <a:latin typeface="+mn-ea"/>
                <a:ea typeface="+mn-ea"/>
              </a:rPr>
              <a:t>Welcome</a:t>
            </a:r>
            <a:r>
              <a:rPr lang="en-US" altLang="ko-KR" sz="675" spc="0" baseline="0" dirty="0">
                <a:solidFill>
                  <a:schemeClr val="bg1"/>
                </a:solidFill>
                <a:latin typeface="+mn-ea"/>
                <a:ea typeface="+mn-ea"/>
              </a:rPr>
              <a:t> to Python</a:t>
            </a:r>
            <a:endParaRPr lang="ko-KR" altLang="en-US" sz="675" spc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C0EC649-97C1-B342-C2A3-884307B7EA72}"/>
              </a:ext>
            </a:extLst>
          </p:cNvPr>
          <p:cNvSpPr/>
          <p:nvPr userDrawn="1"/>
        </p:nvSpPr>
        <p:spPr>
          <a:xfrm>
            <a:off x="5686477" y="6350553"/>
            <a:ext cx="6096000" cy="2308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fld id="{46A5C3F9-5C7D-4EF5-8F53-66B38DB9C20D}" type="slidenum">
              <a:rPr lang="ko-KR" altLang="en-US" sz="900" b="1" smtClean="0">
                <a:solidFill>
                  <a:schemeClr val="accent6">
                    <a:lumMod val="50000"/>
                  </a:schemeClr>
                </a:solidFill>
              </a:rPr>
              <a:pPr algn="r"/>
              <a:t>‹#›</a:t>
            </a:fld>
            <a:endParaRPr lang="ko-KR" altLang="en-US" sz="675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70B5FAD-91D9-5136-8EC2-B73791B61B2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6847" y="311945"/>
            <a:ext cx="970445" cy="5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684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3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70C0D07-8B9B-7F79-ECEE-08F3ED4D9A77}"/>
              </a:ext>
            </a:extLst>
          </p:cNvPr>
          <p:cNvSpPr/>
          <p:nvPr userDrawn="1"/>
        </p:nvSpPr>
        <p:spPr>
          <a:xfrm>
            <a:off x="0" y="-3359"/>
            <a:ext cx="12192000" cy="980728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F687766E-4112-1C71-1153-BDA3370907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2122" y="188413"/>
            <a:ext cx="963548" cy="763829"/>
          </a:xfrm>
          <a:prstGeom prst="rect">
            <a:avLst/>
          </a:prstGeom>
        </p:spPr>
      </p:pic>
      <p:cxnSp>
        <p:nvCxnSpPr>
          <p:cNvPr id="16" name="직선 연결선 15"/>
          <p:cNvCxnSpPr>
            <a:cxnSpLocks/>
          </p:cNvCxnSpPr>
          <p:nvPr userDrawn="1"/>
        </p:nvCxnSpPr>
        <p:spPr>
          <a:xfrm>
            <a:off x="501901" y="6251050"/>
            <a:ext cx="11125323" cy="0"/>
          </a:xfrm>
          <a:prstGeom prst="line">
            <a:avLst/>
          </a:prstGeom>
          <a:ln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904883" y="346646"/>
            <a:ext cx="10177131" cy="562074"/>
          </a:xfrm>
        </p:spPr>
        <p:txBody>
          <a:bodyPr>
            <a:noAutofit/>
          </a:bodyPr>
          <a:lstStyle>
            <a:lvl1pPr algn="l">
              <a:defRPr sz="3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ko-KR" altLang="en-US" dirty="0"/>
              <a:t>텍스트 스타일을 편집합니다</a:t>
            </a:r>
          </a:p>
        </p:txBody>
      </p:sp>
      <p:sp>
        <p:nvSpPr>
          <p:cNvPr id="31" name="타원 30"/>
          <p:cNvSpPr/>
          <p:nvPr userDrawn="1"/>
        </p:nvSpPr>
        <p:spPr>
          <a:xfrm>
            <a:off x="368312" y="69338"/>
            <a:ext cx="192021" cy="144016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C0EC649-97C1-B342-C2A3-884307B7EA72}"/>
              </a:ext>
            </a:extLst>
          </p:cNvPr>
          <p:cNvSpPr/>
          <p:nvPr userDrawn="1"/>
        </p:nvSpPr>
        <p:spPr>
          <a:xfrm>
            <a:off x="5686477" y="6350553"/>
            <a:ext cx="6096000" cy="2308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fld id="{46A5C3F9-5C7D-4EF5-8F53-66B38DB9C20D}" type="slidenum">
              <a:rPr lang="ko-KR" altLang="en-US" sz="900" b="1" smtClean="0">
                <a:solidFill>
                  <a:schemeClr val="accent6">
                    <a:lumMod val="50000"/>
                  </a:schemeClr>
                </a:solidFill>
              </a:rPr>
              <a:pPr algn="r"/>
              <a:t>‹#›</a:t>
            </a:fld>
            <a:endParaRPr lang="ko-KR" altLang="en-US" sz="675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7" name="모서리가 둥근 직사각형 16">
            <a:extLst>
              <a:ext uri="{FF2B5EF4-FFF2-40B4-BE49-F238E27FC236}">
                <a16:creationId xmlns:a16="http://schemas.microsoft.com/office/drawing/2014/main" id="{D9922996-39A1-D144-2529-4EE6920C524F}"/>
              </a:ext>
            </a:extLst>
          </p:cNvPr>
          <p:cNvSpPr/>
          <p:nvPr userDrawn="1"/>
        </p:nvSpPr>
        <p:spPr>
          <a:xfrm>
            <a:off x="10544174" y="83680"/>
            <a:ext cx="1024433" cy="218397"/>
          </a:xfrm>
          <a:prstGeom prst="roundRect">
            <a:avLst/>
          </a:prstGeom>
          <a:noFill/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FF4CCE-76D5-FB87-7563-41F1390CD823}"/>
              </a:ext>
            </a:extLst>
          </p:cNvPr>
          <p:cNvSpPr txBox="1"/>
          <p:nvPr userDrawn="1"/>
        </p:nvSpPr>
        <p:spPr>
          <a:xfrm>
            <a:off x="10582275" y="90475"/>
            <a:ext cx="986332" cy="196208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75" spc="0" dirty="0">
                <a:solidFill>
                  <a:schemeClr val="bg1"/>
                </a:solidFill>
                <a:latin typeface="+mn-ea"/>
                <a:ea typeface="+mn-ea"/>
              </a:rPr>
              <a:t>Welcome</a:t>
            </a:r>
            <a:r>
              <a:rPr lang="en-US" altLang="ko-KR" sz="675" spc="0" baseline="0" dirty="0">
                <a:solidFill>
                  <a:schemeClr val="bg1"/>
                </a:solidFill>
                <a:latin typeface="+mn-ea"/>
                <a:ea typeface="+mn-ea"/>
              </a:rPr>
              <a:t> to Python</a:t>
            </a:r>
            <a:endParaRPr lang="ko-KR" altLang="en-US" sz="675" spc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04A0A25-03E6-68C0-D458-43887041AE2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6847" y="311945"/>
            <a:ext cx="970445" cy="5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546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3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D7590359-BB23-F0F2-D6AB-13043CD4CA6F}"/>
              </a:ext>
            </a:extLst>
          </p:cNvPr>
          <p:cNvSpPr/>
          <p:nvPr userDrawn="1"/>
        </p:nvSpPr>
        <p:spPr>
          <a:xfrm>
            <a:off x="0" y="-3359"/>
            <a:ext cx="12192000" cy="980728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AD178D0-9D0B-D7BF-4359-941B74EE8BC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2122" y="188413"/>
            <a:ext cx="963548" cy="763829"/>
          </a:xfrm>
          <a:prstGeom prst="rect">
            <a:avLst/>
          </a:prstGeom>
        </p:spPr>
      </p:pic>
      <p:sp>
        <p:nvSpPr>
          <p:cNvPr id="9" name="타원 8">
            <a:extLst>
              <a:ext uri="{FF2B5EF4-FFF2-40B4-BE49-F238E27FC236}">
                <a16:creationId xmlns:a16="http://schemas.microsoft.com/office/drawing/2014/main" id="{70B40FF4-AB01-1A8B-4ABD-88F6BAEAFD55}"/>
              </a:ext>
            </a:extLst>
          </p:cNvPr>
          <p:cNvSpPr/>
          <p:nvPr userDrawn="1"/>
        </p:nvSpPr>
        <p:spPr>
          <a:xfrm>
            <a:off x="368312" y="69338"/>
            <a:ext cx="192021" cy="144016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14" name="모서리가 둥근 직사각형 16">
            <a:extLst>
              <a:ext uri="{FF2B5EF4-FFF2-40B4-BE49-F238E27FC236}">
                <a16:creationId xmlns:a16="http://schemas.microsoft.com/office/drawing/2014/main" id="{FD3DA280-44CE-4EC9-F4DF-93D05602707F}"/>
              </a:ext>
            </a:extLst>
          </p:cNvPr>
          <p:cNvSpPr/>
          <p:nvPr userDrawn="1"/>
        </p:nvSpPr>
        <p:spPr>
          <a:xfrm>
            <a:off x="10544174" y="83680"/>
            <a:ext cx="1024433" cy="218397"/>
          </a:xfrm>
          <a:prstGeom prst="roundRect">
            <a:avLst/>
          </a:prstGeom>
          <a:noFill/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61D8060-B0F5-0224-2109-C51C1E77C3DE}"/>
              </a:ext>
            </a:extLst>
          </p:cNvPr>
          <p:cNvSpPr txBox="1"/>
          <p:nvPr userDrawn="1"/>
        </p:nvSpPr>
        <p:spPr>
          <a:xfrm>
            <a:off x="10582275" y="90475"/>
            <a:ext cx="1024433" cy="196208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75" spc="0" dirty="0">
                <a:solidFill>
                  <a:schemeClr val="bg1"/>
                </a:solidFill>
                <a:latin typeface="+mn-ea"/>
                <a:ea typeface="+mn-ea"/>
              </a:rPr>
              <a:t>Welcome</a:t>
            </a:r>
            <a:r>
              <a:rPr lang="en-US" altLang="ko-KR" sz="675" spc="0" baseline="0" dirty="0">
                <a:solidFill>
                  <a:schemeClr val="bg1"/>
                </a:solidFill>
                <a:latin typeface="+mn-ea"/>
                <a:ea typeface="+mn-ea"/>
              </a:rPr>
              <a:t> to Python</a:t>
            </a:r>
            <a:endParaRPr lang="ko-KR" altLang="en-US" sz="675" spc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F8E4CDDD-6B66-CD7E-416E-ACDEDDF42BD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6847" y="311945"/>
            <a:ext cx="970445" cy="576300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1007437" y="1124744"/>
            <a:ext cx="10177129" cy="576064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 b="1">
                <a:solidFill>
                  <a:srgbClr val="385723"/>
                </a:solidFill>
              </a:defRPr>
            </a:lvl1pPr>
          </a:lstStyle>
          <a:p>
            <a:pPr lvl="0"/>
            <a:r>
              <a:rPr lang="ko-KR" altLang="en-US" dirty="0"/>
              <a:t>텍스트 스타일을 편집합니다</a:t>
            </a:r>
          </a:p>
        </p:txBody>
      </p:sp>
      <p:cxnSp>
        <p:nvCxnSpPr>
          <p:cNvPr id="16" name="직선 연결선 15"/>
          <p:cNvCxnSpPr>
            <a:cxnSpLocks/>
          </p:cNvCxnSpPr>
          <p:nvPr userDrawn="1"/>
        </p:nvCxnSpPr>
        <p:spPr>
          <a:xfrm>
            <a:off x="501901" y="6251050"/>
            <a:ext cx="11125323" cy="0"/>
          </a:xfrm>
          <a:prstGeom prst="line">
            <a:avLst/>
          </a:prstGeom>
          <a:ln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905835" y="346646"/>
            <a:ext cx="10177131" cy="562074"/>
          </a:xfrm>
        </p:spPr>
        <p:txBody>
          <a:bodyPr>
            <a:noAutofit/>
          </a:bodyPr>
          <a:lstStyle>
            <a:lvl1pPr algn="l">
              <a:defRPr sz="3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ko-KR" altLang="en-US" dirty="0"/>
              <a:t>텍스트 스타일을 편집합니다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C0EC649-97C1-B342-C2A3-884307B7EA72}"/>
              </a:ext>
            </a:extLst>
          </p:cNvPr>
          <p:cNvSpPr/>
          <p:nvPr userDrawn="1"/>
        </p:nvSpPr>
        <p:spPr>
          <a:xfrm>
            <a:off x="5686477" y="6350553"/>
            <a:ext cx="6096000" cy="2308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fld id="{46A5C3F9-5C7D-4EF5-8F53-66B38DB9C20D}" type="slidenum">
              <a:rPr lang="ko-KR" altLang="en-US" sz="900" b="1" smtClean="0">
                <a:solidFill>
                  <a:schemeClr val="accent6">
                    <a:lumMod val="50000"/>
                  </a:schemeClr>
                </a:solidFill>
              </a:rPr>
              <a:pPr algn="r"/>
              <a:t>‹#›</a:t>
            </a:fld>
            <a:endParaRPr lang="ko-KR" altLang="en-US" sz="675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1" name="내용 개체 틀 2">
            <a:extLst>
              <a:ext uri="{FF2B5EF4-FFF2-40B4-BE49-F238E27FC236}">
                <a16:creationId xmlns:a16="http://schemas.microsoft.com/office/drawing/2014/main" id="{480B8AFC-1442-2A41-38E6-098E199D644B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067257" y="1700809"/>
            <a:ext cx="10014757" cy="4345428"/>
          </a:xfrm>
        </p:spPr>
        <p:txBody>
          <a:bodyPr>
            <a:noAutofit/>
          </a:bodyPr>
          <a:lstStyle>
            <a:lvl1pPr marL="179388" indent="-179388">
              <a:lnSpc>
                <a:spcPct val="120000"/>
              </a:lnSpc>
              <a:spcBef>
                <a:spcPts val="480"/>
              </a:spcBef>
              <a:buClr>
                <a:schemeClr val="accent6"/>
              </a:buClr>
              <a:buFont typeface="Arial" pitchFamily="34" charset="0"/>
              <a:buChar char="•"/>
              <a:defRPr sz="2000"/>
            </a:lvl1pPr>
            <a:lvl2pPr marL="360363" indent="-180975">
              <a:buClr>
                <a:schemeClr val="accent6">
                  <a:lumMod val="75000"/>
                </a:schemeClr>
              </a:buClr>
              <a:buFont typeface="맑은 고딕" panose="020B0503020000020004" pitchFamily="50" charset="-127"/>
              <a:buChar char="-"/>
              <a:defRPr sz="1800"/>
            </a:lvl2pPr>
          </a:lstStyle>
          <a:p>
            <a:pPr lvl="0"/>
            <a:r>
              <a:rPr lang="ko-KR" altLang="en-US" dirty="0"/>
              <a:t>텍스트 스타일을 편집합니다</a:t>
            </a:r>
            <a:endParaRPr lang="en-US" altLang="ko-KR" dirty="0"/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755837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3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70C0D07-8B9B-7F79-ECEE-08F3ED4D9A77}"/>
              </a:ext>
            </a:extLst>
          </p:cNvPr>
          <p:cNvSpPr/>
          <p:nvPr userDrawn="1"/>
        </p:nvSpPr>
        <p:spPr>
          <a:xfrm>
            <a:off x="0" y="-3359"/>
            <a:ext cx="12192000" cy="98072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F687766E-4112-1C71-1153-BDA3370907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2122" y="188413"/>
            <a:ext cx="963548" cy="763829"/>
          </a:xfrm>
          <a:prstGeom prst="rect">
            <a:avLst/>
          </a:prstGeom>
        </p:spPr>
      </p:pic>
      <p:sp>
        <p:nvSpPr>
          <p:cNvPr id="11" name="내용 개체 틀 2"/>
          <p:cNvSpPr>
            <a:spLocks noGrp="1"/>
          </p:cNvSpPr>
          <p:nvPr>
            <p:ph idx="14" hasCustomPrompt="1"/>
          </p:nvPr>
        </p:nvSpPr>
        <p:spPr>
          <a:xfrm>
            <a:off x="1067257" y="1128237"/>
            <a:ext cx="10014757" cy="4917999"/>
          </a:xfrm>
        </p:spPr>
        <p:txBody>
          <a:bodyPr>
            <a:noAutofit/>
          </a:bodyPr>
          <a:lstStyle>
            <a:lvl1pPr marL="179388" indent="-179388">
              <a:lnSpc>
                <a:spcPct val="120000"/>
              </a:lnSpc>
              <a:spcBef>
                <a:spcPts val="480"/>
              </a:spcBef>
              <a:buClr>
                <a:schemeClr val="accent6"/>
              </a:buClr>
              <a:buFont typeface="Arial" pitchFamily="34" charset="0"/>
              <a:buChar char="•"/>
              <a:defRPr sz="2000"/>
            </a:lvl1pPr>
            <a:lvl2pPr marL="360363" indent="-180975">
              <a:buClr>
                <a:schemeClr val="accent6">
                  <a:lumMod val="75000"/>
                </a:schemeClr>
              </a:buClr>
              <a:buFont typeface="맑은 고딕" panose="020B0503020000020004" pitchFamily="50" charset="-127"/>
              <a:buChar char="-"/>
              <a:defRPr sz="1800"/>
            </a:lvl2pPr>
          </a:lstStyle>
          <a:p>
            <a:pPr lvl="0"/>
            <a:r>
              <a:rPr lang="ko-KR" altLang="en-US" dirty="0"/>
              <a:t>텍스트 스타일을 편집합니다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cxnSp>
        <p:nvCxnSpPr>
          <p:cNvPr id="16" name="직선 연결선 15"/>
          <p:cNvCxnSpPr>
            <a:cxnSpLocks/>
          </p:cNvCxnSpPr>
          <p:nvPr userDrawn="1"/>
        </p:nvCxnSpPr>
        <p:spPr>
          <a:xfrm>
            <a:off x="501901" y="6251050"/>
            <a:ext cx="11125323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904883" y="346646"/>
            <a:ext cx="10177131" cy="562074"/>
          </a:xfrm>
        </p:spPr>
        <p:txBody>
          <a:bodyPr>
            <a:noAutofit/>
          </a:bodyPr>
          <a:lstStyle>
            <a:lvl1pPr algn="l">
              <a:defRPr sz="34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ko-KR" altLang="en-US" dirty="0"/>
              <a:t>텍스트 스타일을 편집합니다</a:t>
            </a:r>
          </a:p>
        </p:txBody>
      </p:sp>
      <p:sp>
        <p:nvSpPr>
          <p:cNvPr id="31" name="타원 30"/>
          <p:cNvSpPr/>
          <p:nvPr userDrawn="1"/>
        </p:nvSpPr>
        <p:spPr>
          <a:xfrm>
            <a:off x="368312" y="69338"/>
            <a:ext cx="192021" cy="144016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17" name="모서리가 둥근 직사각형 16"/>
          <p:cNvSpPr/>
          <p:nvPr userDrawn="1"/>
        </p:nvSpPr>
        <p:spPr>
          <a:xfrm>
            <a:off x="10544174" y="83680"/>
            <a:ext cx="1024433" cy="218397"/>
          </a:xfrm>
          <a:prstGeom prst="roundRect">
            <a:avLst/>
          </a:prstGeom>
          <a:noFill/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19" name="TextBox 18"/>
          <p:cNvSpPr txBox="1"/>
          <p:nvPr userDrawn="1"/>
        </p:nvSpPr>
        <p:spPr>
          <a:xfrm>
            <a:off x="10582275" y="90475"/>
            <a:ext cx="1038454" cy="196208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75" spc="0" dirty="0">
                <a:solidFill>
                  <a:schemeClr val="tx1"/>
                </a:solidFill>
                <a:latin typeface="+mn-ea"/>
                <a:ea typeface="+mn-ea"/>
              </a:rPr>
              <a:t>Welcome</a:t>
            </a:r>
            <a:r>
              <a:rPr lang="en-US" altLang="ko-KR" sz="675" spc="0" baseline="0" dirty="0">
                <a:solidFill>
                  <a:schemeClr val="tx1"/>
                </a:solidFill>
                <a:latin typeface="+mn-ea"/>
                <a:ea typeface="+mn-ea"/>
              </a:rPr>
              <a:t> to Python</a:t>
            </a:r>
            <a:endParaRPr lang="ko-KR" altLang="en-US" sz="675" spc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C0EC649-97C1-B342-C2A3-884307B7EA72}"/>
              </a:ext>
            </a:extLst>
          </p:cNvPr>
          <p:cNvSpPr/>
          <p:nvPr userDrawn="1"/>
        </p:nvSpPr>
        <p:spPr>
          <a:xfrm>
            <a:off x="5686477" y="6350553"/>
            <a:ext cx="6096000" cy="2308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fld id="{46A5C3F9-5C7D-4EF5-8F53-66B38DB9C20D}" type="slidenum">
              <a:rPr lang="ko-KR" altLang="en-US" sz="900" b="1" smtClean="0">
                <a:solidFill>
                  <a:schemeClr val="accent6">
                    <a:lumMod val="50000"/>
                  </a:schemeClr>
                </a:solidFill>
              </a:rPr>
              <a:pPr algn="r"/>
              <a:t>‹#›</a:t>
            </a:fld>
            <a:endParaRPr lang="ko-KR" altLang="en-US" sz="675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70B5FAD-91D9-5136-8EC2-B73791B61B2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6847" y="311945"/>
            <a:ext cx="970445" cy="5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8267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3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9E555-41BD-4F42-BACD-260A3D2E8810}" type="datetimeFigureOut">
              <a:rPr lang="ko-KR" altLang="en-US" smtClean="0"/>
              <a:t>2024-10-21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3DECF-8BA1-4923-867C-64FAB5EDD4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5747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9E555-41BD-4F42-BACD-260A3D2E8810}" type="datetimeFigureOut">
              <a:rPr lang="ko-KR" altLang="en-US" smtClean="0"/>
              <a:t>2024-10-21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3DECF-8BA1-4923-867C-64FAB5EDD4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8094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9E555-41BD-4F42-BACD-260A3D2E8810}" type="datetimeFigureOut">
              <a:rPr lang="ko-KR" altLang="en-US" smtClean="0"/>
              <a:t>2024-10-21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3DECF-8BA1-4923-867C-64FAB5EDD4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6477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9E555-41BD-4F42-BACD-260A3D2E8810}" type="datetimeFigureOut">
              <a:rPr lang="ko-KR" altLang="en-US" smtClean="0"/>
              <a:t>2024-10-21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3DECF-8BA1-4923-867C-64FAB5EDD4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5389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9E555-41BD-4F42-BACD-260A3D2E8810}" type="datetimeFigureOut">
              <a:rPr lang="ko-KR" altLang="en-US" smtClean="0"/>
              <a:t>2024-10-21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3DECF-8BA1-4923-867C-64FAB5EDD4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8032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9E555-41BD-4F42-BACD-260A3D2E8810}" type="datetimeFigureOut">
              <a:rPr lang="ko-KR" altLang="en-US" smtClean="0"/>
              <a:t>2024-10-21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3DECF-8BA1-4923-867C-64FAB5EDD4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7257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19E555-41BD-4F42-BACD-260A3D2E8810}" type="datetimeFigureOut">
              <a:rPr lang="ko-KR" altLang="en-US" smtClean="0"/>
              <a:t>2024-10-21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A3DECF-8BA1-4923-867C-64FAB5EDD4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4874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62" r:id="rId4"/>
    <p:sldLayoutId id="2147483663" r:id="rId5"/>
    <p:sldLayoutId id="2147483650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6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0.pn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 txBox="1">
            <a:spLocks/>
          </p:cNvSpPr>
          <p:nvPr/>
        </p:nvSpPr>
        <p:spPr>
          <a:xfrm>
            <a:off x="6284285" y="3147963"/>
            <a:ext cx="5488615" cy="56207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altLang="ko-KR" sz="3600" b="1" dirty="0">
                <a:solidFill>
                  <a:schemeClr val="accent6">
                    <a:lumMod val="50000"/>
                  </a:schemeClr>
                </a:solidFill>
              </a:rPr>
              <a:t>6</a:t>
            </a:r>
            <a:r>
              <a:rPr lang="ko-KR" altLang="en-US" sz="3600" b="1" dirty="0" smtClean="0">
                <a:solidFill>
                  <a:schemeClr val="accent6">
                    <a:lumMod val="50000"/>
                  </a:schemeClr>
                </a:solidFill>
              </a:rPr>
              <a:t>장</a:t>
            </a:r>
            <a:r>
              <a:rPr lang="ko-KR" altLang="en-US" sz="3600" b="1" dirty="0" smtClean="0"/>
              <a:t> 리스트</a:t>
            </a:r>
            <a:endParaRPr lang="en-US" altLang="ko-KR" sz="3600" b="1" dirty="0"/>
          </a:p>
        </p:txBody>
      </p:sp>
    </p:spTree>
    <p:extLst>
      <p:ext uri="{BB962C8B-B14F-4D97-AF65-F5344CB8AC3E}">
        <p14:creationId xmlns:p14="http://schemas.microsoft.com/office/powerpoint/2010/main" val="2926093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/>
          <p:cNvGrpSpPr/>
          <p:nvPr/>
        </p:nvGrpSpPr>
        <p:grpSpPr>
          <a:xfrm>
            <a:off x="574342" y="517586"/>
            <a:ext cx="11054621" cy="5777447"/>
            <a:chOff x="1043098" y="4462353"/>
            <a:chExt cx="6985286" cy="1832681"/>
          </a:xfrm>
        </p:grpSpPr>
        <p:sp>
          <p:nvSpPr>
            <p:cNvPr id="13" name="모서리가 둥근 직사각형 2"/>
            <p:cNvSpPr/>
            <p:nvPr/>
          </p:nvSpPr>
          <p:spPr>
            <a:xfrm>
              <a:off x="1043098" y="4462353"/>
              <a:ext cx="1081140" cy="183886"/>
            </a:xfrm>
            <a:custGeom>
              <a:avLst/>
              <a:gdLst>
                <a:gd name="connsiteX0" fmla="*/ 0 w 1080120"/>
                <a:gd name="connsiteY0" fmla="*/ 60008 h 360040"/>
                <a:gd name="connsiteX1" fmla="*/ 60008 w 1080120"/>
                <a:gd name="connsiteY1" fmla="*/ 0 h 360040"/>
                <a:gd name="connsiteX2" fmla="*/ 1020112 w 1080120"/>
                <a:gd name="connsiteY2" fmla="*/ 0 h 360040"/>
                <a:gd name="connsiteX3" fmla="*/ 1080120 w 1080120"/>
                <a:gd name="connsiteY3" fmla="*/ 60008 h 360040"/>
                <a:gd name="connsiteX4" fmla="*/ 1080120 w 1080120"/>
                <a:gd name="connsiteY4" fmla="*/ 300032 h 360040"/>
                <a:gd name="connsiteX5" fmla="*/ 1020112 w 1080120"/>
                <a:gd name="connsiteY5" fmla="*/ 360040 h 360040"/>
                <a:gd name="connsiteX6" fmla="*/ 60008 w 1080120"/>
                <a:gd name="connsiteY6" fmla="*/ 360040 h 360040"/>
                <a:gd name="connsiteX7" fmla="*/ 0 w 1080120"/>
                <a:gd name="connsiteY7" fmla="*/ 300032 h 360040"/>
                <a:gd name="connsiteX8" fmla="*/ 0 w 1080120"/>
                <a:gd name="connsiteY8" fmla="*/ 60008 h 360040"/>
                <a:gd name="connsiteX0" fmla="*/ 0 w 1080630"/>
                <a:gd name="connsiteY0" fmla="*/ 60008 h 360040"/>
                <a:gd name="connsiteX1" fmla="*/ 60008 w 1080630"/>
                <a:gd name="connsiteY1" fmla="*/ 0 h 360040"/>
                <a:gd name="connsiteX2" fmla="*/ 1020112 w 1080630"/>
                <a:gd name="connsiteY2" fmla="*/ 0 h 360040"/>
                <a:gd name="connsiteX3" fmla="*/ 1080120 w 1080630"/>
                <a:gd name="connsiteY3" fmla="*/ 60008 h 360040"/>
                <a:gd name="connsiteX4" fmla="*/ 1080120 w 1080630"/>
                <a:gd name="connsiteY4" fmla="*/ 300032 h 360040"/>
                <a:gd name="connsiteX5" fmla="*/ 1053449 w 1080630"/>
                <a:gd name="connsiteY5" fmla="*/ 360040 h 360040"/>
                <a:gd name="connsiteX6" fmla="*/ 60008 w 1080630"/>
                <a:gd name="connsiteY6" fmla="*/ 360040 h 360040"/>
                <a:gd name="connsiteX7" fmla="*/ 0 w 1080630"/>
                <a:gd name="connsiteY7" fmla="*/ 300032 h 360040"/>
                <a:gd name="connsiteX8" fmla="*/ 0 w 1080630"/>
                <a:gd name="connsiteY8" fmla="*/ 60008 h 360040"/>
                <a:gd name="connsiteX0" fmla="*/ 510 w 1081140"/>
                <a:gd name="connsiteY0" fmla="*/ 60008 h 362421"/>
                <a:gd name="connsiteX1" fmla="*/ 60518 w 1081140"/>
                <a:gd name="connsiteY1" fmla="*/ 0 h 362421"/>
                <a:gd name="connsiteX2" fmla="*/ 1020622 w 1081140"/>
                <a:gd name="connsiteY2" fmla="*/ 0 h 362421"/>
                <a:gd name="connsiteX3" fmla="*/ 1080630 w 1081140"/>
                <a:gd name="connsiteY3" fmla="*/ 60008 h 362421"/>
                <a:gd name="connsiteX4" fmla="*/ 1080630 w 1081140"/>
                <a:gd name="connsiteY4" fmla="*/ 300032 h 362421"/>
                <a:gd name="connsiteX5" fmla="*/ 1053959 w 1081140"/>
                <a:gd name="connsiteY5" fmla="*/ 360040 h 362421"/>
                <a:gd name="connsiteX6" fmla="*/ 27180 w 1081140"/>
                <a:gd name="connsiteY6" fmla="*/ 362421 h 362421"/>
                <a:gd name="connsiteX7" fmla="*/ 510 w 1081140"/>
                <a:gd name="connsiteY7" fmla="*/ 300032 h 362421"/>
                <a:gd name="connsiteX8" fmla="*/ 510 w 1081140"/>
                <a:gd name="connsiteY8" fmla="*/ 60008 h 36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1140" h="362421">
                  <a:moveTo>
                    <a:pt x="510" y="60008"/>
                  </a:moveTo>
                  <a:cubicBezTo>
                    <a:pt x="510" y="26866"/>
                    <a:pt x="27376" y="0"/>
                    <a:pt x="60518" y="0"/>
                  </a:cubicBezTo>
                  <a:lnTo>
                    <a:pt x="1020622" y="0"/>
                  </a:lnTo>
                  <a:cubicBezTo>
                    <a:pt x="1053764" y="0"/>
                    <a:pt x="1080630" y="26866"/>
                    <a:pt x="1080630" y="60008"/>
                  </a:cubicBezTo>
                  <a:lnTo>
                    <a:pt x="1080630" y="300032"/>
                  </a:lnTo>
                  <a:cubicBezTo>
                    <a:pt x="1080630" y="333174"/>
                    <a:pt x="1087101" y="360040"/>
                    <a:pt x="1053959" y="360040"/>
                  </a:cubicBezTo>
                  <a:lnTo>
                    <a:pt x="27180" y="362421"/>
                  </a:lnTo>
                  <a:cubicBezTo>
                    <a:pt x="-5962" y="362421"/>
                    <a:pt x="510" y="333174"/>
                    <a:pt x="510" y="300032"/>
                  </a:cubicBezTo>
                  <a:lnTo>
                    <a:pt x="510" y="60008"/>
                  </a:lnTo>
                  <a:close/>
                </a:path>
              </a:pathLst>
            </a:custGeom>
            <a:solidFill>
              <a:srgbClr val="598377">
                <a:alpha val="2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4" name="그룹 13"/>
            <p:cNvGrpSpPr/>
            <p:nvPr/>
          </p:nvGrpSpPr>
          <p:grpSpPr>
            <a:xfrm>
              <a:off x="1043608" y="4481073"/>
              <a:ext cx="6984776" cy="1813961"/>
              <a:chOff x="643260" y="2641203"/>
              <a:chExt cx="6984776" cy="1813961"/>
            </a:xfrm>
          </p:grpSpPr>
          <p:sp>
            <p:nvSpPr>
              <p:cNvPr id="15" name="직사각형 14"/>
              <p:cNvSpPr/>
              <p:nvPr/>
            </p:nvSpPr>
            <p:spPr>
              <a:xfrm>
                <a:off x="736015" y="2641203"/>
                <a:ext cx="894610" cy="1464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ko-KR" altLang="en-US" sz="2400" b="1">
                    <a:gradFill flip="none" rotWithShape="1">
                      <a:gsLst>
                        <a:gs pos="0">
                          <a:schemeClr val="tx2">
                            <a:lumMod val="75000"/>
                            <a:shade val="30000"/>
                            <a:satMod val="115000"/>
                          </a:schemeClr>
                        </a:gs>
                        <a:gs pos="50000">
                          <a:schemeClr val="tx2">
                            <a:lumMod val="75000"/>
                            <a:shade val="67500"/>
                            <a:satMod val="115000"/>
                          </a:schemeClr>
                        </a:gs>
                        <a:gs pos="100000">
                          <a:schemeClr val="tx2">
                            <a:lumMod val="75000"/>
                            <a:shade val="100000"/>
                            <a:satMod val="115000"/>
                          </a:schemeClr>
                        </a:gs>
                      </a:gsLst>
                      <a:lin ang="16200000" scaled="1"/>
                      <a:tileRect/>
                    </a:gra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학습목표</a:t>
                </a:r>
                <a:endParaRPr lang="en-US" altLang="ko-KR" sz="2400" b="1">
                  <a:gradFill flip="none" rotWithShape="1">
                    <a:gsLst>
                      <a:gs pos="0">
                        <a:schemeClr val="tx2">
                          <a:lumMod val="75000"/>
                          <a:shade val="30000"/>
                          <a:satMod val="115000"/>
                        </a:schemeClr>
                      </a:gs>
                      <a:gs pos="50000">
                        <a:schemeClr val="tx2">
                          <a:lumMod val="75000"/>
                          <a:shade val="67500"/>
                          <a:satMod val="115000"/>
                        </a:schemeClr>
                      </a:gs>
                      <a:gs pos="100000">
                        <a:schemeClr val="tx2">
                          <a:lumMod val="75000"/>
                          <a:shade val="100000"/>
                          <a:satMod val="115000"/>
                        </a:schemeClr>
                      </a:gs>
                    </a:gsLst>
                    <a:lin ang="16200000" scaled="1"/>
                    <a:tileRect/>
                  </a:gra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6" name="직사각형 32"/>
              <p:cNvSpPr/>
              <p:nvPr/>
            </p:nvSpPr>
            <p:spPr>
              <a:xfrm>
                <a:off x="643260" y="2806369"/>
                <a:ext cx="6984776" cy="1648795"/>
              </a:xfrm>
              <a:prstGeom prst="roundRect">
                <a:avLst>
                  <a:gd name="adj" fmla="val 2291"/>
                </a:avLst>
              </a:prstGeom>
              <a:solidFill>
                <a:schemeClr val="bg1">
                  <a:lumMod val="95000"/>
                  <a:alpha val="32941"/>
                </a:schemeClr>
              </a:solidFill>
              <a:ln w="38100">
                <a:solidFill>
                  <a:srgbClr val="E4E4E4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7" name="직사각형 23"/>
              <p:cNvSpPr>
                <a:spLocks noChangeArrowheads="1"/>
              </p:cNvSpPr>
              <p:nvPr/>
            </p:nvSpPr>
            <p:spPr bwMode="auto">
              <a:xfrm>
                <a:off x="859284" y="2856461"/>
                <a:ext cx="6696744" cy="9104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marL="342900" lvl="1" indent="-342900">
                  <a:spcBef>
                    <a:spcPts val="600"/>
                  </a:spcBef>
                  <a:spcAft>
                    <a:spcPts val="300"/>
                  </a:spcAft>
                  <a:buFont typeface="Arial" pitchFamily="34" charset="0"/>
                  <a:buChar char="•"/>
                  <a:defRPr/>
                </a:pPr>
                <a:r>
                  <a:rPr lang="ko-KR" altLang="en-US" sz="1600" dirty="0"/>
                  <a:t>리스트 </a:t>
                </a:r>
                <a:r>
                  <a:rPr lang="ko-KR" altLang="en-US" sz="1600" dirty="0" err="1"/>
                  <a:t>자료형의</a:t>
                </a:r>
                <a:r>
                  <a:rPr lang="ko-KR" altLang="en-US" sz="1600" dirty="0"/>
                  <a:t> 필요성과 개념에 대해서 이해한다</a:t>
                </a:r>
                <a:r>
                  <a:rPr lang="en-US" altLang="ko-KR" sz="1600" dirty="0"/>
                  <a:t>. </a:t>
                </a:r>
              </a:p>
              <a:p>
                <a:pPr marL="342900" lvl="1" indent="-342900">
                  <a:spcBef>
                    <a:spcPts val="600"/>
                  </a:spcBef>
                  <a:spcAft>
                    <a:spcPts val="300"/>
                  </a:spcAft>
                  <a:buFont typeface="Arial" pitchFamily="34" charset="0"/>
                  <a:buChar char="•"/>
                  <a:defRPr/>
                </a:pPr>
                <a:r>
                  <a:rPr lang="ko-KR" altLang="en-US" sz="1600" dirty="0"/>
                  <a:t>리스트의 인덱싱을 비롯한 기본적인 사용법에 대해 이해하고 활용할 수 있다</a:t>
                </a:r>
                <a:r>
                  <a:rPr lang="en-US" altLang="ko-KR" sz="1600" dirty="0"/>
                  <a:t>. </a:t>
                </a:r>
              </a:p>
              <a:p>
                <a:pPr marL="342900" lvl="1" indent="-342900">
                  <a:spcBef>
                    <a:spcPts val="600"/>
                  </a:spcBef>
                  <a:spcAft>
                    <a:spcPts val="300"/>
                  </a:spcAft>
                  <a:buFont typeface="Arial" pitchFamily="34" charset="0"/>
                  <a:buChar char="•"/>
                  <a:defRPr/>
                </a:pPr>
                <a:r>
                  <a:rPr lang="ko-KR" altLang="en-US" sz="1600" dirty="0"/>
                  <a:t>리스트의 연산에 대해 이해한다</a:t>
                </a:r>
                <a:r>
                  <a:rPr lang="en-US" altLang="ko-KR" sz="1600" dirty="0"/>
                  <a:t>. </a:t>
                </a:r>
              </a:p>
              <a:p>
                <a:pPr marL="342900" lvl="1" indent="-342900">
                  <a:spcBef>
                    <a:spcPts val="600"/>
                  </a:spcBef>
                  <a:spcAft>
                    <a:spcPts val="300"/>
                  </a:spcAft>
                  <a:buFont typeface="Arial" pitchFamily="34" charset="0"/>
                  <a:buChar char="•"/>
                  <a:defRPr/>
                </a:pPr>
                <a:r>
                  <a:rPr lang="ko-KR" altLang="en-US" sz="1600" dirty="0"/>
                  <a:t>리스트의 다양한 기능을 </a:t>
                </a:r>
                <a:r>
                  <a:rPr lang="ko-KR" altLang="en-US" sz="1600" dirty="0" err="1"/>
                  <a:t>내장함수를</a:t>
                </a:r>
                <a:r>
                  <a:rPr lang="ko-KR" altLang="en-US" sz="1600" dirty="0"/>
                  <a:t> 이용하여 활용할 수 있다</a:t>
                </a:r>
                <a:r>
                  <a:rPr lang="en-US" altLang="ko-KR" sz="1600" dirty="0"/>
                  <a:t>. </a:t>
                </a:r>
              </a:p>
              <a:p>
                <a:pPr marL="342900" lvl="1" indent="-342900">
                  <a:spcBef>
                    <a:spcPts val="600"/>
                  </a:spcBef>
                  <a:spcAft>
                    <a:spcPts val="300"/>
                  </a:spcAft>
                  <a:buFont typeface="Arial" pitchFamily="34" charset="0"/>
                  <a:buChar char="•"/>
                  <a:defRPr/>
                </a:pPr>
                <a:r>
                  <a:rPr lang="ko-KR" altLang="en-US" sz="1600" dirty="0"/>
                  <a:t>리스트에서 제공하는 여러 </a:t>
                </a:r>
                <a:r>
                  <a:rPr lang="ko-KR" altLang="en-US" sz="1600" dirty="0" err="1"/>
                  <a:t>메소드들을</a:t>
                </a:r>
                <a:r>
                  <a:rPr lang="ko-KR" altLang="en-US" sz="1600" dirty="0"/>
                  <a:t> 활용해 본다</a:t>
                </a:r>
                <a:r>
                  <a:rPr lang="en-US" altLang="ko-KR" sz="1600" dirty="0"/>
                  <a:t>. </a:t>
                </a:r>
              </a:p>
              <a:p>
                <a:pPr marL="342900" lvl="1" indent="-342900">
                  <a:spcBef>
                    <a:spcPts val="600"/>
                  </a:spcBef>
                  <a:spcAft>
                    <a:spcPts val="300"/>
                  </a:spcAft>
                  <a:buFont typeface="Arial" pitchFamily="34" charset="0"/>
                  <a:buChar char="•"/>
                  <a:defRPr/>
                </a:pPr>
                <a:r>
                  <a:rPr lang="ko-KR" altLang="en-US" sz="1600" dirty="0"/>
                  <a:t>리스트의 </a:t>
                </a:r>
                <a:r>
                  <a:rPr lang="ko-KR" altLang="en-US" sz="1600" dirty="0" err="1"/>
                  <a:t>슬라이싱을</a:t>
                </a:r>
                <a:r>
                  <a:rPr lang="ko-KR" altLang="en-US" sz="1600" dirty="0"/>
                  <a:t> 통해 필요한 데이터를 추출할 수 있다</a:t>
                </a:r>
                <a:r>
                  <a:rPr lang="en-US" altLang="ko-KR" sz="1600" dirty="0"/>
                  <a:t>. </a:t>
                </a:r>
              </a:p>
              <a:p>
                <a:pPr marL="342900" lvl="1" indent="-342900">
                  <a:spcBef>
                    <a:spcPts val="600"/>
                  </a:spcBef>
                  <a:spcAft>
                    <a:spcPts val="300"/>
                  </a:spcAft>
                  <a:buFont typeface="Arial" pitchFamily="34" charset="0"/>
                  <a:buChar char="•"/>
                  <a:defRPr/>
                </a:pPr>
                <a:r>
                  <a:rPr lang="ko-KR" altLang="en-US" sz="1600" dirty="0"/>
                  <a:t>다양한 </a:t>
                </a:r>
                <a:r>
                  <a:rPr lang="ko-KR" altLang="en-US" sz="1600" dirty="0" err="1"/>
                  <a:t>슬라이싱</a:t>
                </a:r>
                <a:r>
                  <a:rPr lang="ko-KR" altLang="en-US" sz="1600" dirty="0"/>
                  <a:t> 방법을 사용할 수 있다</a:t>
                </a:r>
                <a:r>
                  <a:rPr lang="en-US" altLang="ko-KR" sz="1600" dirty="0"/>
                  <a:t>. </a:t>
                </a:r>
              </a:p>
              <a:p>
                <a:pPr marL="342900" lvl="1" indent="-342900">
                  <a:spcBef>
                    <a:spcPts val="600"/>
                  </a:spcBef>
                  <a:spcAft>
                    <a:spcPts val="300"/>
                  </a:spcAft>
                  <a:buFont typeface="Arial" pitchFamily="34" charset="0"/>
                  <a:buChar char="•"/>
                  <a:defRPr/>
                </a:pPr>
                <a:r>
                  <a:rPr lang="ko-KR" altLang="en-US" sz="1600" dirty="0"/>
                  <a:t>리스트와 </a:t>
                </a:r>
                <a:r>
                  <a:rPr lang="ko-KR" altLang="en-US" sz="1600" dirty="0" err="1"/>
                  <a:t>튜플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문자열 등 다양한 </a:t>
                </a:r>
                <a:r>
                  <a:rPr lang="ko-KR" altLang="en-US" sz="1600" dirty="0" err="1"/>
                  <a:t>자료형에도</a:t>
                </a:r>
                <a:r>
                  <a:rPr lang="ko-KR" altLang="en-US" sz="1600" dirty="0"/>
                  <a:t> </a:t>
                </a:r>
                <a:r>
                  <a:rPr lang="ko-KR" altLang="en-US" sz="1600" dirty="0" err="1"/>
                  <a:t>슬라이싱을</a:t>
                </a:r>
                <a:r>
                  <a:rPr lang="ko-KR" altLang="en-US" sz="1600" dirty="0"/>
                  <a:t> 적용할 수 있다</a:t>
                </a:r>
                <a:r>
                  <a:rPr lang="en-US" altLang="ko-KR" sz="1600" dirty="0"/>
                  <a:t>.</a:t>
                </a:r>
                <a:endParaRPr lang="en-US" altLang="ko-KR" sz="1600" spc="-1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68523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257" y="2705235"/>
            <a:ext cx="7269028" cy="3174797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ko-KR" altLang="en-US" sz="2000" dirty="0"/>
              <a:t>리스트 변수는 여러 개의 값이나 변수를 한꺼번에 담을 수 있다</a:t>
            </a:r>
            <a:r>
              <a:rPr lang="en-US" altLang="ko-KR" sz="2000" dirty="0"/>
              <a:t>.</a:t>
            </a:r>
          </a:p>
          <a:p>
            <a:pPr>
              <a:lnSpc>
                <a:spcPct val="100000"/>
              </a:lnSpc>
            </a:pPr>
            <a:r>
              <a:rPr lang="ko-KR" altLang="en-US" sz="2000" dirty="0"/>
              <a:t>데이터가 </a:t>
            </a:r>
            <a:r>
              <a:rPr lang="en-US" altLang="ko-KR" sz="2000" dirty="0"/>
              <a:t>7</a:t>
            </a:r>
            <a:r>
              <a:rPr lang="ko-KR" altLang="en-US" sz="2000" dirty="0"/>
              <a:t>개 있기 때문에 </a:t>
            </a:r>
            <a:r>
              <a:rPr lang="en-US" altLang="ko-KR" sz="2000" dirty="0"/>
              <a:t>7</a:t>
            </a:r>
            <a:r>
              <a:rPr lang="ko-KR" altLang="en-US" sz="2000" dirty="0"/>
              <a:t>개의 개별적인 변수를 선언하여 이 변수에 값을 담아서 사용해야 할 것이다</a:t>
            </a:r>
            <a:r>
              <a:rPr lang="en-US" altLang="ko-KR" sz="2000" dirty="0"/>
              <a:t>. </a:t>
            </a:r>
            <a:r>
              <a:rPr lang="ko-KR" altLang="en-US" sz="2000" dirty="0">
                <a:solidFill>
                  <a:schemeClr val="accent5"/>
                </a:solidFill>
              </a:rPr>
              <a:t>개별 원소를 복사하고 조작하려면 번거롭다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ko-KR" dirty="0"/>
              <a:t>6.1 </a:t>
            </a:r>
            <a:r>
              <a:rPr lang="ko-KR" altLang="en-US" dirty="0"/>
              <a:t>리스트 </a:t>
            </a:r>
            <a:r>
              <a:rPr lang="ko-KR" altLang="en-US" dirty="0" err="1"/>
              <a:t>자료형의</a:t>
            </a:r>
            <a:r>
              <a:rPr lang="ko-KR" altLang="en-US" dirty="0"/>
              <a:t> 필요성</a:t>
            </a:r>
          </a:p>
        </p:txBody>
      </p:sp>
      <p:sp>
        <p:nvSpPr>
          <p:cNvPr id="5" name="폭발 1 4"/>
          <p:cNvSpPr/>
          <p:nvPr/>
        </p:nvSpPr>
        <p:spPr>
          <a:xfrm>
            <a:off x="6700397" y="3058107"/>
            <a:ext cx="4424346" cy="2821925"/>
          </a:xfrm>
          <a:prstGeom prst="irregularSeal1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번거로운 작업</a:t>
            </a:r>
            <a:r>
              <a:rPr lang="en-US" altLang="ko-KR" sz="1600" dirty="0"/>
              <a:t>:</a:t>
            </a:r>
          </a:p>
          <a:p>
            <a:pPr algn="ctr"/>
            <a:r>
              <a:rPr lang="ko-KR" altLang="en-US" sz="1600" dirty="0"/>
              <a:t>데이터가 </a:t>
            </a:r>
            <a:r>
              <a:rPr lang="en-US" altLang="ko-KR" sz="1600" dirty="0"/>
              <a:t>10,000</a:t>
            </a:r>
            <a:r>
              <a:rPr lang="ko-KR" altLang="en-US" sz="1600" dirty="0"/>
              <a:t>개라면</a:t>
            </a:r>
            <a:r>
              <a:rPr lang="en-US" altLang="ko-KR" sz="1600" dirty="0"/>
              <a:t>, 10,000</a:t>
            </a:r>
            <a:r>
              <a:rPr lang="ko-KR" altLang="en-US" sz="1600" dirty="0"/>
              <a:t>개의 변수가 필요하다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302292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개별적인 변수의 생성과 값의 할당으로 이루어진 메모리 구조</a:t>
            </a:r>
            <a:endParaRPr lang="en-US" altLang="ko-KR" dirty="0"/>
          </a:p>
          <a:p>
            <a:r>
              <a:rPr lang="ko-KR" altLang="en-US" dirty="0"/>
              <a:t>많은 변수 이름이 필요할 것이다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여러 곳의 메모리에 분산되어 저장되므로 연속적으로 읽을 수 없어 비효율적임</a:t>
            </a:r>
            <a:endParaRPr lang="en-US" altLang="ko-KR" dirty="0"/>
          </a:p>
          <a:p>
            <a:r>
              <a:rPr lang="ko-KR" altLang="en-US" dirty="0"/>
              <a:t>코딩이 복잡하고 에러의 가능성이 높아짐</a:t>
            </a:r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ko-KR" dirty="0"/>
              <a:t>6.1 </a:t>
            </a:r>
            <a:r>
              <a:rPr lang="ko-KR" altLang="en-US" dirty="0"/>
              <a:t>리스트 </a:t>
            </a:r>
            <a:r>
              <a:rPr lang="ko-KR" altLang="en-US" dirty="0" err="1"/>
              <a:t>자료형의</a:t>
            </a:r>
            <a:r>
              <a:rPr lang="ko-KR" altLang="en-US" dirty="0"/>
              <a:t> 필요성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5404F55F-D8A1-0EAD-C514-D50489C45B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3253" y="3464047"/>
            <a:ext cx="6430909" cy="2380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553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242" y="3823142"/>
            <a:ext cx="7568128" cy="2131867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리스트</a:t>
            </a:r>
            <a:r>
              <a:rPr lang="en-US" altLang="ko-KR" b="1" baseline="300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list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6.1 </a:t>
            </a:r>
            <a:r>
              <a:rPr lang="ko-KR" altLang="en-US" dirty="0"/>
              <a:t>리스트 자료형의 필요성</a:t>
            </a:r>
            <a:endParaRPr lang="ko-KR" altLang="en-US" b="1" baseline="300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A5A30A1-D048-4462-9A90-BEF7BDB2EAA0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개별적인 값을 하나의 변수에 담아서 처리</a:t>
            </a:r>
            <a:endParaRPr lang="en-US" altLang="ko-KR" dirty="0"/>
          </a:p>
          <a:p>
            <a:pPr lvl="1"/>
            <a:r>
              <a:rPr lang="ko-KR" altLang="en-US" dirty="0"/>
              <a:t>매번 변수의 이름을 작성하고 관리하는 것보다 편리하고 효율적</a:t>
            </a:r>
            <a:endParaRPr lang="en-US" altLang="ko-KR" dirty="0"/>
          </a:p>
          <a:p>
            <a:pPr lvl="1"/>
            <a:r>
              <a:rPr lang="ko-KR" altLang="en-US" dirty="0"/>
              <a:t>한꺼번에 복사하고 조작할 수 있다</a:t>
            </a:r>
            <a:r>
              <a:rPr lang="en-US" altLang="ko-KR" dirty="0"/>
              <a:t>.</a:t>
            </a:r>
            <a:endParaRPr lang="ko-KR" altLang="en-US" dirty="0"/>
          </a:p>
          <a:p>
            <a:r>
              <a:rPr lang="ko-KR" altLang="en-US" b="1" dirty="0"/>
              <a:t>항목</a:t>
            </a:r>
            <a:r>
              <a:rPr lang="en-US" altLang="ko-KR" b="1" baseline="30000" dirty="0">
                <a:solidFill>
                  <a:schemeClr val="accent5"/>
                </a:solidFill>
              </a:rPr>
              <a:t>item</a:t>
            </a:r>
            <a:r>
              <a:rPr lang="en-US" altLang="ko-KR" dirty="0"/>
              <a:t> </a:t>
            </a:r>
            <a:r>
              <a:rPr lang="ko-KR" altLang="en-US" dirty="0"/>
              <a:t>또는 </a:t>
            </a:r>
            <a:r>
              <a:rPr lang="ko-KR" altLang="en-US" b="1" dirty="0"/>
              <a:t>요소</a:t>
            </a:r>
            <a:r>
              <a:rPr lang="en-US" altLang="ko-KR" b="1" baseline="30000" dirty="0">
                <a:solidFill>
                  <a:schemeClr val="accent5"/>
                </a:solidFill>
              </a:rPr>
              <a:t>element</a:t>
            </a:r>
          </a:p>
          <a:p>
            <a:pPr lvl="1"/>
            <a:r>
              <a:rPr lang="ko-KR" altLang="en-US" dirty="0"/>
              <a:t>리스트를 이루는 원소로 쉼표로 구분된 자료 값</a:t>
            </a:r>
          </a:p>
          <a:p>
            <a:pPr lvl="1"/>
            <a:endParaRPr lang="en-US" altLang="ko-KR" b="1" dirty="0"/>
          </a:p>
          <a:p>
            <a:endParaRPr lang="ko-KR" altLang="en-US" dirty="0"/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25529" y="5686030"/>
            <a:ext cx="4649030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rgbClr val="FF0000"/>
                </a:solidFill>
              </a:rPr>
              <a:t>요소의 참조는 리스트 이름과 인덱스를 사용한다</a:t>
            </a:r>
            <a:endParaRPr lang="ko-KR" altLang="en-US" sz="1400" dirty="0"/>
          </a:p>
        </p:txBody>
      </p:sp>
      <p:cxnSp>
        <p:nvCxnSpPr>
          <p:cNvPr id="6" name="직선 화살표 연결선 5"/>
          <p:cNvCxnSpPr/>
          <p:nvPr/>
        </p:nvCxnSpPr>
        <p:spPr>
          <a:xfrm flipH="1" flipV="1">
            <a:off x="3101789" y="5650356"/>
            <a:ext cx="723741" cy="20495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3480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리스트</a:t>
            </a:r>
            <a:r>
              <a:rPr lang="en-US" altLang="ko-KR" b="1" baseline="300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list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6.1 </a:t>
            </a:r>
            <a:r>
              <a:rPr lang="ko-KR" altLang="en-US" dirty="0"/>
              <a:t>리스트 자료형의 필요성</a:t>
            </a:r>
            <a:endParaRPr lang="ko-KR" altLang="en-US" b="1" baseline="300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A5A30A1-D048-4462-9A90-BEF7BDB2EAA0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연속적인 </a:t>
            </a:r>
            <a:r>
              <a:rPr lang="ko-KR" altLang="en-US" dirty="0" err="1"/>
              <a:t>자료값들은</a:t>
            </a:r>
            <a:r>
              <a:rPr lang="ko-KR" altLang="en-US" dirty="0"/>
              <a:t> </a:t>
            </a:r>
            <a:r>
              <a:rPr lang="en-US" altLang="ko-KR" dirty="0" err="1"/>
              <a:t>score_list</a:t>
            </a:r>
            <a:r>
              <a:rPr lang="ko-KR" altLang="en-US" dirty="0"/>
              <a:t>라는 변수와 인덱스를 통해서 참조하는 것이 가능</a:t>
            </a:r>
          </a:p>
          <a:p>
            <a:r>
              <a:rPr lang="ko-KR" altLang="en-US" dirty="0"/>
              <a:t>리스트는 대괄호 </a:t>
            </a:r>
            <a:r>
              <a:rPr lang="en-US" altLang="ko-KR" dirty="0"/>
              <a:t>[ ] </a:t>
            </a:r>
            <a:r>
              <a:rPr lang="ko-KR" altLang="en-US" dirty="0"/>
              <a:t>내에 쉼표를 이용하여 값을 구분</a:t>
            </a:r>
          </a:p>
          <a:p>
            <a:r>
              <a:rPr lang="ko-KR" altLang="en-US" dirty="0"/>
              <a:t>‘세 번째 </a:t>
            </a:r>
            <a:r>
              <a:rPr lang="ko-KR" altLang="en-US" dirty="0" err="1"/>
              <a:t>변수’와</a:t>
            </a:r>
            <a:r>
              <a:rPr lang="ko-KR" altLang="en-US" dirty="0"/>
              <a:t> 같이 위치를 지정해서 원하는 값을 불러오는 것도 가능</a:t>
            </a:r>
          </a:p>
          <a:p>
            <a:endParaRPr lang="ko-KR" altLang="en-US" dirty="0"/>
          </a:p>
          <a:p>
            <a:endParaRPr lang="ko-KR" altLang="en-US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DA77E2DF-9133-233B-E53D-09342090DD54}"/>
              </a:ext>
            </a:extLst>
          </p:cNvPr>
          <p:cNvGrpSpPr/>
          <p:nvPr/>
        </p:nvGrpSpPr>
        <p:grpSpPr>
          <a:xfrm>
            <a:off x="1177189" y="3005852"/>
            <a:ext cx="8406081" cy="3097525"/>
            <a:chOff x="1150295" y="2676700"/>
            <a:chExt cx="10112906" cy="3726467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B28A84E3-48F4-84EB-E762-2EBBC1F654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15737" y="3540691"/>
              <a:ext cx="5809983" cy="2097796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B61673C-A1D9-A257-878D-63CB187CA4E2}"/>
                </a:ext>
              </a:extLst>
            </p:cNvPr>
            <p:cNvSpPr txBox="1"/>
            <p:nvPr/>
          </p:nvSpPr>
          <p:spPr>
            <a:xfrm>
              <a:off x="1150295" y="5995871"/>
              <a:ext cx="2304598" cy="407296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600" b="1"/>
                <a:t>항목</a:t>
              </a:r>
              <a:r>
                <a:rPr lang="en-US" altLang="ko-KR" sz="1600" b="1"/>
                <a:t>, </a:t>
              </a:r>
              <a:r>
                <a:rPr lang="ko-KR" altLang="en-US" sz="1600" b="1"/>
                <a:t>요소라고 함</a:t>
              </a:r>
              <a:endParaRPr lang="ko-KR" altLang="en-US" sz="1400">
                <a:solidFill>
                  <a:srgbClr val="FF0000"/>
                </a:solidFill>
              </a:endParaRPr>
            </a:p>
          </p:txBody>
        </p:sp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093925B0-44FA-9F13-47E3-71BD785F77F2}"/>
                </a:ext>
              </a:extLst>
            </p:cNvPr>
            <p:cNvCxnSpPr/>
            <p:nvPr/>
          </p:nvCxnSpPr>
          <p:spPr>
            <a:xfrm flipV="1">
              <a:off x="2820428" y="4775200"/>
              <a:ext cx="1531439" cy="121834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B029E1F-A9A1-EC03-2743-9D068F21503F}"/>
                </a:ext>
              </a:extLst>
            </p:cNvPr>
            <p:cNvSpPr txBox="1"/>
            <p:nvPr/>
          </p:nvSpPr>
          <p:spPr>
            <a:xfrm>
              <a:off x="8965879" y="2676700"/>
              <a:ext cx="2297322" cy="70351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 err="1"/>
                <a:t>항목값을</a:t>
              </a:r>
              <a:r>
                <a:rPr lang="ko-KR" altLang="en-US" sz="1600" b="1" dirty="0"/>
                <a:t> 참조하는</a:t>
              </a:r>
              <a:endParaRPr lang="en-US" altLang="ko-KR" sz="1600" b="1" dirty="0"/>
            </a:p>
            <a:p>
              <a:r>
                <a:rPr lang="ko-KR" altLang="en-US" sz="1600" b="1" dirty="0">
                  <a:solidFill>
                    <a:srgbClr val="FF0000"/>
                  </a:solidFill>
                </a:rPr>
                <a:t>인덱스</a:t>
              </a:r>
              <a:endParaRPr lang="ko-KR" altLang="en-US" sz="1400" dirty="0">
                <a:solidFill>
                  <a:srgbClr val="FF0000"/>
                </a:solidFill>
              </a:endParaRPr>
            </a:p>
          </p:txBody>
        </p:sp>
        <p:cxnSp>
          <p:nvCxnSpPr>
            <p:cNvPr id="12" name="직선 화살표 연결선 11">
              <a:extLst>
                <a:ext uri="{FF2B5EF4-FFF2-40B4-BE49-F238E27FC236}">
                  <a16:creationId xmlns:a16="http://schemas.microsoft.com/office/drawing/2014/main" id="{4C938B50-81A0-60C3-EA45-F2BB87061578}"/>
                </a:ext>
              </a:extLst>
            </p:cNvPr>
            <p:cNvCxnSpPr/>
            <p:nvPr/>
          </p:nvCxnSpPr>
          <p:spPr>
            <a:xfrm flipH="1">
              <a:off x="8060267" y="3395347"/>
              <a:ext cx="1287763" cy="360205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29450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리스트</a:t>
            </a:r>
            <a:r>
              <a:rPr lang="en-US" altLang="ko-KR" b="1" baseline="300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list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6.1 </a:t>
            </a:r>
            <a:r>
              <a:rPr lang="ko-KR" altLang="en-US" dirty="0"/>
              <a:t>리스트 자료형의 필요성</a:t>
            </a:r>
            <a:endParaRPr lang="ko-KR" altLang="en-US" b="1" baseline="300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A5A30A1-D048-4462-9A90-BEF7BDB2EAA0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 fontAlgn="base"/>
            <a:r>
              <a:rPr lang="en-US" altLang="ko-KR" dirty="0"/>
              <a:t>fruits</a:t>
            </a:r>
            <a:r>
              <a:rPr lang="ko-KR" altLang="en-US" dirty="0"/>
              <a:t> 리스트에 </a:t>
            </a:r>
            <a:r>
              <a:rPr lang="en-US" altLang="ko-KR" dirty="0"/>
              <a:t>'banana', 'apple', 'orange', 'kiwi'</a:t>
            </a:r>
            <a:r>
              <a:rPr lang="ko-KR" altLang="en-US" dirty="0"/>
              <a:t>의 </a:t>
            </a:r>
            <a:r>
              <a:rPr lang="en-US" altLang="ko-KR" dirty="0"/>
              <a:t>4</a:t>
            </a:r>
            <a:r>
              <a:rPr lang="ko-KR" altLang="en-US" dirty="0"/>
              <a:t>개 문자열 값을 한꺼번에 저장하고 출력</a:t>
            </a:r>
            <a:endParaRPr lang="en-US" altLang="ko-KR" dirty="0"/>
          </a:p>
          <a:p>
            <a:pPr fontAlgn="base"/>
            <a:r>
              <a:rPr lang="en-US" altLang="ko-KR" dirty="0" err="1"/>
              <a:t>mixed_list</a:t>
            </a:r>
            <a:r>
              <a:rPr lang="ko-KR" altLang="en-US" dirty="0"/>
              <a:t>에 </a:t>
            </a:r>
            <a:r>
              <a:rPr lang="en-US" altLang="ko-KR" dirty="0"/>
              <a:t>100, 200, 400</a:t>
            </a:r>
            <a:r>
              <a:rPr lang="ko-KR" altLang="en-US" dirty="0"/>
              <a:t>과 같은 정수 값과 ‘</a:t>
            </a:r>
            <a:r>
              <a:rPr lang="en-US" altLang="ko-KR" dirty="0"/>
              <a:t>apple'</a:t>
            </a:r>
            <a:r>
              <a:rPr lang="ko-KR" altLang="en-US" dirty="0"/>
              <a:t>이라는 문자열 값을 동시에 리스트에 저장하고 출력</a:t>
            </a:r>
          </a:p>
          <a:p>
            <a:endParaRPr lang="ko-KR" altLang="en-US" dirty="0"/>
          </a:p>
          <a:p>
            <a:endParaRPr lang="ko-KR" altLang="en-US" dirty="0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9D4E4DE0-5285-6E5F-0B07-5696EDC413B0}"/>
              </a:ext>
            </a:extLst>
          </p:cNvPr>
          <p:cNvGrpSpPr/>
          <p:nvPr/>
        </p:nvGrpSpPr>
        <p:grpSpPr>
          <a:xfrm>
            <a:off x="1267497" y="3429000"/>
            <a:ext cx="8197842" cy="2305412"/>
            <a:chOff x="926838" y="2666684"/>
            <a:chExt cx="10604962" cy="2982346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68E5CF0B-0C53-2695-9A20-8A8B36BABF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6838" y="2666684"/>
              <a:ext cx="9156499" cy="2982346"/>
            </a:xfrm>
            <a:prstGeom prst="rect">
              <a:avLst/>
            </a:prstGeom>
          </p:spPr>
        </p:pic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C2282502-9572-56E0-2824-C2731815E476}"/>
                </a:ext>
              </a:extLst>
            </p:cNvPr>
            <p:cNvGrpSpPr/>
            <p:nvPr/>
          </p:nvGrpSpPr>
          <p:grpSpPr>
            <a:xfrm>
              <a:off x="5439062" y="3749765"/>
              <a:ext cx="6092738" cy="803354"/>
              <a:chOff x="5439062" y="3749765"/>
              <a:chExt cx="6092738" cy="803354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D720968-A028-C5CE-CE97-BDFCE0E17550}"/>
                  </a:ext>
                </a:extLst>
              </p:cNvPr>
              <p:cNvSpPr txBox="1"/>
              <p:nvPr/>
            </p:nvSpPr>
            <p:spPr>
              <a:xfrm>
                <a:off x="6438402" y="3749765"/>
                <a:ext cx="5093398" cy="75648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600" b="1" dirty="0" err="1"/>
                  <a:t>파이썬의</a:t>
                </a:r>
                <a:r>
                  <a:rPr lang="ko-KR" altLang="en-US" sz="1600" b="1" dirty="0"/>
                  <a:t> 리스트는 정수</a:t>
                </a:r>
                <a:r>
                  <a:rPr lang="en-US" altLang="ko-KR" sz="1600" b="1" dirty="0"/>
                  <a:t>, </a:t>
                </a:r>
                <a:r>
                  <a:rPr lang="ko-KR" altLang="en-US" sz="1600" b="1" dirty="0"/>
                  <a:t>실수</a:t>
                </a:r>
                <a:r>
                  <a:rPr lang="en-US" altLang="ko-KR" sz="1600" b="1" dirty="0"/>
                  <a:t>, </a:t>
                </a:r>
                <a:r>
                  <a:rPr lang="ko-KR" altLang="en-US" sz="1600" b="1" dirty="0"/>
                  <a:t>문자열 등</a:t>
                </a:r>
                <a:endParaRPr lang="en-US" altLang="ko-KR" sz="1600" b="1" dirty="0"/>
              </a:p>
              <a:p>
                <a:r>
                  <a:rPr lang="ko-KR" altLang="en-US" sz="1600" b="1" dirty="0"/>
                  <a:t>서로 다른 자료형을 가질 수 있다</a:t>
                </a:r>
                <a:r>
                  <a:rPr lang="en-US" altLang="ko-KR" sz="1600" b="1" dirty="0"/>
                  <a:t>.</a:t>
                </a:r>
              </a:p>
            </p:txBody>
          </p:sp>
          <p:cxnSp>
            <p:nvCxnSpPr>
              <p:cNvPr id="14" name="직선 화살표 연결선 13">
                <a:extLst>
                  <a:ext uri="{FF2B5EF4-FFF2-40B4-BE49-F238E27FC236}">
                    <a16:creationId xmlns:a16="http://schemas.microsoft.com/office/drawing/2014/main" id="{612F350D-A67A-8458-9CC9-3DC804F7F580}"/>
                  </a:ext>
                </a:extLst>
              </p:cNvPr>
              <p:cNvCxnSpPr/>
              <p:nvPr/>
            </p:nvCxnSpPr>
            <p:spPr>
              <a:xfrm flipH="1">
                <a:off x="5439062" y="4090672"/>
                <a:ext cx="999340" cy="462447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6D6B80A9-DC39-CC9C-5BB7-579B6B2CBBB4}"/>
                </a:ext>
              </a:extLst>
            </p:cNvPr>
            <p:cNvSpPr/>
            <p:nvPr/>
          </p:nvSpPr>
          <p:spPr>
            <a:xfrm>
              <a:off x="3694522" y="4427969"/>
              <a:ext cx="1604292" cy="347231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422670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1953" y="2420333"/>
            <a:ext cx="7028330" cy="3612623"/>
          </a:xfrm>
          <a:prstGeom prst="rect">
            <a:avLst/>
          </a:prstGeom>
        </p:spPr>
      </p:pic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DDD359FF-D8FB-6EDE-BA0A-1A798AD4E3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range()</a:t>
            </a:r>
            <a:r>
              <a:rPr lang="ko-KR" altLang="en-US" dirty="0"/>
              <a:t>나 문자열을 이용하여 리스트 만들기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6.1 </a:t>
            </a:r>
            <a:r>
              <a:rPr lang="ko-KR" altLang="en-US" dirty="0"/>
              <a:t>리스트 자료형의 필요성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393A7FE3-7A76-59C0-55C9-DF920D9BCCC8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 fontAlgn="base">
              <a:lnSpc>
                <a:spcPct val="100000"/>
              </a:lnSpc>
            </a:pPr>
            <a:r>
              <a:rPr lang="en-US" altLang="ko-KR" sz="2000" dirty="0"/>
              <a:t>range(1, 10)</a:t>
            </a:r>
            <a:r>
              <a:rPr lang="ko-KR" altLang="en-US" sz="2000" dirty="0"/>
              <a:t>이라는 함수를 통해 </a:t>
            </a:r>
            <a:r>
              <a:rPr lang="en-US" altLang="ko-KR" sz="2000" dirty="0"/>
              <a:t>1</a:t>
            </a:r>
            <a:r>
              <a:rPr lang="ko-KR" altLang="en-US" sz="2000" dirty="0"/>
              <a:t>부터 </a:t>
            </a:r>
            <a:r>
              <a:rPr lang="en-US" altLang="ko-KR" sz="2000" dirty="0"/>
              <a:t>9</a:t>
            </a:r>
            <a:r>
              <a:rPr lang="ko-KR" altLang="en-US" sz="2000" dirty="0"/>
              <a:t>까지의 숫자의 </a:t>
            </a:r>
            <a:r>
              <a:rPr lang="ko-KR" altLang="en-US" sz="2000" b="1" dirty="0"/>
              <a:t>열</a:t>
            </a:r>
            <a:r>
              <a:rPr lang="en-US" altLang="ko-KR" sz="2000" b="1" baseline="30000" dirty="0">
                <a:solidFill>
                  <a:schemeClr val="accent5"/>
                </a:solidFill>
              </a:rPr>
              <a:t>sequence</a:t>
            </a:r>
            <a:r>
              <a:rPr lang="ko-KR" altLang="en-US" sz="2000" dirty="0"/>
              <a:t>을 얻은 후 이 열을 원소로 가지는 리스트를 </a:t>
            </a:r>
            <a:r>
              <a:rPr lang="en-US" altLang="ko-KR" sz="2000" dirty="0"/>
              <a:t>list() </a:t>
            </a:r>
            <a:r>
              <a:rPr lang="ko-KR" altLang="en-US" sz="2000" dirty="0"/>
              <a:t>함수를 통해 생성</a:t>
            </a:r>
          </a:p>
          <a:p>
            <a:pPr fontAlgn="base">
              <a:lnSpc>
                <a:spcPct val="100000"/>
              </a:lnSpc>
            </a:pPr>
            <a:endParaRPr lang="ko-KR" altLang="en-US" sz="2000" dirty="0"/>
          </a:p>
          <a:p>
            <a:pPr>
              <a:lnSpc>
                <a:spcPct val="100000"/>
              </a:lnSpc>
            </a:pPr>
            <a:endParaRPr lang="ko-KR" altLang="en-US" sz="2000" dirty="0"/>
          </a:p>
          <a:p>
            <a:pPr>
              <a:lnSpc>
                <a:spcPct val="100000"/>
              </a:lnSpc>
            </a:pPr>
            <a:endParaRPr lang="ko-KR" altLang="en-US" sz="2000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91521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DDD359FF-D8FB-6EDE-BA0A-1A798AD4E3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range()</a:t>
            </a:r>
            <a:r>
              <a:rPr lang="ko-KR" altLang="en-US" dirty="0"/>
              <a:t>나 문자열을 이용하여 리스트 만들기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6.1 </a:t>
            </a:r>
            <a:r>
              <a:rPr lang="ko-KR" altLang="en-US" dirty="0"/>
              <a:t>리스트 자료형의 필요성</a:t>
            </a:r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D04ACB84-282B-B4D3-BD79-E4B7A582B9EB}"/>
              </a:ext>
            </a:extLst>
          </p:cNvPr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2393989" y="1700808"/>
            <a:ext cx="5268051" cy="506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508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인덱스</a:t>
            </a:r>
            <a:r>
              <a:rPr lang="en-US" altLang="ko-KR" b="1" baseline="30000" dirty="0">
                <a:solidFill>
                  <a:schemeClr val="accent5"/>
                </a:solidFill>
              </a:rPr>
              <a:t>index</a:t>
            </a:r>
          </a:p>
          <a:p>
            <a:pPr lvl="1"/>
            <a:r>
              <a:rPr lang="ko-KR" altLang="en-US" dirty="0"/>
              <a:t>리스트의 항목 값을 가리키는 숫자</a:t>
            </a:r>
            <a:endParaRPr lang="en-US" altLang="ko-KR" dirty="0"/>
          </a:p>
          <a:p>
            <a:pPr lvl="1"/>
            <a:r>
              <a:rPr lang="en-US" altLang="ko-KR" dirty="0"/>
              <a:t>n</a:t>
            </a:r>
            <a:r>
              <a:rPr lang="ko-KR" altLang="en-US" dirty="0"/>
              <a:t>개의 항목을 가진 리스트의 인덱스는 </a:t>
            </a:r>
            <a:r>
              <a:rPr lang="en-US" altLang="ko-KR" dirty="0"/>
              <a:t>0</a:t>
            </a:r>
            <a:r>
              <a:rPr lang="ko-KR" altLang="en-US" dirty="0"/>
              <a:t>부터 </a:t>
            </a:r>
            <a:r>
              <a:rPr lang="en-US" altLang="ko-KR" dirty="0"/>
              <a:t>n-1</a:t>
            </a:r>
            <a:r>
              <a:rPr lang="ko-KR" altLang="en-US" dirty="0"/>
              <a:t>까지 증가</a:t>
            </a:r>
            <a:endParaRPr lang="en-US" altLang="ko-KR" dirty="0"/>
          </a:p>
          <a:p>
            <a:r>
              <a:rPr lang="ko-KR" altLang="en-US" dirty="0"/>
              <a:t>인덱싱</a:t>
            </a:r>
            <a:r>
              <a:rPr lang="en-US" altLang="ko-KR" b="1" baseline="30000" dirty="0">
                <a:solidFill>
                  <a:schemeClr val="accent5"/>
                </a:solidFill>
              </a:rPr>
              <a:t>indexing</a:t>
            </a:r>
          </a:p>
          <a:p>
            <a:pPr lvl="1"/>
            <a:r>
              <a:rPr lang="ko-KR" altLang="en-US" dirty="0"/>
              <a:t>항목의 인덱스를 이용하여 자료 값에 접근</a:t>
            </a:r>
          </a:p>
          <a:p>
            <a:pPr lvl="1"/>
            <a:endParaRPr lang="en-US" altLang="ko-KR" dirty="0"/>
          </a:p>
          <a:p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6.2 </a:t>
            </a:r>
            <a:r>
              <a:rPr lang="ko-KR" altLang="en-US" dirty="0"/>
              <a:t>리스트의 인덱스</a:t>
            </a:r>
          </a:p>
        </p:txBody>
      </p:sp>
    </p:spTree>
    <p:extLst>
      <p:ext uri="{BB962C8B-B14F-4D97-AF65-F5344CB8AC3E}">
        <p14:creationId xmlns:p14="http://schemas.microsoft.com/office/powerpoint/2010/main" val="963156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/>
          <a:srcRect r="33046"/>
          <a:stretch/>
        </p:blipFill>
        <p:spPr>
          <a:xfrm>
            <a:off x="1115155" y="2463729"/>
            <a:ext cx="5520266" cy="3014975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C9DF1B-62EF-6909-A6B2-334CA0827F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n_list</a:t>
            </a:r>
            <a:r>
              <a:rPr lang="en-US" altLang="ko-KR" dirty="0"/>
              <a:t> </a:t>
            </a:r>
            <a:r>
              <a:rPr lang="ko-KR" altLang="en-US" dirty="0"/>
              <a:t>리스트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6.2 </a:t>
            </a:r>
            <a:r>
              <a:rPr lang="ko-KR" altLang="en-US" dirty="0"/>
              <a:t>리스트의 인덱스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48D2E1B-2F9C-BA22-46FF-4848BC1AFD8B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리스트에서 항목 위치는 </a:t>
            </a:r>
            <a:r>
              <a:rPr lang="ko-KR" altLang="en-US" dirty="0">
                <a:solidFill>
                  <a:schemeClr val="accent5"/>
                </a:solidFill>
              </a:rPr>
              <a:t>제일 첫 항목의 인덱스가 </a:t>
            </a:r>
            <a:r>
              <a:rPr lang="en-US" altLang="ko-KR" dirty="0">
                <a:solidFill>
                  <a:schemeClr val="accent5"/>
                </a:solidFill>
              </a:rPr>
              <a:t>0</a:t>
            </a:r>
            <a:r>
              <a:rPr lang="ko-KR" altLang="en-US" dirty="0"/>
              <a:t>이 되며 마지막 항목은 </a:t>
            </a:r>
            <a:r>
              <a:rPr lang="en-US" altLang="ko-KR" dirty="0"/>
              <a:t>n-1</a:t>
            </a:r>
            <a:endParaRPr lang="ko-KR" altLang="en-US" dirty="0"/>
          </a:p>
          <a:p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/>
          <a:srcRect l="15175" r="15200" b="20565"/>
          <a:stretch/>
        </p:blipFill>
        <p:spPr>
          <a:xfrm>
            <a:off x="6737973" y="3150434"/>
            <a:ext cx="4751294" cy="1325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807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C9DF1B-62EF-6909-A6B2-334CA0827F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n_list</a:t>
            </a:r>
            <a:r>
              <a:rPr lang="en-US" altLang="ko-KR" dirty="0"/>
              <a:t> </a:t>
            </a:r>
            <a:r>
              <a:rPr lang="ko-KR" altLang="en-US" dirty="0"/>
              <a:t>리스트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6.2 </a:t>
            </a:r>
            <a:r>
              <a:rPr lang="ko-KR" altLang="en-US" dirty="0"/>
              <a:t>리스트의 인덱스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48D2E1B-2F9C-BA22-46FF-4848BC1AFD8B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인덱스 값에 최대 인덱스 값보다 더 큰 값을 넣으면 안 됨</a:t>
            </a:r>
            <a:endParaRPr lang="en-US" altLang="ko-KR" dirty="0"/>
          </a:p>
          <a:p>
            <a:r>
              <a:rPr lang="ko-KR" altLang="en-US" dirty="0"/>
              <a:t>존재하지 않는 값에 접근하면 </a:t>
            </a:r>
            <a:r>
              <a:rPr lang="en-US" altLang="ko-KR" dirty="0" err="1"/>
              <a:t>IndexError</a:t>
            </a:r>
            <a:r>
              <a:rPr lang="en-US" altLang="ko-KR" dirty="0"/>
              <a:t>: list index out of range </a:t>
            </a:r>
            <a:r>
              <a:rPr lang="ko-KR" altLang="en-US" dirty="0"/>
              <a:t>오류 발생</a:t>
            </a:r>
            <a:endParaRPr lang="en-US" altLang="ko-KR" dirty="0"/>
          </a:p>
          <a:p>
            <a:r>
              <a:rPr lang="ko-KR" altLang="en-US" dirty="0"/>
              <a:t>최대 인덱스는 </a:t>
            </a:r>
            <a:r>
              <a:rPr lang="en-US" altLang="ko-KR" dirty="0" err="1"/>
              <a:t>len</a:t>
            </a:r>
            <a:r>
              <a:rPr lang="en-US" altLang="ko-KR" dirty="0"/>
              <a:t>(</a:t>
            </a:r>
            <a:r>
              <a:rPr lang="en-US" altLang="ko-KR" dirty="0" err="1"/>
              <a:t>n_list</a:t>
            </a:r>
            <a:r>
              <a:rPr lang="en-US" altLang="ko-KR" dirty="0"/>
              <a:t>)-</a:t>
            </a:r>
            <a:r>
              <a:rPr lang="en-US" altLang="ko-KR" dirty="0" smtClean="0"/>
              <a:t>1 </a:t>
            </a:r>
            <a:r>
              <a:rPr lang="ko-KR" altLang="en-US" dirty="0" smtClean="0"/>
              <a:t>이다</a:t>
            </a:r>
            <a:endParaRPr lang="ko-KR" altLang="en-US" dirty="0"/>
          </a:p>
          <a:p>
            <a:endParaRPr lang="en-US" altLang="ko-KR" dirty="0"/>
          </a:p>
          <a:p>
            <a:endParaRPr lang="en-US" altLang="ko-KR" dirty="0"/>
          </a:p>
          <a:p>
            <a:pPr marL="179388" lvl="1" indent="0">
              <a:buNone/>
            </a:pPr>
            <a:endParaRPr lang="en-US" altLang="ko-KR" dirty="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E69E01A0-2581-35F9-14D9-20402E5BC42C}"/>
              </a:ext>
            </a:extLst>
          </p:cNvPr>
          <p:cNvGrpSpPr/>
          <p:nvPr/>
        </p:nvGrpSpPr>
        <p:grpSpPr>
          <a:xfrm>
            <a:off x="1303949" y="2992582"/>
            <a:ext cx="7036009" cy="3613170"/>
            <a:chOff x="1109985" y="2180762"/>
            <a:chExt cx="8189424" cy="4157569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1FE2D905-74D7-2A06-D827-7E2B96CBB01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09985" y="4841340"/>
              <a:ext cx="8189424" cy="1496991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CD64D4E-31E4-3B5D-1679-495FBEF2C8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9986" y="2180762"/>
              <a:ext cx="8048785" cy="26514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98535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rcRect r="29928"/>
          <a:stretch/>
        </p:blipFill>
        <p:spPr>
          <a:xfrm>
            <a:off x="1109986" y="3086837"/>
            <a:ext cx="6977724" cy="3581977"/>
          </a:xfrm>
          <a:prstGeom prst="rect">
            <a:avLst/>
          </a:prstGeom>
        </p:spPr>
      </p:pic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DB167D4-E3D8-C2A2-3BBB-D69A4922C5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음수 인덱스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6.2 </a:t>
            </a:r>
            <a:r>
              <a:rPr lang="ko-KR" altLang="en-US" dirty="0"/>
              <a:t>리스트의 인덱스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EFB70C9-021B-75BF-0F5D-DFC92BFA6501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sz="2000" dirty="0" err="1"/>
              <a:t>파이썬에서</a:t>
            </a:r>
            <a:r>
              <a:rPr lang="ko-KR" altLang="en-US" sz="2000" dirty="0"/>
              <a:t> 리스트의 </a:t>
            </a:r>
            <a:r>
              <a:rPr lang="ko-KR" altLang="en-US" sz="2000" dirty="0" smtClean="0"/>
              <a:t>큰 </a:t>
            </a:r>
            <a:r>
              <a:rPr lang="ko-KR" altLang="en-US" sz="2000" dirty="0"/>
              <a:t>특징</a:t>
            </a:r>
            <a:endParaRPr lang="en-US" altLang="ko-KR" dirty="0"/>
          </a:p>
          <a:p>
            <a:r>
              <a:rPr lang="ko-KR" altLang="en-US" sz="2000" dirty="0"/>
              <a:t>음수 인덱스를 사용할 수 있음</a:t>
            </a:r>
            <a:endParaRPr lang="en-US" altLang="ko-KR" sz="2000" dirty="0"/>
          </a:p>
          <a:p>
            <a:r>
              <a:rPr lang="en-US" altLang="ko-KR" sz="2000" dirty="0"/>
              <a:t>C</a:t>
            </a:r>
            <a:r>
              <a:rPr lang="ko-KR" altLang="en-US" sz="2000" dirty="0"/>
              <a:t>나 </a:t>
            </a:r>
            <a:r>
              <a:rPr lang="en-US" altLang="ko-KR" sz="2000" dirty="0"/>
              <a:t>Java</a:t>
            </a:r>
            <a:r>
              <a:rPr lang="ko-KR" altLang="en-US" sz="2000" dirty="0"/>
              <a:t>와 같은 프로그래밍 언어에서는 지원하지 않음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89142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DB167D4-E3D8-C2A2-3BBB-D69A4922C5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음수 인덱스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6.2 </a:t>
            </a:r>
            <a:r>
              <a:rPr lang="ko-KR" altLang="en-US" dirty="0"/>
              <a:t>리스트의 인덱스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EFB70C9-021B-75BF-0F5D-DFC92BFA6501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리스트의 제일 마지막 원소의 항목은 </a:t>
            </a:r>
            <a:r>
              <a:rPr lang="en-US" altLang="ko-KR" dirty="0"/>
              <a:t>[-1 + </a:t>
            </a:r>
            <a:r>
              <a:rPr lang="en-US" altLang="ko-KR" dirty="0" err="1"/>
              <a:t>len</a:t>
            </a:r>
            <a:r>
              <a:rPr lang="en-US" altLang="ko-KR" dirty="0"/>
              <a:t>(</a:t>
            </a:r>
            <a:r>
              <a:rPr lang="en-US" altLang="ko-KR" dirty="0" err="1"/>
              <a:t>n_list</a:t>
            </a:r>
            <a:r>
              <a:rPr lang="en-US" altLang="ko-KR" dirty="0"/>
              <a:t>)]</a:t>
            </a:r>
          </a:p>
          <a:p>
            <a:r>
              <a:rPr lang="ko-KR" altLang="en-US" dirty="0"/>
              <a:t>첫 항목은 </a:t>
            </a:r>
            <a:r>
              <a:rPr lang="en-US" altLang="ko-KR" dirty="0"/>
              <a:t>[-</a:t>
            </a:r>
            <a:r>
              <a:rPr lang="en-US" altLang="ko-KR" dirty="0" err="1"/>
              <a:t>len</a:t>
            </a:r>
            <a:r>
              <a:rPr lang="en-US" altLang="ko-KR" dirty="0"/>
              <a:t>(</a:t>
            </a:r>
            <a:r>
              <a:rPr lang="en-US" altLang="ko-KR" dirty="0" err="1"/>
              <a:t>n_list</a:t>
            </a:r>
            <a:r>
              <a:rPr lang="en-US" altLang="ko-KR" dirty="0"/>
              <a:t>) + </a:t>
            </a:r>
            <a:r>
              <a:rPr lang="en-US" altLang="ko-KR" dirty="0" err="1"/>
              <a:t>len</a:t>
            </a:r>
            <a:r>
              <a:rPr lang="en-US" altLang="ko-KR" dirty="0"/>
              <a:t>(</a:t>
            </a:r>
            <a:r>
              <a:rPr lang="en-US" altLang="ko-KR" dirty="0" err="1"/>
              <a:t>n_list</a:t>
            </a:r>
            <a:r>
              <a:rPr lang="en-US" altLang="ko-KR" dirty="0"/>
              <a:t>)]=[0]</a:t>
            </a:r>
          </a:p>
          <a:p>
            <a:r>
              <a:rPr lang="ko-KR" altLang="en-US" dirty="0"/>
              <a:t>제일 마지막 원소로부터 </a:t>
            </a:r>
            <a:r>
              <a:rPr lang="en-US" altLang="ko-KR" dirty="0"/>
              <a:t>-1, -2, -3</a:t>
            </a:r>
            <a:r>
              <a:rPr lang="ko-KR" altLang="en-US" dirty="0"/>
              <a:t>과 같이 </a:t>
            </a:r>
            <a:r>
              <a:rPr lang="en-US" altLang="ko-KR" dirty="0"/>
              <a:t>-1</a:t>
            </a:r>
            <a:r>
              <a:rPr lang="ko-KR" altLang="en-US" dirty="0"/>
              <a:t>씩 감소하면서 인덱싱</a:t>
            </a:r>
          </a:p>
          <a:p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5058" y="3352323"/>
            <a:ext cx="6814826" cy="2246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420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DB167D4-E3D8-C2A2-3BBB-D69A4922C5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음수 인덱스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6.2 </a:t>
            </a:r>
            <a:r>
              <a:rPr lang="ko-KR" altLang="en-US" dirty="0"/>
              <a:t>리스트의 인덱스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E61B0433-D38D-772B-0022-AA849267868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18" t="1606" r="2170" b="29732"/>
          <a:stretch/>
        </p:blipFill>
        <p:spPr>
          <a:xfrm>
            <a:off x="2928245" y="1124743"/>
            <a:ext cx="8699799" cy="5102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620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DB167D4-E3D8-C2A2-3BBB-D69A4922C5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음수 인덱스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6.2 </a:t>
            </a:r>
            <a:r>
              <a:rPr lang="ko-KR" altLang="en-US" dirty="0"/>
              <a:t>리스트의 인덱스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4F169F4A-26F0-4CE8-CD97-AC4BE6D8D07C}"/>
              </a:ext>
            </a:extLst>
          </p:cNvPr>
          <p:cNvGrpSpPr/>
          <p:nvPr/>
        </p:nvGrpSpPr>
        <p:grpSpPr>
          <a:xfrm>
            <a:off x="2965358" y="1124744"/>
            <a:ext cx="8117607" cy="5181463"/>
            <a:chOff x="6483926" y="3518100"/>
            <a:chExt cx="5403273" cy="3203932"/>
          </a:xfrm>
        </p:grpSpPr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E61B0433-D38D-772B-0022-AA849267868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718" t="70549" r="2170"/>
            <a:stretch/>
          </p:blipFill>
          <p:spPr>
            <a:xfrm>
              <a:off x="6483927" y="3518100"/>
              <a:ext cx="5403272" cy="1392819"/>
            </a:xfrm>
            <a:prstGeom prst="rect">
              <a:avLst/>
            </a:pr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FB0B8F70-BE38-5D2B-A465-80CA1790B0A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788" r="1395"/>
            <a:stretch/>
          </p:blipFill>
          <p:spPr>
            <a:xfrm>
              <a:off x="6483926" y="4736220"/>
              <a:ext cx="5403273" cy="19858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87844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447" y="2445786"/>
            <a:ext cx="8886825" cy="3600450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/>
              <a:t>기존의 리스트에 원하는 항목을 추가 또는 삭제 가능</a:t>
            </a:r>
          </a:p>
          <a:p>
            <a:r>
              <a:rPr lang="en-US" altLang="ko-KR"/>
              <a:t>append() </a:t>
            </a:r>
            <a:r>
              <a:rPr lang="ko-KR" altLang="en-US" err="1"/>
              <a:t>메소드</a:t>
            </a:r>
            <a:endParaRPr lang="en-US" altLang="ko-KR"/>
          </a:p>
          <a:p>
            <a:pPr lvl="1"/>
            <a:r>
              <a:rPr lang="ko-KR" altLang="en-US"/>
              <a:t>이미 존재하는 리스트의 끝에 새로운 항목을 삽입하는 기능</a:t>
            </a:r>
          </a:p>
          <a:p>
            <a:pPr lvl="1"/>
            <a:endParaRPr lang="ko-KR" altLang="en-US"/>
          </a:p>
          <a:p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6.3 </a:t>
            </a:r>
            <a:r>
              <a:rPr lang="ko-KR" altLang="en-US" dirty="0"/>
              <a:t>리스트 항목의 추가와 삭제</a:t>
            </a:r>
          </a:p>
        </p:txBody>
      </p:sp>
    </p:spTree>
    <p:extLst>
      <p:ext uri="{BB962C8B-B14F-4D97-AF65-F5344CB8AC3E}">
        <p14:creationId xmlns:p14="http://schemas.microsoft.com/office/powerpoint/2010/main" val="1693792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리스트 내의</a:t>
            </a:r>
            <a:r>
              <a:rPr lang="ko-KR" altLang="en-US" sz="2400" dirty="0" smtClean="0"/>
              <a:t> </a:t>
            </a:r>
            <a:r>
              <a:rPr lang="ko-KR" altLang="en-US" sz="2400" dirty="0"/>
              <a:t>항목을 </a:t>
            </a:r>
            <a:r>
              <a:rPr lang="ko-KR" altLang="en-US" sz="2400" dirty="0" smtClean="0"/>
              <a:t>지우는 세 가지 </a:t>
            </a:r>
            <a:r>
              <a:rPr lang="ko-KR" altLang="en-US" sz="2400" dirty="0"/>
              <a:t>방법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6.3 </a:t>
            </a:r>
            <a:r>
              <a:rPr lang="ko-KR" altLang="en-US" dirty="0"/>
              <a:t>리스트 항목의 추가와 삭제</a:t>
            </a:r>
            <a:endParaRPr lang="ko-KR" altLang="en-US" sz="4800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52CF71E-DF55-6750-FB11-F876BAC4508E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 err="1"/>
              <a:t>파이썬의</a:t>
            </a:r>
            <a:r>
              <a:rPr lang="ko-KR" altLang="en-US" dirty="0"/>
              <a:t> 키워드 </a:t>
            </a:r>
            <a:r>
              <a:rPr lang="en-US" altLang="ko-KR" dirty="0"/>
              <a:t>del</a:t>
            </a:r>
            <a:r>
              <a:rPr lang="ko-KR" altLang="en-US" dirty="0"/>
              <a:t> 사용</a:t>
            </a:r>
            <a:r>
              <a:rPr lang="en-US" altLang="ko-KR" dirty="0" smtClean="0"/>
              <a:t>(del</a:t>
            </a:r>
            <a:r>
              <a:rPr lang="ko-KR" altLang="en-US" dirty="0" smtClean="0"/>
              <a:t>은 </a:t>
            </a:r>
            <a:r>
              <a:rPr lang="ko-KR" altLang="en-US" dirty="0" err="1" smtClean="0"/>
              <a:t>파이썬</a:t>
            </a:r>
            <a:r>
              <a:rPr lang="ko-KR" altLang="en-US" dirty="0" smtClean="0"/>
              <a:t> 명령어임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리스트 클래스에 있는 </a:t>
            </a:r>
            <a:r>
              <a:rPr lang="en-US" altLang="ko-KR" dirty="0"/>
              <a:t>remove() </a:t>
            </a:r>
            <a:r>
              <a:rPr lang="ko-KR" altLang="en-US" dirty="0"/>
              <a:t>라는 메소드 사용</a:t>
            </a:r>
            <a:endParaRPr lang="en-US" altLang="ko-KR" dirty="0"/>
          </a:p>
          <a:p>
            <a:r>
              <a:rPr lang="en-US" altLang="ko-KR" dirty="0"/>
              <a:t>pop() </a:t>
            </a:r>
            <a:r>
              <a:rPr lang="ko-KR" altLang="en-US" dirty="0"/>
              <a:t>메소드를 사용</a:t>
            </a:r>
            <a:endParaRPr lang="en-US" altLang="ko-KR" dirty="0"/>
          </a:p>
          <a:p>
            <a:pPr lvl="1"/>
            <a:r>
              <a:rPr lang="ko-KR" altLang="en-US" dirty="0"/>
              <a:t>리스트의 특정 위치에 있는 항목을 삭제함과 동시에 이 항목을 반환</a:t>
            </a:r>
          </a:p>
          <a:p>
            <a:pPr lvl="1"/>
            <a:endParaRPr lang="ko-KR" altLang="en-US" dirty="0"/>
          </a:p>
          <a:p>
            <a:endParaRPr lang="ko-KR" altLang="en-US" dirty="0"/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39894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077" y="2612443"/>
            <a:ext cx="5022112" cy="3433794"/>
          </a:xfrm>
          <a:prstGeom prst="rect">
            <a:avLst/>
          </a:prstGeom>
        </p:spPr>
      </p:pic>
      <p:sp>
        <p:nvSpPr>
          <p:cNvPr id="6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del </a:t>
            </a:r>
            <a:r>
              <a:rPr lang="ko-KR" altLang="en-US" dirty="0"/>
              <a:t>키워드로 삭제하는 방법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6.3 </a:t>
            </a:r>
            <a:r>
              <a:rPr lang="ko-KR" altLang="en-US" dirty="0"/>
              <a:t>리스트 항목의 추가와 삭제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44243F-23F3-EFF5-68D6-139AD39B8116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b="1" dirty="0"/>
              <a:t>지정된 인덱스</a:t>
            </a:r>
            <a:r>
              <a:rPr lang="ko-KR" altLang="en-US" dirty="0"/>
              <a:t>에 위치한 항목을 </a:t>
            </a:r>
            <a:r>
              <a:rPr lang="ko-KR" altLang="en-US" dirty="0" smtClean="0"/>
              <a:t>삭제함</a:t>
            </a:r>
            <a:r>
              <a:rPr lang="en-US" altLang="ko-KR" dirty="0" smtClean="0"/>
              <a:t>( ex: del </a:t>
            </a:r>
            <a:r>
              <a:rPr lang="en-US" altLang="ko-KR" dirty="0" err="1" smtClean="0"/>
              <a:t>n_list</a:t>
            </a:r>
            <a:r>
              <a:rPr lang="en-US" altLang="ko-KR" dirty="0" smtClean="0"/>
              <a:t>[3] )</a:t>
            </a:r>
            <a:endParaRPr lang="en-US" altLang="ko-KR" dirty="0"/>
          </a:p>
          <a:p>
            <a:r>
              <a:rPr lang="en-US" altLang="ko-KR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del 44</a:t>
            </a:r>
            <a:r>
              <a:rPr lang="ko-KR" altLang="en-US" dirty="0"/>
              <a:t>와 같은 방법으로 삭제할 수 없다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52784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remove </a:t>
            </a:r>
            <a:r>
              <a:rPr lang="ko-KR" altLang="en-US" dirty="0"/>
              <a:t>메소드로 삭제하는 방법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6.3 </a:t>
            </a:r>
            <a:r>
              <a:rPr lang="ko-KR" altLang="en-US" dirty="0"/>
              <a:t>리스트 항목의 추가와 삭제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44243F-23F3-EFF5-68D6-139AD39B8116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651812" y="1700809"/>
            <a:ext cx="4430202" cy="4345428"/>
          </a:xfrm>
        </p:spPr>
        <p:txBody>
          <a:bodyPr/>
          <a:lstStyle/>
          <a:p>
            <a:pPr fontAlgn="base"/>
            <a:r>
              <a:rPr lang="en-US" altLang="ko-KR" dirty="0"/>
              <a:t>list</a:t>
            </a:r>
            <a:r>
              <a:rPr lang="ko-KR" altLang="en-US" dirty="0"/>
              <a:t>가 가진 메소드로 </a:t>
            </a:r>
            <a:r>
              <a:rPr lang="ko-KR" altLang="en-US" b="1" dirty="0"/>
              <a:t>특정한 값</a:t>
            </a:r>
            <a:r>
              <a:rPr lang="ko-KR" altLang="en-US" dirty="0"/>
              <a:t>을 리스트의 항목에서 삭제</a:t>
            </a:r>
            <a:endParaRPr lang="en-US" altLang="ko-KR" dirty="0"/>
          </a:p>
          <a:p>
            <a:pPr fontAlgn="base"/>
            <a:r>
              <a:rPr lang="en-US" altLang="ko-KR" dirty="0"/>
              <a:t>.remove(44)</a:t>
            </a:r>
            <a:r>
              <a:rPr lang="ko-KR" altLang="en-US" dirty="0"/>
              <a:t>와 같은 방법을 사용할 수 있다</a:t>
            </a:r>
          </a:p>
          <a:p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CF13F8B-69A0-DCAE-9945-D28B434ABC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434" y="1700808"/>
            <a:ext cx="5541826" cy="388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800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remove </a:t>
            </a:r>
            <a:r>
              <a:rPr lang="ko-KR" altLang="en-US" dirty="0"/>
              <a:t>메소드로 삭제하는 방법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6.3 </a:t>
            </a:r>
            <a:r>
              <a:rPr lang="ko-KR" altLang="en-US" dirty="0"/>
              <a:t>리스트 항목의 추가와 삭제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D948FC5-EFCE-6990-9404-CE3BC2AF1C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434" y="4538845"/>
            <a:ext cx="6581775" cy="131270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8EC662C-5B8A-4BBD-0F3D-6BB76E5F6F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434" y="1700808"/>
            <a:ext cx="6581775" cy="2686050"/>
          </a:xfrm>
          <a:prstGeom prst="rect">
            <a:avLst/>
          </a:prstGeom>
        </p:spPr>
      </p:pic>
      <p:sp>
        <p:nvSpPr>
          <p:cNvPr id="10" name="폭발 1 12">
            <a:extLst>
              <a:ext uri="{FF2B5EF4-FFF2-40B4-BE49-F238E27FC236}">
                <a16:creationId xmlns:a16="http://schemas.microsoft.com/office/drawing/2014/main" id="{9EF7408B-8BEC-1409-2467-B9B776BD2F47}"/>
              </a:ext>
            </a:extLst>
          </p:cNvPr>
          <p:cNvSpPr/>
          <p:nvPr/>
        </p:nvSpPr>
        <p:spPr>
          <a:xfrm>
            <a:off x="7441781" y="3634343"/>
            <a:ext cx="4149584" cy="2182884"/>
          </a:xfrm>
          <a:prstGeom prst="irregularSeal1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존재하지 않는 항목을 </a:t>
            </a:r>
            <a:r>
              <a:rPr lang="en-US" altLang="ko-KR" sz="1600" dirty="0"/>
              <a:t>remove()</a:t>
            </a:r>
            <a:r>
              <a:rPr lang="ko-KR" altLang="en-US" sz="1600" dirty="0"/>
              <a:t>로 삭제하면 오류가 발생</a:t>
            </a:r>
          </a:p>
        </p:txBody>
      </p:sp>
    </p:spTree>
    <p:extLst>
      <p:ext uri="{BB962C8B-B14F-4D97-AF65-F5344CB8AC3E}">
        <p14:creationId xmlns:p14="http://schemas.microsoft.com/office/powerpoint/2010/main" val="1392853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멤버 연산자는 참</a:t>
            </a:r>
            <a:r>
              <a:rPr lang="en-US" altLang="ko-KR" dirty="0"/>
              <a:t>(True) </a:t>
            </a:r>
            <a:r>
              <a:rPr lang="ko-KR" altLang="en-US" dirty="0"/>
              <a:t>혹은 거짓</a:t>
            </a:r>
            <a:r>
              <a:rPr lang="en-US" altLang="ko-KR" dirty="0"/>
              <a:t>(False)</a:t>
            </a:r>
            <a:r>
              <a:rPr lang="ko-KR" altLang="en-US" dirty="0"/>
              <a:t>를 반환하는 연산자</a:t>
            </a:r>
            <a:endParaRPr lang="en-US" altLang="ko-KR" dirty="0"/>
          </a:p>
          <a:p>
            <a:r>
              <a:rPr lang="ko-KR" altLang="en-US" dirty="0"/>
              <a:t>특정 항목 값이 문자열</a:t>
            </a:r>
            <a:r>
              <a:rPr lang="en-US" altLang="ko-KR" dirty="0"/>
              <a:t>, </a:t>
            </a:r>
            <a:r>
              <a:rPr lang="ko-KR" altLang="en-US" dirty="0"/>
              <a:t>리스트</a:t>
            </a:r>
            <a:r>
              <a:rPr lang="en-US" altLang="ko-KR" dirty="0"/>
              <a:t>, </a:t>
            </a:r>
            <a:r>
              <a:rPr lang="ko-KR" altLang="en-US" dirty="0" err="1"/>
              <a:t>튜플과</a:t>
            </a:r>
            <a:r>
              <a:rPr lang="ko-KR" altLang="en-US" dirty="0"/>
              <a:t> 같은 </a:t>
            </a:r>
            <a:r>
              <a:rPr lang="ko-KR" altLang="en-US" b="1" dirty="0"/>
              <a:t>자료구조의 내부에 포함되어 있는가를 검사하는 용도로 사용됨</a:t>
            </a:r>
          </a:p>
          <a:p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6.4 </a:t>
            </a:r>
            <a:r>
              <a:rPr lang="ko-KR" altLang="en-US" dirty="0"/>
              <a:t>멤버 연산자</a:t>
            </a:r>
            <a:r>
              <a:rPr lang="en-US" altLang="ko-KR" dirty="0"/>
              <a:t>: in, not in</a:t>
            </a:r>
            <a:endParaRPr lang="ko-KR" altLang="en-US" dirty="0"/>
          </a:p>
        </p:txBody>
      </p:sp>
      <p:sp>
        <p:nvSpPr>
          <p:cNvPr id="4" name="폭발 1 3"/>
          <p:cNvSpPr/>
          <p:nvPr/>
        </p:nvSpPr>
        <p:spPr>
          <a:xfrm>
            <a:off x="4957484" y="2480078"/>
            <a:ext cx="5970492" cy="3097285"/>
          </a:xfrm>
          <a:prstGeom prst="irregularSeal1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존재하지 않는 항목을 </a:t>
            </a:r>
            <a:r>
              <a:rPr lang="en-US" altLang="ko-KR" sz="1600" dirty="0"/>
              <a:t>remove()</a:t>
            </a:r>
            <a:r>
              <a:rPr lang="ko-KR" altLang="en-US" sz="1600" dirty="0"/>
              <a:t>로 </a:t>
            </a:r>
            <a:r>
              <a:rPr lang="ko-KR" altLang="en-US" sz="1600" dirty="0" err="1"/>
              <a:t>삭제하려하면</a:t>
            </a:r>
            <a:r>
              <a:rPr lang="ko-KR" altLang="en-US" sz="1600" dirty="0"/>
              <a:t> </a:t>
            </a:r>
            <a:endParaRPr lang="en-US" altLang="ko-KR" sz="1600" dirty="0"/>
          </a:p>
          <a:p>
            <a:pPr algn="ctr"/>
            <a:r>
              <a:rPr lang="ko-KR" altLang="en-US" sz="1600" dirty="0"/>
              <a:t>오류가 발생함</a:t>
            </a:r>
            <a:endParaRPr lang="en-US" altLang="ko-KR" sz="1600" dirty="0"/>
          </a:p>
          <a:p>
            <a:pPr algn="ctr"/>
            <a:r>
              <a:rPr lang="en-US" altLang="ko-KR" sz="1600" dirty="0"/>
              <a:t>: </a:t>
            </a:r>
            <a:r>
              <a:rPr lang="ko-KR" altLang="en-US" sz="1600" dirty="0"/>
              <a:t>존재 여부를 미리 확인</a:t>
            </a:r>
          </a:p>
        </p:txBody>
      </p:sp>
    </p:spTree>
    <p:extLst>
      <p:ext uri="{BB962C8B-B14F-4D97-AF65-F5344CB8AC3E}">
        <p14:creationId xmlns:p14="http://schemas.microsoft.com/office/powerpoint/2010/main" val="2792802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6.4 </a:t>
            </a:r>
            <a:r>
              <a:rPr lang="ko-KR" altLang="en-US" dirty="0"/>
              <a:t>멤버 연산자</a:t>
            </a:r>
            <a:r>
              <a:rPr lang="en-US" altLang="ko-KR" dirty="0"/>
              <a:t>: in, not in</a:t>
            </a:r>
            <a:endParaRPr lang="ko-KR" alt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0565FE56-0195-26C6-9565-C4F400F17029}"/>
              </a:ext>
            </a:extLst>
          </p:cNvPr>
          <p:cNvGrpSpPr/>
          <p:nvPr/>
        </p:nvGrpSpPr>
        <p:grpSpPr>
          <a:xfrm>
            <a:off x="904883" y="2056580"/>
            <a:ext cx="8753302" cy="3925857"/>
            <a:chOff x="2419004" y="2385804"/>
            <a:chExt cx="8753302" cy="3925857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3FD86643-F397-05D8-9ECE-AC32796F35A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" r="630"/>
            <a:stretch/>
          </p:blipFill>
          <p:spPr>
            <a:xfrm>
              <a:off x="2419004" y="2385804"/>
              <a:ext cx="8753302" cy="2266950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7CBEA0F1-50C1-E746-EA01-DCD7D3DD505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460" t="6062" r="937"/>
            <a:stretch/>
          </p:blipFill>
          <p:spPr>
            <a:xfrm>
              <a:off x="2419004" y="4450561"/>
              <a:ext cx="8753302" cy="1861100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0553E019-6C50-D941-9BF0-CF8F18803DB1}"/>
              </a:ext>
            </a:extLst>
          </p:cNvPr>
          <p:cNvSpPr txBox="1"/>
          <p:nvPr/>
        </p:nvSpPr>
        <p:spPr>
          <a:xfrm>
            <a:off x="4405243" y="1096670"/>
            <a:ext cx="4799712" cy="5847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600"/>
              <a:t>in </a:t>
            </a:r>
            <a:r>
              <a:rPr lang="ko-KR" altLang="en-US" sz="1600"/>
              <a:t>연산으로 존재여부를 확인하고 </a:t>
            </a:r>
            <a:r>
              <a:rPr lang="en-US" altLang="ko-KR" sz="1600"/>
              <a:t>True</a:t>
            </a:r>
            <a:r>
              <a:rPr lang="ko-KR" altLang="en-US" sz="1600"/>
              <a:t>인 경우에만</a:t>
            </a:r>
            <a:endParaRPr lang="en-US" altLang="ko-KR" sz="1600"/>
          </a:p>
          <a:p>
            <a:r>
              <a:rPr lang="ko-KR" altLang="en-US" sz="1600"/>
              <a:t>삭제할 경우는 오류가 생기지 않음</a:t>
            </a:r>
            <a:endParaRPr lang="ko-KR" altLang="en-US" sz="1400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7544198A-0325-B555-580E-232ED0C6435C}"/>
              </a:ext>
            </a:extLst>
          </p:cNvPr>
          <p:cNvCxnSpPr>
            <a:stCxn id="10" idx="1"/>
          </p:cNvCxnSpPr>
          <p:nvPr/>
        </p:nvCxnSpPr>
        <p:spPr>
          <a:xfrm flipH="1">
            <a:off x="2735893" y="1389058"/>
            <a:ext cx="1669350" cy="17456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6185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986" y="1676890"/>
            <a:ext cx="7687969" cy="4369346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/>
              <a:t>in </a:t>
            </a:r>
            <a:r>
              <a:rPr lang="ko-KR" altLang="en-US"/>
              <a:t>연산자의 사용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E5F420D-2049-20E0-F205-1F46AE66A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6.4 </a:t>
            </a:r>
            <a:r>
              <a:rPr lang="ko-KR" altLang="en-US" dirty="0"/>
              <a:t>멤버 연산자</a:t>
            </a:r>
            <a:r>
              <a:rPr lang="en-US" altLang="ko-KR" dirty="0"/>
              <a:t>: in, not in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09611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/>
              <a:t>in </a:t>
            </a:r>
            <a:r>
              <a:rPr lang="ko-KR" altLang="en-US"/>
              <a:t>연산을 사용하여 오류 발생을 미리 방지</a:t>
            </a:r>
            <a:endParaRPr lang="en-US" altLang="ko-KR"/>
          </a:p>
          <a:p>
            <a:pPr lvl="1"/>
            <a:r>
              <a:rPr lang="ko-KR" altLang="en-US"/>
              <a:t>리스트 내부에 지우고자 하는 값이 있는 지 확인</a:t>
            </a:r>
            <a:endParaRPr lang="en-US" altLang="ko-KR"/>
          </a:p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34D165F-054F-103A-5EE3-A9172901C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6.4 </a:t>
            </a:r>
            <a:r>
              <a:rPr lang="ko-KR" altLang="en-US" dirty="0"/>
              <a:t>멤버 연산자</a:t>
            </a:r>
            <a:r>
              <a:rPr lang="en-US" altLang="ko-KR" dirty="0"/>
              <a:t>: in, not in</a:t>
            </a:r>
            <a:endParaRPr lang="ko-KR" alt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E96E848D-714E-E407-29BF-D430BE40331D}"/>
              </a:ext>
            </a:extLst>
          </p:cNvPr>
          <p:cNvGrpSpPr/>
          <p:nvPr/>
        </p:nvGrpSpPr>
        <p:grpSpPr>
          <a:xfrm>
            <a:off x="1199632" y="2052263"/>
            <a:ext cx="7346421" cy="4061666"/>
            <a:chOff x="804949" y="1287107"/>
            <a:chExt cx="7873539" cy="4353097"/>
          </a:xfrm>
        </p:grpSpPr>
        <p:grpSp>
          <p:nvGrpSpPr>
            <p:cNvPr id="7" name="그룹 6"/>
            <p:cNvGrpSpPr/>
            <p:nvPr/>
          </p:nvGrpSpPr>
          <p:grpSpPr>
            <a:xfrm>
              <a:off x="804950" y="1287107"/>
              <a:ext cx="7873538" cy="3281785"/>
              <a:chOff x="2848407" y="2409325"/>
              <a:chExt cx="8905875" cy="3798430"/>
            </a:xfrm>
          </p:grpSpPr>
          <p:pic>
            <p:nvPicPr>
              <p:cNvPr id="5" name="그림 4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48407" y="2409325"/>
                <a:ext cx="8801100" cy="3171825"/>
              </a:xfrm>
              <a:prstGeom prst="rect">
                <a:avLst/>
              </a:prstGeom>
            </p:spPr>
          </p:pic>
          <p:pic>
            <p:nvPicPr>
              <p:cNvPr id="6" name="그림 5"/>
              <p:cNvPicPr>
                <a:picLocks noChangeAspect="1"/>
              </p:cNvPicPr>
              <p:nvPr/>
            </p:nvPicPr>
            <p:blipFill rotWithShape="1">
              <a:blip r:embed="rId3"/>
              <a:srcRect t="9541"/>
              <a:stretch/>
            </p:blipFill>
            <p:spPr>
              <a:xfrm>
                <a:off x="2848407" y="5259972"/>
                <a:ext cx="8905875" cy="947783"/>
              </a:xfrm>
              <a:prstGeom prst="rect">
                <a:avLst/>
              </a:prstGeom>
            </p:spPr>
          </p:pic>
        </p:grpSp>
        <p:pic>
          <p:nvPicPr>
            <p:cNvPr id="8" name="그림 7"/>
            <p:cNvPicPr>
              <a:picLocks noChangeAspect="1"/>
            </p:cNvPicPr>
            <p:nvPr/>
          </p:nvPicPr>
          <p:blipFill rotWithShape="1">
            <a:blip r:embed="rId4"/>
            <a:srcRect r="6505"/>
            <a:stretch/>
          </p:blipFill>
          <p:spPr>
            <a:xfrm>
              <a:off x="804949" y="4574895"/>
              <a:ext cx="7765474" cy="106530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6302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4D165F-054F-103A-5EE3-A9172901C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6.4 </a:t>
            </a:r>
            <a:r>
              <a:rPr lang="ko-KR" altLang="en-US" dirty="0"/>
              <a:t>멤버 연산자</a:t>
            </a:r>
            <a:r>
              <a:rPr lang="en-US" altLang="ko-KR" dirty="0"/>
              <a:t>: in, not in</a:t>
            </a:r>
            <a:endParaRPr lang="ko-KR" altLang="en-US" dirty="0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2"/>
          <a:srcRect b="29207"/>
          <a:stretch/>
        </p:blipFill>
        <p:spPr>
          <a:xfrm>
            <a:off x="1453519" y="1153359"/>
            <a:ext cx="8712909" cy="4837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956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4D165F-054F-103A-5EE3-A9172901C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6.4 </a:t>
            </a:r>
            <a:r>
              <a:rPr lang="ko-KR" altLang="en-US" dirty="0"/>
              <a:t>멤버 연산자</a:t>
            </a:r>
            <a:r>
              <a:rPr lang="en-US" altLang="ko-KR" dirty="0"/>
              <a:t>: in, not in</a:t>
            </a:r>
            <a:endParaRPr lang="ko-KR" altLang="en-US" dirty="0"/>
          </a:p>
        </p:txBody>
      </p:sp>
      <p:grpSp>
        <p:nvGrpSpPr>
          <p:cNvPr id="11" name="그룹 10"/>
          <p:cNvGrpSpPr/>
          <p:nvPr/>
        </p:nvGrpSpPr>
        <p:grpSpPr>
          <a:xfrm>
            <a:off x="1485068" y="1200478"/>
            <a:ext cx="9267015" cy="5263384"/>
            <a:chOff x="4652356" y="3234557"/>
            <a:chExt cx="6428509" cy="3471042"/>
          </a:xfrm>
        </p:grpSpPr>
        <p:pic>
          <p:nvPicPr>
            <p:cNvPr id="12" name="그림 11"/>
            <p:cNvPicPr>
              <a:picLocks noChangeAspect="1"/>
            </p:cNvPicPr>
            <p:nvPr/>
          </p:nvPicPr>
          <p:blipFill rotWithShape="1">
            <a:blip r:embed="rId2"/>
            <a:srcRect t="70528"/>
            <a:stretch/>
          </p:blipFill>
          <p:spPr>
            <a:xfrm>
              <a:off x="4652356" y="3234557"/>
              <a:ext cx="6428509" cy="1561831"/>
            </a:xfrm>
            <a:prstGeom prst="rect">
              <a:avLst/>
            </a:prstGeom>
          </p:spPr>
        </p:pic>
        <p:pic>
          <p:nvPicPr>
            <p:cNvPr id="13" name="그림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52356" y="4166027"/>
              <a:ext cx="6428509" cy="253957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39639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 dirty="0"/>
              <a:t>min(), max(), sum()</a:t>
            </a:r>
            <a:r>
              <a:rPr lang="ko-KR" altLang="en-US" dirty="0"/>
              <a:t>과 같은 파이썬 </a:t>
            </a:r>
            <a:r>
              <a:rPr lang="ko-KR" altLang="en-US" dirty="0" err="1"/>
              <a:t>내장함수의</a:t>
            </a:r>
            <a:r>
              <a:rPr lang="ko-KR" altLang="en-US" dirty="0"/>
              <a:t> 인자로 리스트를 넘겨주면 각각 리스트 안의 최솟값</a:t>
            </a:r>
            <a:r>
              <a:rPr lang="en-US" altLang="ko-KR" dirty="0"/>
              <a:t>, </a:t>
            </a:r>
            <a:r>
              <a:rPr lang="ko-KR" altLang="en-US" dirty="0"/>
              <a:t>최댓값</a:t>
            </a:r>
            <a:r>
              <a:rPr lang="en-US" altLang="ko-KR" dirty="0"/>
              <a:t>, </a:t>
            </a:r>
            <a:r>
              <a:rPr lang="ko-KR" altLang="en-US" dirty="0"/>
              <a:t>합 연산 가능</a:t>
            </a:r>
            <a:endParaRPr lang="en-US" altLang="ko-KR" dirty="0"/>
          </a:p>
          <a:p>
            <a:r>
              <a:rPr lang="en-US" altLang="ko-KR" dirty="0" err="1"/>
              <a:t>len</a:t>
            </a:r>
            <a:r>
              <a:rPr lang="en-US" altLang="ko-KR" dirty="0"/>
              <a:t>() </a:t>
            </a:r>
            <a:r>
              <a:rPr lang="ko-KR" altLang="en-US" dirty="0"/>
              <a:t>함수는 리스트 내 항목의 개수를 반환</a:t>
            </a:r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6.5 </a:t>
            </a:r>
            <a:r>
              <a:rPr lang="ko-KR" altLang="en-US" dirty="0"/>
              <a:t>리스트에 적용되는 </a:t>
            </a:r>
            <a:r>
              <a:rPr lang="ko-KR" altLang="en-US" dirty="0" err="1"/>
              <a:t>내장함수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36533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4"/>
          </p:nvPr>
        </p:nvSpPr>
        <p:spPr>
          <a:xfrm>
            <a:off x="8157882" y="1128237"/>
            <a:ext cx="2924132" cy="4917999"/>
          </a:xfrm>
        </p:spPr>
        <p:txBody>
          <a:bodyPr/>
          <a:lstStyle/>
          <a:p>
            <a:pPr fontAlgn="base"/>
            <a:r>
              <a:rPr lang="en-US" altLang="ko-KR" dirty="0"/>
              <a:t>list1</a:t>
            </a:r>
            <a:r>
              <a:rPr lang="ko-KR" altLang="en-US" dirty="0"/>
              <a:t>은 </a:t>
            </a:r>
            <a:r>
              <a:rPr lang="en-US" altLang="ko-KR" dirty="0"/>
              <a:t>5</a:t>
            </a:r>
            <a:r>
              <a:rPr lang="ko-KR" altLang="en-US" dirty="0"/>
              <a:t>개의 항목을 가짐</a:t>
            </a:r>
          </a:p>
          <a:p>
            <a:pPr fontAlgn="base"/>
            <a:r>
              <a:rPr lang="en-US" altLang="ko-KR" dirty="0" err="1"/>
              <a:t>len</a:t>
            </a:r>
            <a:r>
              <a:rPr lang="en-US" altLang="ko-KR" dirty="0"/>
              <a:t>(list1)</a:t>
            </a:r>
            <a:r>
              <a:rPr lang="ko-KR" altLang="en-US" dirty="0"/>
              <a:t>은 리스트 내 항목 개수 반환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6.5 </a:t>
            </a:r>
            <a:r>
              <a:rPr lang="ko-KR" altLang="en-US" dirty="0"/>
              <a:t>리스트에 적용되는 </a:t>
            </a:r>
            <a:r>
              <a:rPr lang="ko-KR" altLang="en-US" dirty="0" err="1"/>
              <a:t>내장함수</a:t>
            </a:r>
            <a:endParaRPr lang="ko-KR" alt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747FFDB0-6ECC-9820-F334-47262B489DE2}"/>
              </a:ext>
            </a:extLst>
          </p:cNvPr>
          <p:cNvGrpSpPr/>
          <p:nvPr/>
        </p:nvGrpSpPr>
        <p:grpSpPr>
          <a:xfrm>
            <a:off x="1109986" y="1271820"/>
            <a:ext cx="6873394" cy="4350988"/>
            <a:chOff x="749378" y="1128384"/>
            <a:chExt cx="6873394" cy="4350988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5C30D80F-D729-B719-0CA6-25CC64F7A4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12950"/>
            <a:stretch/>
          </p:blipFill>
          <p:spPr>
            <a:xfrm>
              <a:off x="749378" y="1128384"/>
              <a:ext cx="6873394" cy="2893726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77DA7CB-D9D8-B5D7-D6A7-F63454C1BE39}"/>
                </a:ext>
              </a:extLst>
            </p:cNvPr>
            <p:cNvSpPr txBox="1"/>
            <p:nvPr/>
          </p:nvSpPr>
          <p:spPr>
            <a:xfrm>
              <a:off x="2881142" y="4648375"/>
              <a:ext cx="4674678" cy="83099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ko-KR" altLang="en-US" sz="1600" dirty="0" err="1"/>
                <a:t>파이썬은</a:t>
              </a:r>
              <a:r>
                <a:rPr lang="ko-KR" altLang="en-US" sz="1600" dirty="0"/>
                <a:t> 좋은 내장함수를 많이 가지고 있음</a:t>
              </a:r>
              <a:r>
                <a:rPr lang="en-US" altLang="ko-KR" sz="1600" dirty="0"/>
                <a:t>.</a:t>
              </a:r>
            </a:p>
            <a:p>
              <a:r>
                <a:rPr lang="en-US" altLang="ko-KR" sz="1600" dirty="0" smtClean="0"/>
                <a:t>Min(), max(), sum() </a:t>
              </a:r>
              <a:r>
                <a:rPr lang="ko-KR" altLang="en-US" sz="1600" dirty="0"/>
                <a:t>내장함수는 리스트를 인자로 </a:t>
              </a:r>
              <a:endParaRPr lang="en-US" altLang="ko-KR" sz="1600" dirty="0"/>
            </a:p>
            <a:p>
              <a:r>
                <a:rPr lang="ko-KR" altLang="en-US" sz="1600" dirty="0"/>
                <a:t>가질 수 있음</a:t>
              </a:r>
              <a:r>
                <a:rPr lang="en-US" altLang="ko-KR" sz="1600" dirty="0"/>
                <a:t>.</a:t>
              </a:r>
            </a:p>
          </p:txBody>
        </p:sp>
        <p:cxnSp>
          <p:nvCxnSpPr>
            <p:cNvPr id="7" name="직선 화살표 연결선 6">
              <a:extLst>
                <a:ext uri="{FF2B5EF4-FFF2-40B4-BE49-F238E27FC236}">
                  <a16:creationId xmlns:a16="http://schemas.microsoft.com/office/drawing/2014/main" id="{71F25F5C-A3FC-4C0D-909B-72D75605770D}"/>
                </a:ext>
              </a:extLst>
            </p:cNvPr>
            <p:cNvCxnSpPr>
              <a:stCxn id="6" idx="1"/>
            </p:cNvCxnSpPr>
            <p:nvPr/>
          </p:nvCxnSpPr>
          <p:spPr>
            <a:xfrm flipH="1" flipV="1">
              <a:off x="2105026" y="3648078"/>
              <a:ext cx="776116" cy="141579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20335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661" y="2413918"/>
            <a:ext cx="7919445" cy="2623620"/>
          </a:xfrm>
          <a:prstGeom prst="rect">
            <a:avLst/>
          </a:prstGeom>
        </p:spPr>
      </p:pic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E28B6BD-499C-C780-70C6-12F3E5110E16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 fontAlgn="base"/>
            <a:r>
              <a:rPr lang="ko-KR" altLang="en-US" dirty="0"/>
              <a:t>문자열이 들어있는 리스트 변수에도 </a:t>
            </a:r>
            <a:r>
              <a:rPr lang="en-US" altLang="ko-KR" dirty="0"/>
              <a:t>min(), max() </a:t>
            </a:r>
            <a:r>
              <a:rPr lang="ko-KR" altLang="en-US" dirty="0"/>
              <a:t>함수 동작</a:t>
            </a:r>
            <a:endParaRPr lang="en-US" altLang="ko-KR" dirty="0"/>
          </a:p>
          <a:p>
            <a:pPr fontAlgn="base"/>
            <a:r>
              <a:rPr lang="en-US" altLang="ko-KR" dirty="0"/>
              <a:t>sum() </a:t>
            </a:r>
            <a:r>
              <a:rPr lang="ko-KR" altLang="en-US" dirty="0"/>
              <a:t>함수는 문자열에 대해서는 동작하지 않음</a:t>
            </a:r>
          </a:p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B9E5FC8-E50C-E802-3272-831CC9395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6.5 </a:t>
            </a:r>
            <a:r>
              <a:rPr lang="ko-KR" altLang="en-US" dirty="0"/>
              <a:t>리스트에 적용되는 내장함수</a:t>
            </a:r>
          </a:p>
        </p:txBody>
      </p:sp>
    </p:spTree>
    <p:extLst>
      <p:ext uri="{BB962C8B-B14F-4D97-AF65-F5344CB8AC3E}">
        <p14:creationId xmlns:p14="http://schemas.microsoft.com/office/powerpoint/2010/main" val="1649047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E28B6BD-499C-C780-70C6-12F3E5110E16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 fontAlgn="base"/>
            <a:r>
              <a:rPr lang="en-US" altLang="ko-KR" dirty="0"/>
              <a:t>min()</a:t>
            </a:r>
            <a:r>
              <a:rPr lang="ko-KR" altLang="en-US" dirty="0"/>
              <a:t>과 </a:t>
            </a:r>
            <a:r>
              <a:rPr lang="en-US" altLang="ko-KR" dirty="0"/>
              <a:t>max()</a:t>
            </a:r>
            <a:r>
              <a:rPr lang="ko-KR" altLang="en-US" dirty="0"/>
              <a:t>는 한글 문자열을 요소로 가지는 리스트에도 동작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B9E5FC8-E50C-E802-3272-831CC9395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6.5 </a:t>
            </a:r>
            <a:r>
              <a:rPr lang="ko-KR" altLang="en-US" dirty="0"/>
              <a:t>리스트에 적용되는 내장함수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661" y="1783557"/>
            <a:ext cx="8627658" cy="210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567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9E5FC8-E50C-E802-3272-831CC9395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6.5 </a:t>
            </a:r>
            <a:r>
              <a:rPr lang="ko-KR" altLang="en-US" dirty="0"/>
              <a:t>리스트에 적용되는 내장함수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4F468194-8614-C539-7A78-F7219981BECC}"/>
              </a:ext>
            </a:extLst>
          </p:cNvPr>
          <p:cNvGrpSpPr/>
          <p:nvPr/>
        </p:nvGrpSpPr>
        <p:grpSpPr>
          <a:xfrm>
            <a:off x="2495093" y="1128236"/>
            <a:ext cx="7159084" cy="4918000"/>
            <a:chOff x="3123940" y="498764"/>
            <a:chExt cx="8821450" cy="6059978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41796616-40E6-734D-5921-A8D4288D63B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-1" t="881" r="736" b="1"/>
            <a:stretch/>
          </p:blipFill>
          <p:spPr>
            <a:xfrm>
              <a:off x="3123940" y="498764"/>
              <a:ext cx="8821450" cy="3795348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581DB6C7-E832-DF21-5E66-711B1D5666A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1252" b="7205"/>
            <a:stretch/>
          </p:blipFill>
          <p:spPr>
            <a:xfrm>
              <a:off x="3123940" y="4249650"/>
              <a:ext cx="8821450" cy="23090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72609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b="1" dirty="0"/>
              <a:t>정렬</a:t>
            </a:r>
            <a:r>
              <a:rPr lang="en-US" altLang="ko-KR" b="1" baseline="30000" dirty="0">
                <a:solidFill>
                  <a:schemeClr val="accent5"/>
                </a:solidFill>
              </a:rPr>
              <a:t>sorting</a:t>
            </a:r>
            <a:r>
              <a:rPr lang="ko-KR" altLang="en-US" baseline="30000" dirty="0"/>
              <a:t> </a:t>
            </a:r>
            <a:r>
              <a:rPr lang="ko-KR" altLang="en-US" dirty="0"/>
              <a:t>메소드인 </a:t>
            </a:r>
            <a:r>
              <a:rPr lang="en-US" altLang="ko-KR" dirty="0"/>
              <a:t>sort()</a:t>
            </a:r>
          </a:p>
          <a:p>
            <a:pPr lvl="1"/>
            <a:r>
              <a:rPr lang="ko-KR" altLang="en-US" dirty="0"/>
              <a:t>디폴트로 오름차순 정렬을 수행</a:t>
            </a:r>
          </a:p>
          <a:p>
            <a:pPr lvl="1"/>
            <a:r>
              <a:rPr lang="ko-KR" altLang="en-US" dirty="0"/>
              <a:t>리스트 변수 뒤에 마침표</a:t>
            </a:r>
            <a:r>
              <a:rPr lang="en-US" altLang="ko-KR" dirty="0"/>
              <a:t>(.)</a:t>
            </a:r>
            <a:r>
              <a:rPr lang="ko-KR" altLang="en-US" dirty="0"/>
              <a:t>와 </a:t>
            </a:r>
            <a:r>
              <a:rPr lang="en-US" altLang="ko-KR" dirty="0"/>
              <a:t>sort()</a:t>
            </a:r>
            <a:r>
              <a:rPr lang="ko-KR" altLang="en-US" dirty="0"/>
              <a:t>를 적음</a:t>
            </a:r>
          </a:p>
          <a:p>
            <a:pPr lvl="1"/>
            <a:endParaRPr lang="ko-KR" altLang="en-US" dirty="0"/>
          </a:p>
          <a:p>
            <a:r>
              <a:rPr lang="ko-KR" altLang="en-US" b="1" dirty="0"/>
              <a:t>오름차순 정렬</a:t>
            </a:r>
            <a:r>
              <a:rPr lang="en-US" altLang="ko-KR" b="1" baseline="30000" dirty="0">
                <a:solidFill>
                  <a:schemeClr val="accent5"/>
                </a:solidFill>
              </a:rPr>
              <a:t>ascending order sorting</a:t>
            </a:r>
          </a:p>
          <a:p>
            <a:pPr lvl="1"/>
            <a:r>
              <a:rPr lang="ko-KR" altLang="en-US" dirty="0"/>
              <a:t>값이 증가하는 정렬</a:t>
            </a:r>
          </a:p>
          <a:p>
            <a:pPr lvl="1"/>
            <a:endParaRPr lang="en-US" altLang="ko-KR" dirty="0"/>
          </a:p>
          <a:p>
            <a:r>
              <a:rPr lang="ko-KR" altLang="en-US" b="1" dirty="0"/>
              <a:t>내림차순 정렬</a:t>
            </a:r>
            <a:r>
              <a:rPr lang="en-US" altLang="ko-KR" b="1" baseline="30000" dirty="0">
                <a:solidFill>
                  <a:schemeClr val="accent5"/>
                </a:solidFill>
              </a:rPr>
              <a:t>descending order sorting</a:t>
            </a:r>
          </a:p>
          <a:p>
            <a:pPr lvl="1"/>
            <a:r>
              <a:rPr lang="en-US" altLang="ko-KR" dirty="0" err="1"/>
              <a:t>값이</a:t>
            </a:r>
            <a:r>
              <a:rPr lang="en-US" altLang="ko-KR" dirty="0"/>
              <a:t> </a:t>
            </a:r>
            <a:r>
              <a:rPr lang="en-US" altLang="ko-KR" dirty="0" err="1"/>
              <a:t>감소하는</a:t>
            </a:r>
            <a:r>
              <a:rPr lang="en-US" altLang="ko-KR" dirty="0"/>
              <a:t> </a:t>
            </a:r>
            <a:r>
              <a:rPr lang="en-US" altLang="ko-KR" dirty="0" err="1"/>
              <a:t>정렬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6.6 </a:t>
            </a:r>
            <a:r>
              <a:rPr lang="ko-KR" altLang="en-US" dirty="0"/>
              <a:t>리스트의 </a:t>
            </a:r>
            <a:r>
              <a:rPr lang="ko-KR" altLang="en-US" dirty="0" err="1"/>
              <a:t>메소드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6487" y="1821077"/>
            <a:ext cx="5173061" cy="2734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001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7C4A36-CC8F-CE62-7163-0491377413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sort() </a:t>
            </a:r>
            <a:r>
              <a:rPr lang="ko-KR" altLang="en-US" dirty="0"/>
              <a:t>메소드 실습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6.6 </a:t>
            </a:r>
            <a:r>
              <a:rPr lang="ko-KR" altLang="en-US" dirty="0"/>
              <a:t>리스트의 메소드</a:t>
            </a:r>
          </a:p>
        </p:txBody>
      </p:sp>
      <p:pic>
        <p:nvPicPr>
          <p:cNvPr id="6" name="내용 개체 틀 5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415202" y="1700808"/>
            <a:ext cx="10221018" cy="3706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8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6.6 </a:t>
            </a:r>
            <a:r>
              <a:rPr lang="ko-KR" altLang="en-US" dirty="0"/>
              <a:t>리스트의 메소드</a:t>
            </a:r>
          </a:p>
        </p:txBody>
      </p:sp>
      <p:pic>
        <p:nvPicPr>
          <p:cNvPr id="6" name="내용 개체 틀 5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226783" y="1179951"/>
            <a:ext cx="8906028" cy="5126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471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/>
          <p:cNvGrpSpPr/>
          <p:nvPr/>
        </p:nvGrpSpPr>
        <p:grpSpPr>
          <a:xfrm>
            <a:off x="1064983" y="1700808"/>
            <a:ext cx="7710153" cy="3611168"/>
            <a:chOff x="868581" y="2598439"/>
            <a:chExt cx="7525861" cy="3281848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 rotWithShape="1">
            <a:blip r:embed="rId2"/>
            <a:srcRect r="8859"/>
            <a:stretch/>
          </p:blipFill>
          <p:spPr>
            <a:xfrm>
              <a:off x="868581" y="2598439"/>
              <a:ext cx="7525859" cy="2909658"/>
            </a:xfrm>
            <a:prstGeom prst="rect">
              <a:avLst/>
            </a:prstGeom>
          </p:spPr>
        </p:pic>
        <p:pic>
          <p:nvPicPr>
            <p:cNvPr id="8" name="그림 7"/>
            <p:cNvPicPr>
              <a:picLocks noChangeAspect="1"/>
            </p:cNvPicPr>
            <p:nvPr/>
          </p:nvPicPr>
          <p:blipFill rotWithShape="1">
            <a:blip r:embed="rId3"/>
            <a:srcRect t="23980" r="8583"/>
            <a:stretch/>
          </p:blipFill>
          <p:spPr>
            <a:xfrm>
              <a:off x="868582" y="5097159"/>
              <a:ext cx="7525860" cy="783128"/>
            </a:xfrm>
            <a:prstGeom prst="rect">
              <a:avLst/>
            </a:prstGeom>
          </p:spPr>
        </p:pic>
      </p:grp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EA268A-FD28-0F2E-D1F5-9A34BC81C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index() </a:t>
            </a:r>
            <a:r>
              <a:rPr lang="en-US" altLang="ko-KR" dirty="0" err="1"/>
              <a:t>메소드</a:t>
            </a:r>
            <a:r>
              <a:rPr lang="en-US" altLang="ko-KR" dirty="0"/>
              <a:t> </a:t>
            </a:r>
            <a:r>
              <a:rPr lang="ko-KR" altLang="en-US" dirty="0"/>
              <a:t>실습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6.6 </a:t>
            </a:r>
            <a:r>
              <a:rPr lang="ko-KR" altLang="en-US" dirty="0"/>
              <a:t>리스트의 메소드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22C5489-16B4-991B-5C2A-7DDDB78D483A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832680" y="1700809"/>
            <a:ext cx="2249334" cy="4345428"/>
          </a:xfrm>
        </p:spPr>
        <p:txBody>
          <a:bodyPr/>
          <a:lstStyle/>
          <a:p>
            <a:pPr fontAlgn="base"/>
            <a:r>
              <a:rPr lang="en-US" altLang="ko-KR" sz="2000" dirty="0"/>
              <a:t>list</a:t>
            </a:r>
            <a:r>
              <a:rPr lang="ko-KR" altLang="en-US" sz="2000" dirty="0"/>
              <a:t>의 가장 첫 번째에 </a:t>
            </a:r>
            <a:r>
              <a:rPr lang="en-US" altLang="ko-KR" sz="2000" dirty="0"/>
              <a:t>‘a’</a:t>
            </a:r>
            <a:r>
              <a:rPr lang="ko-KR" altLang="en-US" sz="2000" dirty="0"/>
              <a:t>가</a:t>
            </a:r>
            <a:r>
              <a:rPr lang="en-US" altLang="ko-KR" sz="2000" dirty="0"/>
              <a:t> </a:t>
            </a:r>
            <a:r>
              <a:rPr lang="ko-KR" altLang="en-US" sz="2000" dirty="0"/>
              <a:t>위치</a:t>
            </a:r>
            <a:r>
              <a:rPr lang="en-US" altLang="ko-KR" sz="2000" dirty="0"/>
              <a:t>, 0</a:t>
            </a:r>
            <a:r>
              <a:rPr lang="ko-KR" altLang="en-US" sz="2000" dirty="0"/>
              <a:t>번째 인덱스이므로 </a:t>
            </a:r>
            <a:r>
              <a:rPr lang="en-US" altLang="ko-KR" sz="2000" dirty="0" smtClean="0"/>
              <a:t>0</a:t>
            </a:r>
            <a:r>
              <a:rPr lang="ko-KR" altLang="en-US" sz="2000" dirty="0" smtClean="0"/>
              <a:t>을 반환</a:t>
            </a:r>
            <a:endParaRPr lang="en-US" altLang="ko-KR" sz="2000" dirty="0"/>
          </a:p>
          <a:p>
            <a:pPr fontAlgn="base"/>
            <a:r>
              <a:rPr lang="ko-KR" altLang="en-US" sz="2000" dirty="0"/>
              <a:t>‘</a:t>
            </a:r>
            <a:r>
              <a:rPr lang="en-US" altLang="ko-KR" sz="2000" dirty="0"/>
              <a:t>x’</a:t>
            </a:r>
            <a:r>
              <a:rPr lang="ko-KR" altLang="en-US" sz="2000" dirty="0"/>
              <a:t>는 리스트에 존재하지 않음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74148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b="55131"/>
          <a:stretch/>
        </p:blipFill>
        <p:spPr>
          <a:xfrm>
            <a:off x="1205753" y="2718112"/>
            <a:ext cx="8746760" cy="2310821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CA3233-3CA7-B234-722D-924A99A1A4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count() </a:t>
            </a:r>
            <a:r>
              <a:rPr lang="en-US" altLang="ko-KR" dirty="0" err="1"/>
              <a:t>메소드</a:t>
            </a:r>
            <a:r>
              <a:rPr lang="en-US" altLang="ko-KR" dirty="0"/>
              <a:t> </a:t>
            </a:r>
            <a:r>
              <a:rPr lang="ko-KR" altLang="en-US" dirty="0"/>
              <a:t>실습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6.6 </a:t>
            </a:r>
            <a:r>
              <a:rPr lang="ko-KR" altLang="en-US" dirty="0"/>
              <a:t>리스트의 메소드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B59A5E77-3CF8-3051-750D-C807798C138E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 fontAlgn="base"/>
            <a:r>
              <a:rPr lang="en-US" altLang="ko-KR" dirty="0"/>
              <a:t>count('a') </a:t>
            </a:r>
            <a:r>
              <a:rPr lang="ko-KR" altLang="en-US" dirty="0"/>
              <a:t>메소드를 호출하면 </a:t>
            </a:r>
            <a:r>
              <a:rPr lang="en-US" altLang="ko-KR" dirty="0"/>
              <a:t>‘a’</a:t>
            </a:r>
            <a:r>
              <a:rPr lang="ko-KR" altLang="en-US" dirty="0"/>
              <a:t> 원소 개수 </a:t>
            </a:r>
            <a:r>
              <a:rPr lang="en-US" altLang="ko-KR" dirty="0"/>
              <a:t>3 </a:t>
            </a:r>
            <a:r>
              <a:rPr lang="ko-KR" altLang="en-US" dirty="0"/>
              <a:t>반환</a:t>
            </a:r>
            <a:endParaRPr lang="en-US" altLang="ko-KR" dirty="0"/>
          </a:p>
          <a:p>
            <a:pPr fontAlgn="base"/>
            <a:r>
              <a:rPr lang="ko-KR" altLang="en-US" dirty="0"/>
              <a:t>마찬가지로 </a:t>
            </a:r>
            <a:r>
              <a:rPr lang="en-US" altLang="ko-KR" dirty="0"/>
              <a:t>count('b')</a:t>
            </a:r>
            <a:r>
              <a:rPr lang="ko-KR" altLang="en-US" dirty="0"/>
              <a:t>는 </a:t>
            </a:r>
            <a:r>
              <a:rPr lang="en-US" altLang="ko-KR" dirty="0"/>
              <a:t>2 </a:t>
            </a:r>
            <a:r>
              <a:rPr lang="ko-KR" altLang="en-US" dirty="0"/>
              <a:t>반환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42901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EA268A-FD28-0F2E-D1F5-9A34BC81C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extend() </a:t>
            </a:r>
            <a:r>
              <a:rPr lang="en-US" altLang="ko-KR" dirty="0" err="1"/>
              <a:t>메소드</a:t>
            </a:r>
            <a:r>
              <a:rPr lang="en-US" altLang="ko-KR" dirty="0"/>
              <a:t> </a:t>
            </a:r>
            <a:r>
              <a:rPr lang="ko-KR" altLang="en-US" dirty="0"/>
              <a:t>실습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6.6 </a:t>
            </a:r>
            <a:r>
              <a:rPr lang="ko-KR" altLang="en-US" dirty="0"/>
              <a:t>리스트의 메소드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22C5489-16B4-991B-5C2A-7DDDB78D483A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7360024" y="1700809"/>
            <a:ext cx="3721990" cy="4345428"/>
          </a:xfrm>
        </p:spPr>
        <p:txBody>
          <a:bodyPr/>
          <a:lstStyle/>
          <a:p>
            <a:pPr fontAlgn="base"/>
            <a:r>
              <a:rPr lang="en-US" altLang="ko-KR" dirty="0"/>
              <a:t>extend()</a:t>
            </a:r>
            <a:r>
              <a:rPr lang="ko-KR" altLang="en-US" dirty="0"/>
              <a:t>는 리스트 뒤에 리스트나 항목을 추가하는 메소드</a:t>
            </a:r>
          </a:p>
          <a:p>
            <a:pPr fontAlgn="base"/>
            <a:r>
              <a:rPr lang="ko-KR" altLang="en-US" dirty="0"/>
              <a:t>인자로는 ‘</a:t>
            </a:r>
            <a:r>
              <a:rPr lang="en-US" altLang="ko-KR" dirty="0"/>
              <a:t>d'</a:t>
            </a:r>
            <a:r>
              <a:rPr lang="ko-KR" altLang="en-US" dirty="0"/>
              <a:t>와 같은 개별적인 원소 또한</a:t>
            </a:r>
            <a:r>
              <a:rPr lang="en-US" altLang="ko-KR" dirty="0"/>
              <a:t> </a:t>
            </a:r>
            <a:r>
              <a:rPr lang="ko-KR" altLang="en-US" dirty="0"/>
              <a:t>삽입 가능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/>
          <a:srcRect t="45453" r="22600"/>
          <a:stretch/>
        </p:blipFill>
        <p:spPr>
          <a:xfrm>
            <a:off x="1062719" y="1700808"/>
            <a:ext cx="6002106" cy="2781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405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0D567B-08B8-93FC-8079-34C250521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append() </a:t>
            </a:r>
            <a:r>
              <a:rPr lang="ko-KR" altLang="en-US" dirty="0"/>
              <a:t>함수와 </a:t>
            </a:r>
            <a:r>
              <a:rPr lang="en-US" altLang="ko-KR" dirty="0"/>
              <a:t>extend() </a:t>
            </a:r>
            <a:r>
              <a:rPr lang="ko-KR" altLang="en-US" dirty="0"/>
              <a:t>함수의 차이점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6.6 </a:t>
            </a:r>
            <a:r>
              <a:rPr lang="ko-KR" altLang="en-US" dirty="0"/>
              <a:t>리스트의 메소드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22FD536A-04B8-E661-115A-6E05A4E9B332}"/>
              </a:ext>
            </a:extLst>
          </p:cNvPr>
          <p:cNvGrpSpPr/>
          <p:nvPr/>
        </p:nvGrpSpPr>
        <p:grpSpPr>
          <a:xfrm>
            <a:off x="1067257" y="1700807"/>
            <a:ext cx="7372142" cy="4431051"/>
            <a:chOff x="611365" y="980049"/>
            <a:chExt cx="9547209" cy="5738383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1365" y="980049"/>
              <a:ext cx="6551435" cy="5738383"/>
            </a:xfrm>
            <a:prstGeom prst="rect">
              <a:avLst/>
            </a:prstGeom>
          </p:spPr>
        </p:pic>
        <p:sp>
          <p:nvSpPr>
            <p:cNvPr id="4" name="TextBox 3"/>
            <p:cNvSpPr txBox="1"/>
            <p:nvPr/>
          </p:nvSpPr>
          <p:spPr>
            <a:xfrm>
              <a:off x="4422306" y="2228848"/>
              <a:ext cx="5736268" cy="43844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600" dirty="0" err="1">
                  <a:latin typeface="D2Coding" panose="020B0609020101020101" pitchFamily="49" charset="-127"/>
                  <a:ea typeface="D2Coding" panose="020B0609020101020101" pitchFamily="49" charset="-127"/>
                </a:rPr>
                <a:t>len</a:t>
              </a:r>
              <a:r>
                <a:rPr lang="en-US" altLang="ko-KR" sz="1600" dirty="0">
                  <a:latin typeface="D2Coding" panose="020B0609020101020101" pitchFamily="49" charset="-127"/>
                  <a:ea typeface="D2Coding" panose="020B0609020101020101" pitchFamily="49" charset="-127"/>
                </a:rPr>
                <a:t>(list1)</a:t>
              </a:r>
              <a:r>
                <a:rPr lang="en-US" altLang="ko-KR" sz="1600" dirty="0"/>
                <a:t> </a:t>
              </a:r>
              <a:r>
                <a:rPr lang="ko-KR" altLang="en-US" sz="1600" dirty="0"/>
                <a:t>로 항목의 수를 조사하면 </a:t>
              </a:r>
              <a:r>
                <a:rPr lang="en-US" altLang="ko-KR" sz="1600" b="1" dirty="0">
                  <a:solidFill>
                    <a:srgbClr val="FF0000"/>
                  </a:solidFill>
                </a:rPr>
                <a:t>5</a:t>
              </a:r>
              <a:r>
                <a:rPr lang="ko-KR" altLang="en-US" sz="1600" dirty="0"/>
                <a:t>가 출력</a:t>
              </a:r>
              <a:endParaRPr lang="en-US" altLang="ko-KR" sz="1600" dirty="0"/>
            </a:p>
          </p:txBody>
        </p:sp>
        <p:cxnSp>
          <p:nvCxnSpPr>
            <p:cNvPr id="6" name="직선 화살표 연결선 5"/>
            <p:cNvCxnSpPr>
              <a:stCxn id="4" idx="1"/>
            </p:cNvCxnSpPr>
            <p:nvPr/>
          </p:nvCxnSpPr>
          <p:spPr>
            <a:xfrm flipH="1">
              <a:off x="3251200" y="2448069"/>
              <a:ext cx="1171106" cy="66991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4113779" y="4284322"/>
              <a:ext cx="6044795" cy="45486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600" dirty="0" err="1" smtClean="0">
                  <a:latin typeface="D2Coding" panose="020B0609020101020101" pitchFamily="49" charset="-127"/>
                  <a:ea typeface="D2Coding" panose="020B0609020101020101" pitchFamily="49" charset="-127"/>
                </a:rPr>
                <a:t>len</a:t>
              </a:r>
              <a:r>
                <a:rPr lang="en-US" altLang="ko-KR" sz="1600" dirty="0" smtClean="0">
                  <a:latin typeface="D2Coding" panose="020B0609020101020101" pitchFamily="49" charset="-127"/>
                  <a:ea typeface="D2Coding" panose="020B0609020101020101" pitchFamily="49" charset="-127"/>
                </a:rPr>
                <a:t>(list2)</a:t>
              </a:r>
              <a:r>
                <a:rPr lang="ko-KR" altLang="en-US" sz="1600" dirty="0"/>
                <a:t>로 항목의 수를 조사하면 </a:t>
              </a:r>
              <a:r>
                <a:rPr lang="en-US" altLang="ko-KR" sz="1600" b="1" dirty="0">
                  <a:solidFill>
                    <a:srgbClr val="FF0000"/>
                  </a:solidFill>
                </a:rPr>
                <a:t>6</a:t>
              </a:r>
              <a:r>
                <a:rPr lang="ko-KR" altLang="en-US" sz="1600" dirty="0"/>
                <a:t>이 출력</a:t>
              </a:r>
              <a:endParaRPr lang="en-US" altLang="ko-KR" sz="1600" dirty="0"/>
            </a:p>
          </p:txBody>
        </p:sp>
        <p:cxnSp>
          <p:nvCxnSpPr>
            <p:cNvPr id="8" name="직선 화살표 연결선 7"/>
            <p:cNvCxnSpPr>
              <a:stCxn id="7" idx="1"/>
            </p:cNvCxnSpPr>
            <p:nvPr/>
          </p:nvCxnSpPr>
          <p:spPr>
            <a:xfrm flipH="1">
              <a:off x="3064935" y="4511756"/>
              <a:ext cx="1048844" cy="60211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20785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EA268A-FD28-0F2E-D1F5-9A34BC81C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insert() </a:t>
            </a:r>
            <a:r>
              <a:rPr lang="en-US" altLang="ko-KR" dirty="0" err="1"/>
              <a:t>메소드</a:t>
            </a:r>
            <a:r>
              <a:rPr lang="en-US" altLang="ko-KR" dirty="0"/>
              <a:t> </a:t>
            </a:r>
            <a:r>
              <a:rPr lang="ko-KR" altLang="en-US" dirty="0"/>
              <a:t>실습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6.6 </a:t>
            </a:r>
            <a:r>
              <a:rPr lang="ko-KR" altLang="en-US" dirty="0"/>
              <a:t>리스트의 메소드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22C5489-16B4-991B-5C2A-7DDDB78D483A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7360024" y="1700809"/>
            <a:ext cx="3721990" cy="4345428"/>
          </a:xfrm>
        </p:spPr>
        <p:txBody>
          <a:bodyPr/>
          <a:lstStyle/>
          <a:p>
            <a:pPr fontAlgn="base"/>
            <a:r>
              <a:rPr lang="ko-KR" altLang="en-US" dirty="0"/>
              <a:t>이미 생성된 리스트의 특정 위치에 새로운 원소를 삽입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986" y="1700808"/>
            <a:ext cx="6024383" cy="2288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757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EA268A-FD28-0F2E-D1F5-9A34BC81C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pop() </a:t>
            </a:r>
            <a:r>
              <a:rPr lang="en-US" altLang="ko-KR" dirty="0" err="1"/>
              <a:t>메소드</a:t>
            </a:r>
            <a:r>
              <a:rPr lang="en-US" altLang="ko-KR" dirty="0"/>
              <a:t> </a:t>
            </a:r>
            <a:r>
              <a:rPr lang="ko-KR" altLang="en-US" dirty="0"/>
              <a:t>실습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6.6 </a:t>
            </a:r>
            <a:r>
              <a:rPr lang="ko-KR" altLang="en-US" dirty="0"/>
              <a:t>리스트의 메소드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22C5489-16B4-991B-5C2A-7DDDB78D483A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7360024" y="1700809"/>
            <a:ext cx="3721990" cy="4345428"/>
          </a:xfrm>
        </p:spPr>
        <p:txBody>
          <a:bodyPr/>
          <a:lstStyle/>
          <a:p>
            <a:pPr fontAlgn="base"/>
            <a:r>
              <a:rPr lang="en-US" altLang="ko-KR" dirty="0" smtClean="0"/>
              <a:t>pop()</a:t>
            </a:r>
            <a:r>
              <a:rPr lang="ko-KR" altLang="en-US" dirty="0" smtClean="0"/>
              <a:t>에 인자가 없을 경우</a:t>
            </a:r>
            <a:r>
              <a:rPr lang="en-US" altLang="ko-KR" dirty="0" smtClean="0"/>
              <a:t>, </a:t>
            </a:r>
            <a:r>
              <a:rPr lang="ko-KR" altLang="en-US" dirty="0" smtClean="0"/>
              <a:t>리스트의 </a:t>
            </a:r>
            <a:r>
              <a:rPr lang="ko-KR" altLang="en-US" dirty="0"/>
              <a:t>제일 마지막 항목을 삭제한 후 이 항목을 반환</a:t>
            </a:r>
            <a:endParaRPr lang="en-US" altLang="ko-KR" dirty="0"/>
          </a:p>
          <a:p>
            <a:pPr fontAlgn="base"/>
            <a:r>
              <a:rPr lang="en-US" altLang="ko-KR" dirty="0" smtClean="0"/>
              <a:t>pop()</a:t>
            </a:r>
            <a:r>
              <a:rPr lang="ko-KR" altLang="en-US" dirty="0" smtClean="0"/>
              <a:t>과 달리 </a:t>
            </a:r>
            <a:r>
              <a:rPr lang="en-US" altLang="ko-KR" dirty="0" smtClean="0"/>
              <a:t>remove</a:t>
            </a:r>
            <a:r>
              <a:rPr lang="en-US" altLang="ko-KR" dirty="0"/>
              <a:t>()</a:t>
            </a:r>
            <a:r>
              <a:rPr lang="ko-KR" altLang="en-US" dirty="0"/>
              <a:t>는 삭제만 수행할 뿐 삭제한 항목을 반환하지 않음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/>
          <a:srcRect r="12574"/>
          <a:stretch/>
        </p:blipFill>
        <p:spPr>
          <a:xfrm>
            <a:off x="1007435" y="1700808"/>
            <a:ext cx="6250038" cy="3516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254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987" y="2620446"/>
            <a:ext cx="7576814" cy="2304441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973982-7E85-584A-320F-549A507952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reserve() </a:t>
            </a:r>
            <a:r>
              <a:rPr lang="ko-KR" altLang="en-US" dirty="0"/>
              <a:t>메소드를 이용한 재배열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6.6 </a:t>
            </a:r>
            <a:r>
              <a:rPr lang="ko-KR" altLang="en-US" dirty="0"/>
              <a:t>리스트의 메소드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D2ACC01-45B5-927E-D339-42571AB08074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 fontAlgn="base"/>
            <a:r>
              <a:rPr lang="ko-KR" altLang="en-US" dirty="0"/>
              <a:t>리스트의 원소를 역순으로 </a:t>
            </a:r>
            <a:r>
              <a:rPr lang="ko-KR" altLang="en-US" dirty="0">
                <a:solidFill>
                  <a:srgbClr val="FF0000"/>
                </a:solidFill>
              </a:rPr>
              <a:t>재배열</a:t>
            </a:r>
          </a:p>
          <a:p>
            <a:pPr fontAlgn="base"/>
            <a:r>
              <a:rPr lang="ko-KR" altLang="en-US" dirty="0"/>
              <a:t>내림차순 정렬을 하는 것은 아님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51687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4843D9-373E-F39B-256D-BFD94CB37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6.6 </a:t>
            </a:r>
            <a:r>
              <a:rPr lang="ko-KR" altLang="en-US" dirty="0"/>
              <a:t>리스트의 메소드</a:t>
            </a:r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4"/>
          </p:nvPr>
        </p:nvPicPr>
        <p:blipFill rotWithShape="1">
          <a:blip r:embed="rId2"/>
          <a:srcRect b="18754"/>
          <a:stretch/>
        </p:blipFill>
        <p:spPr>
          <a:xfrm>
            <a:off x="1797429" y="1138237"/>
            <a:ext cx="7917481" cy="5420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819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4843D9-373E-F39B-256D-BFD94CB37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6.6 </a:t>
            </a:r>
            <a:r>
              <a:rPr lang="ko-KR" altLang="en-US" dirty="0"/>
              <a:t>리스트의 메소드</a:t>
            </a:r>
          </a:p>
        </p:txBody>
      </p:sp>
      <p:grpSp>
        <p:nvGrpSpPr>
          <p:cNvPr id="6" name="그룹 5"/>
          <p:cNvGrpSpPr/>
          <p:nvPr/>
        </p:nvGrpSpPr>
        <p:grpSpPr>
          <a:xfrm>
            <a:off x="1753562" y="2666999"/>
            <a:ext cx="9086476" cy="3332069"/>
            <a:chOff x="3108958" y="2637290"/>
            <a:chExt cx="8885690" cy="3405919"/>
          </a:xfrm>
        </p:grpSpPr>
        <p:pic>
          <p:nvPicPr>
            <p:cNvPr id="7" name="그림 6"/>
            <p:cNvPicPr>
              <a:picLocks noChangeAspect="1"/>
            </p:cNvPicPr>
            <p:nvPr/>
          </p:nvPicPr>
          <p:blipFill rotWithShape="1">
            <a:blip r:embed="rId2"/>
            <a:srcRect l="898"/>
            <a:stretch/>
          </p:blipFill>
          <p:spPr>
            <a:xfrm>
              <a:off x="3108959" y="2637290"/>
              <a:ext cx="8885689" cy="1699047"/>
            </a:xfrm>
            <a:prstGeom prst="rect">
              <a:avLst/>
            </a:prstGeom>
          </p:spPr>
        </p:pic>
        <p:pic>
          <p:nvPicPr>
            <p:cNvPr id="8" name="그림 7"/>
            <p:cNvPicPr>
              <a:picLocks noChangeAspect="1"/>
            </p:cNvPicPr>
            <p:nvPr/>
          </p:nvPicPr>
          <p:blipFill rotWithShape="1">
            <a:blip r:embed="rId3"/>
            <a:srcRect l="713"/>
            <a:stretch/>
          </p:blipFill>
          <p:spPr>
            <a:xfrm>
              <a:off x="3108958" y="3996767"/>
              <a:ext cx="8885690" cy="2046442"/>
            </a:xfrm>
            <a:prstGeom prst="rect">
              <a:avLst/>
            </a:prstGeom>
          </p:spPr>
        </p:pic>
      </p:grpSp>
      <p:pic>
        <p:nvPicPr>
          <p:cNvPr id="9" name="내용 개체 틀 4">
            <a:extLst>
              <a:ext uri="{FF2B5EF4-FFF2-40B4-BE49-F238E27FC236}">
                <a16:creationId xmlns:a16="http://schemas.microsoft.com/office/drawing/2014/main" id="{EC9FC12A-7CCB-F0CE-C17A-55CD23323B12}"/>
              </a:ext>
            </a:extLst>
          </p:cNvPr>
          <p:cNvPicPr>
            <a:picLocks noGrp="1" noChangeAspect="1"/>
          </p:cNvPicPr>
          <p:nvPr>
            <p:ph idx="14"/>
          </p:nvPr>
        </p:nvPicPr>
        <p:blipFill rotWithShape="1">
          <a:blip r:embed="rId4"/>
          <a:srcRect t="81633"/>
          <a:stretch/>
        </p:blipFill>
        <p:spPr>
          <a:xfrm>
            <a:off x="1696411" y="1257300"/>
            <a:ext cx="9108930" cy="1409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889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/>
              <a:t>리스트 사이에는 더하기 연산자 사용 가능</a:t>
            </a:r>
            <a:endParaRPr lang="en-US" altLang="ko-KR"/>
          </a:p>
          <a:p>
            <a:r>
              <a:rPr lang="ko-KR" altLang="en-US"/>
              <a:t>빼기 연산자나 곱하기</a:t>
            </a:r>
            <a:r>
              <a:rPr lang="en-US" altLang="ko-KR"/>
              <a:t>, </a:t>
            </a:r>
            <a:r>
              <a:rPr lang="ko-KR" altLang="en-US"/>
              <a:t>나누기 연산자는 사용 불가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6.7 </a:t>
            </a:r>
            <a:r>
              <a:rPr lang="ko-KR" altLang="en-US" dirty="0"/>
              <a:t>리스트와 연산</a:t>
            </a:r>
          </a:p>
        </p:txBody>
      </p:sp>
    </p:spTree>
    <p:extLst>
      <p:ext uri="{BB962C8B-B14F-4D97-AF65-F5344CB8AC3E}">
        <p14:creationId xmlns:p14="http://schemas.microsoft.com/office/powerpoint/2010/main" val="3459959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4"/>
          </p:nvPr>
        </p:nvSpPr>
        <p:spPr>
          <a:xfrm>
            <a:off x="7539318" y="1128237"/>
            <a:ext cx="3542696" cy="4917999"/>
          </a:xfrm>
        </p:spPr>
        <p:txBody>
          <a:bodyPr/>
          <a:lstStyle/>
          <a:p>
            <a:pPr fontAlgn="base"/>
            <a:r>
              <a:rPr lang="en-US" altLang="ko-KR" dirty="0"/>
              <a:t>list1</a:t>
            </a:r>
            <a:r>
              <a:rPr lang="ko-KR" altLang="en-US" dirty="0"/>
              <a:t>과 </a:t>
            </a:r>
            <a:r>
              <a:rPr lang="en-US" altLang="ko-KR" dirty="0"/>
              <a:t>list2</a:t>
            </a:r>
            <a:r>
              <a:rPr lang="ko-KR" altLang="en-US" dirty="0"/>
              <a:t>를 더한 결과를 </a:t>
            </a:r>
            <a:r>
              <a:rPr lang="en-US" altLang="ko-KR" dirty="0"/>
              <a:t>list3</a:t>
            </a:r>
            <a:r>
              <a:rPr lang="ko-KR" altLang="en-US" dirty="0"/>
              <a:t>에 할당해줌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6.7 </a:t>
            </a:r>
            <a:r>
              <a:rPr lang="ko-KR" altLang="en-US" dirty="0"/>
              <a:t>리스트와 연산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2F39EAF-8343-790F-ED05-287E0633A16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0091"/>
          <a:stretch/>
        </p:blipFill>
        <p:spPr>
          <a:xfrm>
            <a:off x="1109986" y="1128237"/>
            <a:ext cx="6269186" cy="3826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723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03E5A9-61AF-E83C-1DB5-2469892012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리스트의 곱셈 연산</a:t>
            </a:r>
          </a:p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4D75250-57E0-53E2-1121-B486CA7BA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6.7 </a:t>
            </a:r>
            <a:r>
              <a:rPr lang="ko-KR" altLang="en-US" dirty="0"/>
              <a:t>리스트와 연산</a:t>
            </a:r>
          </a:p>
        </p:txBody>
      </p:sp>
      <p:pic>
        <p:nvPicPr>
          <p:cNvPr id="6" name="내용 개체 틀 5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2431116" y="1700213"/>
            <a:ext cx="7286905" cy="434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44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03E5A9-61AF-E83C-1DB5-2469892012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리스트의 곱셈 연산</a:t>
            </a:r>
          </a:p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4D75250-57E0-53E2-1121-B486CA7BA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6.7 </a:t>
            </a:r>
            <a:r>
              <a:rPr lang="ko-KR" altLang="en-US" dirty="0"/>
              <a:t>리스트와 연산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E71C6073-451F-B73B-6824-A166B975ABE2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다음의 경우 오류 반환</a:t>
            </a:r>
          </a:p>
          <a:p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960" y="2265244"/>
            <a:ext cx="7004392" cy="2327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105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/>
          <p:cNvGrpSpPr/>
          <p:nvPr/>
        </p:nvGrpSpPr>
        <p:grpSpPr>
          <a:xfrm>
            <a:off x="1241612" y="2677101"/>
            <a:ext cx="8314114" cy="3212991"/>
            <a:chOff x="1247052" y="1548583"/>
            <a:chExt cx="10590272" cy="3747978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47053" y="1548583"/>
              <a:ext cx="10590271" cy="2490981"/>
            </a:xfrm>
            <a:prstGeom prst="rect">
              <a:avLst/>
            </a:prstGeom>
          </p:spPr>
        </p:pic>
        <p:pic>
          <p:nvPicPr>
            <p:cNvPr id="5" name="그림 4"/>
            <p:cNvPicPr>
              <a:picLocks noChangeAspect="1"/>
            </p:cNvPicPr>
            <p:nvPr/>
          </p:nvPicPr>
          <p:blipFill rotWithShape="1">
            <a:blip r:embed="rId3"/>
            <a:srcRect t="13195"/>
            <a:stretch/>
          </p:blipFill>
          <p:spPr>
            <a:xfrm>
              <a:off x="1247052" y="3565471"/>
              <a:ext cx="10590271" cy="1731090"/>
            </a:xfrm>
            <a:prstGeom prst="rect">
              <a:avLst/>
            </a:prstGeom>
          </p:spPr>
        </p:pic>
      </p:grp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리스트의 비교연산</a:t>
            </a:r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ko-KR" dirty="0"/>
              <a:t>6.7 </a:t>
            </a:r>
            <a:r>
              <a:rPr lang="ko-KR" altLang="en-US" dirty="0"/>
              <a:t>리스트와 연산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214C8074-1B1C-2C4C-5953-16BF65D3F387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 dirty="0"/>
              <a:t>== </a:t>
            </a:r>
            <a:r>
              <a:rPr lang="en-US" altLang="ko-KR" dirty="0" err="1"/>
              <a:t>연산자</a:t>
            </a:r>
            <a:endParaRPr lang="en-US" altLang="ko-KR" dirty="0"/>
          </a:p>
          <a:p>
            <a:pPr lvl="1"/>
            <a:r>
              <a:rPr lang="ko-KR" altLang="en-US" dirty="0"/>
              <a:t>두 리스트의 항목 값이 모두 같은지를 검사</a:t>
            </a:r>
          </a:p>
          <a:p>
            <a:pPr lvl="1"/>
            <a:endParaRPr lang="en-US" altLang="ko-KR" dirty="0"/>
          </a:p>
          <a:p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80635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437" y="2716155"/>
            <a:ext cx="9583926" cy="3101447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리스트의 크기 비교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6.7 </a:t>
            </a:r>
            <a:r>
              <a:rPr lang="ko-KR" altLang="en-US" dirty="0"/>
              <a:t>리스트와 연산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DCFA3B5-BA09-1243-2C0D-6573DE5ECA13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 dirty="0"/>
              <a:t>&gt;, &gt;=, &lt;, &lt;= </a:t>
            </a:r>
            <a:r>
              <a:rPr lang="en-US" altLang="ko-KR" dirty="0" err="1"/>
              <a:t>연산자</a:t>
            </a:r>
            <a:r>
              <a:rPr lang="en-US" altLang="ko-KR" dirty="0"/>
              <a:t> </a:t>
            </a:r>
            <a:r>
              <a:rPr lang="en-US" altLang="ko-KR" dirty="0" err="1"/>
              <a:t>사용</a:t>
            </a:r>
            <a:endParaRPr lang="en-US" altLang="ko-KR" dirty="0"/>
          </a:p>
          <a:p>
            <a:r>
              <a:rPr lang="ko-KR" altLang="en-US" dirty="0"/>
              <a:t>문자열의 경우 </a:t>
            </a:r>
            <a:r>
              <a:rPr lang="ko-KR" altLang="en-US" b="1" dirty="0"/>
              <a:t>사전적 순서</a:t>
            </a:r>
            <a:r>
              <a:rPr lang="en-US" altLang="ko-KR" b="1" baseline="30000" dirty="0">
                <a:solidFill>
                  <a:schemeClr val="accent5"/>
                </a:solidFill>
              </a:rPr>
              <a:t>lexicographic order</a:t>
            </a:r>
            <a:r>
              <a:rPr lang="ko-KR" altLang="en-US" dirty="0"/>
              <a:t>를 비교</a:t>
            </a:r>
          </a:p>
          <a:p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45536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24E2E4-85DB-9025-A027-2E088A0F7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6.7 </a:t>
            </a:r>
            <a:r>
              <a:rPr lang="ko-KR" altLang="en-US" dirty="0"/>
              <a:t>리스트와 연산</a:t>
            </a:r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066800" y="1474104"/>
            <a:ext cx="10015538" cy="4227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759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443" y="1727094"/>
            <a:ext cx="8221816" cy="4314087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 dirty="0"/>
              <a:t>for </a:t>
            </a:r>
            <a:r>
              <a:rPr lang="ko-KR" altLang="en-US" dirty="0"/>
              <a:t>문을 통해 리스트의 항목을 하나하나씩 나열 또는 연산 가능</a:t>
            </a:r>
          </a:p>
          <a:p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6.8 </a:t>
            </a:r>
            <a:r>
              <a:rPr lang="ko-KR" altLang="en-US" dirty="0"/>
              <a:t>리스트의 내용 갱신을 위한 방법</a:t>
            </a:r>
          </a:p>
        </p:txBody>
      </p:sp>
    </p:spTree>
    <p:extLst>
      <p:ext uri="{BB962C8B-B14F-4D97-AF65-F5344CB8AC3E}">
        <p14:creationId xmlns:p14="http://schemas.microsoft.com/office/powerpoint/2010/main" val="4165007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044F71-3FAF-BA3A-F6FF-CB4EA14646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모든 원소에 </a:t>
            </a:r>
            <a:r>
              <a:rPr lang="en-US" altLang="ko-KR" dirty="0"/>
              <a:t>10</a:t>
            </a:r>
            <a:r>
              <a:rPr lang="ko-KR" altLang="en-US" dirty="0"/>
              <a:t>을 곱하여 보기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6.8 </a:t>
            </a:r>
            <a:r>
              <a:rPr lang="ko-KR" altLang="en-US" dirty="0"/>
              <a:t>리스트의 내용 갱신을 위한 방법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0CA428F3-D774-3911-B957-97D995F34FB0}"/>
              </a:ext>
            </a:extLst>
          </p:cNvPr>
          <p:cNvGrpSpPr/>
          <p:nvPr/>
        </p:nvGrpSpPr>
        <p:grpSpPr>
          <a:xfrm>
            <a:off x="1109986" y="1700808"/>
            <a:ext cx="9912926" cy="3364185"/>
            <a:chOff x="838200" y="1946121"/>
            <a:chExt cx="9912926" cy="3364185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8200" y="1946121"/>
              <a:ext cx="8906966" cy="3364185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5426395" y="2391842"/>
              <a:ext cx="5324731" cy="3385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600" dirty="0"/>
                <a:t>고급 기능으로 </a:t>
              </a:r>
              <a:r>
                <a:rPr lang="en-US" altLang="ko-KR" sz="1600" dirty="0"/>
                <a:t>11</a:t>
              </a:r>
              <a:r>
                <a:rPr lang="ko-KR" altLang="en-US" sz="1600" dirty="0"/>
                <a:t>장에서 상세히 다룹니다</a:t>
              </a:r>
              <a:endParaRPr lang="ko-KR" altLang="en-US" sz="1400" dirty="0"/>
            </a:p>
          </p:txBody>
        </p:sp>
        <p:cxnSp>
          <p:nvCxnSpPr>
            <p:cNvPr id="10" name="직선 화살표 연결선 9"/>
            <p:cNvCxnSpPr>
              <a:cxnSpLocks/>
              <a:stCxn id="9" idx="1"/>
            </p:cNvCxnSpPr>
            <p:nvPr/>
          </p:nvCxnSpPr>
          <p:spPr>
            <a:xfrm flipH="1">
              <a:off x="3776339" y="2561119"/>
              <a:ext cx="1650056" cy="59884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11818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929" y="2393419"/>
            <a:ext cx="8860986" cy="3358988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모든 원소에 </a:t>
            </a:r>
            <a:r>
              <a:rPr lang="en-US" altLang="ko-KR" dirty="0"/>
              <a:t>10</a:t>
            </a:r>
            <a:r>
              <a:rPr lang="ko-KR" altLang="en-US" dirty="0"/>
              <a:t>을 곱하여 보기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6.8 </a:t>
            </a:r>
            <a:r>
              <a:rPr lang="ko-KR" altLang="en-US" dirty="0"/>
              <a:t>리스트의 내용 갱신을 위한 방법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6E0F392-2B8B-EE16-240B-80AA12C7CBB1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이전과 동일한 결과가 나옴</a:t>
            </a:r>
          </a:p>
          <a:p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532070" y="2872816"/>
            <a:ext cx="4757908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600" dirty="0" err="1"/>
              <a:t>람다함수는</a:t>
            </a:r>
            <a:r>
              <a:rPr lang="ko-KR" altLang="en-US" sz="1600" dirty="0"/>
              <a:t> </a:t>
            </a:r>
            <a:r>
              <a:rPr lang="en-US" altLang="ko-KR" sz="1600" dirty="0"/>
              <a:t>11</a:t>
            </a:r>
            <a:r>
              <a:rPr lang="ko-KR" altLang="en-US" sz="1600" dirty="0"/>
              <a:t>장에서 상세히 다룹니다</a:t>
            </a:r>
            <a:endParaRPr lang="ko-KR" altLang="en-US" sz="1400" dirty="0"/>
          </a:p>
        </p:txBody>
      </p:sp>
      <p:cxnSp>
        <p:nvCxnSpPr>
          <p:cNvPr id="13" name="직선 화살표 연결선 12"/>
          <p:cNvCxnSpPr>
            <a:cxnSpLocks/>
            <a:stCxn id="12" idx="1"/>
          </p:cNvCxnSpPr>
          <p:nvPr/>
        </p:nvCxnSpPr>
        <p:spPr>
          <a:xfrm flipH="1">
            <a:off x="3905250" y="3042093"/>
            <a:ext cx="1626820" cy="6045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9117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0939" y="2968248"/>
            <a:ext cx="6468308" cy="2511602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b="1" dirty="0" err="1"/>
              <a:t>슬라이싱</a:t>
            </a:r>
            <a:r>
              <a:rPr lang="en-US" altLang="ko-KR" b="1" baseline="30000" dirty="0">
                <a:solidFill>
                  <a:schemeClr val="accent5"/>
                </a:solidFill>
              </a:rPr>
              <a:t>slicing</a:t>
            </a:r>
          </a:p>
          <a:p>
            <a:pPr lvl="1"/>
            <a:r>
              <a:rPr lang="ko-KR" altLang="en-US" dirty="0"/>
              <a:t>리스트 내의 항목을 특정한 구간별로 선택하여 잘라내는 기능</a:t>
            </a:r>
            <a:endParaRPr lang="en-US" altLang="ko-KR" dirty="0"/>
          </a:p>
          <a:p>
            <a:pPr lvl="1"/>
            <a:r>
              <a:rPr lang="ko-KR" altLang="en-US" dirty="0"/>
              <a:t>구간을 명시하기 위해 </a:t>
            </a:r>
            <a:r>
              <a:rPr lang="ko-KR" altLang="en-US" b="1" dirty="0"/>
              <a:t>리스트</a:t>
            </a:r>
            <a:r>
              <a:rPr lang="en-US" altLang="ko-KR" b="1" dirty="0"/>
              <a:t>_</a:t>
            </a:r>
            <a:r>
              <a:rPr lang="ko-KR" altLang="en-US" b="1" dirty="0"/>
              <a:t>이름</a:t>
            </a:r>
            <a:r>
              <a:rPr lang="en-US" altLang="ko-KR" b="1" dirty="0"/>
              <a:t>[</a:t>
            </a:r>
            <a:r>
              <a:rPr lang="en-US" altLang="ko-KR" dirty="0"/>
              <a:t>start : end</a:t>
            </a:r>
            <a:r>
              <a:rPr lang="en-US" altLang="ko-KR" b="1" dirty="0"/>
              <a:t>] </a:t>
            </a:r>
            <a:r>
              <a:rPr lang="ko-KR" altLang="en-US" dirty="0"/>
              <a:t>문법 사용</a:t>
            </a:r>
            <a:endParaRPr lang="en-US" altLang="ko-KR" dirty="0"/>
          </a:p>
          <a:p>
            <a:pPr lvl="1"/>
            <a:r>
              <a:rPr lang="en-US" altLang="ko-KR" dirty="0"/>
              <a:t>end-1</a:t>
            </a:r>
            <a:r>
              <a:rPr lang="ko-KR" altLang="en-US" dirty="0"/>
              <a:t>까지</a:t>
            </a:r>
            <a:r>
              <a:rPr lang="en-US" altLang="ko-KR" dirty="0"/>
              <a:t>(end </a:t>
            </a:r>
            <a:r>
              <a:rPr lang="ko-KR" altLang="en-US" dirty="0"/>
              <a:t>미만</a:t>
            </a:r>
            <a:r>
              <a:rPr lang="en-US" altLang="ko-KR" dirty="0"/>
              <a:t>)</a:t>
            </a:r>
            <a:r>
              <a:rPr lang="ko-KR" altLang="en-US" dirty="0"/>
              <a:t>의 항목을 새 리스트에 삽입</a:t>
            </a:r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ko-KR" dirty="0"/>
              <a:t>6.9 </a:t>
            </a:r>
            <a:r>
              <a:rPr lang="ko-KR" altLang="en-US" dirty="0"/>
              <a:t>리스트의 </a:t>
            </a:r>
            <a:r>
              <a:rPr lang="ko-KR" altLang="en-US" dirty="0" err="1"/>
              <a:t>슬라이싱</a:t>
            </a:r>
            <a:endParaRPr lang="ko-KR" alt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3158835" y="3059082"/>
            <a:ext cx="20157353" cy="648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1838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4"/>
          </p:nvPr>
        </p:nvSpPr>
        <p:spPr>
          <a:xfrm>
            <a:off x="7924800" y="1128237"/>
            <a:ext cx="3157214" cy="4917999"/>
          </a:xfrm>
        </p:spPr>
        <p:txBody>
          <a:bodyPr/>
          <a:lstStyle/>
          <a:p>
            <a:pPr fontAlgn="base"/>
            <a:r>
              <a:rPr lang="ko-KR" altLang="en-US" dirty="0"/>
              <a:t>콜론</a:t>
            </a:r>
            <a:r>
              <a:rPr lang="en-US" altLang="ko-KR" dirty="0"/>
              <a:t>(:)</a:t>
            </a:r>
            <a:r>
              <a:rPr lang="ko-KR" altLang="en-US" dirty="0"/>
              <a:t>을 사용하여 가져올 항목의 범위를 지정</a:t>
            </a:r>
            <a:endParaRPr lang="en-US" altLang="ko-KR" dirty="0"/>
          </a:p>
          <a:p>
            <a:pPr fontAlgn="base"/>
            <a:r>
              <a:rPr lang="ko-KR" altLang="en-US" dirty="0"/>
              <a:t>시작 인덱스와 끝 인덱스는 생략 가능</a:t>
            </a:r>
          </a:p>
          <a:p>
            <a:pPr fontAlgn="base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ko-KR" dirty="0"/>
              <a:t>6.9 </a:t>
            </a:r>
            <a:r>
              <a:rPr lang="ko-KR" altLang="en-US" dirty="0"/>
              <a:t>리스트의 </a:t>
            </a:r>
            <a:r>
              <a:rPr lang="ko-KR" altLang="en-US" dirty="0" err="1"/>
              <a:t>슬라이싱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rcRect r="16425"/>
          <a:stretch/>
        </p:blipFill>
        <p:spPr>
          <a:xfrm>
            <a:off x="904883" y="1201197"/>
            <a:ext cx="6851597" cy="4845039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770" y="4778616"/>
            <a:ext cx="7119157" cy="1267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77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773" y="1649042"/>
            <a:ext cx="8015628" cy="4316660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 err="1"/>
              <a:t>파이썬의</a:t>
            </a:r>
            <a:r>
              <a:rPr lang="ko-KR" altLang="en-US" dirty="0"/>
              <a:t> </a:t>
            </a:r>
            <a:r>
              <a:rPr lang="ko-KR" altLang="en-US" dirty="0" err="1"/>
              <a:t>슬라이싱</a:t>
            </a:r>
            <a:r>
              <a:rPr lang="ko-KR" altLang="en-US" dirty="0"/>
              <a:t> 기능은 음수 인덱스와 음수 스텝 값을 지원</a:t>
            </a:r>
          </a:p>
          <a:p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71C71A91-0353-02FE-FE6C-0CE8BDD93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6.9 </a:t>
            </a:r>
            <a:r>
              <a:rPr lang="ko-KR" altLang="en-US" dirty="0"/>
              <a:t>리스트의 </a:t>
            </a:r>
            <a:r>
              <a:rPr lang="ko-KR" altLang="en-US" dirty="0" err="1"/>
              <a:t>슬라이싱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8002570" y="3942603"/>
            <a:ext cx="2805576" cy="3385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sz="1600" dirty="0"/>
              <a:t>end </a:t>
            </a:r>
            <a:r>
              <a:rPr lang="ko-KR" altLang="en-US" sz="1600" dirty="0"/>
              <a:t>인덱스는 포함하지 않음</a:t>
            </a:r>
          </a:p>
        </p:txBody>
      </p:sp>
    </p:spTree>
    <p:extLst>
      <p:ext uri="{BB962C8B-B14F-4D97-AF65-F5344CB8AC3E}">
        <p14:creationId xmlns:p14="http://schemas.microsoft.com/office/powerpoint/2010/main" val="4258259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DD9D457B-75B8-D6CB-AACE-C036D5C72CB5}"/>
              </a:ext>
            </a:extLst>
          </p:cNvPr>
          <p:cNvGrpSpPr/>
          <p:nvPr/>
        </p:nvGrpSpPr>
        <p:grpSpPr>
          <a:xfrm>
            <a:off x="1277469" y="2260135"/>
            <a:ext cx="6243919" cy="3539445"/>
            <a:chOff x="838199" y="2385641"/>
            <a:chExt cx="6801197" cy="3855345"/>
          </a:xfrm>
        </p:grpSpPr>
        <p:pic>
          <p:nvPicPr>
            <p:cNvPr id="9" name="그림 8"/>
            <p:cNvPicPr>
              <a:picLocks noChangeAspect="1"/>
            </p:cNvPicPr>
            <p:nvPr/>
          </p:nvPicPr>
          <p:blipFill rotWithShape="1">
            <a:blip r:embed="rId2"/>
            <a:srcRect r="22608"/>
            <a:stretch/>
          </p:blipFill>
          <p:spPr>
            <a:xfrm>
              <a:off x="838199" y="5445006"/>
              <a:ext cx="6801197" cy="795980"/>
            </a:xfrm>
            <a:prstGeom prst="rect">
              <a:avLst/>
            </a:prstGeom>
          </p:spPr>
        </p:pic>
        <p:pic>
          <p:nvPicPr>
            <p:cNvPr id="8" name="그림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8199" y="2998470"/>
              <a:ext cx="6104468" cy="2325169"/>
            </a:xfrm>
            <a:prstGeom prst="rect">
              <a:avLst/>
            </a:prstGeom>
          </p:spPr>
        </p:pic>
        <p:pic>
          <p:nvPicPr>
            <p:cNvPr id="5" name="그림 4"/>
            <p:cNvPicPr>
              <a:picLocks noChangeAspect="1"/>
            </p:cNvPicPr>
            <p:nvPr/>
          </p:nvPicPr>
          <p:blipFill rotWithShape="1">
            <a:blip r:embed="rId4"/>
            <a:srcRect l="1777" t="16631" r="22298" b="9444"/>
            <a:stretch/>
          </p:blipFill>
          <p:spPr>
            <a:xfrm>
              <a:off x="838199" y="2385641"/>
              <a:ext cx="6792885" cy="506481"/>
            </a:xfrm>
            <a:prstGeom prst="rect">
              <a:avLst/>
            </a:prstGeom>
          </p:spPr>
        </p:pic>
      </p:grp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시작 인덱스와 마지막 인덱스가 명시된 리스트 </a:t>
            </a:r>
            <a:r>
              <a:rPr lang="ko-KR" altLang="en-US" sz="2400" dirty="0" err="1"/>
              <a:t>슬라이싱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6.9 </a:t>
            </a:r>
            <a:r>
              <a:rPr lang="ko-KR" altLang="en-US" dirty="0"/>
              <a:t>리스트의 </a:t>
            </a:r>
            <a:r>
              <a:rPr lang="ko-KR" altLang="en-US" dirty="0" err="1"/>
              <a:t>슬라이싱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6DD6078-C077-A504-5964-A8676C0F6573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 dirty="0" err="1"/>
              <a:t>a_list</a:t>
            </a:r>
            <a:r>
              <a:rPr lang="en-US" altLang="ko-KR" dirty="0"/>
              <a:t>[1]</a:t>
            </a:r>
            <a:r>
              <a:rPr lang="ko-KR" altLang="en-US" dirty="0"/>
              <a:t>부터 </a:t>
            </a:r>
            <a:r>
              <a:rPr lang="en-US" altLang="ko-KR" dirty="0" err="1"/>
              <a:t>a_list</a:t>
            </a:r>
            <a:r>
              <a:rPr lang="en-US" altLang="ko-KR" dirty="0"/>
              <a:t>[5-1]</a:t>
            </a:r>
            <a:r>
              <a:rPr lang="ko-KR" altLang="en-US" dirty="0"/>
              <a:t>까지 항목을 가져온다</a:t>
            </a:r>
            <a:r>
              <a:rPr lang="en-US" altLang="ko-KR" dirty="0"/>
              <a:t>.</a:t>
            </a:r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56162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ko-KR" altLang="en-US" sz="2400" dirty="0"/>
              <a:t>마지막 </a:t>
            </a:r>
            <a:r>
              <a:rPr lang="ko-KR" altLang="en-US" sz="2400" dirty="0" err="1"/>
              <a:t>슬라이싱</a:t>
            </a:r>
            <a:r>
              <a:rPr lang="ko-KR" altLang="en-US" sz="2400" dirty="0"/>
              <a:t> 인덱스를 생략하는 경우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 latinLnBrk="0"/>
            <a:r>
              <a:rPr lang="en-US" altLang="ko-KR" dirty="0"/>
              <a:t>6.9 </a:t>
            </a:r>
            <a:r>
              <a:rPr lang="ko-KR" altLang="en-US" dirty="0"/>
              <a:t>리스트의 </a:t>
            </a:r>
            <a:r>
              <a:rPr lang="ko-KR" altLang="en-US" dirty="0" err="1"/>
              <a:t>슬라이싱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09AC9DD1-AA94-2E6C-AC6F-B0D9F749A49B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 dirty="0" err="1" smtClean="0"/>
              <a:t>a_list</a:t>
            </a:r>
            <a:r>
              <a:rPr lang="en-US" altLang="ko-KR" dirty="0" smtClean="0"/>
              <a:t>[1:]</a:t>
            </a:r>
            <a:r>
              <a:rPr lang="ko-KR" altLang="en-US" dirty="0" smtClean="0"/>
              <a:t>은 두 번째 항목부터 리스트의 </a:t>
            </a:r>
            <a:r>
              <a:rPr lang="ko-KR" altLang="en-US" dirty="0"/>
              <a:t>마지막 항목까지 </a:t>
            </a:r>
            <a:r>
              <a:rPr lang="ko-KR" altLang="en-US" dirty="0" smtClean="0"/>
              <a:t>가져옴</a:t>
            </a:r>
            <a:endParaRPr lang="ko-KR" altLang="en-US" dirty="0"/>
          </a:p>
          <a:p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/>
          <a:srcRect r="20911"/>
          <a:stretch/>
        </p:blipFill>
        <p:spPr>
          <a:xfrm>
            <a:off x="1350806" y="2187300"/>
            <a:ext cx="7699426" cy="925016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7367" y="3299420"/>
            <a:ext cx="7196968" cy="2597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00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2E3AC0E4-8C88-75F0-4A1D-B057232634FF}"/>
              </a:ext>
            </a:extLst>
          </p:cNvPr>
          <p:cNvGrpSpPr/>
          <p:nvPr/>
        </p:nvGrpSpPr>
        <p:grpSpPr>
          <a:xfrm>
            <a:off x="1336962" y="2227809"/>
            <a:ext cx="7456057" cy="3702076"/>
            <a:chOff x="838198" y="2227364"/>
            <a:chExt cx="8102603" cy="4023099"/>
          </a:xfrm>
        </p:grpSpPr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8198" y="3319245"/>
              <a:ext cx="8027323" cy="2931218"/>
            </a:xfrm>
            <a:prstGeom prst="rect">
              <a:avLst/>
            </a:prstGeom>
          </p:spPr>
        </p:pic>
        <p:pic>
          <p:nvPicPr>
            <p:cNvPr id="7" name="그림 6"/>
            <p:cNvPicPr>
              <a:picLocks noChangeAspect="1"/>
            </p:cNvPicPr>
            <p:nvPr/>
          </p:nvPicPr>
          <p:blipFill rotWithShape="1">
            <a:blip r:embed="rId3"/>
            <a:srcRect r="14553"/>
            <a:stretch/>
          </p:blipFill>
          <p:spPr>
            <a:xfrm>
              <a:off x="838199" y="2227364"/>
              <a:ext cx="8102602" cy="900198"/>
            </a:xfrm>
            <a:prstGeom prst="rect">
              <a:avLst/>
            </a:prstGeom>
          </p:spPr>
        </p:pic>
      </p:grp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ko-KR" altLang="en-US" sz="2400" dirty="0"/>
              <a:t>시작 인덱스와 마지막 인덱스를 모두 생략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altLang="ko-KR" dirty="0"/>
              <a:t>6.9 </a:t>
            </a:r>
            <a:r>
              <a:rPr lang="ko-KR" altLang="en-US" dirty="0"/>
              <a:t>리스트의 </a:t>
            </a:r>
            <a:r>
              <a:rPr lang="ko-KR" altLang="en-US" dirty="0" err="1"/>
              <a:t>슬라이싱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D61A7D28-F1B6-B54E-21A8-57B746728762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리스트의 </a:t>
            </a:r>
            <a:r>
              <a:rPr lang="ko-KR" altLang="en-US" dirty="0">
                <a:solidFill>
                  <a:srgbClr val="FF0000"/>
                </a:solidFill>
              </a:rPr>
              <a:t>모든 항목</a:t>
            </a:r>
            <a:r>
              <a:rPr lang="ko-KR" altLang="en-US" dirty="0"/>
              <a:t>을 다 가져옴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70138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6343" y="2432595"/>
            <a:ext cx="7040421" cy="2072181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ko-KR" altLang="en-US" sz="2400" dirty="0"/>
              <a:t>음수 인덱스를 사용한 </a:t>
            </a:r>
            <a:r>
              <a:rPr lang="ko-KR" altLang="en-US" sz="2400" dirty="0" err="1"/>
              <a:t>슬라이싱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altLang="ko-KR" dirty="0"/>
              <a:t>6.9 </a:t>
            </a:r>
            <a:r>
              <a:rPr lang="ko-KR" altLang="en-US" dirty="0"/>
              <a:t>리스트의 </a:t>
            </a:r>
            <a:r>
              <a:rPr lang="ko-KR" altLang="en-US" dirty="0" err="1"/>
              <a:t>슬라이싱</a:t>
            </a:r>
            <a:endParaRPr lang="ko-KR" altLang="en-US" dirty="0"/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22353284-2B9C-C562-2A25-54FA9AE67DD0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가장 끝 원소의 인덱스가 </a:t>
            </a:r>
            <a:r>
              <a:rPr lang="en-US" altLang="ko-KR" dirty="0"/>
              <a:t>-1</a:t>
            </a:r>
            <a:r>
              <a:rPr lang="ko-KR" altLang="en-US" dirty="0"/>
              <a:t>이 되며 그 앞의 원소가 </a:t>
            </a:r>
            <a:r>
              <a:rPr lang="en-US" altLang="ko-KR" dirty="0"/>
              <a:t>-2, -3, …</a:t>
            </a:r>
            <a:r>
              <a:rPr lang="ko-KR" altLang="en-US" dirty="0"/>
              <a:t>과 같이 부여됨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50257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7958DFCF-48B8-E796-47D6-E19E9C48CC0F}"/>
              </a:ext>
            </a:extLst>
          </p:cNvPr>
          <p:cNvGrpSpPr/>
          <p:nvPr/>
        </p:nvGrpSpPr>
        <p:grpSpPr>
          <a:xfrm>
            <a:off x="2028825" y="2255121"/>
            <a:ext cx="8269159" cy="3948492"/>
            <a:chOff x="838194" y="2268554"/>
            <a:chExt cx="8679879" cy="4144609"/>
          </a:xfrm>
        </p:grpSpPr>
        <p:pic>
          <p:nvPicPr>
            <p:cNvPr id="7" name="그림 6"/>
            <p:cNvPicPr>
              <a:picLocks noChangeAspect="1"/>
            </p:cNvPicPr>
            <p:nvPr/>
          </p:nvPicPr>
          <p:blipFill rotWithShape="1">
            <a:blip r:embed="rId2"/>
            <a:srcRect r="15309"/>
            <a:stretch/>
          </p:blipFill>
          <p:spPr>
            <a:xfrm>
              <a:off x="838194" y="2268554"/>
              <a:ext cx="8679879" cy="962025"/>
            </a:xfrm>
            <a:prstGeom prst="rect">
              <a:avLst/>
            </a:prstGeom>
          </p:spPr>
        </p:pic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8040" y="3369250"/>
              <a:ext cx="8555096" cy="3043913"/>
            </a:xfrm>
            <a:prstGeom prst="rect">
              <a:avLst/>
            </a:prstGeom>
          </p:spPr>
        </p:pic>
      </p:grp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음수 인덱스를 사용한 </a:t>
            </a:r>
            <a:r>
              <a:rPr lang="ko-KR" altLang="en-US" sz="2400" dirty="0" err="1"/>
              <a:t>슬라이싱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6.9 </a:t>
            </a:r>
            <a:r>
              <a:rPr lang="ko-KR" altLang="en-US" dirty="0"/>
              <a:t>리스트의 </a:t>
            </a:r>
            <a:r>
              <a:rPr lang="ko-KR" altLang="en-US" dirty="0" err="1"/>
              <a:t>슬라이싱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E3F6720-6516-D12B-4476-A8C239A13D6F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 spc="-40" dirty="0" err="1"/>
              <a:t>a_list</a:t>
            </a:r>
            <a:r>
              <a:rPr lang="en-US" altLang="ko-KR" spc="-40" dirty="0"/>
              <a:t>[-7:-2]</a:t>
            </a:r>
            <a:r>
              <a:rPr lang="ko-KR" altLang="en-US" spc="-40" dirty="0"/>
              <a:t>를 설정한다면 </a:t>
            </a:r>
            <a:r>
              <a:rPr lang="en-US" altLang="ko-KR" spc="-40" dirty="0"/>
              <a:t>[</a:t>
            </a:r>
            <a:r>
              <a:rPr lang="ko-KR" altLang="en-US" spc="-40" dirty="0"/>
              <a:t>그림 </a:t>
            </a:r>
            <a:r>
              <a:rPr lang="en-US" altLang="ko-KR" spc="-40" dirty="0"/>
              <a:t>5-10]</a:t>
            </a:r>
            <a:r>
              <a:rPr lang="ko-KR" altLang="en-US" spc="-40" dirty="0"/>
              <a:t>과 같이 </a:t>
            </a:r>
            <a:r>
              <a:rPr lang="en-US" altLang="ko-KR" spc="-40" dirty="0"/>
              <a:t>[20, 30, 40, 50, 60] </a:t>
            </a:r>
            <a:r>
              <a:rPr lang="ko-KR" altLang="en-US" spc="-40" dirty="0"/>
              <a:t>항목을 포함하게 된다</a:t>
            </a:r>
            <a:r>
              <a:rPr lang="en-US" altLang="ko-KR" spc="-40" dirty="0"/>
              <a:t>.</a:t>
            </a:r>
            <a:endParaRPr lang="ko-KR" altLang="en-US" spc="-40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95685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85BF1E07-8028-63A9-8FE0-47C746B5AC55}"/>
              </a:ext>
            </a:extLst>
          </p:cNvPr>
          <p:cNvGrpSpPr/>
          <p:nvPr/>
        </p:nvGrpSpPr>
        <p:grpSpPr>
          <a:xfrm>
            <a:off x="2438399" y="2438400"/>
            <a:ext cx="7515137" cy="3397778"/>
            <a:chOff x="838199" y="2668027"/>
            <a:chExt cx="8671562" cy="3920626"/>
          </a:xfrm>
        </p:grpSpPr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37606" y="3664584"/>
              <a:ext cx="8065078" cy="2924069"/>
            </a:xfrm>
            <a:prstGeom prst="rect">
              <a:avLst/>
            </a:prstGeom>
          </p:spPr>
        </p:pic>
        <p:pic>
          <p:nvPicPr>
            <p:cNvPr id="4" name="그림 3"/>
            <p:cNvPicPr>
              <a:picLocks noChangeAspect="1"/>
            </p:cNvPicPr>
            <p:nvPr/>
          </p:nvPicPr>
          <p:blipFill rotWithShape="1">
            <a:blip r:embed="rId3"/>
            <a:srcRect r="15781"/>
            <a:stretch/>
          </p:blipFill>
          <p:spPr>
            <a:xfrm>
              <a:off x="838199" y="2668027"/>
              <a:ext cx="8671562" cy="923925"/>
            </a:xfrm>
            <a:prstGeom prst="rect">
              <a:avLst/>
            </a:prstGeom>
          </p:spPr>
        </p:pic>
      </p:grp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ko-KR" altLang="en-US" sz="2400" dirty="0"/>
              <a:t>음수 인덱스를 사용한 </a:t>
            </a:r>
            <a:r>
              <a:rPr lang="ko-KR" altLang="en-US" sz="2400" dirty="0" err="1"/>
              <a:t>슬라이싱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6.9 </a:t>
            </a:r>
            <a:r>
              <a:rPr lang="ko-KR" altLang="en-US" dirty="0"/>
              <a:t>리스트의 </a:t>
            </a:r>
            <a:r>
              <a:rPr lang="ko-KR" altLang="en-US" dirty="0" err="1"/>
              <a:t>슬라이싱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D6272079-A1D4-4AD4-C81D-7BFDCEE966CA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마지막 인덱스를 생략할 경우 리스트의 마지막 항목까지 가져옴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20545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ko-KR" altLang="en-US" sz="2400" dirty="0"/>
              <a:t>음수 인덱스를 사용한 </a:t>
            </a:r>
            <a:r>
              <a:rPr lang="ko-KR" altLang="en-US" sz="2400" dirty="0" err="1"/>
              <a:t>슬라이싱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6.9 </a:t>
            </a:r>
            <a:r>
              <a:rPr lang="ko-KR" altLang="en-US" dirty="0"/>
              <a:t>리스트의 </a:t>
            </a:r>
            <a:r>
              <a:rPr lang="ko-KR" altLang="en-US" dirty="0" err="1"/>
              <a:t>슬라이싱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3B930653-5BBB-429A-EC5A-83079943280C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 fontAlgn="base"/>
            <a:r>
              <a:rPr lang="ko-KR" altLang="en-US" dirty="0"/>
              <a:t>첫 번째 인덱스를 생략하여 </a:t>
            </a:r>
            <a:r>
              <a:rPr lang="ko-KR" altLang="en-US" dirty="0" err="1" smtClean="0"/>
              <a:t>슬라이싱할</a:t>
            </a:r>
            <a:r>
              <a:rPr lang="ko-KR" altLang="en-US" dirty="0" smtClean="0"/>
              <a:t> 경우 처음부터 가져옴</a:t>
            </a:r>
            <a:endParaRPr lang="en-US" altLang="ko-KR" dirty="0"/>
          </a:p>
          <a:p>
            <a:pPr lvl="1" fontAlgn="base"/>
            <a:r>
              <a:rPr lang="en-US" altLang="ko-KR" dirty="0"/>
              <a:t>(-2-1)=-3 </a:t>
            </a:r>
            <a:r>
              <a:rPr lang="ko-KR" altLang="en-US" dirty="0" smtClean="0"/>
              <a:t>인덱스까지의 </a:t>
            </a:r>
            <a:r>
              <a:rPr lang="ko-KR" altLang="en-US" dirty="0"/>
              <a:t>항목 값을 가져옴</a:t>
            </a:r>
          </a:p>
          <a:p>
            <a:pPr lvl="1" fontAlgn="base"/>
            <a:endParaRPr lang="en-US" altLang="ko-KR" dirty="0"/>
          </a:p>
          <a:p>
            <a:pPr marL="0" indent="0" fontAlgn="base">
              <a:buNone/>
            </a:pPr>
            <a:endParaRPr lang="ko-KR" altLang="en-US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07AF578D-7F25-1B43-BF37-0B5FE3ED2630}"/>
              </a:ext>
            </a:extLst>
          </p:cNvPr>
          <p:cNvGrpSpPr/>
          <p:nvPr/>
        </p:nvGrpSpPr>
        <p:grpSpPr>
          <a:xfrm>
            <a:off x="2340055" y="2639755"/>
            <a:ext cx="7469160" cy="3330140"/>
            <a:chOff x="838201" y="2706430"/>
            <a:chExt cx="8164484" cy="3640152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04355" y="3612907"/>
              <a:ext cx="8039100" cy="2733675"/>
            </a:xfrm>
            <a:prstGeom prst="rect">
              <a:avLst/>
            </a:prstGeom>
          </p:spPr>
        </p:pic>
        <p:pic>
          <p:nvPicPr>
            <p:cNvPr id="7" name="그림 6"/>
            <p:cNvPicPr>
              <a:picLocks noChangeAspect="1"/>
            </p:cNvPicPr>
            <p:nvPr/>
          </p:nvPicPr>
          <p:blipFill rotWithShape="1">
            <a:blip r:embed="rId3"/>
            <a:srcRect r="19666"/>
            <a:stretch/>
          </p:blipFill>
          <p:spPr>
            <a:xfrm>
              <a:off x="838201" y="2706430"/>
              <a:ext cx="8164484" cy="7715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22054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ko-KR" altLang="en-US" sz="2400" dirty="0"/>
              <a:t>음수 인덱스를 사용한 </a:t>
            </a:r>
            <a:r>
              <a:rPr lang="ko-KR" altLang="en-US" sz="2400" dirty="0" err="1"/>
              <a:t>슬라이싱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6.9 </a:t>
            </a:r>
            <a:r>
              <a:rPr lang="ko-KR" altLang="en-US" dirty="0"/>
              <a:t>리스트의 </a:t>
            </a:r>
            <a:r>
              <a:rPr lang="ko-KR" altLang="en-US" dirty="0" err="1"/>
              <a:t>슬라이싱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3B930653-5BBB-429A-EC5A-83079943280C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 fontAlgn="base"/>
            <a:r>
              <a:rPr lang="en-US" altLang="ko-KR" dirty="0" err="1"/>
              <a:t>a_list</a:t>
            </a:r>
            <a:r>
              <a:rPr lang="en-US" altLang="ko-KR" dirty="0"/>
              <a:t>[-2:]</a:t>
            </a:r>
            <a:r>
              <a:rPr lang="ko-KR" altLang="en-US" dirty="0"/>
              <a:t>를 통해 </a:t>
            </a:r>
            <a:r>
              <a:rPr lang="ko-KR" altLang="en-US" dirty="0" err="1"/>
              <a:t>슬라이싱</a:t>
            </a:r>
            <a:endParaRPr lang="en-US" altLang="ko-KR" dirty="0"/>
          </a:p>
          <a:p>
            <a:pPr lvl="1" fontAlgn="base"/>
            <a:r>
              <a:rPr lang="ko-KR" altLang="en-US" dirty="0"/>
              <a:t>맨 뒤에서부터 </a:t>
            </a:r>
            <a:r>
              <a:rPr lang="en-US" altLang="ko-KR" dirty="0"/>
              <a:t>2</a:t>
            </a:r>
            <a:r>
              <a:rPr lang="ko-KR" altLang="en-US" dirty="0"/>
              <a:t>개의 인덱스를 </a:t>
            </a:r>
            <a:r>
              <a:rPr lang="ko-KR" altLang="en-US" dirty="0" err="1"/>
              <a:t>슬라이싱한다</a:t>
            </a:r>
            <a:r>
              <a:rPr lang="en-US" altLang="ko-KR" dirty="0"/>
              <a:t>.</a:t>
            </a:r>
            <a:endParaRPr lang="ko-KR" altLang="en-US" dirty="0"/>
          </a:p>
          <a:p>
            <a:pPr lvl="1" fontAlgn="base"/>
            <a:endParaRPr lang="ko-KR" altLang="en-US" dirty="0"/>
          </a:p>
          <a:p>
            <a:pPr lvl="1" fontAlgn="base"/>
            <a:endParaRPr lang="en-US" altLang="ko-KR" dirty="0"/>
          </a:p>
          <a:p>
            <a:pPr fontAlgn="base"/>
            <a:endParaRPr lang="ko-KR" altLang="en-US" dirty="0"/>
          </a:p>
          <a:p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85C38B63-66FF-002F-4515-48E702D63606}"/>
              </a:ext>
            </a:extLst>
          </p:cNvPr>
          <p:cNvGrpSpPr/>
          <p:nvPr/>
        </p:nvGrpSpPr>
        <p:grpSpPr>
          <a:xfrm>
            <a:off x="789622" y="2691980"/>
            <a:ext cx="10612756" cy="3354257"/>
            <a:chOff x="838200" y="2756024"/>
            <a:chExt cx="11235190" cy="3550983"/>
          </a:xfrm>
        </p:grpSpPr>
        <p:pic>
          <p:nvPicPr>
            <p:cNvPr id="9" name="그림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8200" y="2761198"/>
              <a:ext cx="6352309" cy="3545809"/>
            </a:xfrm>
            <a:prstGeom prst="rect">
              <a:avLst/>
            </a:prstGeom>
          </p:spPr>
        </p:pic>
        <p:pic>
          <p:nvPicPr>
            <p:cNvPr id="8" name="그림 7"/>
            <p:cNvPicPr>
              <a:picLocks noChangeAspect="1"/>
            </p:cNvPicPr>
            <p:nvPr/>
          </p:nvPicPr>
          <p:blipFill rotWithShape="1">
            <a:blip r:embed="rId3"/>
            <a:srcRect r="48869"/>
            <a:stretch/>
          </p:blipFill>
          <p:spPr>
            <a:xfrm>
              <a:off x="7315197" y="3619810"/>
              <a:ext cx="4758193" cy="928890"/>
            </a:xfrm>
            <a:prstGeom prst="rect">
              <a:avLst/>
            </a:prstGeom>
          </p:spPr>
        </p:pic>
        <p:pic>
          <p:nvPicPr>
            <p:cNvPr id="10" name="그림 9"/>
            <p:cNvPicPr>
              <a:picLocks noChangeAspect="1"/>
            </p:cNvPicPr>
            <p:nvPr/>
          </p:nvPicPr>
          <p:blipFill rotWithShape="1">
            <a:blip r:embed="rId4"/>
            <a:srcRect r="48504"/>
            <a:stretch/>
          </p:blipFill>
          <p:spPr>
            <a:xfrm>
              <a:off x="7315198" y="2756024"/>
              <a:ext cx="4758192" cy="9418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27932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ko-KR" altLang="en-US" sz="2400" dirty="0" err="1"/>
              <a:t>슬라이싱의</a:t>
            </a:r>
            <a:r>
              <a:rPr lang="ko-KR" altLang="en-US" sz="2400" dirty="0"/>
              <a:t> 덧셈 결과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6.9 </a:t>
            </a:r>
            <a:r>
              <a:rPr lang="ko-KR" altLang="en-US" dirty="0"/>
              <a:t>리스트의 </a:t>
            </a:r>
            <a:r>
              <a:rPr lang="ko-KR" altLang="en-US" dirty="0" err="1"/>
              <a:t>슬라이싱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3B930653-5BBB-429A-EC5A-83079943280C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 fontAlgn="base"/>
            <a:r>
              <a:rPr lang="en-US" altLang="ko-KR" dirty="0" err="1"/>
              <a:t>a_list</a:t>
            </a:r>
            <a:r>
              <a:rPr lang="en-US" altLang="ko-KR" dirty="0"/>
              <a:t>[:-2] + </a:t>
            </a:r>
            <a:r>
              <a:rPr lang="en-US" altLang="ko-KR" dirty="0" err="1"/>
              <a:t>a_list</a:t>
            </a:r>
            <a:r>
              <a:rPr lang="en-US" altLang="ko-KR" dirty="0"/>
              <a:t>[-2:]</a:t>
            </a:r>
            <a:r>
              <a:rPr lang="ko-KR" altLang="en-US" dirty="0"/>
              <a:t>은 </a:t>
            </a:r>
            <a:r>
              <a:rPr lang="en-US" altLang="ko-KR" dirty="0" err="1"/>
              <a:t>a_list</a:t>
            </a:r>
            <a:r>
              <a:rPr lang="en-US" altLang="ko-KR" dirty="0"/>
              <a:t>[:]</a:t>
            </a:r>
            <a:r>
              <a:rPr lang="ko-KR" altLang="en-US" dirty="0"/>
              <a:t>와 같다</a:t>
            </a:r>
            <a:r>
              <a:rPr lang="en-US" altLang="ko-KR" dirty="0"/>
              <a:t>.</a:t>
            </a:r>
          </a:p>
          <a:p>
            <a:pPr fontAlgn="base"/>
            <a:r>
              <a:rPr lang="en-US" altLang="ko-KR" dirty="0" err="1"/>
              <a:t>a_list</a:t>
            </a:r>
            <a:r>
              <a:rPr lang="en-US" altLang="ko-KR" dirty="0"/>
              <a:t>[-2:] + </a:t>
            </a:r>
            <a:r>
              <a:rPr lang="en-US" altLang="ko-KR" dirty="0" err="1"/>
              <a:t>a_list</a:t>
            </a:r>
            <a:r>
              <a:rPr lang="en-US" altLang="ko-KR" dirty="0"/>
              <a:t>[:-2]</a:t>
            </a:r>
            <a:r>
              <a:rPr lang="ko-KR" altLang="en-US" dirty="0"/>
              <a:t>의 결과는 </a:t>
            </a:r>
            <a:r>
              <a:rPr lang="en-US" altLang="ko-KR" dirty="0" err="1"/>
              <a:t>a_list</a:t>
            </a:r>
            <a:r>
              <a:rPr lang="en-US" altLang="ko-KR" dirty="0"/>
              <a:t>[:]</a:t>
            </a:r>
            <a:r>
              <a:rPr lang="ko-KR" altLang="en-US" dirty="0"/>
              <a:t>와 같지 않다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7071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ko-KR" altLang="en-US" sz="2400" dirty="0" err="1"/>
              <a:t>슬라이싱에서</a:t>
            </a:r>
            <a:r>
              <a:rPr lang="ko-KR" altLang="en-US" sz="2400" dirty="0"/>
              <a:t> 사용하는 스텝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6.9 </a:t>
            </a:r>
            <a:r>
              <a:rPr lang="ko-KR" altLang="en-US" dirty="0"/>
              <a:t>리스트의 </a:t>
            </a:r>
            <a:r>
              <a:rPr lang="ko-KR" altLang="en-US" dirty="0" err="1"/>
              <a:t>슬라이싱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3B930653-5BBB-429A-EC5A-83079943280C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 fontAlgn="base"/>
            <a:r>
              <a:rPr lang="ko-KR" altLang="en-US" dirty="0"/>
              <a:t>특정 구간의 원소들을 일정한 간격</a:t>
            </a:r>
            <a:r>
              <a:rPr lang="en-US" altLang="ko-KR" dirty="0"/>
              <a:t>(</a:t>
            </a:r>
            <a:r>
              <a:rPr lang="ko-KR" altLang="en-US" dirty="0"/>
              <a:t>스텝</a:t>
            </a:r>
            <a:r>
              <a:rPr lang="en-US" altLang="ko-KR" dirty="0"/>
              <a:t>)</a:t>
            </a:r>
            <a:r>
              <a:rPr lang="ko-KR" altLang="en-US" dirty="0"/>
              <a:t>만큼 건너뛰며 가져오는 역할</a:t>
            </a:r>
          </a:p>
          <a:p>
            <a:endParaRPr lang="ko-KR" alt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10E843E8-6142-0574-1DC8-D9E699CCEF97}"/>
              </a:ext>
            </a:extLst>
          </p:cNvPr>
          <p:cNvGrpSpPr/>
          <p:nvPr/>
        </p:nvGrpSpPr>
        <p:grpSpPr>
          <a:xfrm>
            <a:off x="1314451" y="2304600"/>
            <a:ext cx="7105650" cy="3476281"/>
            <a:chOff x="838200" y="2591180"/>
            <a:chExt cx="7848601" cy="3839753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5C97DC12-39D8-89CB-5780-56847B6734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970" t="9993" r="23779" b="10597"/>
            <a:stretch/>
          </p:blipFill>
          <p:spPr>
            <a:xfrm>
              <a:off x="838201" y="2591180"/>
              <a:ext cx="7848600" cy="839585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8447F830-B217-216E-6634-A4557BA563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8200" y="3503900"/>
              <a:ext cx="7802190" cy="292703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40819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C2B5BC50-01E9-AD48-AD8E-18EC69803386}"/>
              </a:ext>
            </a:extLst>
          </p:cNvPr>
          <p:cNvGrpSpPr/>
          <p:nvPr/>
        </p:nvGrpSpPr>
        <p:grpSpPr>
          <a:xfrm>
            <a:off x="1257300" y="2721754"/>
            <a:ext cx="8934450" cy="3080169"/>
            <a:chOff x="838200" y="2567175"/>
            <a:chExt cx="10515600" cy="3625274"/>
          </a:xfrm>
        </p:grpSpPr>
        <p:pic>
          <p:nvPicPr>
            <p:cNvPr id="7" name="그림 6"/>
            <p:cNvPicPr>
              <a:picLocks noChangeAspect="1"/>
            </p:cNvPicPr>
            <p:nvPr/>
          </p:nvPicPr>
          <p:blipFill rotWithShape="1">
            <a:blip r:embed="rId2"/>
            <a:srcRect r="27651"/>
            <a:stretch/>
          </p:blipFill>
          <p:spPr>
            <a:xfrm>
              <a:off x="4417136" y="2567175"/>
              <a:ext cx="6936664" cy="887594"/>
            </a:xfrm>
            <a:prstGeom prst="rect">
              <a:avLst/>
            </a:prstGeom>
          </p:spPr>
        </p:pic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8200" y="3665913"/>
              <a:ext cx="6485313" cy="2526536"/>
            </a:xfrm>
            <a:prstGeom prst="rect">
              <a:avLst/>
            </a:prstGeom>
          </p:spPr>
        </p:pic>
      </p:grp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 err="1"/>
              <a:t>슬라이싱에서</a:t>
            </a:r>
            <a:r>
              <a:rPr lang="ko-KR" altLang="en-US" sz="2400" dirty="0"/>
              <a:t> 사용하는 스텝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6.9 </a:t>
            </a:r>
            <a:r>
              <a:rPr lang="ko-KR" altLang="en-US" dirty="0"/>
              <a:t>리스트의 </a:t>
            </a:r>
            <a:r>
              <a:rPr lang="ko-KR" altLang="en-US" dirty="0" err="1"/>
              <a:t>슬라이싱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685F06F6-1AC6-C6FC-D17F-1BC4F0BDC283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 fontAlgn="base"/>
            <a:r>
              <a:rPr lang="ko-KR" altLang="en-US" dirty="0"/>
              <a:t>음수의 스텝 값을 줄 경우 전체 구간의 뒤에서부터 앞으로 나아가며 </a:t>
            </a:r>
            <a:r>
              <a:rPr lang="ko-KR" altLang="en-US" dirty="0" err="1"/>
              <a:t>슬라이싱</a:t>
            </a:r>
            <a:endParaRPr lang="ko-KR" altLang="en-US" dirty="0"/>
          </a:p>
          <a:p>
            <a:pPr fontAlgn="base"/>
            <a:r>
              <a:rPr lang="en-US" altLang="ko-KR" dirty="0" err="1"/>
              <a:t>a_list</a:t>
            </a:r>
            <a:r>
              <a:rPr lang="en-US" altLang="ko-KR" dirty="0"/>
              <a:t>[::-1]</a:t>
            </a:r>
            <a:r>
              <a:rPr lang="ko-KR" altLang="en-US" dirty="0"/>
              <a:t>의 예시</a:t>
            </a:r>
            <a:endParaRPr lang="en-US" altLang="ko-KR" dirty="0"/>
          </a:p>
          <a:p>
            <a:pPr fontAlgn="base"/>
            <a:endParaRPr lang="ko-KR" altLang="en-US" dirty="0"/>
          </a:p>
          <a:p>
            <a:pPr lvl="1" fontAlgn="base"/>
            <a:endParaRPr lang="ko-KR" altLang="en-US" dirty="0"/>
          </a:p>
          <a:p>
            <a:pPr lvl="1" fontAlgn="base"/>
            <a:endParaRPr lang="en-US" altLang="ko-KR" dirty="0"/>
          </a:p>
          <a:p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28171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075F0F-B167-2E99-C50C-97C1F603C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6.9 </a:t>
            </a:r>
            <a:r>
              <a:rPr lang="ko-KR" altLang="en-US" dirty="0"/>
              <a:t>리스트의 </a:t>
            </a:r>
            <a:r>
              <a:rPr lang="ko-KR" altLang="en-US" dirty="0" err="1"/>
              <a:t>슬라이싱</a:t>
            </a:r>
            <a:endParaRPr lang="ko-KR" altLang="en-US" dirty="0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3122383" y="346646"/>
            <a:ext cx="7535107" cy="6520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064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989" y="2179177"/>
            <a:ext cx="6626705" cy="4095532"/>
          </a:xfrm>
          <a:prstGeom prst="rect">
            <a:avLst/>
          </a:prstGeom>
        </p:spPr>
      </p:pic>
      <p:sp>
        <p:nvSpPr>
          <p:cNvPr id="4" name="제목 3"/>
          <p:cNvSpPr>
            <a:spLocks noGrp="1"/>
          </p:cNvSpPr>
          <p:nvPr>
            <p:ph type="ctrTitle"/>
          </p:nvPr>
        </p:nvSpPr>
        <p:spPr>
          <a:xfrm>
            <a:off x="3495675" y="1255713"/>
            <a:ext cx="9144000" cy="2387600"/>
          </a:xfrm>
        </p:spPr>
        <p:txBody>
          <a:bodyPr/>
          <a:lstStyle/>
          <a:p>
            <a:r>
              <a:rPr lang="en-US" altLang="ko-KR"/>
              <a:t>Questions?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7676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12874</TotalTime>
  <Words>1592</Words>
  <Application>Microsoft Office PowerPoint</Application>
  <PresentationFormat>와이드스크린</PresentationFormat>
  <Paragraphs>261</Paragraphs>
  <Slides>70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70</vt:i4>
      </vt:variant>
    </vt:vector>
  </HeadingPairs>
  <TitlesOfParts>
    <vt:vector size="74" baseType="lpstr">
      <vt:lpstr>D2Coding</vt:lpstr>
      <vt:lpstr>맑은 고딕</vt:lpstr>
      <vt:lpstr>Arial</vt:lpstr>
      <vt:lpstr>Office 테마</vt:lpstr>
      <vt:lpstr>PowerPoint 프레젠테이션</vt:lpstr>
      <vt:lpstr>PowerPoint 프레젠테이션</vt:lpstr>
      <vt:lpstr>6.1 리스트 자료형의 필요성</vt:lpstr>
      <vt:lpstr>6.1 리스트 자료형의 필요성</vt:lpstr>
      <vt:lpstr>6.1 리스트 자료형의 필요성</vt:lpstr>
      <vt:lpstr>6.1 리스트 자료형의 필요성</vt:lpstr>
      <vt:lpstr>6.1 리스트 자료형의 필요성</vt:lpstr>
      <vt:lpstr>6.1 리스트 자료형의 필요성</vt:lpstr>
      <vt:lpstr>6.1 리스트 자료형의 필요성</vt:lpstr>
      <vt:lpstr>6.2 리스트의 인덱스</vt:lpstr>
      <vt:lpstr>6.2 리스트의 인덱스</vt:lpstr>
      <vt:lpstr>6.2 리스트의 인덱스</vt:lpstr>
      <vt:lpstr>6.2 리스트의 인덱스</vt:lpstr>
      <vt:lpstr>6.2 리스트의 인덱스</vt:lpstr>
      <vt:lpstr>6.2 리스트의 인덱스</vt:lpstr>
      <vt:lpstr>6.2 리스트의 인덱스</vt:lpstr>
      <vt:lpstr>6.3 리스트 항목의 추가와 삭제</vt:lpstr>
      <vt:lpstr>6.3 리스트 항목의 추가와 삭제</vt:lpstr>
      <vt:lpstr>6.3 리스트 항목의 추가와 삭제</vt:lpstr>
      <vt:lpstr>6.3 리스트 항목의 추가와 삭제</vt:lpstr>
      <vt:lpstr>6.3 리스트 항목의 추가와 삭제</vt:lpstr>
      <vt:lpstr>6.4 멤버 연산자: in, not in</vt:lpstr>
      <vt:lpstr>6.4 멤버 연산자: in, not in</vt:lpstr>
      <vt:lpstr>6.4 멤버 연산자: in, not in</vt:lpstr>
      <vt:lpstr>6.4 멤버 연산자: in, not in</vt:lpstr>
      <vt:lpstr>6.4 멤버 연산자: in, not in</vt:lpstr>
      <vt:lpstr>6.4 멤버 연산자: in, not in</vt:lpstr>
      <vt:lpstr>6.5 리스트에 적용되는 내장함수</vt:lpstr>
      <vt:lpstr>6.5 리스트에 적용되는 내장함수</vt:lpstr>
      <vt:lpstr>6.5 리스트에 적용되는 내장함수</vt:lpstr>
      <vt:lpstr>6.5 리스트에 적용되는 내장함수</vt:lpstr>
      <vt:lpstr>6.5 리스트에 적용되는 내장함수</vt:lpstr>
      <vt:lpstr>6.6 리스트의 메소드</vt:lpstr>
      <vt:lpstr>6.6 리스트의 메소드</vt:lpstr>
      <vt:lpstr>6.6 리스트의 메소드</vt:lpstr>
      <vt:lpstr>6.6 리스트의 메소드</vt:lpstr>
      <vt:lpstr>6.6 리스트의 메소드</vt:lpstr>
      <vt:lpstr>6.6 리스트의 메소드</vt:lpstr>
      <vt:lpstr>6.6 리스트의 메소드</vt:lpstr>
      <vt:lpstr>6.6 리스트의 메소드</vt:lpstr>
      <vt:lpstr>6.6 리스트의 메소드</vt:lpstr>
      <vt:lpstr>6.6 리스트의 메소드</vt:lpstr>
      <vt:lpstr>6.6 리스트의 메소드</vt:lpstr>
      <vt:lpstr>6.6 리스트의 메소드</vt:lpstr>
      <vt:lpstr>6.7 리스트와 연산</vt:lpstr>
      <vt:lpstr>6.7 리스트와 연산</vt:lpstr>
      <vt:lpstr>6.7 리스트와 연산</vt:lpstr>
      <vt:lpstr>6.7 리스트와 연산</vt:lpstr>
      <vt:lpstr>6.7 리스트와 연산</vt:lpstr>
      <vt:lpstr>6.7 리스트와 연산</vt:lpstr>
      <vt:lpstr>6.7 리스트와 연산</vt:lpstr>
      <vt:lpstr>6.8 리스트의 내용 갱신을 위한 방법</vt:lpstr>
      <vt:lpstr>6.8 리스트의 내용 갱신을 위한 방법</vt:lpstr>
      <vt:lpstr>6.8 리스트의 내용 갱신을 위한 방법</vt:lpstr>
      <vt:lpstr>6.9 리스트의 슬라이싱</vt:lpstr>
      <vt:lpstr>6.9 리스트의 슬라이싱</vt:lpstr>
      <vt:lpstr>6.9 리스트의 슬라이싱</vt:lpstr>
      <vt:lpstr>6.9 리스트의 슬라이싱</vt:lpstr>
      <vt:lpstr>6.9 리스트의 슬라이싱</vt:lpstr>
      <vt:lpstr>6.9 리스트의 슬라이싱</vt:lpstr>
      <vt:lpstr>6.9 리스트의 슬라이싱</vt:lpstr>
      <vt:lpstr>6.9 리스트의 슬라이싱</vt:lpstr>
      <vt:lpstr>6.9 리스트의 슬라이싱</vt:lpstr>
      <vt:lpstr>6.9 리스트의 슬라이싱</vt:lpstr>
      <vt:lpstr>6.9 리스트의 슬라이싱</vt:lpstr>
      <vt:lpstr>6.9 리스트의 슬라이싱</vt:lpstr>
      <vt:lpstr>6.9 리스트의 슬라이싱</vt:lpstr>
      <vt:lpstr>6.9 리스트의 슬라이싱</vt:lpstr>
      <vt:lpstr>6.9 리스트의 슬라이싱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쫄깃한 파이썬</dc:title>
  <dc:creator>dongupak</dc:creator>
  <cp:lastModifiedBy>박 동규</cp:lastModifiedBy>
  <cp:revision>193</cp:revision>
  <dcterms:created xsi:type="dcterms:W3CDTF">2019-07-01T11:22:40Z</dcterms:created>
  <dcterms:modified xsi:type="dcterms:W3CDTF">2024-10-21T05:44:22Z</dcterms:modified>
</cp:coreProperties>
</file>