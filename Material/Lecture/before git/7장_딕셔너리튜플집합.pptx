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4"/>
  </p:notesMasterIdLst>
  <p:sldIdLst>
    <p:sldId id="445" r:id="rId5"/>
    <p:sldId id="257" r:id="rId6"/>
    <p:sldId id="316" r:id="rId7"/>
    <p:sldId id="344" r:id="rId8"/>
    <p:sldId id="343" r:id="rId9"/>
    <p:sldId id="345" r:id="rId10"/>
    <p:sldId id="323" r:id="rId11"/>
    <p:sldId id="346" r:id="rId12"/>
    <p:sldId id="390" r:id="rId13"/>
    <p:sldId id="417" r:id="rId14"/>
    <p:sldId id="347" r:id="rId15"/>
    <p:sldId id="327" r:id="rId16"/>
    <p:sldId id="418" r:id="rId17"/>
    <p:sldId id="392" r:id="rId18"/>
    <p:sldId id="331" r:id="rId19"/>
    <p:sldId id="348" r:id="rId20"/>
    <p:sldId id="393" r:id="rId21"/>
    <p:sldId id="330" r:id="rId22"/>
    <p:sldId id="349" r:id="rId23"/>
    <p:sldId id="351" r:id="rId24"/>
    <p:sldId id="419" r:id="rId25"/>
    <p:sldId id="352" r:id="rId26"/>
    <p:sldId id="420" r:id="rId27"/>
    <p:sldId id="353" r:id="rId28"/>
    <p:sldId id="329" r:id="rId29"/>
    <p:sldId id="421" r:id="rId30"/>
    <p:sldId id="422" r:id="rId31"/>
    <p:sldId id="423" r:id="rId32"/>
    <p:sldId id="335" r:id="rId33"/>
    <p:sldId id="355" r:id="rId34"/>
    <p:sldId id="395" r:id="rId35"/>
    <p:sldId id="356" r:id="rId36"/>
    <p:sldId id="334" r:id="rId37"/>
    <p:sldId id="424" r:id="rId38"/>
    <p:sldId id="357" r:id="rId39"/>
    <p:sldId id="333" r:id="rId40"/>
    <p:sldId id="358" r:id="rId41"/>
    <p:sldId id="425" r:id="rId42"/>
    <p:sldId id="398" r:id="rId43"/>
    <p:sldId id="360" r:id="rId44"/>
    <p:sldId id="426" r:id="rId45"/>
    <p:sldId id="427" r:id="rId46"/>
    <p:sldId id="361" r:id="rId47"/>
    <p:sldId id="399" r:id="rId48"/>
    <p:sldId id="339" r:id="rId49"/>
    <p:sldId id="428" r:id="rId50"/>
    <p:sldId id="429" r:id="rId51"/>
    <p:sldId id="338" r:id="rId52"/>
    <p:sldId id="363" r:id="rId53"/>
    <p:sldId id="401" r:id="rId54"/>
    <p:sldId id="337" r:id="rId55"/>
    <p:sldId id="430" r:id="rId56"/>
    <p:sldId id="369" r:id="rId57"/>
    <p:sldId id="366" r:id="rId58"/>
    <p:sldId id="370" r:id="rId59"/>
    <p:sldId id="431" r:id="rId60"/>
    <p:sldId id="372" r:id="rId61"/>
    <p:sldId id="365" r:id="rId62"/>
    <p:sldId id="368" r:id="rId63"/>
    <p:sldId id="367" r:id="rId64"/>
    <p:sldId id="402" r:id="rId65"/>
    <p:sldId id="403" r:id="rId66"/>
    <p:sldId id="374" r:id="rId67"/>
    <p:sldId id="432" r:id="rId68"/>
    <p:sldId id="433" r:id="rId69"/>
    <p:sldId id="434" r:id="rId70"/>
    <p:sldId id="435" r:id="rId71"/>
    <p:sldId id="436" r:id="rId72"/>
    <p:sldId id="437" r:id="rId73"/>
    <p:sldId id="438" r:id="rId74"/>
    <p:sldId id="439" r:id="rId75"/>
    <p:sldId id="440" r:id="rId76"/>
    <p:sldId id="441" r:id="rId77"/>
    <p:sldId id="442" r:id="rId78"/>
    <p:sldId id="443" r:id="rId79"/>
    <p:sldId id="444" r:id="rId80"/>
    <p:sldId id="388" r:id="rId81"/>
    <p:sldId id="387" r:id="rId82"/>
    <p:sldId id="413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microsoft.com/office/2016/11/relationships/changesInfo" Target="changesInfos/changesInfo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혜강" userId="98b22b6e-56f4-4429-b5e0-faac91709a9d" providerId="ADAL" clId="{D9EF7A47-50D1-44EF-9EC9-B08CE61B7FF4}"/>
    <pc:docChg chg="modSld">
      <pc:chgData name="안혜강" userId="98b22b6e-56f4-4429-b5e0-faac91709a9d" providerId="ADAL" clId="{D9EF7A47-50D1-44EF-9EC9-B08CE61B7FF4}" dt="2021-02-26T05:30:52.887" v="46" actId="113"/>
      <pc:docMkLst>
        <pc:docMk/>
      </pc:docMkLst>
      <pc:sldChg chg="modSp">
        <pc:chgData name="안혜강" userId="98b22b6e-56f4-4429-b5e0-faac91709a9d" providerId="ADAL" clId="{D9EF7A47-50D1-44EF-9EC9-B08CE61B7FF4}" dt="2021-02-26T05:18:46.733" v="2" actId="113"/>
        <pc:sldMkLst>
          <pc:docMk/>
          <pc:sldMk cId="1635668742" sldId="331"/>
        </pc:sldMkLst>
        <pc:graphicFrameChg chg="modGraphic">
          <ac:chgData name="안혜강" userId="98b22b6e-56f4-4429-b5e0-faac91709a9d" providerId="ADAL" clId="{D9EF7A47-50D1-44EF-9EC9-B08CE61B7FF4}" dt="2021-02-26T05:18:46.733" v="2" actId="113"/>
          <ac:graphicFrameMkLst>
            <pc:docMk/>
            <pc:sldMk cId="1635668742" sldId="331"/>
            <ac:graphicFrameMk id="6" creationId="{1CC523FF-916E-42F3-8D71-7A16C12D3B8F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7:48.321" v="5" actId="113"/>
        <pc:sldMkLst>
          <pc:docMk/>
          <pc:sldMk cId="3666939044" sldId="339"/>
        </pc:sldMkLst>
        <pc:graphicFrameChg chg="modGraphic">
          <ac:chgData name="안혜강" userId="98b22b6e-56f4-4429-b5e0-faac91709a9d" providerId="ADAL" clId="{D9EF7A47-50D1-44EF-9EC9-B08CE61B7FF4}" dt="2021-02-26T05:27:48.321" v="5" actId="113"/>
          <ac:graphicFrameMkLst>
            <pc:docMk/>
            <pc:sldMk cId="3666939044" sldId="339"/>
            <ac:graphicFrameMk id="5" creationId="{9E5D3FD2-FD81-44C5-9615-C76C3D3C070D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19:02.806" v="4" actId="113"/>
        <pc:sldMkLst>
          <pc:docMk/>
          <pc:sldMk cId="1651950050" sldId="353"/>
        </pc:sldMkLst>
        <pc:graphicFrameChg chg="modGraphic">
          <ac:chgData name="안혜강" userId="98b22b6e-56f4-4429-b5e0-faac91709a9d" providerId="ADAL" clId="{D9EF7A47-50D1-44EF-9EC9-B08CE61B7FF4}" dt="2021-02-26T05:19:02.806" v="4" actId="113"/>
          <ac:graphicFrameMkLst>
            <pc:docMk/>
            <pc:sldMk cId="1651950050" sldId="353"/>
            <ac:graphicFrameMk id="5" creationId="{592BB44D-822B-4551-BA37-41DE5972138B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8:28.128" v="10" actId="113"/>
        <pc:sldMkLst>
          <pc:docMk/>
          <pc:sldMk cId="775057621" sldId="375"/>
        </pc:sldMkLst>
        <pc:graphicFrameChg chg="modGraphic">
          <ac:chgData name="안혜강" userId="98b22b6e-56f4-4429-b5e0-faac91709a9d" providerId="ADAL" clId="{D9EF7A47-50D1-44EF-9EC9-B08CE61B7FF4}" dt="2021-02-26T05:28:28.128" v="10" actId="113"/>
          <ac:graphicFrameMkLst>
            <pc:docMk/>
            <pc:sldMk cId="775057621" sldId="375"/>
            <ac:graphicFrameMk id="7" creationId="{C3D938E5-AAEE-4B30-B1F2-F6F597724347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9:54.640" v="34" actId="113"/>
        <pc:sldMkLst>
          <pc:docMk/>
          <pc:sldMk cId="2107957014" sldId="378"/>
        </pc:sldMkLst>
        <pc:graphicFrameChg chg="modGraphic">
          <ac:chgData name="안혜강" userId="98b22b6e-56f4-4429-b5e0-faac91709a9d" providerId="ADAL" clId="{D9EF7A47-50D1-44EF-9EC9-B08CE61B7FF4}" dt="2021-02-26T05:29:54.640" v="34" actId="113"/>
          <ac:graphicFrameMkLst>
            <pc:docMk/>
            <pc:sldMk cId="2107957014" sldId="378"/>
            <ac:graphicFrameMk id="5" creationId="{5AF21FCF-B6FE-4A4B-98D7-FBE7CB17E02A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30:52.887" v="46" actId="113"/>
        <pc:sldMkLst>
          <pc:docMk/>
          <pc:sldMk cId="3653205957" sldId="383"/>
        </pc:sldMkLst>
        <pc:graphicFrameChg chg="modGraphic">
          <ac:chgData name="안혜강" userId="98b22b6e-56f4-4429-b5e0-faac91709a9d" providerId="ADAL" clId="{D9EF7A47-50D1-44EF-9EC9-B08CE61B7FF4}" dt="2021-02-26T05:30:52.887" v="46" actId="113"/>
          <ac:graphicFrameMkLst>
            <pc:docMk/>
            <pc:sldMk cId="3653205957" sldId="383"/>
            <ac:graphicFrameMk id="5" creationId="{27AB8D59-8538-4716-A9A7-6D2983C131BE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8:46.504" v="17" actId="113"/>
        <pc:sldMkLst>
          <pc:docMk/>
          <pc:sldMk cId="830879901" sldId="405"/>
        </pc:sldMkLst>
        <pc:graphicFrameChg chg="modGraphic">
          <ac:chgData name="안혜강" userId="98b22b6e-56f4-4429-b5e0-faac91709a9d" providerId="ADAL" clId="{D9EF7A47-50D1-44EF-9EC9-B08CE61B7FF4}" dt="2021-02-26T05:28:46.504" v="17" actId="113"/>
          <ac:graphicFrameMkLst>
            <pc:docMk/>
            <pc:sldMk cId="830879901" sldId="405"/>
            <ac:graphicFrameMk id="7" creationId="{C3D938E5-AAEE-4B30-B1F2-F6F597724347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9:14.345" v="22" actId="113"/>
        <pc:sldMkLst>
          <pc:docMk/>
          <pc:sldMk cId="1055318786" sldId="406"/>
        </pc:sldMkLst>
        <pc:graphicFrameChg chg="modGraphic">
          <ac:chgData name="안혜강" userId="98b22b6e-56f4-4429-b5e0-faac91709a9d" providerId="ADAL" clId="{D9EF7A47-50D1-44EF-9EC9-B08CE61B7FF4}" dt="2021-02-26T05:29:14.345" v="22" actId="113"/>
          <ac:graphicFrameMkLst>
            <pc:docMk/>
            <pc:sldMk cId="1055318786" sldId="406"/>
            <ac:graphicFrameMk id="7" creationId="{C3D938E5-AAEE-4B30-B1F2-F6F597724347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29:29.088" v="29" actId="113"/>
        <pc:sldMkLst>
          <pc:docMk/>
          <pc:sldMk cId="1868303621" sldId="407"/>
        </pc:sldMkLst>
        <pc:graphicFrameChg chg="modGraphic">
          <ac:chgData name="안혜강" userId="98b22b6e-56f4-4429-b5e0-faac91709a9d" providerId="ADAL" clId="{D9EF7A47-50D1-44EF-9EC9-B08CE61B7FF4}" dt="2021-02-26T05:29:29.088" v="29" actId="113"/>
          <ac:graphicFrameMkLst>
            <pc:docMk/>
            <pc:sldMk cId="1868303621" sldId="407"/>
            <ac:graphicFrameMk id="7" creationId="{C3D938E5-AAEE-4B30-B1F2-F6F597724347}"/>
          </ac:graphicFrameMkLst>
        </pc:graphicFrameChg>
      </pc:sldChg>
      <pc:sldChg chg="modSp">
        <pc:chgData name="안혜강" userId="98b22b6e-56f4-4429-b5e0-faac91709a9d" providerId="ADAL" clId="{D9EF7A47-50D1-44EF-9EC9-B08CE61B7FF4}" dt="2021-02-26T05:30:32.408" v="44" actId="113"/>
        <pc:sldMkLst>
          <pc:docMk/>
          <pc:sldMk cId="1605782211" sldId="408"/>
        </pc:sldMkLst>
        <pc:graphicFrameChg chg="modGraphic">
          <ac:chgData name="안혜강" userId="98b22b6e-56f4-4429-b5e0-faac91709a9d" providerId="ADAL" clId="{D9EF7A47-50D1-44EF-9EC9-B08CE61B7FF4}" dt="2021-02-26T05:30:32.408" v="44" actId="113"/>
          <ac:graphicFrameMkLst>
            <pc:docMk/>
            <pc:sldMk cId="1605782211" sldId="408"/>
            <ac:graphicFrameMk id="7" creationId="{C3D938E5-AAEE-4B30-B1F2-F6F597724347}"/>
          </ac:graphicFrameMkLst>
        </pc:graphicFrameChg>
      </pc:sldChg>
    </pc:docChg>
  </pc:docChgLst>
  <pc:docChgLst>
    <pc:chgData name=" " userId="cebcdd3f-733e-4af1-b963-9742717e494c" providerId="ADAL" clId="{06FCD161-A0C8-40D0-B89B-07257B5A7391}"/>
    <pc:docChg chg="undo modSld">
      <pc:chgData name=" " userId="cebcdd3f-733e-4af1-b963-9742717e494c" providerId="ADAL" clId="{06FCD161-A0C8-40D0-B89B-07257B5A7391}" dt="2021-02-26T06:40:15.335" v="39" actId="113"/>
      <pc:docMkLst>
        <pc:docMk/>
      </pc:docMkLst>
      <pc:sldChg chg="modSp">
        <pc:chgData name=" " userId="cebcdd3f-733e-4af1-b963-9742717e494c" providerId="ADAL" clId="{06FCD161-A0C8-40D0-B89B-07257B5A7391}" dt="2021-02-26T06:38:19.955" v="5" actId="113"/>
        <pc:sldMkLst>
          <pc:docMk/>
          <pc:sldMk cId="794392331" sldId="326"/>
        </pc:sldMkLst>
        <pc:graphicFrameChg chg="modGraphic">
          <ac:chgData name=" " userId="cebcdd3f-733e-4af1-b963-9742717e494c" providerId="ADAL" clId="{06FCD161-A0C8-40D0-B89B-07257B5A7391}" dt="2021-02-26T06:38:19.955" v="5" actId="113"/>
          <ac:graphicFrameMkLst>
            <pc:docMk/>
            <pc:sldMk cId="794392331" sldId="326"/>
            <ac:graphicFrameMk id="4" creationId="{6F16DFD3-3C07-48AA-8194-C7FAEFBC9EDA}"/>
          </ac:graphicFrameMkLst>
        </pc:graphicFrameChg>
      </pc:sldChg>
      <pc:sldChg chg="modSp">
        <pc:chgData name=" " userId="cebcdd3f-733e-4af1-b963-9742717e494c" providerId="ADAL" clId="{06FCD161-A0C8-40D0-B89B-07257B5A7391}" dt="2021-02-26T06:37:53.409" v="1" actId="113"/>
        <pc:sldMkLst>
          <pc:docMk/>
          <pc:sldMk cId="1482613431" sldId="332"/>
        </pc:sldMkLst>
        <pc:graphicFrameChg chg="modGraphic">
          <ac:chgData name=" " userId="cebcdd3f-733e-4af1-b963-9742717e494c" providerId="ADAL" clId="{06FCD161-A0C8-40D0-B89B-07257B5A7391}" dt="2021-02-26T06:37:53.409" v="1" actId="113"/>
          <ac:graphicFrameMkLst>
            <pc:docMk/>
            <pc:sldMk cId="1482613431" sldId="332"/>
            <ac:graphicFrameMk id="6" creationId="{2ACA2184-FD32-4B68-9B33-085C243C109D}"/>
          </ac:graphicFrameMkLst>
        </pc:graphicFrameChg>
        <pc:graphicFrameChg chg="modGraphic">
          <ac:chgData name=" " userId="cebcdd3f-733e-4af1-b963-9742717e494c" providerId="ADAL" clId="{06FCD161-A0C8-40D0-B89B-07257B5A7391}" dt="2021-02-26T06:37:51.201" v="0" actId="113"/>
          <ac:graphicFrameMkLst>
            <pc:docMk/>
            <pc:sldMk cId="1482613431" sldId="332"/>
            <ac:graphicFrameMk id="7" creationId="{0F71EB4D-C7C2-4442-AB9D-29198278CAFC}"/>
          </ac:graphicFrameMkLst>
        </pc:graphicFrameChg>
      </pc:sldChg>
      <pc:sldChg chg="modSp">
        <pc:chgData name=" " userId="cebcdd3f-733e-4af1-b963-9742717e494c" providerId="ADAL" clId="{06FCD161-A0C8-40D0-B89B-07257B5A7391}" dt="2021-02-26T06:38:36.904" v="6" actId="113"/>
        <pc:sldMkLst>
          <pc:docMk/>
          <pc:sldMk cId="3666939044" sldId="339"/>
        </pc:sldMkLst>
        <pc:graphicFrameChg chg="modGraphic">
          <ac:chgData name=" " userId="cebcdd3f-733e-4af1-b963-9742717e494c" providerId="ADAL" clId="{06FCD161-A0C8-40D0-B89B-07257B5A7391}" dt="2021-02-26T06:38:36.904" v="6" actId="113"/>
          <ac:graphicFrameMkLst>
            <pc:docMk/>
            <pc:sldMk cId="3666939044" sldId="339"/>
            <ac:graphicFrameMk id="5" creationId="{9E5D3FD2-FD81-44C5-9615-C76C3D3C070D}"/>
          </ac:graphicFrameMkLst>
        </pc:graphicFrameChg>
      </pc:sldChg>
      <pc:sldChg chg="modSp">
        <pc:chgData name=" " userId="cebcdd3f-733e-4af1-b963-9742717e494c" providerId="ADAL" clId="{06FCD161-A0C8-40D0-B89B-07257B5A7391}" dt="2021-02-26T06:38:55.673" v="7" actId="113"/>
        <pc:sldMkLst>
          <pc:docMk/>
          <pc:sldMk cId="775057621" sldId="375"/>
        </pc:sldMkLst>
        <pc:graphicFrameChg chg="modGraphic">
          <ac:chgData name=" " userId="cebcdd3f-733e-4af1-b963-9742717e494c" providerId="ADAL" clId="{06FCD161-A0C8-40D0-B89B-07257B5A7391}" dt="2021-02-26T06:38:55.673" v="7" actId="113"/>
          <ac:graphicFrameMkLst>
            <pc:docMk/>
            <pc:sldMk cId="775057621" sldId="375"/>
            <ac:graphicFrameMk id="7" creationId="{C3D938E5-AAEE-4B30-B1F2-F6F597724347}"/>
          </ac:graphicFrameMkLst>
        </pc:graphicFrameChg>
      </pc:sldChg>
      <pc:sldChg chg="modSp">
        <pc:chgData name=" " userId="cebcdd3f-733e-4af1-b963-9742717e494c" providerId="ADAL" clId="{06FCD161-A0C8-40D0-B89B-07257B5A7391}" dt="2021-02-26T06:39:43.394" v="25" actId="108"/>
        <pc:sldMkLst>
          <pc:docMk/>
          <pc:sldMk cId="2107957014" sldId="378"/>
        </pc:sldMkLst>
        <pc:graphicFrameChg chg="mod modGraphic">
          <ac:chgData name=" " userId="cebcdd3f-733e-4af1-b963-9742717e494c" providerId="ADAL" clId="{06FCD161-A0C8-40D0-B89B-07257B5A7391}" dt="2021-02-26T06:39:43.394" v="25" actId="108"/>
          <ac:graphicFrameMkLst>
            <pc:docMk/>
            <pc:sldMk cId="2107957014" sldId="378"/>
            <ac:graphicFrameMk id="5" creationId="{5AF21FCF-B6FE-4A4B-98D7-FBE7CB17E02A}"/>
          </ac:graphicFrameMkLst>
        </pc:graphicFrameChg>
      </pc:sldChg>
      <pc:sldChg chg="modSp">
        <pc:chgData name=" " userId="cebcdd3f-733e-4af1-b963-9742717e494c" providerId="ADAL" clId="{06FCD161-A0C8-40D0-B89B-07257B5A7391}" dt="2021-02-26T06:39:57.723" v="35" actId="113"/>
        <pc:sldMkLst>
          <pc:docMk/>
          <pc:sldMk cId="864476899" sldId="381"/>
        </pc:sldMkLst>
        <pc:graphicFrameChg chg="modGraphic">
          <ac:chgData name=" " userId="cebcdd3f-733e-4af1-b963-9742717e494c" providerId="ADAL" clId="{06FCD161-A0C8-40D0-B89B-07257B5A7391}" dt="2021-02-26T06:39:57.723" v="35" actId="113"/>
          <ac:graphicFrameMkLst>
            <pc:docMk/>
            <pc:sldMk cId="864476899" sldId="381"/>
            <ac:graphicFrameMk id="5" creationId="{7BFBE9A9-69E6-423F-BA74-D3DC2953BB8C}"/>
          </ac:graphicFrameMkLst>
        </pc:graphicFrameChg>
      </pc:sldChg>
      <pc:sldChg chg="modSp">
        <pc:chgData name=" " userId="cebcdd3f-733e-4af1-b963-9742717e494c" providerId="ADAL" clId="{06FCD161-A0C8-40D0-B89B-07257B5A7391}" dt="2021-02-26T06:39:10.613" v="13" actId="108"/>
        <pc:sldMkLst>
          <pc:docMk/>
          <pc:sldMk cId="830879901" sldId="405"/>
        </pc:sldMkLst>
        <pc:graphicFrameChg chg="mod modGraphic">
          <ac:chgData name=" " userId="cebcdd3f-733e-4af1-b963-9742717e494c" providerId="ADAL" clId="{06FCD161-A0C8-40D0-B89B-07257B5A7391}" dt="2021-02-26T06:39:10.613" v="13" actId="108"/>
          <ac:graphicFrameMkLst>
            <pc:docMk/>
            <pc:sldMk cId="830879901" sldId="405"/>
            <ac:graphicFrameMk id="7" creationId="{C3D938E5-AAEE-4B30-B1F2-F6F597724347}"/>
          </ac:graphicFrameMkLst>
        </pc:graphicFrameChg>
      </pc:sldChg>
      <pc:sldChg chg="modSp">
        <pc:chgData name=" " userId="cebcdd3f-733e-4af1-b963-9742717e494c" providerId="ADAL" clId="{06FCD161-A0C8-40D0-B89B-07257B5A7391}" dt="2021-02-26T06:39:25.970" v="17" actId="108"/>
        <pc:sldMkLst>
          <pc:docMk/>
          <pc:sldMk cId="1055318786" sldId="406"/>
        </pc:sldMkLst>
        <pc:graphicFrameChg chg="mod modGraphic">
          <ac:chgData name=" " userId="cebcdd3f-733e-4af1-b963-9742717e494c" providerId="ADAL" clId="{06FCD161-A0C8-40D0-B89B-07257B5A7391}" dt="2021-02-26T06:39:25.970" v="17" actId="108"/>
          <ac:graphicFrameMkLst>
            <pc:docMk/>
            <pc:sldMk cId="1055318786" sldId="406"/>
            <ac:graphicFrameMk id="7" creationId="{C3D938E5-AAEE-4B30-B1F2-F6F597724347}"/>
          </ac:graphicFrameMkLst>
        </pc:graphicFrameChg>
      </pc:sldChg>
      <pc:sldChg chg="modSp">
        <pc:chgData name=" " userId="cebcdd3f-733e-4af1-b963-9742717e494c" providerId="ADAL" clId="{06FCD161-A0C8-40D0-B89B-07257B5A7391}" dt="2021-02-26T06:39:34.825" v="21" actId="108"/>
        <pc:sldMkLst>
          <pc:docMk/>
          <pc:sldMk cId="1868303621" sldId="407"/>
        </pc:sldMkLst>
        <pc:graphicFrameChg chg="mod modGraphic">
          <ac:chgData name=" " userId="cebcdd3f-733e-4af1-b963-9742717e494c" providerId="ADAL" clId="{06FCD161-A0C8-40D0-B89B-07257B5A7391}" dt="2021-02-26T06:39:34.825" v="21" actId="108"/>
          <ac:graphicFrameMkLst>
            <pc:docMk/>
            <pc:sldMk cId="1868303621" sldId="407"/>
            <ac:graphicFrameMk id="7" creationId="{C3D938E5-AAEE-4B30-B1F2-F6F597724347}"/>
          </ac:graphicFrameMkLst>
        </pc:graphicFrameChg>
      </pc:sldChg>
      <pc:sldChg chg="modSp">
        <pc:chgData name=" " userId="cebcdd3f-733e-4af1-b963-9742717e494c" providerId="ADAL" clId="{06FCD161-A0C8-40D0-B89B-07257B5A7391}" dt="2021-02-26T06:40:15.335" v="39" actId="113"/>
        <pc:sldMkLst>
          <pc:docMk/>
          <pc:sldMk cId="1605782211" sldId="408"/>
        </pc:sldMkLst>
        <pc:graphicFrameChg chg="modGraphic">
          <ac:chgData name=" " userId="cebcdd3f-733e-4af1-b963-9742717e494c" providerId="ADAL" clId="{06FCD161-A0C8-40D0-B89B-07257B5A7391}" dt="2021-02-26T06:40:15.335" v="39" actId="113"/>
          <ac:graphicFrameMkLst>
            <pc:docMk/>
            <pc:sldMk cId="1605782211" sldId="408"/>
            <ac:graphicFrameMk id="7" creationId="{C3D938E5-AAEE-4B30-B1F2-F6F59772434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99F10-CBBF-4D95-8AE5-BD836019D561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DF3A0-252A-4712-843A-508C5924D4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03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48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99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097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3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7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</a:t>
            </a:r>
            <a:r>
              <a:rPr lang="ko-KR" altLang="en-US" sz="3600" b="1" dirty="0" err="1" smtClean="0"/>
              <a:t>딕셔너리</a:t>
            </a:r>
            <a:r>
              <a:rPr lang="en-US" altLang="ko-KR" sz="3600" b="1" dirty="0" smtClean="0"/>
              <a:t>, </a:t>
            </a:r>
            <a:r>
              <a:rPr lang="ko-KR" altLang="en-US" sz="3600" b="1" dirty="0" err="1" smtClean="0"/>
              <a:t>튜플</a:t>
            </a:r>
            <a:r>
              <a:rPr lang="en-US" altLang="ko-KR" sz="3600" b="1" dirty="0" smtClean="0"/>
              <a:t>, </a:t>
            </a:r>
            <a:r>
              <a:rPr lang="ko-KR" altLang="en-US" sz="3600" b="1" dirty="0" smtClean="0"/>
              <a:t>집합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347262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91D96DF-ED14-43EF-8AD2-775738E9DC06}"/>
              </a:ext>
            </a:extLst>
          </p:cNvPr>
          <p:cNvGrpSpPr/>
          <p:nvPr/>
        </p:nvGrpSpPr>
        <p:grpSpPr>
          <a:xfrm>
            <a:off x="549459" y="732738"/>
            <a:ext cx="11054621" cy="5115771"/>
            <a:chOff x="1043098" y="4462353"/>
            <a:chExt cx="6985286" cy="1832681"/>
          </a:xfrm>
        </p:grpSpPr>
        <p:sp>
          <p:nvSpPr>
            <p:cNvPr id="9" name="모서리가 둥근 직사각형 2">
              <a:extLst>
                <a:ext uri="{FF2B5EF4-FFF2-40B4-BE49-F238E27FC236}">
                  <a16:creationId xmlns:a16="http://schemas.microsoft.com/office/drawing/2014/main" id="{2D8B340E-E6E6-412E-856D-02EA379E3959}"/>
                </a:ext>
              </a:extLst>
            </p:cNvPr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3ED14A9-BCA1-4665-9DC2-D9E3DDB74EE5}"/>
                </a:ext>
              </a:extLst>
            </p:cNvPr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E73042E-6C35-4BF1-A7A4-4BAED1239536}"/>
                  </a:ext>
                </a:extLst>
              </p:cNvPr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32">
                <a:extLst>
                  <a:ext uri="{FF2B5EF4-FFF2-40B4-BE49-F238E27FC236}">
                    <a16:creationId xmlns:a16="http://schemas.microsoft.com/office/drawing/2014/main" id="{357E5469-C323-4D04-B745-FAE26DB2C0DF}"/>
                  </a:ext>
                </a:extLst>
              </p:cNvPr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직사각형 23">
                <a:extLst>
                  <a:ext uri="{FF2B5EF4-FFF2-40B4-BE49-F238E27FC236}">
                    <a16:creationId xmlns:a16="http://schemas.microsoft.com/office/drawing/2014/main" id="{BE521D67-8F89-417A-8F15-3189EB60E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292" y="2920806"/>
                <a:ext cx="6696744" cy="1287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딕셔너리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튜플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집합 </a:t>
                </a:r>
                <a:r>
                  <a:rPr lang="ko-KR" altLang="en-US" sz="1600" dirty="0" err="1"/>
                  <a:t>자료형</a:t>
                </a:r>
                <a:r>
                  <a:rPr lang="ko-KR" altLang="en-US" sz="1600" dirty="0"/>
                  <a:t> 객체를 생성하고 사용하는 법에 대해서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딕셔너리와</a:t>
                </a:r>
                <a:r>
                  <a:rPr lang="ko-KR" altLang="en-US" sz="1600" dirty="0"/>
                  <a:t> 리스트의 차이점에 대해서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튜플</a:t>
                </a:r>
                <a:r>
                  <a:rPr lang="ko-KR" altLang="en-US" sz="1600" dirty="0"/>
                  <a:t> 데이터에 대해 이해하고 그 활용 방법을 익힌다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튜플의</a:t>
                </a:r>
                <a:r>
                  <a:rPr lang="ko-KR" altLang="en-US" sz="1600" dirty="0"/>
                  <a:t> 패킹과 </a:t>
                </a:r>
                <a:r>
                  <a:rPr lang="ko-KR" altLang="en-US" sz="1600" dirty="0" err="1"/>
                  <a:t>언패킹에</a:t>
                </a:r>
                <a:r>
                  <a:rPr lang="ko-KR" altLang="en-US" sz="1600" dirty="0"/>
                  <a:t> 대해서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튜플을</a:t>
                </a:r>
                <a:r>
                  <a:rPr lang="ko-KR" altLang="en-US" sz="1600" dirty="0"/>
                  <a:t> 이용하여 함수에서 여러 개의 값을 반환해 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집합 데이터를 이해하고 집합 연산에 대해서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반복 가능 </a:t>
                </a:r>
                <a:r>
                  <a:rPr lang="ko-KR" altLang="en-US" sz="1600" dirty="0" err="1"/>
                  <a:t>자료형의</a:t>
                </a:r>
                <a:r>
                  <a:rPr lang="ko-KR" altLang="en-US" sz="1600" dirty="0"/>
                  <a:t> 종류와 특징들을 이해하고 비교할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불변 시퀀스 </a:t>
                </a:r>
                <a:r>
                  <a:rPr lang="ko-KR" altLang="en-US" sz="1600" dirty="0" err="1"/>
                  <a:t>자료형에</a:t>
                </a:r>
                <a:r>
                  <a:rPr lang="ko-KR" altLang="en-US" sz="1600" dirty="0"/>
                  <a:t> 대해 이해하고 이를 다루는 법을 익힌다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반복 가능 </a:t>
                </a:r>
                <a:r>
                  <a:rPr lang="ko-KR" altLang="en-US" sz="1600" dirty="0" err="1"/>
                  <a:t>자료형들을</a:t>
                </a:r>
                <a:r>
                  <a:rPr lang="ko-KR" altLang="en-US" sz="1600" dirty="0"/>
                  <a:t> 집적하여 </a:t>
                </a:r>
                <a:r>
                  <a:rPr lang="ko-KR" altLang="en-US" sz="1600" dirty="0" err="1"/>
                  <a:t>튜플의</a:t>
                </a:r>
                <a:r>
                  <a:rPr lang="ko-KR" altLang="en-US" sz="1600" dirty="0"/>
                  <a:t> 리스트를 만드는 방법을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딕셔너리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튜플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집합형</a:t>
                </a:r>
                <a:r>
                  <a:rPr lang="ko-KR" altLang="en-US" sz="1600" dirty="0"/>
                  <a:t> 클래스가 가진 다양한 </a:t>
                </a:r>
                <a:r>
                  <a:rPr lang="ko-KR" altLang="en-US" sz="1600" dirty="0" err="1"/>
                  <a:t>메소드를</a:t>
                </a:r>
                <a:r>
                  <a:rPr lang="ko-KR" altLang="en-US" sz="1600" dirty="0"/>
                  <a:t> 활용할 수 있다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 err="1"/>
              <a:t>딕셔너리</a:t>
            </a:r>
            <a:r>
              <a:rPr lang="en-US" altLang="ko-KR" b="1" baseline="30000" dirty="0">
                <a:solidFill>
                  <a:schemeClr val="accent5"/>
                </a:solidFill>
              </a:rPr>
              <a:t>dictionary</a:t>
            </a:r>
          </a:p>
          <a:p>
            <a:pPr lvl="1"/>
            <a:r>
              <a:rPr lang="ko-KR" altLang="en-US" b="1" dirty="0"/>
              <a:t>키</a:t>
            </a:r>
            <a:r>
              <a:rPr lang="en-US" altLang="ko-KR" sz="2800" b="1" baseline="30000" dirty="0">
                <a:solidFill>
                  <a:schemeClr val="accent5"/>
                </a:solidFill>
              </a:rPr>
              <a:t>key</a:t>
            </a:r>
            <a:r>
              <a:rPr lang="ko-KR" altLang="en-US" dirty="0"/>
              <a:t>와 </a:t>
            </a:r>
            <a:r>
              <a:rPr lang="ko-KR" altLang="en-US" b="1" dirty="0"/>
              <a:t>값</a:t>
            </a:r>
            <a:r>
              <a:rPr lang="en-US" altLang="ko-KR" sz="2800" b="1" baseline="30000" dirty="0">
                <a:solidFill>
                  <a:schemeClr val="accent5"/>
                </a:solidFill>
              </a:rPr>
              <a:t>value</a:t>
            </a:r>
            <a:r>
              <a:rPr lang="ko-KR" altLang="en-US" dirty="0"/>
              <a:t>을 쌍으로 갖는 </a:t>
            </a:r>
            <a:r>
              <a:rPr lang="ko-KR" altLang="en-US" dirty="0" err="1"/>
              <a:t>자료형</a:t>
            </a:r>
            <a:endParaRPr lang="en-US" altLang="ko-KR" dirty="0"/>
          </a:p>
          <a:p>
            <a:pPr lvl="1"/>
            <a:r>
              <a:rPr lang="ko-KR" altLang="en-US" dirty="0"/>
              <a:t>키를 이용하여 값을 참조하는 특성</a:t>
            </a:r>
            <a:endParaRPr lang="en-US" altLang="ko-KR" dirty="0"/>
          </a:p>
          <a:p>
            <a:pPr lvl="1"/>
            <a:r>
              <a:rPr lang="ko-KR" altLang="en-US" dirty="0"/>
              <a:t>키가 중복되면 안 됨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8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781" y="2833466"/>
            <a:ext cx="9010437" cy="321277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 err="1"/>
              <a:t>딕셔너리를</a:t>
            </a:r>
            <a:r>
              <a:rPr lang="ko-KR" altLang="en-US" dirty="0"/>
              <a:t> 만드는 방법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61E4F60-6F0B-CDD7-B84E-951D0EC1718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 err="1"/>
              <a:t>딕셔너리의</a:t>
            </a:r>
            <a:r>
              <a:rPr lang="ko-KR" altLang="en-US" dirty="0"/>
              <a:t> 항목은</a:t>
            </a:r>
            <a:r>
              <a:rPr lang="ko-KR" altLang="en-US" b="1" dirty="0"/>
              <a:t> </a:t>
            </a:r>
            <a:r>
              <a:rPr lang="en-US" altLang="ko-KR" b="1" dirty="0"/>
              <a:t>[</a:t>
            </a:r>
            <a:r>
              <a:rPr lang="ko-KR" altLang="en-US" b="1" dirty="0"/>
              <a:t>키</a:t>
            </a:r>
            <a:r>
              <a:rPr lang="en-US" altLang="ko-KR" b="1" dirty="0"/>
              <a:t>] : [</a:t>
            </a:r>
            <a:r>
              <a:rPr lang="ko-KR" altLang="en-US" b="1" dirty="0"/>
              <a:t>값</a:t>
            </a:r>
            <a:r>
              <a:rPr lang="en-US" altLang="ko-KR" b="1" dirty="0"/>
              <a:t>]</a:t>
            </a:r>
            <a:r>
              <a:rPr lang="ko-KR" altLang="en-US" dirty="0"/>
              <a:t> 형식과 같이 콜론으로 연결되어 정의</a:t>
            </a:r>
            <a:endParaRPr lang="en-US" altLang="ko-KR" dirty="0"/>
          </a:p>
          <a:p>
            <a:pPr fontAlgn="base"/>
            <a:r>
              <a:rPr lang="ko-KR" altLang="en-US" dirty="0"/>
              <a:t>항목이 하나 이상 모여서 </a:t>
            </a:r>
            <a:r>
              <a:rPr lang="ko-KR" altLang="en-US" dirty="0" err="1"/>
              <a:t>딕셔너리를</a:t>
            </a:r>
            <a:r>
              <a:rPr lang="ko-KR" altLang="en-US" dirty="0"/>
              <a:t> 구성함</a:t>
            </a:r>
          </a:p>
        </p:txBody>
      </p: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8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62" y="2389008"/>
            <a:ext cx="9451744" cy="310483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리스트는 인덱스를 통해 각각의 </a:t>
            </a:r>
            <a:r>
              <a:rPr lang="en-US" altLang="ko-KR" dirty="0"/>
              <a:t>[</a:t>
            </a:r>
            <a:r>
              <a:rPr lang="ko-KR" altLang="en-US" dirty="0"/>
              <a:t>값 </a:t>
            </a:r>
            <a:r>
              <a:rPr lang="en-US" altLang="ko-KR" dirty="0"/>
              <a:t>1], [</a:t>
            </a:r>
            <a:r>
              <a:rPr lang="ko-KR" altLang="en-US" dirty="0"/>
              <a:t>값 </a:t>
            </a:r>
            <a:r>
              <a:rPr lang="en-US" altLang="ko-KR" dirty="0"/>
              <a:t>2], ... , [</a:t>
            </a:r>
            <a:r>
              <a:rPr lang="ko-KR" altLang="en-US" dirty="0"/>
              <a:t>값 </a:t>
            </a:r>
            <a:r>
              <a:rPr lang="en-US" altLang="ko-KR" dirty="0"/>
              <a:t>n]</a:t>
            </a:r>
            <a:r>
              <a:rPr lang="ko-KR" altLang="en-US" dirty="0"/>
              <a:t>에 접근할 수 있음</a:t>
            </a:r>
          </a:p>
          <a:p>
            <a:r>
              <a:rPr lang="ko-KR" altLang="en-US" dirty="0"/>
              <a:t>인덱스는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n-1</a:t>
            </a:r>
            <a:r>
              <a:rPr lang="ko-KR" altLang="en-US" dirty="0" err="1"/>
              <a:t>까지이며</a:t>
            </a:r>
            <a:r>
              <a:rPr lang="en-US" altLang="ko-KR" dirty="0"/>
              <a:t>, a[index]</a:t>
            </a:r>
            <a:r>
              <a:rPr lang="ko-KR" altLang="en-US" dirty="0"/>
              <a:t>와 같은 형식으로 접근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B27851A-2CA2-3757-FD55-A5E23058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366304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600" t="19015" r="20873" b="14592"/>
          <a:stretch/>
        </p:blipFill>
        <p:spPr>
          <a:xfrm>
            <a:off x="1379154" y="5096008"/>
            <a:ext cx="8075156" cy="48247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리스트를 정의하는 문법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fruits </a:t>
            </a:r>
            <a:r>
              <a:rPr lang="ko-KR" altLang="en-US" dirty="0"/>
              <a:t>리스트를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dirty="0" err="1"/>
              <a:t>딕셔너리를</a:t>
            </a:r>
            <a:r>
              <a:rPr lang="ko-KR" altLang="en-US" dirty="0"/>
              <a:t> 정의하는 문법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0E45F8-0A1B-1A0A-F4EE-22E7D487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3F8651-C475-77D0-E218-0D3A5199501A}"/>
              </a:ext>
            </a:extLst>
          </p:cNvPr>
          <p:cNvGrpSpPr/>
          <p:nvPr/>
        </p:nvGrpSpPr>
        <p:grpSpPr>
          <a:xfrm>
            <a:off x="1266068" y="1719876"/>
            <a:ext cx="10021540" cy="541867"/>
            <a:chOff x="905934" y="1676400"/>
            <a:chExt cx="10021540" cy="541867"/>
          </a:xfrm>
        </p:grpSpPr>
        <p:sp>
          <p:nvSpPr>
            <p:cNvPr id="6" name="직사각형 32">
              <a:extLst>
                <a:ext uri="{FF2B5EF4-FFF2-40B4-BE49-F238E27FC236}">
                  <a16:creationId xmlns:a16="http://schemas.microsoft.com/office/drawing/2014/main" id="{2453D711-9EFC-45BD-A039-9F11AFB61628}"/>
                </a:ext>
              </a:extLst>
            </p:cNvPr>
            <p:cNvSpPr/>
            <p:nvPr/>
          </p:nvSpPr>
          <p:spPr>
            <a:xfrm>
              <a:off x="905934" y="1676400"/>
              <a:ext cx="10021540" cy="541867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B4A031-6BAF-46B5-B121-D0EF522AB3B7}"/>
                </a:ext>
              </a:extLst>
            </p:cNvPr>
            <p:cNvSpPr/>
            <p:nvPr/>
          </p:nvSpPr>
          <p:spPr>
            <a:xfrm>
              <a:off x="1045915" y="1676400"/>
              <a:ext cx="9122032" cy="4140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b="1" kern="0" dirty="0">
                  <a:solidFill>
                    <a:srgbClr val="1C3D62"/>
                  </a:solidFill>
                  <a:latin typeface="+mn-ea"/>
                </a:rPr>
                <a:t>리스트이름 </a:t>
              </a:r>
              <a:r>
                <a:rPr lang="en-US" altLang="ko-KR" sz="1600" b="1" kern="0" dirty="0">
                  <a:solidFill>
                    <a:srgbClr val="1C3D62"/>
                  </a:solidFill>
                  <a:latin typeface="+mn-ea"/>
                </a:rPr>
                <a:t>= [ [</a:t>
              </a:r>
              <a:r>
                <a:rPr lang="ko-KR" altLang="en-US" sz="1600" b="1" kern="0" dirty="0">
                  <a:solidFill>
                    <a:srgbClr val="1C3D62"/>
                  </a:solidFill>
                  <a:latin typeface="+mn-ea"/>
                </a:rPr>
                <a:t>값 </a:t>
              </a:r>
              <a:r>
                <a:rPr lang="en-US" altLang="ko-KR" sz="1600" b="1" kern="0" dirty="0">
                  <a:solidFill>
                    <a:srgbClr val="1C3D62"/>
                  </a:solidFill>
                  <a:latin typeface="+mn-ea"/>
                </a:rPr>
                <a:t>1], ... ]. </a:t>
              </a:r>
              <a:endParaRPr lang="ko-KR" altLang="en-US" sz="1600" b="1" kern="0" dirty="0">
                <a:solidFill>
                  <a:srgbClr val="1C3D62"/>
                </a:solidFill>
                <a:latin typeface="+mn-ea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BBF36DF-D6AC-4BDE-B0CF-6FF9EEFEB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121346"/>
              </p:ext>
            </p:extLst>
          </p:nvPr>
        </p:nvGraphicFramePr>
        <p:xfrm>
          <a:off x="1266068" y="3394495"/>
          <a:ext cx="10056552" cy="54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18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0" dirty="0">
                          <a:solidFill>
                            <a:srgbClr val="1C3D62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fruits = ['banana', 'apple', 'orange', 'kiwi']   </a:t>
                      </a:r>
                      <a:r>
                        <a:rPr lang="en-US" altLang="ko-KR" sz="1600" b="1" kern="0" dirty="0">
                          <a:solidFill>
                            <a:schemeClr val="accent6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# </a:t>
                      </a:r>
                      <a:r>
                        <a:rPr lang="ko-KR" altLang="en-US" sz="1600" b="1" kern="0" dirty="0">
                          <a:solidFill>
                            <a:schemeClr val="accent6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문자열을 가지는 리스트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50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59" y="1114738"/>
            <a:ext cx="7831691" cy="182353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03" y="3181335"/>
            <a:ext cx="7913016" cy="286920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BC58699-C2AC-8362-B911-05769979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194942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명의 학생에 대한 학번 </a:t>
            </a:r>
            <a:r>
              <a:rPr lang="en-US" altLang="ko-KR" dirty="0"/>
              <a:t>: </a:t>
            </a:r>
            <a:r>
              <a:rPr lang="ko-KR" altLang="en-US" dirty="0"/>
              <a:t>이름의 쌍을 가지는 새로운 </a:t>
            </a:r>
            <a:r>
              <a:rPr lang="ko-KR" altLang="en-US" dirty="0" err="1"/>
              <a:t>딕셔너리</a:t>
            </a:r>
            <a:r>
              <a:rPr lang="ko-KR" altLang="en-US" dirty="0"/>
              <a:t> </a:t>
            </a:r>
            <a:r>
              <a:rPr lang="en-US" altLang="ko-KR" dirty="0"/>
              <a:t>students</a:t>
            </a:r>
            <a:r>
              <a:rPr lang="ko-KR" altLang="en-US" dirty="0"/>
              <a:t>를 생성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1B1EA05-8B47-1919-AAAC-996FD793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37" y="1710444"/>
            <a:ext cx="7349675" cy="171855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37" y="3543760"/>
            <a:ext cx="7349675" cy="26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21DAF-F11B-F7FA-6C76-F60E149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86254" y="1128713"/>
            <a:ext cx="877662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1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21DAF-F11B-F7FA-6C76-F60E149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 err="1"/>
              <a:t>딕셔너리</a:t>
            </a:r>
            <a:r>
              <a:rPr lang="ko-KR" altLang="en-US" dirty="0"/>
              <a:t> 자료형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297948" y="1128713"/>
            <a:ext cx="755324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1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28845"/>
          <a:stretch/>
        </p:blipFill>
        <p:spPr>
          <a:xfrm>
            <a:off x="1336782" y="1675806"/>
            <a:ext cx="7036254" cy="53100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딕셔너리에</a:t>
            </a:r>
            <a:r>
              <a:rPr lang="ko-KR" altLang="en-US" dirty="0"/>
              <a:t> 새로운 항목을 삽입하려면 </a:t>
            </a:r>
            <a:r>
              <a:rPr lang="en-US" altLang="ko-KR" dirty="0" err="1"/>
              <a:t>다음과</a:t>
            </a:r>
            <a:r>
              <a:rPr lang="en-US" altLang="ko-KR" dirty="0"/>
              <a:t> </a:t>
            </a:r>
            <a:r>
              <a:rPr lang="ko-KR" altLang="en-US" dirty="0"/>
              <a:t>같은 방법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삭제 시 </a:t>
            </a:r>
            <a:r>
              <a:rPr lang="en-US" altLang="ko-KR" dirty="0"/>
              <a:t>del </a:t>
            </a:r>
            <a:r>
              <a:rPr lang="ko-KR" altLang="en-US" dirty="0"/>
              <a:t>키워드 다음에 삭제할 </a:t>
            </a:r>
            <a:r>
              <a:rPr lang="ko-KR" altLang="en-US" dirty="0" err="1"/>
              <a:t>딕셔너리</a:t>
            </a:r>
            <a:r>
              <a:rPr lang="ko-KR" altLang="en-US" dirty="0"/>
              <a:t> 항목의 키를 입력</a:t>
            </a:r>
            <a:endParaRPr lang="en-US" altLang="ko-KR" dirty="0"/>
          </a:p>
          <a:p>
            <a:r>
              <a:rPr lang="ko-KR" altLang="en-US" dirty="0"/>
              <a:t>존재하지 않는 키를 이용하여 항목을 삭제하려고 하면 </a:t>
            </a:r>
            <a:r>
              <a:rPr lang="en-US" altLang="ko-KR" dirty="0" err="1">
                <a:solidFill>
                  <a:srgbClr val="FF0000"/>
                </a:solidFill>
              </a:rPr>
              <a:t>KeyError</a:t>
            </a:r>
            <a:r>
              <a:rPr lang="ko-KR" altLang="en-US" dirty="0"/>
              <a:t>라는 오류 메시지가 출력됨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7.2 </a:t>
            </a:r>
            <a:r>
              <a:rPr lang="ko-KR" altLang="en-US" dirty="0" err="1"/>
              <a:t>딕셔너리의</a:t>
            </a:r>
            <a:r>
              <a:rPr lang="ko-KR" altLang="en-US" dirty="0"/>
              <a:t> 삽입과 삭제</a:t>
            </a:r>
          </a:p>
        </p:txBody>
      </p:sp>
    </p:spTree>
    <p:extLst>
      <p:ext uri="{BB962C8B-B14F-4D97-AF65-F5344CB8AC3E}">
        <p14:creationId xmlns:p14="http://schemas.microsoft.com/office/powerpoint/2010/main" val="3127167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3627"/>
          <a:stretch/>
        </p:blipFill>
        <p:spPr>
          <a:xfrm>
            <a:off x="904883" y="3769629"/>
            <a:ext cx="8866910" cy="23022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2" y="1175616"/>
            <a:ext cx="8893671" cy="22533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71DCD69-E4CB-F4B2-A421-5023BD1D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 </a:t>
            </a:r>
            <a:r>
              <a:rPr lang="ko-KR" altLang="en-US" dirty="0" err="1"/>
              <a:t>딕셔너리의</a:t>
            </a:r>
            <a:r>
              <a:rPr lang="ko-KR" altLang="en-US" dirty="0"/>
              <a:t> 삽입과 삭제</a:t>
            </a:r>
          </a:p>
        </p:txBody>
      </p:sp>
    </p:spTree>
    <p:extLst>
      <p:ext uri="{BB962C8B-B14F-4D97-AF65-F5344CB8AC3E}">
        <p14:creationId xmlns:p14="http://schemas.microsoft.com/office/powerpoint/2010/main" val="213208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DCD69-E4CB-F4B2-A421-5023BD1D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 </a:t>
            </a:r>
            <a:r>
              <a:rPr lang="ko-KR" altLang="en-US" dirty="0" err="1"/>
              <a:t>딕셔너리의</a:t>
            </a:r>
            <a:r>
              <a:rPr lang="ko-KR" altLang="en-US" dirty="0"/>
              <a:t> 삽입과 삭제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6" y="3725093"/>
            <a:ext cx="9314921" cy="231773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3" y="1163410"/>
            <a:ext cx="9334834" cy="230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8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9CEF72C-3D2E-3492-EA45-B5BCFD48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 </a:t>
            </a:r>
            <a:r>
              <a:rPr lang="ko-KR" altLang="en-US" dirty="0" err="1"/>
              <a:t>딕셔너리의</a:t>
            </a:r>
            <a:r>
              <a:rPr lang="ko-KR" altLang="en-US" dirty="0"/>
              <a:t> 삽입과 삭제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24943" y="1128713"/>
            <a:ext cx="829925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38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4782"/>
          <a:stretch/>
        </p:blipFill>
        <p:spPr>
          <a:xfrm>
            <a:off x="5201386" y="1312976"/>
            <a:ext cx="6601689" cy="4158433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4"/>
          </p:nvPr>
        </p:nvSpPr>
        <p:spPr>
          <a:xfrm>
            <a:off x="542605" y="1128237"/>
            <a:ext cx="4314208" cy="4917999"/>
          </a:xfrm>
        </p:spPr>
        <p:txBody>
          <a:bodyPr>
            <a:normAutofit/>
          </a:bodyPr>
          <a:lstStyle/>
          <a:p>
            <a:pPr fontAlgn="base"/>
            <a:r>
              <a:rPr lang="en-US" altLang="ko-KR" dirty="0" err="1"/>
              <a:t>len</a:t>
            </a:r>
            <a:r>
              <a:rPr lang="en-US" altLang="ko-KR" dirty="0"/>
              <a:t>()</a:t>
            </a:r>
          </a:p>
          <a:p>
            <a:pPr lvl="1" fontAlgn="base"/>
            <a:r>
              <a:rPr lang="ko-KR" altLang="en-US" dirty="0" err="1"/>
              <a:t>딕셔너리</a:t>
            </a:r>
            <a:r>
              <a:rPr lang="ko-KR" altLang="en-US" dirty="0"/>
              <a:t> 내의 </a:t>
            </a:r>
            <a:r>
              <a:rPr lang="ko-KR" altLang="en-US" dirty="0" smtClean="0"/>
              <a:t>항목 </a:t>
            </a:r>
            <a:r>
              <a:rPr lang="ko-KR" altLang="en-US" dirty="0"/>
              <a:t>수를 </a:t>
            </a:r>
            <a:r>
              <a:rPr lang="ko-KR" altLang="en-US" dirty="0" smtClean="0"/>
              <a:t>얻기 </a:t>
            </a:r>
            <a:r>
              <a:rPr lang="ko-KR" altLang="en-US" dirty="0"/>
              <a:t>위해 </a:t>
            </a:r>
            <a:r>
              <a:rPr lang="ko-KR" altLang="en-US" dirty="0" smtClean="0"/>
              <a:t>사용하는 내장 함수</a:t>
            </a:r>
            <a:endParaRPr lang="en-US" altLang="ko-KR" dirty="0"/>
          </a:p>
          <a:p>
            <a:pPr fontAlgn="base"/>
            <a:r>
              <a:rPr lang="en-US" altLang="ko-KR" dirty="0"/>
              <a:t>in , not in</a:t>
            </a:r>
            <a:r>
              <a:rPr lang="ko-KR" altLang="en-US" dirty="0"/>
              <a:t> </a:t>
            </a:r>
            <a:endParaRPr lang="en-US" altLang="ko-KR" dirty="0"/>
          </a:p>
          <a:p>
            <a:pPr lvl="1" fontAlgn="base"/>
            <a:r>
              <a:rPr lang="ko-KR" altLang="en-US" dirty="0"/>
              <a:t>키와 값이 </a:t>
            </a:r>
            <a:r>
              <a:rPr lang="ko-KR" altLang="en-US" dirty="0" err="1" smtClean="0"/>
              <a:t>딕셔너리에</a:t>
            </a:r>
            <a:r>
              <a:rPr lang="en-US" altLang="ko-KR" dirty="0"/>
              <a:t> </a:t>
            </a:r>
            <a:r>
              <a:rPr lang="ko-KR" altLang="en-US" dirty="0" smtClean="0"/>
              <a:t>있는지 확인하는 연산자</a:t>
            </a:r>
            <a:endParaRPr lang="en-US" altLang="ko-KR" dirty="0"/>
          </a:p>
          <a:p>
            <a:pPr fontAlgn="base"/>
            <a:r>
              <a:rPr lang="en-US" altLang="ko-KR" dirty="0"/>
              <a:t>==,</a:t>
            </a:r>
            <a:r>
              <a:rPr lang="ko-KR" altLang="en-US" dirty="0"/>
              <a:t> </a:t>
            </a:r>
            <a:r>
              <a:rPr lang="en-US" altLang="ko-KR" dirty="0"/>
              <a:t>!=</a:t>
            </a:r>
            <a:r>
              <a:rPr lang="ko-KR" altLang="en-US" dirty="0"/>
              <a:t> </a:t>
            </a:r>
            <a:endParaRPr lang="en-US" altLang="ko-KR" dirty="0"/>
          </a:p>
          <a:p>
            <a:pPr lvl="1" fontAlgn="base"/>
            <a:r>
              <a:rPr lang="ko-KR" altLang="en-US" dirty="0"/>
              <a:t>두 개의 </a:t>
            </a:r>
            <a:r>
              <a:rPr lang="ko-KR" altLang="en-US" dirty="0" err="1"/>
              <a:t>딕셔너리가</a:t>
            </a:r>
            <a:r>
              <a:rPr lang="ko-KR" altLang="en-US" dirty="0"/>
              <a:t> </a:t>
            </a:r>
            <a:r>
              <a:rPr lang="ko-KR" altLang="en-US" dirty="0" smtClean="0"/>
              <a:t>동일한</a:t>
            </a:r>
            <a:r>
              <a:rPr lang="en-US" altLang="ko-KR" dirty="0"/>
              <a:t> </a:t>
            </a:r>
            <a:r>
              <a:rPr lang="ko-KR" altLang="en-US" dirty="0" smtClean="0"/>
              <a:t>항목을 </a:t>
            </a:r>
            <a:r>
              <a:rPr lang="ko-KR" altLang="en-US" dirty="0"/>
              <a:t>가지고 있는지 확인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</a:t>
            </a:r>
            <a:r>
              <a:rPr lang="ko-KR" altLang="en-US" dirty="0" err="1"/>
              <a:t>딕셔너리와</a:t>
            </a:r>
            <a:r>
              <a:rPr lang="ko-KR" altLang="en-US" dirty="0"/>
              <a:t> 연산자</a:t>
            </a:r>
          </a:p>
        </p:txBody>
      </p:sp>
    </p:spTree>
    <p:extLst>
      <p:ext uri="{BB962C8B-B14F-4D97-AF65-F5344CB8AC3E}">
        <p14:creationId xmlns:p14="http://schemas.microsoft.com/office/powerpoint/2010/main" val="1635668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48" y="1753396"/>
            <a:ext cx="9311311" cy="355522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 smtClean="0"/>
              <a:t>딕셔너리는</a:t>
            </a:r>
            <a:r>
              <a:rPr lang="ko-KR" altLang="en-US" dirty="0" smtClean="0"/>
              <a:t> </a:t>
            </a:r>
            <a:r>
              <a:rPr lang="en-US" altLang="ko-KR" dirty="0"/>
              <a:t>&gt;, &gt;=, &lt;, &lt;=</a:t>
            </a:r>
            <a:r>
              <a:rPr lang="ko-KR" altLang="en-US" dirty="0"/>
              <a:t>와 같은 비교연산을 지원하지 않는다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3A1DFB-C41E-548B-9823-D439EE2B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</a:t>
            </a:r>
            <a:r>
              <a:rPr lang="ko-KR" altLang="en-US" dirty="0" err="1"/>
              <a:t>딕셔너리와</a:t>
            </a:r>
            <a:r>
              <a:rPr lang="ko-KR" altLang="en-US" dirty="0"/>
              <a:t> 연산자</a:t>
            </a:r>
          </a:p>
        </p:txBody>
      </p:sp>
    </p:spTree>
    <p:extLst>
      <p:ext uri="{BB962C8B-B14F-4D97-AF65-F5344CB8AC3E}">
        <p14:creationId xmlns:p14="http://schemas.microsoft.com/office/powerpoint/2010/main" val="370727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EBC65-1B15-57B5-4809-2A08B49D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</a:t>
            </a:r>
            <a:r>
              <a:rPr lang="ko-KR" altLang="en-US" dirty="0" err="1"/>
              <a:t>딕셔너리와</a:t>
            </a:r>
            <a:r>
              <a:rPr lang="ko-KR" altLang="en-US" dirty="0"/>
              <a:t> 연산자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828656" y="1083742"/>
            <a:ext cx="6610806" cy="567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62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01742"/>
            <a:ext cx="10015538" cy="417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6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14" y="3306238"/>
            <a:ext cx="8645428" cy="313953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 err="1"/>
              <a:t>person.keys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호출하면 </a:t>
            </a:r>
            <a:r>
              <a:rPr lang="en-US" altLang="ko-KR" dirty="0"/>
              <a:t>person </a:t>
            </a:r>
            <a:r>
              <a:rPr lang="ko-KR" altLang="en-US" dirty="0" err="1"/>
              <a:t>딕셔너리의</a:t>
            </a:r>
            <a:r>
              <a:rPr lang="ko-KR" altLang="en-US" dirty="0"/>
              <a:t> 키들이 값의 리스트로 반환</a:t>
            </a:r>
            <a:endParaRPr lang="en-US" altLang="ko-KR" dirty="0"/>
          </a:p>
          <a:p>
            <a:pPr fontAlgn="base"/>
            <a:r>
              <a:rPr lang="en-US" altLang="ko-KR" dirty="0" err="1"/>
              <a:t>person.values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호출하면 값의 리스트가</a:t>
            </a:r>
            <a:r>
              <a:rPr lang="en-US" altLang="ko-KR" dirty="0"/>
              <a:t> </a:t>
            </a:r>
            <a:r>
              <a:rPr lang="ko-KR" altLang="en-US" dirty="0"/>
              <a:t>반환</a:t>
            </a:r>
            <a:endParaRPr lang="en-US" altLang="ko-KR" dirty="0"/>
          </a:p>
          <a:p>
            <a:pPr fontAlgn="base"/>
            <a:r>
              <a:rPr lang="en-US" altLang="ko-KR" dirty="0" err="1"/>
              <a:t>person.items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통해 반환되는 항목들은 </a:t>
            </a:r>
            <a:r>
              <a:rPr lang="en-US" altLang="ko-KR" dirty="0"/>
              <a:t>[</a:t>
            </a:r>
            <a:r>
              <a:rPr lang="ko-KR" altLang="en-US" dirty="0"/>
              <a:t>키</a:t>
            </a:r>
            <a:r>
              <a:rPr lang="en-US" altLang="ko-KR" dirty="0"/>
              <a:t>]:[</a:t>
            </a:r>
            <a:r>
              <a:rPr lang="ko-KR" altLang="en-US" dirty="0"/>
              <a:t>값</a:t>
            </a:r>
            <a:r>
              <a:rPr lang="en-US" altLang="ko-KR" dirty="0"/>
              <a:t>]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쌍으로 이루어진 항목들로 </a:t>
            </a:r>
            <a:r>
              <a:rPr lang="en-US" altLang="ko-KR" dirty="0"/>
              <a:t>(‘</a:t>
            </a:r>
            <a:r>
              <a:rPr lang="ko-KR" altLang="en-US" dirty="0"/>
              <a:t>이름’</a:t>
            </a:r>
            <a:r>
              <a:rPr lang="en-US" altLang="ko-KR" dirty="0"/>
              <a:t>, ‘</a:t>
            </a:r>
            <a:r>
              <a:rPr lang="ko-KR" altLang="en-US" dirty="0"/>
              <a:t>홍길동’</a:t>
            </a:r>
            <a:r>
              <a:rPr lang="en-US" altLang="ko-KR" dirty="0"/>
              <a:t>)</a:t>
            </a:r>
            <a:r>
              <a:rPr lang="ko-KR" altLang="en-US" dirty="0"/>
              <a:t>과 같이 괄호 내에서 쉼표로 구분되어 있음</a:t>
            </a:r>
            <a:endParaRPr lang="en-US" altLang="ko-KR" dirty="0"/>
          </a:p>
          <a:p>
            <a:pPr fontAlgn="base"/>
            <a:r>
              <a:rPr lang="ko-KR" altLang="en-US" dirty="0"/>
              <a:t>이러한 집합 </a:t>
            </a:r>
            <a:r>
              <a:rPr lang="ko-KR" altLang="en-US" dirty="0" err="1"/>
              <a:t>자료형을</a:t>
            </a:r>
            <a:r>
              <a:rPr lang="ko-KR" altLang="en-US" dirty="0"/>
              <a:t> </a:t>
            </a:r>
            <a:r>
              <a:rPr lang="ko-KR" altLang="en-US" b="1" dirty="0" err="1"/>
              <a:t>튜플</a:t>
            </a:r>
            <a:r>
              <a:rPr lang="en-US" altLang="ko-KR" b="1" baseline="30000" dirty="0">
                <a:solidFill>
                  <a:schemeClr val="accent5"/>
                </a:solidFill>
              </a:rPr>
              <a:t>tuple</a:t>
            </a:r>
            <a:r>
              <a:rPr lang="ko-KR" altLang="en-US" dirty="0"/>
              <a:t>이라고 함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E7EBDC-1E1C-7ACB-5E1C-0934F5C8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</p:spTree>
    <p:extLst>
      <p:ext uri="{BB962C8B-B14F-4D97-AF65-F5344CB8AC3E}">
        <p14:creationId xmlns:p14="http://schemas.microsoft.com/office/powerpoint/2010/main" val="252806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247693"/>
            <a:ext cx="10177131" cy="366321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person['</a:t>
            </a:r>
            <a:r>
              <a:rPr lang="ko-KR" altLang="en-US" dirty="0"/>
              <a:t>취미‘</a:t>
            </a:r>
            <a:r>
              <a:rPr lang="en-US" altLang="ko-KR" dirty="0"/>
              <a:t>]</a:t>
            </a:r>
            <a:r>
              <a:rPr lang="ko-KR" altLang="en-US" dirty="0"/>
              <a:t>를 통해서 ’취미‘를 키로 하는 항목을 가져오기</a:t>
            </a:r>
          </a:p>
          <a:p>
            <a:r>
              <a:rPr lang="en-US" altLang="ko-KR" dirty="0"/>
              <a:t>'</a:t>
            </a:r>
            <a:r>
              <a:rPr lang="ko-KR" altLang="en-US" dirty="0"/>
              <a:t>취미’ 키가 </a:t>
            </a:r>
            <a:r>
              <a:rPr lang="en-US" altLang="ko-KR" dirty="0"/>
              <a:t>person</a:t>
            </a:r>
            <a:r>
              <a:rPr lang="ko-KR" altLang="en-US" dirty="0"/>
              <a:t>의 항목에 들어 있지 않기 때문에 </a:t>
            </a:r>
            <a:r>
              <a:rPr lang="en-US" altLang="ko-KR" dirty="0" err="1"/>
              <a:t>KeyError</a:t>
            </a:r>
            <a:r>
              <a:rPr lang="ko-KR" altLang="en-US" dirty="0"/>
              <a:t>라는 예외를 발생시키고 프로그램은 중지됨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0A8FFB-A759-D949-7E48-8B8826D7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</p:spTree>
    <p:extLst>
      <p:ext uri="{BB962C8B-B14F-4D97-AF65-F5344CB8AC3E}">
        <p14:creationId xmlns:p14="http://schemas.microsoft.com/office/powerpoint/2010/main" val="1287574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이를 방지하기 위해서 우리는 </a:t>
            </a:r>
            <a:r>
              <a:rPr lang="en-US" altLang="ko-KR" dirty="0"/>
              <a:t>get() </a:t>
            </a:r>
            <a:r>
              <a:rPr lang="ko-KR" altLang="en-US" dirty="0"/>
              <a:t>메소드를 사용</a:t>
            </a:r>
          </a:p>
          <a:p>
            <a:r>
              <a:rPr lang="en-US" altLang="ko-KR" dirty="0"/>
              <a:t>get() </a:t>
            </a:r>
            <a:r>
              <a:rPr lang="ko-KR" altLang="en-US" dirty="0"/>
              <a:t>메소드는 키를 인자로 넣어서 이 키가 </a:t>
            </a:r>
            <a:r>
              <a:rPr lang="ko-KR" altLang="en-US" dirty="0" err="1"/>
              <a:t>딕셔너리에</a:t>
            </a:r>
            <a:r>
              <a:rPr lang="ko-KR" altLang="en-US" dirty="0"/>
              <a:t> 있을 경우 값을 반환하며</a:t>
            </a:r>
            <a:r>
              <a:rPr lang="en-US" altLang="ko-KR" dirty="0"/>
              <a:t>, </a:t>
            </a:r>
            <a:r>
              <a:rPr lang="ko-KR" altLang="en-US" dirty="0"/>
              <a:t>키가 없을 경우 </a:t>
            </a:r>
            <a:r>
              <a:rPr lang="en-US" altLang="ko-KR" dirty="0"/>
              <a:t>None</a:t>
            </a:r>
            <a:r>
              <a:rPr lang="ko-KR" altLang="en-US" dirty="0"/>
              <a:t>이라는 값을 반환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0A8FFB-A759-D949-7E48-8B8826D7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8" y="1399263"/>
            <a:ext cx="9717284" cy="34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7660A-91C2-40B0-74B5-C5B6AAC0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36306" y="1128713"/>
            <a:ext cx="8876525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07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7660A-91C2-40B0-74B5-C5B6AAC0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DD2BD0-529B-B6E0-9EE7-BF8C2EB207D2}"/>
              </a:ext>
            </a:extLst>
          </p:cNvPr>
          <p:cNvGrpSpPr/>
          <p:nvPr/>
        </p:nvGrpSpPr>
        <p:grpSpPr>
          <a:xfrm>
            <a:off x="1189195" y="1263843"/>
            <a:ext cx="9813609" cy="4712051"/>
            <a:chOff x="2322974" y="1747878"/>
            <a:chExt cx="10146116" cy="489818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B286DDD-3411-4FA1-4F13-9AC2ECDD7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155"/>
            <a:stretch/>
          </p:blipFill>
          <p:spPr>
            <a:xfrm>
              <a:off x="2322974" y="1747878"/>
              <a:ext cx="10146116" cy="285220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64C91F7-4B89-4F84-ACC2-D6AD91381B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55"/>
            <a:stretch/>
          </p:blipFill>
          <p:spPr>
            <a:xfrm>
              <a:off x="2322974" y="4370757"/>
              <a:ext cx="10146116" cy="22753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13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294" y="2462126"/>
            <a:ext cx="9986728" cy="358411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딕셔너리의</a:t>
            </a:r>
            <a:r>
              <a:rPr lang="ko-KR" altLang="en-US" dirty="0"/>
              <a:t> 항목을 하나하나 열거하기 위해서 </a:t>
            </a:r>
            <a:r>
              <a:rPr lang="en-US" altLang="ko-KR" dirty="0"/>
              <a:t>for - in</a:t>
            </a:r>
            <a:r>
              <a:rPr lang="ko-KR" altLang="en-US" dirty="0"/>
              <a:t>문을 사용</a:t>
            </a:r>
          </a:p>
          <a:p>
            <a:r>
              <a:rPr lang="ko-KR" altLang="en-US" dirty="0"/>
              <a:t>리스트의 </a:t>
            </a:r>
            <a:r>
              <a:rPr lang="en-US" altLang="ko-KR" dirty="0"/>
              <a:t>for - in </a:t>
            </a:r>
            <a:r>
              <a:rPr lang="ko-KR" altLang="en-US" dirty="0"/>
              <a:t>문이 하나의 항목을 반환하는 반면 </a:t>
            </a:r>
            <a:r>
              <a:rPr lang="ko-KR" altLang="en-US" dirty="0" err="1"/>
              <a:t>딕셔너리의</a:t>
            </a:r>
            <a:r>
              <a:rPr lang="ko-KR" altLang="en-US" dirty="0"/>
              <a:t> </a:t>
            </a:r>
            <a:r>
              <a:rPr lang="en-US" altLang="ko-KR" dirty="0"/>
              <a:t>for - in </a:t>
            </a:r>
            <a:r>
              <a:rPr lang="ko-KR" altLang="en-US" dirty="0"/>
              <a:t>문은 </a:t>
            </a:r>
            <a:r>
              <a:rPr lang="ko-KR" altLang="en-US" b="1" dirty="0"/>
              <a:t>항목의 키를 반환</a:t>
            </a:r>
            <a:r>
              <a:rPr lang="ko-KR" altLang="en-US" dirty="0"/>
              <a:t>한다는 특징이 있음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01555F-5CBB-A659-ED5D-C925DA7C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 err="1"/>
              <a:t>딕셔너리의</a:t>
            </a:r>
            <a:r>
              <a:rPr lang="ko-KR" altLang="en-US" dirty="0"/>
              <a:t> 메소드</a:t>
            </a:r>
          </a:p>
        </p:txBody>
      </p:sp>
    </p:spTree>
    <p:extLst>
      <p:ext uri="{BB962C8B-B14F-4D97-AF65-F5344CB8AC3E}">
        <p14:creationId xmlns:p14="http://schemas.microsoft.com/office/powerpoint/2010/main" val="1651950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796977" y="1249198"/>
            <a:ext cx="10930376" cy="40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98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780028" y="1128713"/>
            <a:ext cx="980960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1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74944" y="1128713"/>
            <a:ext cx="819924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25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8CFA1C0-7C8D-6646-355A-504E9CAE2F9F}"/>
              </a:ext>
            </a:extLst>
          </p:cNvPr>
          <p:cNvGrpSpPr/>
          <p:nvPr/>
        </p:nvGrpSpPr>
        <p:grpSpPr>
          <a:xfrm>
            <a:off x="2070294" y="1102923"/>
            <a:ext cx="8051411" cy="5005107"/>
            <a:chOff x="608495" y="495413"/>
            <a:chExt cx="9490146" cy="5899487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495" y="4235721"/>
              <a:ext cx="9490146" cy="2159179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495" y="495413"/>
              <a:ext cx="9490146" cy="3618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4062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94" y="4206953"/>
            <a:ext cx="8482442" cy="14811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94" y="1820918"/>
            <a:ext cx="8482442" cy="1608082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생성법과 접근법 비교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D326CA-20AD-59E4-AB2E-ABD24D07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2388621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68" y="4529386"/>
            <a:ext cx="8169338" cy="140444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69" y="2170455"/>
            <a:ext cx="8169337" cy="213941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 latinLnBrk="0"/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항목의 개수 확인</a:t>
            </a:r>
            <a:r>
              <a:rPr lang="en-US" altLang="ko-KR" dirty="0"/>
              <a:t>, </a:t>
            </a:r>
            <a:r>
              <a:rPr lang="ko-KR" altLang="en-US" dirty="0"/>
              <a:t>값 삭제 방법</a:t>
            </a:r>
            <a:endParaRPr lang="en-US" altLang="ko-KR" dirty="0"/>
          </a:p>
          <a:p>
            <a:pPr fontAlgn="base" latinLnBrk="0"/>
            <a:r>
              <a:rPr lang="ko-KR" altLang="en-US" dirty="0"/>
              <a:t>특정한 값이 포함되어 있는지 여부 확인 방법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C46C1E8-FC91-30DE-6D86-EAA74CE3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2227641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408CB-163B-DFFB-A518-F202E483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리스트와 </a:t>
            </a:r>
            <a:r>
              <a:rPr lang="ko-KR" altLang="en-US" dirty="0" err="1"/>
              <a:t>딕셔너리의</a:t>
            </a:r>
            <a:r>
              <a:rPr lang="ko-KR" altLang="en-US" dirty="0"/>
              <a:t> 비교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957555" y="1128237"/>
            <a:ext cx="6406956" cy="5422466"/>
            <a:chOff x="3016135" y="127093"/>
            <a:chExt cx="7706886" cy="6474666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6135" y="127093"/>
              <a:ext cx="7706886" cy="2085393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b="3986"/>
            <a:stretch/>
          </p:blipFill>
          <p:spPr>
            <a:xfrm>
              <a:off x="3016135" y="1859847"/>
              <a:ext cx="7701178" cy="4741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3150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endParaRPr lang="ko-KR" altLang="en-US" dirty="0"/>
          </a:p>
          <a:p>
            <a:pPr lvl="1"/>
            <a:r>
              <a:rPr lang="ko-KR" altLang="en-US" b="1" dirty="0"/>
              <a:t>여러 개의 요소</a:t>
            </a:r>
            <a:r>
              <a:rPr lang="en-US" altLang="ko-KR" b="1" dirty="0"/>
              <a:t>(</a:t>
            </a:r>
            <a:r>
              <a:rPr lang="ko-KR" altLang="en-US" b="1" dirty="0" err="1"/>
              <a:t>항목값</a:t>
            </a:r>
            <a:r>
              <a:rPr lang="en-US" altLang="ko-KR" b="1" dirty="0"/>
              <a:t>)</a:t>
            </a:r>
            <a:r>
              <a:rPr lang="ko-KR" altLang="en-US" b="1" dirty="0"/>
              <a:t>를 가지는 컬렉션 </a:t>
            </a:r>
            <a:r>
              <a:rPr lang="ko-KR" altLang="en-US" b="1" dirty="0" err="1"/>
              <a:t>자료형</a:t>
            </a:r>
            <a:r>
              <a:rPr lang="en-US" altLang="ko-KR" sz="2800" b="1" baseline="30000" dirty="0">
                <a:solidFill>
                  <a:schemeClr val="accent5"/>
                </a:solidFill>
              </a:rPr>
              <a:t>collection data type</a:t>
            </a:r>
            <a:endParaRPr lang="ko-KR" altLang="en-US" sz="2000" b="1" baseline="30000" dirty="0">
              <a:solidFill>
                <a:schemeClr val="accent5"/>
              </a:solidFill>
            </a:endParaRPr>
          </a:p>
          <a:p>
            <a:pPr lvl="1"/>
            <a:r>
              <a:rPr lang="ko-KR" altLang="en-US" dirty="0"/>
              <a:t>리스트와는 달리 한 번 정해진 요소의 순서를 바꿀 수 없다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 = (‘one’, ‘two’, ‘three) </a:t>
            </a:r>
            <a:r>
              <a:rPr lang="ko-KR" altLang="en-US" dirty="0"/>
              <a:t>와 같이 괄호로 둘러싸인 형태</a:t>
            </a:r>
            <a:endParaRPr lang="en-US" altLang="ko-KR" dirty="0"/>
          </a:p>
          <a:p>
            <a:r>
              <a:rPr lang="ko-KR" altLang="en-US" b="1" dirty="0"/>
              <a:t>불변</a:t>
            </a:r>
            <a:r>
              <a:rPr lang="en-US" altLang="ko-KR" b="1" baseline="30000" dirty="0">
                <a:solidFill>
                  <a:schemeClr val="accent5"/>
                </a:solidFill>
              </a:rPr>
              <a:t>immutable</a:t>
            </a:r>
            <a:r>
              <a:rPr lang="ko-KR" altLang="en-US" dirty="0"/>
              <a:t> 속성</a:t>
            </a:r>
          </a:p>
          <a:p>
            <a:pPr lvl="1"/>
            <a:r>
              <a:rPr lang="ko-KR" altLang="en-US" dirty="0" err="1"/>
              <a:t>튜플</a:t>
            </a:r>
            <a:r>
              <a:rPr lang="ko-KR" altLang="en-US" dirty="0"/>
              <a:t> 내부의 객체를 변경하거나 삭제하는 것도 불가능하다는 특징을 가짐</a:t>
            </a:r>
          </a:p>
          <a:p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ko-KR" altLang="en-US" dirty="0" err="1"/>
              <a:t>자료형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6974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4CF6BDB-F487-01EC-65C6-E863DFD55166}"/>
              </a:ext>
            </a:extLst>
          </p:cNvPr>
          <p:cNvGrpSpPr/>
          <p:nvPr/>
        </p:nvGrpSpPr>
        <p:grpSpPr>
          <a:xfrm>
            <a:off x="1308397" y="1707259"/>
            <a:ext cx="7265977" cy="4948374"/>
            <a:chOff x="609150" y="925704"/>
            <a:chExt cx="8252217" cy="5496443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150" y="4073955"/>
              <a:ext cx="8252217" cy="2348192"/>
            </a:xfrm>
            <a:prstGeom prst="rect">
              <a:avLst/>
            </a:prstGeom>
          </p:spPr>
        </p:pic>
        <p:grpSp>
          <p:nvGrpSpPr>
            <p:cNvPr id="8" name="그룹 7"/>
            <p:cNvGrpSpPr/>
            <p:nvPr/>
          </p:nvGrpSpPr>
          <p:grpSpPr>
            <a:xfrm>
              <a:off x="609150" y="925704"/>
              <a:ext cx="8252217" cy="2923090"/>
              <a:chOff x="1271587" y="2298379"/>
              <a:chExt cx="10563225" cy="3917358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 rotWithShape="1">
              <a:blip r:embed="rId3"/>
              <a:srcRect b="3909"/>
              <a:stretch/>
            </p:blipFill>
            <p:spPr>
              <a:xfrm>
                <a:off x="1271587" y="2298379"/>
                <a:ext cx="10563225" cy="1729862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4"/>
              <a:srcRect l="194" t="1781" b="-1"/>
              <a:stretch/>
            </p:blipFill>
            <p:spPr>
              <a:xfrm>
                <a:off x="1271587" y="4028241"/>
                <a:ext cx="10563225" cy="2187496"/>
              </a:xfrm>
              <a:prstGeom prst="rect">
                <a:avLst/>
              </a:prstGeom>
            </p:spPr>
          </p:pic>
        </p:grpSp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튜플을</a:t>
            </a:r>
            <a:r>
              <a:rPr lang="ko-KR" altLang="en-US" dirty="0"/>
              <a:t> 생성하는 여러 가지 방법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2382AC7-68EE-FE75-6AC8-080DF68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3093040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2382AC7-68EE-FE75-6AC8-080DF68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A237519-E2A1-F5C4-D944-CC806D2DC883}"/>
              </a:ext>
            </a:extLst>
          </p:cNvPr>
          <p:cNvGrpSpPr/>
          <p:nvPr/>
        </p:nvGrpSpPr>
        <p:grpSpPr>
          <a:xfrm>
            <a:off x="1707393" y="1113246"/>
            <a:ext cx="6567177" cy="5467436"/>
            <a:chOff x="4015048" y="307580"/>
            <a:chExt cx="7162324" cy="593677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A812398-CCBD-95C3-2E41-FC2538EEF383}"/>
                </a:ext>
              </a:extLst>
            </p:cNvPr>
            <p:cNvSpPr/>
            <p:nvPr/>
          </p:nvSpPr>
          <p:spPr>
            <a:xfrm>
              <a:off x="4766731" y="1000497"/>
              <a:ext cx="488888" cy="244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280AE1A-CE76-15CA-9B43-98986F410172}"/>
                </a:ext>
              </a:extLst>
            </p:cNvPr>
            <p:cNvSpPr/>
            <p:nvPr/>
          </p:nvSpPr>
          <p:spPr>
            <a:xfrm>
              <a:off x="5328051" y="1561812"/>
              <a:ext cx="479829" cy="280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2EF9256-314A-9C92-385F-B60C4DC6B05E}"/>
                </a:ext>
              </a:extLst>
            </p:cNvPr>
            <p:cNvSpPr/>
            <p:nvPr/>
          </p:nvSpPr>
          <p:spPr>
            <a:xfrm>
              <a:off x="4458914" y="1270270"/>
              <a:ext cx="190127" cy="273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E158A12-3B3B-C547-4F8B-D08A3B791F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7" r="491"/>
            <a:stretch/>
          </p:blipFill>
          <p:spPr>
            <a:xfrm>
              <a:off x="4015048" y="307580"/>
              <a:ext cx="7162324" cy="3854036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5BFA231-D0C3-5B43-FCB8-DC918021E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1" t="3863" r="569"/>
            <a:stretch/>
          </p:blipFill>
          <p:spPr>
            <a:xfrm>
              <a:off x="4015048" y="4072791"/>
              <a:ext cx="7162324" cy="2171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34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48" y="2719523"/>
            <a:ext cx="8691282" cy="219643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 err="1"/>
              <a:t>튜플은</a:t>
            </a:r>
            <a:r>
              <a:rPr lang="ko-KR" altLang="en-US" dirty="0"/>
              <a:t> 사용하려고 할 때 인덱스를 사용한다는 점은 인덱스와 동일</a:t>
            </a:r>
            <a:endParaRPr lang="en-US" altLang="ko-KR" dirty="0"/>
          </a:p>
          <a:p>
            <a:pPr fontAlgn="base"/>
            <a:r>
              <a:rPr lang="ko-KR" altLang="en-US" dirty="0"/>
              <a:t>리스트와는 달리 </a:t>
            </a:r>
            <a:r>
              <a:rPr lang="ko-KR" altLang="en-US" dirty="0">
                <a:solidFill>
                  <a:srgbClr val="FF0000"/>
                </a:solidFill>
              </a:rPr>
              <a:t>불변 자료형</a:t>
            </a:r>
            <a:r>
              <a:rPr lang="ko-KR" altLang="en-US" dirty="0"/>
              <a:t>으로 내부의 값을 변경할 수 없음</a:t>
            </a:r>
            <a:endParaRPr lang="en-US" altLang="ko-KR" dirty="0"/>
          </a:p>
          <a:p>
            <a:pPr fontAlgn="base"/>
            <a:r>
              <a:rPr lang="ko-KR" altLang="en-US" dirty="0"/>
              <a:t>따라서 개별 항목에 대한 할당 연산은 오류를 발생시킴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825DCE-E5A8-0937-EC6B-DBC27BE9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38263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11" y="2798586"/>
            <a:ext cx="8264990" cy="2599054"/>
          </a:xfrm>
          <a:prstGeom prst="rect">
            <a:avLst/>
          </a:prstGeom>
        </p:spPr>
      </p:pic>
      <p:sp>
        <p:nvSpPr>
          <p:cNvPr id="2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패킹</a:t>
            </a:r>
            <a:r>
              <a:rPr lang="en-US" altLang="ko-KR" b="1" baseline="30000" dirty="0">
                <a:solidFill>
                  <a:schemeClr val="accent5"/>
                </a:solidFill>
              </a:rPr>
              <a:t>packing</a:t>
            </a:r>
          </a:p>
          <a:p>
            <a:pPr lvl="1" fontAlgn="base"/>
            <a:r>
              <a:rPr lang="ko-KR" altLang="en-US" dirty="0"/>
              <a:t>하나의 </a:t>
            </a:r>
            <a:r>
              <a:rPr lang="ko-KR" altLang="en-US" dirty="0" err="1"/>
              <a:t>튜플</a:t>
            </a:r>
            <a:r>
              <a:rPr lang="ko-KR" altLang="en-US" dirty="0"/>
              <a:t> 변수에 여러 개의 값을 넣는 것을 의미</a:t>
            </a:r>
            <a:endParaRPr lang="en-US" altLang="ko-KR" dirty="0"/>
          </a:p>
          <a:p>
            <a:pPr fontAlgn="base"/>
            <a:r>
              <a:rPr lang="ko-KR" altLang="en-US" dirty="0" err="1"/>
              <a:t>언패킹</a:t>
            </a:r>
            <a:r>
              <a:rPr lang="en-US" altLang="ko-KR" b="1" baseline="30000" dirty="0">
                <a:solidFill>
                  <a:schemeClr val="accent5"/>
                </a:solidFill>
              </a:rPr>
              <a:t>unpacking</a:t>
            </a:r>
          </a:p>
          <a:p>
            <a:pPr lvl="1" fontAlgn="base"/>
            <a:r>
              <a:rPr lang="ko-KR" altLang="en-US" dirty="0" err="1"/>
              <a:t>패킹된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변수가 있으면</a:t>
            </a:r>
            <a:r>
              <a:rPr lang="en-US" altLang="ko-KR" dirty="0"/>
              <a:t>, </a:t>
            </a:r>
            <a:r>
              <a:rPr lang="ko-KR" altLang="en-US" dirty="0"/>
              <a:t>여러 개의 값을 개별 변수에 담아 꺼내는 것</a:t>
            </a:r>
            <a:endParaRPr lang="en-US" altLang="ko-KR" dirty="0"/>
          </a:p>
          <a:p>
            <a:pPr lvl="1"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AC1623E-A322-D667-CF53-9A9281D0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2698937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6514"/>
          <a:stretch/>
        </p:blipFill>
        <p:spPr>
          <a:xfrm>
            <a:off x="5774407" y="4467849"/>
            <a:ext cx="4548463" cy="151659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30480"/>
          <a:stretch/>
        </p:blipFill>
        <p:spPr>
          <a:xfrm>
            <a:off x="5774407" y="1104940"/>
            <a:ext cx="5888349" cy="316668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1067258" y="1128237"/>
            <a:ext cx="4528290" cy="4917999"/>
          </a:xfrm>
        </p:spPr>
        <p:txBody>
          <a:bodyPr/>
          <a:lstStyle/>
          <a:p>
            <a:pPr fontAlgn="base"/>
            <a:r>
              <a:rPr lang="ko-KR" altLang="en-US" dirty="0" err="1"/>
              <a:t>스왑</a:t>
            </a:r>
            <a:r>
              <a:rPr lang="en-US" altLang="ko-KR" b="1" baseline="30000" dirty="0">
                <a:solidFill>
                  <a:schemeClr val="accent5"/>
                </a:solidFill>
              </a:rPr>
              <a:t>swap</a:t>
            </a:r>
          </a:p>
          <a:p>
            <a:pPr lvl="1" fontAlgn="base"/>
            <a:r>
              <a:rPr lang="ko-KR" altLang="en-US" dirty="0" smtClean="0"/>
              <a:t>두 변수의 값을 교환하는 작업</a:t>
            </a:r>
            <a:endParaRPr lang="en-US" altLang="ko-KR" dirty="0" smtClean="0"/>
          </a:p>
          <a:p>
            <a:pPr lvl="1" fontAlgn="base"/>
            <a:r>
              <a:rPr lang="en-US" altLang="ko-KR" dirty="0" smtClean="0"/>
              <a:t>a</a:t>
            </a:r>
            <a:r>
              <a:rPr lang="en-US" altLang="ko-KR" dirty="0"/>
              <a:t>, b = b, a</a:t>
            </a:r>
            <a:r>
              <a:rPr lang="ko-KR" altLang="en-US" dirty="0"/>
              <a:t>라는 한 줄을</a:t>
            </a:r>
            <a:r>
              <a:rPr lang="en-US" altLang="ko-KR" dirty="0"/>
              <a:t> </a:t>
            </a:r>
            <a:r>
              <a:rPr lang="ko-KR" altLang="en-US" dirty="0"/>
              <a:t>이용하여 값을 교환</a:t>
            </a:r>
            <a:endParaRPr lang="en-US" altLang="ko-KR" dirty="0"/>
          </a:p>
          <a:p>
            <a:pPr lvl="1" fontAlgn="base"/>
            <a:r>
              <a:rPr lang="ko-KR" altLang="en-US" dirty="0"/>
              <a:t>코드나 효율성 면에서 굉장히 간단</a:t>
            </a:r>
            <a:endParaRPr lang="en-US" altLang="ko-KR" dirty="0"/>
          </a:p>
          <a:p>
            <a:pPr lvl="1" fontAlgn="base"/>
            <a:r>
              <a:rPr lang="ko-KR" altLang="en-US" dirty="0"/>
              <a:t>코드가 굉장히 직관적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061A06-51E6-08AE-D640-B7D2F514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3607523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1067258" y="1128237"/>
            <a:ext cx="4528290" cy="4917999"/>
          </a:xfrm>
        </p:spPr>
        <p:txBody>
          <a:bodyPr/>
          <a:lstStyle/>
          <a:p>
            <a:pPr fontAlgn="base"/>
            <a:r>
              <a:rPr lang="ko-KR" altLang="en-US" dirty="0"/>
              <a:t>위의 코드를 </a:t>
            </a:r>
            <a:r>
              <a:rPr lang="en-US" altLang="ko-KR" dirty="0" err="1"/>
              <a:t>tuple을</a:t>
            </a:r>
            <a:r>
              <a:rPr lang="en-US" altLang="ko-KR" dirty="0"/>
              <a:t> </a:t>
            </a:r>
            <a:r>
              <a:rPr lang="en-US" altLang="ko-KR" dirty="0" err="1"/>
              <a:t>이용하</a:t>
            </a:r>
            <a:r>
              <a:rPr lang="ko-KR" altLang="en-US" dirty="0"/>
              <a:t>여 간단히 하기</a:t>
            </a:r>
            <a:endParaRPr lang="en-US" altLang="ko-KR" dirty="0"/>
          </a:p>
          <a:p>
            <a:pPr fontAlgn="base"/>
            <a:r>
              <a:rPr lang="ko-KR" altLang="en-US" dirty="0"/>
              <a:t>효율적이고 간단한 방법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061A06-51E6-08AE-D640-B7D2F514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r="43161"/>
          <a:stretch/>
        </p:blipFill>
        <p:spPr>
          <a:xfrm>
            <a:off x="5595548" y="4245585"/>
            <a:ext cx="5328270" cy="14604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r="10822"/>
          <a:stretch/>
        </p:blipFill>
        <p:spPr>
          <a:xfrm>
            <a:off x="5549976" y="1112447"/>
            <a:ext cx="6007441" cy="279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06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31425-C329-1FB2-3AE4-64C93F64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 </a:t>
            </a:r>
            <a:r>
              <a:rPr lang="ko-KR" altLang="en-US" dirty="0" err="1"/>
              <a:t>튜플</a:t>
            </a:r>
            <a:r>
              <a:rPr lang="ko-KR" altLang="en-US" dirty="0"/>
              <a:t> 자료형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347611" y="1128713"/>
            <a:ext cx="945391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9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r>
              <a:rPr lang="ko-KR" altLang="en-US" dirty="0"/>
              <a:t> 역시 </a:t>
            </a:r>
            <a:r>
              <a:rPr lang="en-US" altLang="ko-KR" dirty="0"/>
              <a:t>+</a:t>
            </a:r>
            <a:r>
              <a:rPr lang="ko-KR" altLang="en-US" dirty="0"/>
              <a:t>와 * 연산 사용 가능</a:t>
            </a:r>
            <a:endParaRPr lang="en-US" altLang="ko-KR" dirty="0"/>
          </a:p>
          <a:p>
            <a:r>
              <a:rPr lang="en-US" altLang="ko-KR" dirty="0"/>
              <a:t>+ </a:t>
            </a:r>
            <a:r>
              <a:rPr lang="en-US" altLang="ko-KR" dirty="0" err="1"/>
              <a:t>연산은</a:t>
            </a:r>
            <a:r>
              <a:rPr lang="en-US" altLang="ko-KR" dirty="0"/>
              <a:t> </a:t>
            </a:r>
            <a:r>
              <a:rPr lang="en-US" altLang="ko-KR" dirty="0" err="1"/>
              <a:t>피연산</a:t>
            </a:r>
            <a:r>
              <a:rPr lang="en-US" altLang="ko-KR" dirty="0"/>
              <a:t> </a:t>
            </a:r>
            <a:r>
              <a:rPr lang="en-US" altLang="ko-KR" dirty="0" err="1"/>
              <a:t>튜플의</a:t>
            </a:r>
            <a:r>
              <a:rPr lang="en-US" altLang="ko-KR" dirty="0"/>
              <a:t> </a:t>
            </a:r>
            <a:r>
              <a:rPr lang="en-US" altLang="ko-KR" dirty="0" err="1"/>
              <a:t>원소들을</a:t>
            </a:r>
            <a:r>
              <a:rPr lang="en-US" altLang="ko-KR" dirty="0"/>
              <a:t> </a:t>
            </a:r>
            <a:r>
              <a:rPr lang="en-US" altLang="ko-KR" dirty="0" err="1"/>
              <a:t>서로</a:t>
            </a:r>
            <a:r>
              <a:rPr lang="en-US" altLang="ko-KR" dirty="0"/>
              <a:t> </a:t>
            </a:r>
            <a:r>
              <a:rPr lang="en-US" altLang="ko-KR" dirty="0" err="1"/>
              <a:t>연결하는</a:t>
            </a:r>
            <a:r>
              <a:rPr lang="en-US" altLang="ko-KR" dirty="0"/>
              <a:t> </a:t>
            </a:r>
            <a:r>
              <a:rPr lang="en-US" altLang="ko-KR" dirty="0" err="1"/>
              <a:t>기능</a:t>
            </a:r>
            <a:endParaRPr lang="en-US" altLang="ko-KR" dirty="0"/>
          </a:p>
          <a:p>
            <a:r>
              <a:rPr lang="en-US" altLang="ko-KR" dirty="0"/>
              <a:t>t0 + 40</a:t>
            </a:r>
            <a:r>
              <a:rPr lang="ko-KR" altLang="en-US" dirty="0"/>
              <a:t>의 경우 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정수 연산이 되어 에러를 출력</a:t>
            </a:r>
            <a:endParaRPr lang="en-US" altLang="ko-KR" dirty="0"/>
          </a:p>
          <a:p>
            <a:r>
              <a:rPr lang="en-US" altLang="ko-KR" dirty="0"/>
              <a:t>t0 + (40)</a:t>
            </a:r>
            <a:r>
              <a:rPr lang="ko-KR" altLang="en-US" dirty="0"/>
              <a:t>과 같이 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튜플</a:t>
            </a:r>
            <a:r>
              <a:rPr lang="ko-KR" altLang="en-US" dirty="0"/>
              <a:t> 연산을 수행해야만 </a:t>
            </a:r>
            <a:r>
              <a:rPr lang="en-US" altLang="ko-KR" dirty="0"/>
              <a:t>(10, 20, 30, 40)</a:t>
            </a:r>
            <a:r>
              <a:rPr lang="ko-KR" altLang="en-US" dirty="0"/>
              <a:t>의 </a:t>
            </a:r>
            <a:r>
              <a:rPr lang="ko-KR" altLang="en-US" dirty="0" err="1"/>
              <a:t>튜플을</a:t>
            </a:r>
            <a:r>
              <a:rPr lang="ko-KR" altLang="en-US" dirty="0"/>
              <a:t> 생성할 수 있음</a:t>
            </a:r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7.7 </a:t>
            </a:r>
            <a:r>
              <a:rPr lang="ko-KR" altLang="en-US" dirty="0" err="1"/>
              <a:t>튜플의</a:t>
            </a:r>
            <a:r>
              <a:rPr lang="ko-KR" altLang="en-US" dirty="0"/>
              <a:t> 연산</a:t>
            </a:r>
          </a:p>
        </p:txBody>
      </p:sp>
    </p:spTree>
    <p:extLst>
      <p:ext uri="{BB962C8B-B14F-4D97-AF65-F5344CB8AC3E}">
        <p14:creationId xmlns:p14="http://schemas.microsoft.com/office/powerpoint/2010/main" val="2809416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7.7 </a:t>
            </a:r>
            <a:r>
              <a:rPr lang="ko-KR" altLang="en-US" dirty="0" err="1"/>
              <a:t>튜플의</a:t>
            </a:r>
            <a:r>
              <a:rPr lang="ko-KR" altLang="en-US" dirty="0"/>
              <a:t> 연산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18644" y="1128713"/>
            <a:ext cx="835471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25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44CD64-ACB6-399C-E74D-E1DF82D2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 </a:t>
            </a:r>
            <a:r>
              <a:rPr lang="ko-KR" altLang="en-US" dirty="0" err="1"/>
              <a:t>튜플의</a:t>
            </a:r>
            <a:r>
              <a:rPr lang="ko-KR" altLang="en-US" dirty="0"/>
              <a:t> 연산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780" y="3442957"/>
            <a:ext cx="8651595" cy="24540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81" y="1224901"/>
            <a:ext cx="8651595" cy="162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48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3367"/>
          <a:stretch/>
        </p:blipFill>
        <p:spPr>
          <a:xfrm>
            <a:off x="904883" y="4471225"/>
            <a:ext cx="6495924" cy="14315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14148"/>
          <a:stretch/>
        </p:blipFill>
        <p:spPr>
          <a:xfrm>
            <a:off x="904883" y="1262372"/>
            <a:ext cx="6476234" cy="307306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476565" y="1128237"/>
            <a:ext cx="3605449" cy="4917999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튜플은</a:t>
            </a:r>
            <a:r>
              <a:rPr lang="ko-KR" altLang="en-US" dirty="0"/>
              <a:t> 내부의 값 변경 불가</a:t>
            </a:r>
            <a:endParaRPr lang="en-US" altLang="ko-KR" dirty="0"/>
          </a:p>
          <a:p>
            <a:r>
              <a:rPr lang="ko-KR" altLang="en-US" dirty="0"/>
              <a:t>하지만 리스트는 내부의 값 변경 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457200" indent="-457200">
              <a:buAutoNum type="arabicParenR"/>
            </a:pPr>
            <a:r>
              <a:rPr lang="en-US" altLang="ko-KR" dirty="0"/>
              <a:t>list() </a:t>
            </a:r>
            <a:r>
              <a:rPr lang="ko-KR" altLang="en-US" dirty="0"/>
              <a:t>함수를 사용하여 </a:t>
            </a:r>
            <a:r>
              <a:rPr lang="ko-KR" altLang="en-US" dirty="0" err="1"/>
              <a:t>튜플을</a:t>
            </a:r>
            <a:r>
              <a:rPr lang="ko-KR" altLang="en-US" dirty="0"/>
              <a:t> 리스트로 만들고</a:t>
            </a:r>
            <a:r>
              <a:rPr lang="en-US" altLang="ko-KR" dirty="0"/>
              <a:t>, </a:t>
            </a:r>
          </a:p>
          <a:p>
            <a:pPr marL="457200" indent="-457200">
              <a:buAutoNum type="arabicParenR"/>
            </a:pPr>
            <a:r>
              <a:rPr lang="ko-KR" altLang="en-US" dirty="0"/>
              <a:t>이 리스트의 값을 변경시킨 후</a:t>
            </a:r>
            <a:r>
              <a:rPr lang="en-US" altLang="ko-KR" dirty="0"/>
              <a:t>,</a:t>
            </a:r>
          </a:p>
          <a:p>
            <a:pPr marL="457200" indent="-457200">
              <a:buAutoNum type="arabicParenR"/>
            </a:pPr>
            <a:r>
              <a:rPr lang="en-US" altLang="ko-KR" dirty="0"/>
              <a:t>tuple() </a:t>
            </a:r>
            <a:r>
              <a:rPr lang="ko-KR" altLang="en-US" dirty="0"/>
              <a:t>함수를 사용하여 리스트를 다시 </a:t>
            </a:r>
            <a:r>
              <a:rPr lang="ko-KR" altLang="en-US" dirty="0" err="1"/>
              <a:t>튜플로</a:t>
            </a:r>
            <a:r>
              <a:rPr lang="ko-KR" altLang="en-US" dirty="0"/>
              <a:t> 만드는 방법을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6B9114-8286-40DA-EEA0-BB980FEE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 </a:t>
            </a:r>
            <a:r>
              <a:rPr lang="ko-KR" altLang="en-US" dirty="0" err="1"/>
              <a:t>튜플의</a:t>
            </a:r>
            <a:r>
              <a:rPr lang="ko-KR" altLang="en-US" dirty="0"/>
              <a:t> 연산</a:t>
            </a:r>
          </a:p>
        </p:txBody>
      </p:sp>
    </p:spTree>
    <p:extLst>
      <p:ext uri="{BB962C8B-B14F-4D97-AF65-F5344CB8AC3E}">
        <p14:creationId xmlns:p14="http://schemas.microsoft.com/office/powerpoint/2010/main" val="2027081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79888-9036-A2BE-D076-6D3B46BB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 </a:t>
            </a:r>
            <a:r>
              <a:rPr lang="ko-KR" altLang="en-US" dirty="0" err="1"/>
              <a:t>튜플의</a:t>
            </a:r>
            <a:r>
              <a:rPr lang="ko-KR" altLang="en-US" dirty="0"/>
              <a:t> 연산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501334" y="1128713"/>
            <a:ext cx="9146470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52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48" y="1629953"/>
            <a:ext cx="8678177" cy="489076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7BE01-DE74-C9CC-3B70-6908406232D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 err="1"/>
              <a:t>튜플을</a:t>
            </a:r>
            <a:r>
              <a:rPr lang="ko-KR" altLang="en-US" sz="2000" dirty="0"/>
              <a:t> 이용해 여러 개의 값을 반환하는 법을 배워보자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 </a:t>
            </a:r>
            <a:r>
              <a:rPr lang="ko-KR" altLang="en-US" dirty="0"/>
              <a:t>함수 </a:t>
            </a:r>
            <a:r>
              <a:rPr lang="ko-KR" altLang="en-US" dirty="0" err="1"/>
              <a:t>반환문과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활용</a:t>
            </a:r>
          </a:p>
        </p:txBody>
      </p:sp>
    </p:spTree>
    <p:extLst>
      <p:ext uri="{BB962C8B-B14F-4D97-AF65-F5344CB8AC3E}">
        <p14:creationId xmlns:p14="http://schemas.microsoft.com/office/powerpoint/2010/main" val="3666939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 </a:t>
            </a:r>
            <a:r>
              <a:rPr lang="ko-KR" altLang="en-US" dirty="0"/>
              <a:t>함수 </a:t>
            </a:r>
            <a:r>
              <a:rPr lang="ko-KR" altLang="en-US" dirty="0" err="1"/>
              <a:t>반환문과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활용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l="411" r="496" b="5326"/>
          <a:stretch/>
        </p:blipFill>
        <p:spPr>
          <a:xfrm>
            <a:off x="1344498" y="1121899"/>
            <a:ext cx="7864117" cy="535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69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 </a:t>
            </a:r>
            <a:r>
              <a:rPr lang="ko-KR" altLang="en-US" dirty="0"/>
              <a:t>함수 </a:t>
            </a:r>
            <a:r>
              <a:rPr lang="ko-KR" altLang="en-US" dirty="0" err="1"/>
              <a:t>반환문과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활용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338" t="1706" r="549"/>
          <a:stretch/>
        </p:blipFill>
        <p:spPr>
          <a:xfrm>
            <a:off x="1388175" y="1255119"/>
            <a:ext cx="8987068" cy="33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720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9954"/>
          <a:stretch/>
        </p:blipFill>
        <p:spPr>
          <a:xfrm>
            <a:off x="1264661" y="3101869"/>
            <a:ext cx="7474605" cy="273018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집합</a:t>
            </a:r>
            <a:r>
              <a:rPr lang="en-US" altLang="ko-KR" b="1" baseline="30000" dirty="0">
                <a:solidFill>
                  <a:schemeClr val="accent5"/>
                </a:solidFill>
              </a:rPr>
              <a:t>set</a:t>
            </a:r>
          </a:p>
          <a:p>
            <a:pPr lvl="1" fontAlgn="base"/>
            <a:r>
              <a:rPr lang="ko-KR" altLang="en-US" dirty="0"/>
              <a:t>순서가 없는 </a:t>
            </a:r>
            <a:r>
              <a:rPr lang="ko-KR" altLang="en-US" dirty="0" err="1"/>
              <a:t>자료형</a:t>
            </a:r>
            <a:endParaRPr lang="en-US" altLang="ko-KR" dirty="0"/>
          </a:p>
          <a:p>
            <a:pPr lvl="1" fontAlgn="base"/>
            <a:r>
              <a:rPr lang="ko-KR" altLang="en-US" dirty="0"/>
              <a:t>동일한 값을 가지는 항목이 중복이 허용되지 않음</a:t>
            </a:r>
            <a:endParaRPr lang="en-US" altLang="ko-KR" dirty="0"/>
          </a:p>
          <a:p>
            <a:pPr lvl="1" fontAlgn="base"/>
            <a:r>
              <a:rPr lang="ko-KR" altLang="en-US" dirty="0"/>
              <a:t>교집합</a:t>
            </a:r>
            <a:r>
              <a:rPr lang="en-US" altLang="ko-KR" dirty="0"/>
              <a:t>, </a:t>
            </a:r>
            <a:r>
              <a:rPr lang="ko-KR" altLang="en-US" dirty="0"/>
              <a:t>합집합</a:t>
            </a:r>
            <a:r>
              <a:rPr lang="en-US" altLang="ko-KR" dirty="0"/>
              <a:t>, </a:t>
            </a:r>
            <a:r>
              <a:rPr lang="ko-KR" altLang="en-US" dirty="0" err="1"/>
              <a:t>차집합</a:t>
            </a:r>
            <a:r>
              <a:rPr lang="ko-KR" altLang="en-US" dirty="0"/>
              <a:t> 등의 집합 연산 수행 가능</a:t>
            </a:r>
            <a:endParaRPr lang="en-US" altLang="ko-KR" dirty="0"/>
          </a:p>
          <a:p>
            <a:pPr fontAlgn="base"/>
            <a:r>
              <a:rPr lang="ko-KR" altLang="en-US" dirty="0"/>
              <a:t>집합을 선언하는 방법</a:t>
            </a:r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 </a:t>
            </a:r>
            <a:r>
              <a:rPr lang="ko-KR" altLang="en-US" dirty="0"/>
              <a:t>집합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030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82" y="2468891"/>
            <a:ext cx="7274237" cy="4036839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집합을 만들 때는 다음과 같이 이미 생성된 리스트나 </a:t>
            </a:r>
            <a:r>
              <a:rPr lang="ko-KR" altLang="en-US" sz="2000" dirty="0" err="1"/>
              <a:t>튜플에</a:t>
            </a:r>
            <a:r>
              <a:rPr lang="ko-KR" altLang="en-US" sz="2000" dirty="0"/>
              <a:t> </a:t>
            </a:r>
            <a:r>
              <a:rPr lang="en-US" altLang="ko-KR" sz="2000" dirty="0"/>
              <a:t>set() </a:t>
            </a:r>
            <a:r>
              <a:rPr lang="ko-KR" altLang="en-US" sz="2000" dirty="0"/>
              <a:t>함수를 사용할 수도 있음</a:t>
            </a:r>
          </a:p>
          <a:p>
            <a:r>
              <a:rPr lang="ko-KR" altLang="en-US" sz="2000" dirty="0"/>
              <a:t>집합은 순서가 없는 원소의 모임이므로 </a:t>
            </a:r>
            <a:r>
              <a:rPr lang="ko-KR" altLang="en-US" sz="2000" dirty="0">
                <a:solidFill>
                  <a:srgbClr val="FF0000"/>
                </a:solidFill>
              </a:rPr>
              <a:t>인덱스를 사용할 수 없음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9EDC61-E14C-65C5-4B88-ED2CAC4F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 </a:t>
            </a:r>
            <a:r>
              <a:rPr lang="ko-KR" altLang="en-US" dirty="0"/>
              <a:t>집합 자료형</a:t>
            </a:r>
          </a:p>
        </p:txBody>
      </p:sp>
    </p:spTree>
    <p:extLst>
      <p:ext uri="{BB962C8B-B14F-4D97-AF65-F5344CB8AC3E}">
        <p14:creationId xmlns:p14="http://schemas.microsoft.com/office/powerpoint/2010/main" val="2701623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80618" y="17456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D3E06D-18BC-FE90-59F0-34B18A3A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 </a:t>
            </a:r>
            <a:r>
              <a:rPr lang="ko-KR" altLang="en-US" dirty="0"/>
              <a:t>집합 자료형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38996"/>
            <a:ext cx="10015538" cy="449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44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53481" y="5341545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653481" y="5766015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53481" y="6189442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10532" y="1128713"/>
            <a:ext cx="892807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03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53481" y="5341545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653481" y="5766015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53481" y="6189442"/>
            <a:ext cx="235390" cy="23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401641"/>
            <a:ext cx="10015538" cy="4372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94619" y="98943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9935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44" y="3301306"/>
            <a:ext cx="5281007" cy="274493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교집합은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en-US" altLang="ko-KR" dirty="0"/>
              <a:t>, </a:t>
            </a:r>
            <a:r>
              <a:rPr lang="ko-KR" altLang="en-US" dirty="0"/>
              <a:t>합집합은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r>
              <a:rPr lang="en-US" altLang="ko-KR" dirty="0"/>
              <a:t>, </a:t>
            </a:r>
            <a:r>
              <a:rPr lang="ko-KR" altLang="en-US" dirty="0" err="1"/>
              <a:t>차집합은</a:t>
            </a:r>
            <a:r>
              <a:rPr lang="ko-KR" altLang="en-US" dirty="0"/>
              <a:t> </a:t>
            </a:r>
            <a:r>
              <a:rPr lang="en-US" altLang="ko-KR" dirty="0"/>
              <a:t>–, </a:t>
            </a:r>
            <a:r>
              <a:rPr lang="ko-KR" altLang="en-US" dirty="0"/>
              <a:t>대칭 </a:t>
            </a:r>
            <a:r>
              <a:rPr lang="ko-KR" altLang="en-US" dirty="0" err="1"/>
              <a:t>차집합은</a:t>
            </a:r>
            <a:r>
              <a:rPr lang="ko-KR" altLang="en-US" dirty="0"/>
              <a:t> </a:t>
            </a:r>
            <a:r>
              <a:rPr lang="en-US" altLang="ko-KR" dirty="0"/>
              <a:t>^ </a:t>
            </a:r>
            <a:r>
              <a:rPr lang="ko-KR" altLang="en-US" dirty="0"/>
              <a:t>연산을 사용</a:t>
            </a:r>
            <a:endParaRPr lang="en-US" altLang="ko-KR" dirty="0"/>
          </a:p>
          <a:p>
            <a:r>
              <a:rPr lang="ko-KR" altLang="en-US" dirty="0"/>
              <a:t>저 기호 대신 </a:t>
            </a:r>
            <a:r>
              <a:rPr lang="en-US" altLang="ko-KR" dirty="0"/>
              <a:t>intersection(), union(), difference(), </a:t>
            </a:r>
            <a:r>
              <a:rPr lang="en-US" altLang="ko-KR" dirty="0" err="1"/>
              <a:t>symmertric_difference</a:t>
            </a:r>
            <a:r>
              <a:rPr lang="en-US" altLang="ko-KR" dirty="0"/>
              <a:t>() </a:t>
            </a:r>
            <a:r>
              <a:rPr lang="ko-KR" altLang="en-US" dirty="0"/>
              <a:t>의 </a:t>
            </a:r>
            <a:r>
              <a:rPr lang="ko-KR" altLang="en-US" dirty="0" err="1"/>
              <a:t>메소드</a:t>
            </a:r>
            <a:r>
              <a:rPr lang="ko-KR" altLang="en-US" dirty="0"/>
              <a:t> 사용 가능</a:t>
            </a:r>
          </a:p>
          <a:p>
            <a:r>
              <a:rPr lang="ko-KR" altLang="en-US" dirty="0"/>
              <a:t>집합 </a:t>
            </a:r>
            <a:r>
              <a:rPr lang="en-US" altLang="ko-KR" dirty="0"/>
              <a:t>s1</a:t>
            </a:r>
            <a:r>
              <a:rPr lang="ko-KR" altLang="en-US" dirty="0"/>
              <a:t>과 </a:t>
            </a:r>
            <a:r>
              <a:rPr lang="en-US" altLang="ko-KR" dirty="0"/>
              <a:t>s2</a:t>
            </a:r>
            <a:r>
              <a:rPr lang="ko-KR" altLang="en-US" dirty="0"/>
              <a:t>가 있을 경우 이 집합의 연산을 적용하기 위해서는 </a:t>
            </a:r>
            <a:r>
              <a:rPr lang="ko-KR" altLang="en-US" dirty="0" err="1"/>
              <a:t>벤다이어그램으로</a:t>
            </a:r>
            <a:r>
              <a:rPr lang="ko-KR" altLang="en-US" dirty="0"/>
              <a:t> 집합의 원소와 포함관계를 표현해야 함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D7B10B-AD18-194E-4A37-0427B5AD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625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683" y="1748458"/>
            <a:ext cx="8676551" cy="414320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합집합은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| </a:t>
            </a:r>
            <a:r>
              <a:rPr lang="ko-KR" altLang="en-US" dirty="0"/>
              <a:t>연산자를 사용</a:t>
            </a:r>
            <a:r>
              <a:rPr lang="en-US" altLang="ko-KR" dirty="0"/>
              <a:t>(union())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14709E9-048A-EA84-65E5-76170E92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</p:spTree>
    <p:extLst>
      <p:ext uri="{BB962C8B-B14F-4D97-AF65-F5344CB8AC3E}">
        <p14:creationId xmlns:p14="http://schemas.microsoft.com/office/powerpoint/2010/main" val="9070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698417"/>
            <a:ext cx="9571127" cy="421851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교집합 연산은 </a:t>
            </a:r>
            <a:r>
              <a:rPr lang="en-US" altLang="ko-KR" dirty="0"/>
              <a:t>&amp; </a:t>
            </a:r>
            <a:r>
              <a:rPr lang="ko-KR" altLang="en-US" dirty="0"/>
              <a:t>연산자를 사용</a:t>
            </a:r>
            <a:r>
              <a:rPr lang="en-US" altLang="ko-KR" dirty="0"/>
              <a:t>(intersection())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435A53-0D33-359C-D3EF-5CF08E23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</p:spTree>
    <p:extLst>
      <p:ext uri="{BB962C8B-B14F-4D97-AF65-F5344CB8AC3E}">
        <p14:creationId xmlns:p14="http://schemas.microsoft.com/office/powerpoint/2010/main" val="34074171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 err="1"/>
              <a:t>차집합</a:t>
            </a:r>
            <a:r>
              <a:rPr lang="ko-KR" altLang="en-US" dirty="0"/>
              <a:t> 연산은 </a:t>
            </a:r>
            <a:r>
              <a:rPr lang="en-US" altLang="ko-KR" dirty="0"/>
              <a:t>- </a:t>
            </a:r>
            <a:r>
              <a:rPr lang="ko-KR" altLang="en-US" dirty="0"/>
              <a:t>연산자를 사용</a:t>
            </a:r>
            <a:r>
              <a:rPr lang="en-US" altLang="ko-KR" dirty="0"/>
              <a:t>(difference())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435A53-0D33-359C-D3EF-5CF08E23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98" y="1650175"/>
            <a:ext cx="9536700" cy="428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318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15" y="2047876"/>
            <a:ext cx="9254066" cy="413053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대칭 </a:t>
            </a:r>
            <a:r>
              <a:rPr lang="ko-KR" altLang="en-US" dirty="0" err="1"/>
              <a:t>차집합은</a:t>
            </a:r>
            <a:r>
              <a:rPr lang="ko-KR" altLang="en-US" dirty="0"/>
              <a:t> </a:t>
            </a:r>
            <a:r>
              <a:rPr lang="en-US" altLang="ko-KR" dirty="0"/>
              <a:t>s1</a:t>
            </a:r>
            <a:r>
              <a:rPr lang="ko-KR" altLang="en-US" dirty="0"/>
              <a:t>과 </a:t>
            </a:r>
            <a:r>
              <a:rPr lang="en-US" altLang="ko-KR" dirty="0"/>
              <a:t>s2</a:t>
            </a:r>
            <a:r>
              <a:rPr lang="ko-KR" altLang="en-US" dirty="0"/>
              <a:t>의 합집합에서 교집합을 뺀 </a:t>
            </a:r>
            <a:r>
              <a:rPr lang="en-US" altLang="ko-KR" dirty="0"/>
              <a:t>(s1 </a:t>
            </a:r>
            <a:r>
              <a:rPr lang="ko-KR" altLang="en-US" dirty="0"/>
              <a:t>∪ </a:t>
            </a:r>
            <a:r>
              <a:rPr lang="en-US" altLang="ko-KR" dirty="0"/>
              <a:t>s2) - (s1 </a:t>
            </a:r>
            <a:r>
              <a:rPr lang="ko-KR" altLang="en-US" dirty="0"/>
              <a:t>∩ </a:t>
            </a:r>
            <a:r>
              <a:rPr lang="en-US" altLang="ko-KR" dirty="0"/>
              <a:t>s2) </a:t>
            </a:r>
            <a:r>
              <a:rPr lang="ko-KR" altLang="en-US" dirty="0"/>
              <a:t>연산으로 </a:t>
            </a:r>
            <a:r>
              <a:rPr lang="en-US" altLang="ko-KR" dirty="0"/>
              <a:t>^</a:t>
            </a:r>
            <a:r>
              <a:rPr lang="ko-KR" altLang="en-US" dirty="0"/>
              <a:t>라는 연산 기호를 사용</a:t>
            </a:r>
            <a:r>
              <a:rPr lang="en-US" altLang="ko-KR" dirty="0"/>
              <a:t>(</a:t>
            </a:r>
            <a:r>
              <a:rPr lang="en-US" altLang="ko-KR" dirty="0" err="1"/>
              <a:t>symmertric_difference</a:t>
            </a:r>
            <a:r>
              <a:rPr lang="en-US" altLang="ko-KR" dirty="0"/>
              <a:t>())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6C1D03-39F1-4792-AFC4-E6868E38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</p:spTree>
    <p:extLst>
      <p:ext uri="{BB962C8B-B14F-4D97-AF65-F5344CB8AC3E}">
        <p14:creationId xmlns:p14="http://schemas.microsoft.com/office/powerpoint/2010/main" val="27361543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19" y="1765222"/>
            <a:ext cx="9024606" cy="428699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집합 </a:t>
            </a:r>
            <a:r>
              <a:rPr lang="en-US" altLang="ko-KR" dirty="0"/>
              <a:t>s1, s2</a:t>
            </a:r>
            <a:r>
              <a:rPr lang="ko-KR" altLang="en-US" dirty="0"/>
              <a:t>와 그 연산의 결과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34E938-EAA2-872D-216B-7EE3B342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</p:spTree>
    <p:extLst>
      <p:ext uri="{BB962C8B-B14F-4D97-AF65-F5344CB8AC3E}">
        <p14:creationId xmlns:p14="http://schemas.microsoft.com/office/powerpoint/2010/main" val="21789066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47541"/>
            <a:ext cx="8401241" cy="399869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집합 연산 </a:t>
            </a:r>
            <a:r>
              <a:rPr lang="en-US" altLang="ko-KR" dirty="0"/>
              <a:t>|, &amp;, -, ^</a:t>
            </a:r>
            <a:r>
              <a:rPr lang="ko-KR" altLang="en-US" dirty="0"/>
              <a:t>는 다음과 같이 </a:t>
            </a:r>
            <a:r>
              <a:rPr lang="en-US" altLang="ko-KR" dirty="0"/>
              <a:t>union</a:t>
            </a:r>
            <a:r>
              <a:rPr lang="en-US" altLang="ko-KR"/>
              <a:t>(), intersection(), </a:t>
            </a:r>
            <a:r>
              <a:rPr lang="en-US" altLang="ko-KR" dirty="0"/>
              <a:t>difference(), </a:t>
            </a:r>
            <a:r>
              <a:rPr lang="en-US" altLang="ko-KR" dirty="0" err="1"/>
              <a:t>symmetric_difference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사용하여 </a:t>
            </a:r>
            <a:r>
              <a:rPr lang="ko-KR" altLang="en-US"/>
              <a:t>동일한 결과를 얻을 수 있음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E57446-4C2A-03C6-B8DD-589B8FD9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</p:spTree>
    <p:extLst>
      <p:ext uri="{BB962C8B-B14F-4D97-AF65-F5344CB8AC3E}">
        <p14:creationId xmlns:p14="http://schemas.microsoft.com/office/powerpoint/2010/main" val="37151417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9018"/>
          <a:stretch/>
        </p:blipFill>
        <p:spPr>
          <a:xfrm>
            <a:off x="5977913" y="1957762"/>
            <a:ext cx="5375887" cy="285805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5" y="1631588"/>
            <a:ext cx="4916718" cy="336436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여러 개의 집합에 대한 연속적인 연산도 가능</a:t>
            </a:r>
          </a:p>
          <a:p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C964906-C0C2-66C7-9194-39B12B9C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10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348040" y="1255366"/>
            <a:ext cx="7716667" cy="4545827"/>
            <a:chOff x="2036618" y="612553"/>
            <a:chExt cx="10091652" cy="519732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l="718" r="623" b="2134"/>
            <a:stretch/>
          </p:blipFill>
          <p:spPr>
            <a:xfrm>
              <a:off x="2036618" y="612553"/>
              <a:ext cx="10091652" cy="303673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l="556" t="4123" r="529"/>
            <a:stretch/>
          </p:blipFill>
          <p:spPr>
            <a:xfrm>
              <a:off x="2036618" y="3278981"/>
              <a:ext cx="10091652" cy="2530900"/>
            </a:xfrm>
            <a:prstGeom prst="rect">
              <a:avLst/>
            </a:prstGeom>
          </p:spPr>
        </p:pic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E065A0B-0029-B642-0DA8-99681872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rcRect r="32223"/>
          <a:stretch/>
        </p:blipFill>
        <p:spPr>
          <a:xfrm>
            <a:off x="6498290" y="2555580"/>
            <a:ext cx="5418895" cy="206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212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180618" y="17456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1DD7807-BDE6-2CE1-8029-33129C7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집합의 메소드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08823" y="1128713"/>
            <a:ext cx="8731492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95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801" y="3086898"/>
            <a:ext cx="3324681" cy="30340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4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집합론에는 </a:t>
                </a:r>
                <a:r>
                  <a:rPr lang="ko-KR" altLang="en-US" b="1" dirty="0" err="1"/>
                  <a:t>곱집합</a:t>
                </a:r>
                <a:r>
                  <a:rPr lang="en-US" altLang="ko-KR" sz="1600" b="1" baseline="30000" dirty="0">
                    <a:solidFill>
                      <a:schemeClr val="accent5"/>
                    </a:solidFill>
                  </a:rPr>
                  <a:t>product set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혹은 </a:t>
                </a:r>
                <a:r>
                  <a:rPr lang="ko-KR" altLang="en-US" b="1" dirty="0"/>
                  <a:t>데카르트 곱</a:t>
                </a:r>
                <a:r>
                  <a:rPr lang="en-US" altLang="ko-KR" sz="1600" b="1" baseline="30000" dirty="0">
                    <a:solidFill>
                      <a:schemeClr val="accent5"/>
                    </a:solidFill>
                  </a:rPr>
                  <a:t>Cartesian product</a:t>
                </a:r>
                <a:r>
                  <a:rPr lang="ko-KR" altLang="en-US" dirty="0"/>
                  <a:t>이라는 개념이 있다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r>
                  <a:rPr lang="ko-KR" altLang="en-US" dirty="0" err="1"/>
                  <a:t>곱집합은</a:t>
                </a:r>
                <a:r>
                  <a:rPr lang="ko-KR" altLang="en-US" dirty="0"/>
                  <a:t> 데카르트 곱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𝐴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ko-KR" altLang="en-US" dirty="0" err="1"/>
                  <a:t>로</a:t>
                </a:r>
                <a:r>
                  <a:rPr lang="ko-KR" altLang="en-US" dirty="0"/>
                  <a:t> 표현</a:t>
                </a:r>
              </a:p>
              <a:p>
                <a:r>
                  <a:rPr lang="ko-KR" altLang="en-US" dirty="0"/>
                  <a:t>그 원소는 </a:t>
                </a:r>
                <a:r>
                  <a:rPr lang="en-US" altLang="ko-KR" dirty="0"/>
                  <a:t>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𝑏</m:t>
                        </m:r>
                      </m:e>
                    </m:d>
                    <m:d>
                      <m:dPr>
                        <m:begChr m:val="|"/>
                        <m:endChr m:val="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</m:e>
                    </m:d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𝐴</m:t>
                    </m:r>
                    <m:r>
                      <a:rPr lang="en-US" altLang="ko-KR" b="0" i="1" smtClean="0">
                        <a:latin typeface="Cambria Math"/>
                      </a:rPr>
                      <m:t>, </m:t>
                    </m:r>
                    <m:r>
                      <a:rPr lang="en-US" altLang="ko-KR" b="0" i="1" smtClean="0">
                        <a:latin typeface="Cambria Math"/>
                      </a:rPr>
                      <m:t>𝑏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en-US" altLang="ko-KR" dirty="0"/>
                  <a:t>}</a:t>
                </a:r>
                <a:r>
                  <a:rPr lang="ko-KR" altLang="en-US" dirty="0"/>
                  <a:t>와 같이 집합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ko-KR" altLang="en-US" dirty="0"/>
                  <a:t> 의 모든 원소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ko-KR" altLang="en-US" dirty="0"/>
                  <a:t>와 집합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/>
                  <a:t>의 가능한 모든 원소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ko-KR" altLang="en-US" dirty="0"/>
                  <a:t> 를 이용해 만들 수 있는 </a:t>
                </a:r>
                <a:r>
                  <a:rPr lang="ko-KR" altLang="en-US" dirty="0" err="1"/>
                  <a:t>튜플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(</m:t>
                    </m:r>
                    <m:r>
                      <a:rPr lang="en-US" altLang="ko-KR" b="0" i="1" smtClean="0">
                        <a:latin typeface="Cambria Math"/>
                      </a:rPr>
                      <m:t>𝑎</m:t>
                    </m:r>
                    <m:r>
                      <a:rPr lang="en-US" altLang="ko-KR" b="0" i="1" smtClean="0">
                        <a:latin typeface="Cambria Math"/>
                      </a:rPr>
                      <m:t>,</m:t>
                    </m:r>
                    <m:r>
                      <a:rPr lang="en-US" altLang="ko-KR" b="0" i="1" smtClean="0">
                        <a:latin typeface="Cambria Math"/>
                      </a:rPr>
                      <m:t>𝑏</m:t>
                    </m:r>
                    <m:r>
                      <a:rPr lang="en-US" altLang="ko-K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/>
                  <a:t>의 집합이 된다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4"/>
              </p:nvPr>
            </p:nvSpPr>
            <p:spPr>
              <a:blipFill>
                <a:blip r:embed="rId3"/>
                <a:stretch>
                  <a:fillRect l="-548" t="-124" r="-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752850" y="438059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18780448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16074"/>
          <a:stretch/>
        </p:blipFill>
        <p:spPr>
          <a:xfrm>
            <a:off x="904884" y="1525877"/>
            <a:ext cx="6022370" cy="432096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r="4731"/>
          <a:stretch/>
        </p:blipFill>
        <p:spPr>
          <a:xfrm>
            <a:off x="7365193" y="4364065"/>
            <a:ext cx="4074332" cy="144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154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65075"/>
            <a:ext cx="10015538" cy="4445351"/>
          </a:xfrm>
          <a:prstGeom prst="rect">
            <a:avLst/>
          </a:prstGeom>
        </p:spPr>
      </p:pic>
      <p:sp>
        <p:nvSpPr>
          <p:cNvPr id="5" name="모서리가 둥근 직사각형 5">
            <a:extLst>
              <a:ext uri="{FF2B5EF4-FFF2-40B4-BE49-F238E27FC236}">
                <a16:creationId xmlns:a16="http://schemas.microsoft.com/office/drawing/2014/main" id="{73EB0E0C-AE51-D675-FE12-C9CEDC16AF9B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31214016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3C0105-D487-D54D-3846-B709C58D1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곱집합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C4E4329-99F5-5A5F-830D-0110915DB1C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A</a:t>
            </a:r>
            <a:r>
              <a:rPr lang="en-US" altLang="ko-KR" baseline="30000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A x A x A </a:t>
            </a:r>
            <a:r>
              <a:rPr lang="ko-KR" altLang="en-US" dirty="0"/>
              <a:t>로 정의할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 x A x A </a:t>
            </a:r>
            <a:r>
              <a:rPr lang="ko-KR" altLang="en-US" dirty="0"/>
              <a:t>는 다음과 같은 원소를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위의 연산은 </a:t>
            </a:r>
            <a:r>
              <a:rPr lang="en-US" altLang="ko-KR" dirty="0" err="1"/>
              <a:t>product_set</a:t>
            </a:r>
            <a:r>
              <a:rPr lang="en-US" altLang="ko-KR" dirty="0"/>
              <a:t>() </a:t>
            </a:r>
            <a:r>
              <a:rPr lang="ko-KR" altLang="en-US" dirty="0"/>
              <a:t>함수를 반복하여 구현할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A4F24F-5AA4-4AA6-11C1-8649C45D4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65" y="2635826"/>
            <a:ext cx="7821695" cy="1193223"/>
          </a:xfrm>
          <a:prstGeom prst="rect">
            <a:avLst/>
          </a:prstGeom>
        </p:spPr>
      </p:pic>
      <p:sp>
        <p:nvSpPr>
          <p:cNvPr id="10" name="모서리가 둥근 직사각형 5">
            <a:extLst>
              <a:ext uri="{FF2B5EF4-FFF2-40B4-BE49-F238E27FC236}">
                <a16:creationId xmlns:a16="http://schemas.microsoft.com/office/drawing/2014/main" id="{A217623F-0828-4655-7FC5-9516424293CD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3029352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904882" y="1191137"/>
            <a:ext cx="7684481" cy="5494476"/>
            <a:chOff x="980900" y="318793"/>
            <a:chExt cx="8337665" cy="6047595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l="362" r="335"/>
            <a:stretch/>
          </p:blipFill>
          <p:spPr>
            <a:xfrm>
              <a:off x="980900" y="318793"/>
              <a:ext cx="8337665" cy="2307079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/>
            <a:srcRect l="663" t="2769" r="884"/>
            <a:stretch/>
          </p:blipFill>
          <p:spPr>
            <a:xfrm>
              <a:off x="980900" y="2370681"/>
              <a:ext cx="8337665" cy="3995707"/>
            </a:xfrm>
            <a:prstGeom prst="rect">
              <a:avLst/>
            </a:prstGeom>
          </p:spPr>
        </p:pic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7244"/>
          <a:stretch/>
        </p:blipFill>
        <p:spPr>
          <a:xfrm>
            <a:off x="5224094" y="4661231"/>
            <a:ext cx="6730537" cy="9803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모서리가 둥근 직사각형 5">
            <a:extLst>
              <a:ext uri="{FF2B5EF4-FFF2-40B4-BE49-F238E27FC236}">
                <a16:creationId xmlns:a16="http://schemas.microsoft.com/office/drawing/2014/main" id="{A4F5ED9F-D36F-E4EC-C308-DE4CA0D7A333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1535289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1567F7-8EE1-49D0-2BDA-DFC8B250AA26}"/>
              </a:ext>
            </a:extLst>
          </p:cNvPr>
          <p:cNvGrpSpPr/>
          <p:nvPr/>
        </p:nvGrpSpPr>
        <p:grpSpPr>
          <a:xfrm>
            <a:off x="904883" y="1189377"/>
            <a:ext cx="7729451" cy="5496236"/>
            <a:chOff x="2105874" y="-163737"/>
            <a:chExt cx="9087560" cy="6457857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5874" y="4177503"/>
              <a:ext cx="9087559" cy="2116617"/>
            </a:xfrm>
            <a:prstGeom prst="rect">
              <a:avLst/>
            </a:prstGeom>
          </p:spPr>
        </p:pic>
        <p:grpSp>
          <p:nvGrpSpPr>
            <p:cNvPr id="8" name="그룹 7"/>
            <p:cNvGrpSpPr/>
            <p:nvPr/>
          </p:nvGrpSpPr>
          <p:grpSpPr>
            <a:xfrm>
              <a:off x="2105875" y="-163737"/>
              <a:ext cx="9087559" cy="4356124"/>
              <a:chOff x="776286" y="1190625"/>
              <a:chExt cx="10639426" cy="5227974"/>
            </a:xfrm>
          </p:grpSpPr>
          <p:pic>
            <p:nvPicPr>
              <p:cNvPr id="9" name="그림 8"/>
              <p:cNvPicPr>
                <a:picLocks noChangeAspect="1"/>
              </p:cNvPicPr>
              <p:nvPr/>
            </p:nvPicPr>
            <p:blipFill rotWithShape="1">
              <a:blip r:embed="rId3"/>
              <a:srcRect t="21577"/>
              <a:stretch/>
            </p:blipFill>
            <p:spPr>
              <a:xfrm>
                <a:off x="2145280" y="3631455"/>
                <a:ext cx="8266047" cy="561474"/>
              </a:xfrm>
              <a:prstGeom prst="rect">
                <a:avLst/>
              </a:prstGeom>
            </p:spPr>
          </p:pic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4045" y="4375400"/>
                <a:ext cx="8307306" cy="2025400"/>
              </a:xfrm>
              <a:prstGeom prst="rect">
                <a:avLst/>
              </a:prstGeom>
            </p:spPr>
          </p:pic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6287" y="1190625"/>
                <a:ext cx="10639425" cy="4476750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6"/>
              <a:srcRect t="11321"/>
              <a:stretch/>
            </p:blipFill>
            <p:spPr>
              <a:xfrm>
                <a:off x="776286" y="5388100"/>
                <a:ext cx="10639425" cy="1030499"/>
              </a:xfrm>
              <a:prstGeom prst="rect">
                <a:avLst/>
              </a:prstGeom>
            </p:spPr>
          </p:pic>
        </p:grpSp>
      </p:grpSp>
      <p:sp>
        <p:nvSpPr>
          <p:cNvPr id="15" name="모서리가 둥근 직사각형 5">
            <a:extLst>
              <a:ext uri="{FF2B5EF4-FFF2-40B4-BE49-F238E27FC236}">
                <a16:creationId xmlns:a16="http://schemas.microsoft.com/office/drawing/2014/main" id="{3D311ED7-085C-E43A-D0BE-BD48E02015E6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13349193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5308"/>
          <a:stretch/>
        </p:blipFill>
        <p:spPr>
          <a:xfrm>
            <a:off x="1063815" y="1106906"/>
            <a:ext cx="5471895" cy="5508340"/>
          </a:xfrm>
          <a:prstGeom prst="rect">
            <a:avLst/>
          </a:prstGeom>
        </p:spPr>
      </p:pic>
      <p:sp>
        <p:nvSpPr>
          <p:cNvPr id="10" name="모서리가 둥근 직사각형 5">
            <a:extLst>
              <a:ext uri="{FF2B5EF4-FFF2-40B4-BE49-F238E27FC236}">
                <a16:creationId xmlns:a16="http://schemas.microsoft.com/office/drawing/2014/main" id="{F8CE2701-401B-785A-A12F-8303840A789B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3698251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 err="1"/>
              <a:t>곱집합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845566" y="1128713"/>
            <a:ext cx="7819739" cy="4918075"/>
          </a:xfrm>
          <a:prstGeom prst="rect">
            <a:avLst/>
          </a:prstGeom>
        </p:spPr>
      </p:pic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86D5B7FE-E4BC-D89C-4487-80855A2F4547}"/>
              </a:ext>
            </a:extLst>
          </p:cNvPr>
          <p:cNvSpPr/>
          <p:nvPr/>
        </p:nvSpPr>
        <p:spPr>
          <a:xfrm>
            <a:off x="3752850" y="457272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</p:spTree>
    <p:extLst>
      <p:ext uri="{BB962C8B-B14F-4D97-AF65-F5344CB8AC3E}">
        <p14:creationId xmlns:p14="http://schemas.microsoft.com/office/powerpoint/2010/main" val="9349889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딕셔너리</a:t>
            </a:r>
            <a:r>
              <a:rPr lang="en-US" altLang="ko-KR" dirty="0"/>
              <a:t>, </a:t>
            </a:r>
            <a:r>
              <a:rPr lang="ko-KR" altLang="en-US" dirty="0"/>
              <a:t>집합</a:t>
            </a:r>
            <a:r>
              <a:rPr lang="en-US" altLang="ko-KR" dirty="0"/>
              <a:t>, </a:t>
            </a:r>
            <a:r>
              <a:rPr lang="ko-KR" altLang="en-US" dirty="0" err="1"/>
              <a:t>튜플과</a:t>
            </a:r>
            <a:r>
              <a:rPr lang="ko-KR" altLang="en-US" dirty="0"/>
              <a:t> 같은 자료형을 </a:t>
            </a:r>
            <a:r>
              <a:rPr lang="ko-KR" altLang="en-US" b="1" dirty="0"/>
              <a:t>반복가능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iterable</a:t>
            </a:r>
            <a:r>
              <a:rPr lang="en-US" altLang="ko-KR" b="1" dirty="0"/>
              <a:t> </a:t>
            </a:r>
            <a:r>
              <a:rPr lang="ko-KR" altLang="en-US" dirty="0"/>
              <a:t>자료형이라고 한다</a:t>
            </a:r>
            <a:r>
              <a:rPr lang="en-US" altLang="ko-KR" dirty="0"/>
              <a:t>.</a:t>
            </a:r>
          </a:p>
          <a:p>
            <a:pPr fontAlgn="base"/>
            <a:r>
              <a:rPr lang="ko-KR" altLang="en-US" dirty="0"/>
              <a:t>반복가능 자료형 여러 개를 넘겨주면</a:t>
            </a:r>
            <a:r>
              <a:rPr lang="en-US" altLang="ko-KR" dirty="0"/>
              <a:t>, </a:t>
            </a:r>
            <a:r>
              <a:rPr lang="ko-KR" altLang="en-US" dirty="0"/>
              <a:t>이들을 </a:t>
            </a:r>
            <a:r>
              <a:rPr lang="ko-KR" altLang="en-US" dirty="0">
                <a:solidFill>
                  <a:srgbClr val="FF0000"/>
                </a:solidFill>
              </a:rPr>
              <a:t>합쳐서</a:t>
            </a:r>
            <a:r>
              <a:rPr lang="ko-KR" altLang="en-US" dirty="0"/>
              <a:t> 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ko-KR" altLang="en-US" b="1" dirty="0"/>
              <a:t>반복자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iterator</a:t>
            </a:r>
            <a:r>
              <a:rPr lang="ko-KR" altLang="en-US" dirty="0"/>
              <a:t>를 반환하는 함수가 </a:t>
            </a:r>
            <a:r>
              <a:rPr lang="en-US" altLang="ko-KR" dirty="0"/>
              <a:t>zip() </a:t>
            </a:r>
            <a:r>
              <a:rPr lang="ko-KR" altLang="en-US" dirty="0"/>
              <a:t>함수이다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zip() </a:t>
            </a:r>
            <a:r>
              <a:rPr lang="ko-KR" altLang="en-US" dirty="0"/>
              <a:t>함수는 다음과 같이 여러 개의 반복가능 자료형을 받을 수 있다</a:t>
            </a:r>
            <a:r>
              <a:rPr lang="en-US" altLang="ko-KR" dirty="0"/>
              <a:t>. </a:t>
            </a:r>
            <a:r>
              <a:rPr lang="ko-KR" altLang="en-US" dirty="0"/>
              <a:t>이를 </a:t>
            </a:r>
            <a:r>
              <a:rPr lang="ko-KR" altLang="en-US" b="1" dirty="0"/>
              <a:t>집적화</a:t>
            </a:r>
            <a:r>
              <a:rPr lang="en-US" altLang="ko-KR" b="1" baseline="30000" dirty="0">
                <a:solidFill>
                  <a:schemeClr val="accent5"/>
                </a:solidFill>
              </a:rPr>
              <a:t>aggregation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65" y="3184722"/>
            <a:ext cx="6396318" cy="48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39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인자가</a:t>
            </a:r>
            <a:r>
              <a:rPr lang="en-US" altLang="ko-KR" dirty="0"/>
              <a:t> </a:t>
            </a:r>
            <a:r>
              <a:rPr lang="en-US" altLang="ko-KR" dirty="0" err="1"/>
              <a:t>전달되지</a:t>
            </a:r>
            <a:r>
              <a:rPr lang="en-US" altLang="ko-KR" dirty="0"/>
              <a:t> </a:t>
            </a:r>
            <a:r>
              <a:rPr lang="en-US" altLang="ko-KR" dirty="0" err="1"/>
              <a:t>않으면</a:t>
            </a:r>
            <a:r>
              <a:rPr lang="en-US" altLang="ko-KR" dirty="0"/>
              <a:t>, zip() </a:t>
            </a:r>
            <a:r>
              <a:rPr lang="en-US" altLang="ko-KR" dirty="0" err="1"/>
              <a:t>함수는</a:t>
            </a:r>
            <a:r>
              <a:rPr lang="en-US" altLang="ko-KR" dirty="0"/>
              <a:t> </a:t>
            </a:r>
            <a:r>
              <a:rPr lang="en-US" altLang="ko-KR" dirty="0" err="1"/>
              <a:t>공백</a:t>
            </a:r>
            <a:r>
              <a:rPr lang="en-US" altLang="ko-KR" dirty="0"/>
              <a:t> </a:t>
            </a:r>
            <a:r>
              <a:rPr lang="en-US" altLang="ko-KR" dirty="0" err="1"/>
              <a:t>반복자를</a:t>
            </a:r>
            <a:r>
              <a:rPr lang="en-US" altLang="ko-KR" dirty="0"/>
              <a:t> </a:t>
            </a:r>
            <a:r>
              <a:rPr lang="en-US" altLang="ko-KR" dirty="0" err="1"/>
              <a:t>반환</a:t>
            </a:r>
            <a:endParaRPr lang="en-US" altLang="ko-KR" dirty="0"/>
          </a:p>
          <a:p>
            <a:r>
              <a:rPr lang="ko-KR" altLang="en-US" dirty="0"/>
              <a:t>하나의 반복가능 자료형 인자가 들어올 경우 </a:t>
            </a:r>
            <a:r>
              <a:rPr lang="en-US" altLang="ko-KR" dirty="0"/>
              <a:t>zip() </a:t>
            </a:r>
            <a:r>
              <a:rPr lang="ko-KR" altLang="en-US" dirty="0"/>
              <a:t>함수는 하나의 </a:t>
            </a:r>
            <a:r>
              <a:rPr lang="ko-KR" altLang="en-US" dirty="0" err="1"/>
              <a:t>튜플에</a:t>
            </a:r>
            <a:r>
              <a:rPr lang="ko-KR" altLang="en-US" dirty="0"/>
              <a:t> 대한 반복자를 반환</a:t>
            </a:r>
          </a:p>
          <a:p>
            <a:r>
              <a:rPr lang="ko-KR" altLang="en-US" dirty="0"/>
              <a:t>이 </a:t>
            </a:r>
            <a:r>
              <a:rPr lang="ko-KR" altLang="en-US" dirty="0" err="1"/>
              <a:t>튜플의</a:t>
            </a:r>
            <a:r>
              <a:rPr lang="ko-KR" altLang="en-US" dirty="0"/>
              <a:t> 각 원소는 인자로 넘어온 데이터에서 얻어진 값이 하나씩 전달됨</a:t>
            </a:r>
          </a:p>
          <a:p>
            <a:r>
              <a:rPr lang="ko-KR" altLang="en-US" dirty="0"/>
              <a:t>다수의 반복가능 자료형 인자 </a:t>
            </a:r>
            <a:r>
              <a:rPr lang="en-US" altLang="ko-KR" dirty="0"/>
              <a:t>n </a:t>
            </a:r>
            <a:r>
              <a:rPr lang="ko-KR" altLang="en-US" dirty="0"/>
              <a:t>개가 들어오면 </a:t>
            </a:r>
            <a:r>
              <a:rPr lang="ko-KR" altLang="en-US" dirty="0" err="1"/>
              <a:t>튜플</a:t>
            </a:r>
            <a:r>
              <a:rPr lang="ko-KR" altLang="en-US" dirty="0"/>
              <a:t> 반복자는 인자의 수인 </a:t>
            </a:r>
            <a:r>
              <a:rPr lang="en-US" altLang="ko-KR" dirty="0"/>
              <a:t>n </a:t>
            </a:r>
            <a:r>
              <a:rPr lang="ko-KR" altLang="en-US" dirty="0"/>
              <a:t>개 만큼의 </a:t>
            </a:r>
            <a:r>
              <a:rPr lang="ko-KR" altLang="en-US" dirty="0" err="1"/>
              <a:t>튜플을</a:t>
            </a:r>
            <a:r>
              <a:rPr lang="ko-KR" altLang="en-US" dirty="0"/>
              <a:t> 원소로 가진 </a:t>
            </a:r>
            <a:r>
              <a:rPr lang="ko-KR" altLang="en-US" dirty="0" err="1"/>
              <a:t>튜플</a:t>
            </a:r>
            <a:r>
              <a:rPr lang="ko-KR" altLang="en-US" dirty="0"/>
              <a:t> 반복자가 됨</a:t>
            </a:r>
            <a:endParaRPr lang="en-US" altLang="ko-KR" dirty="0"/>
          </a:p>
          <a:p>
            <a:r>
              <a:rPr lang="ko-KR" altLang="en-US" dirty="0"/>
              <a:t>이때 </a:t>
            </a:r>
            <a:r>
              <a:rPr lang="en-US" altLang="ko-KR" dirty="0" err="1"/>
              <a:t>i</a:t>
            </a:r>
            <a:r>
              <a:rPr lang="ko-KR" altLang="en-US" dirty="0"/>
              <a:t>번째 원소인 </a:t>
            </a:r>
            <a:r>
              <a:rPr lang="ko-KR" altLang="en-US" dirty="0" err="1"/>
              <a:t>튜플은</a:t>
            </a:r>
            <a:r>
              <a:rPr lang="ko-KR" altLang="en-US" dirty="0"/>
              <a:t> 인자로 넘어온 각 반복가능 자료형 인자의 </a:t>
            </a:r>
            <a:r>
              <a:rPr lang="en-US" altLang="ko-KR" dirty="0" err="1"/>
              <a:t>i</a:t>
            </a:r>
            <a:r>
              <a:rPr lang="ko-KR" altLang="en-US" dirty="0"/>
              <a:t>번째 원소들로 구성됨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3364"/>
          <a:stretch/>
        </p:blipFill>
        <p:spPr>
          <a:xfrm>
            <a:off x="2561669" y="4156107"/>
            <a:ext cx="5967734" cy="213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93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zip() </a:t>
            </a:r>
            <a:r>
              <a:rPr lang="ko-KR" altLang="en-US" dirty="0"/>
              <a:t>함수를 이용한 집적화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1E5B14-C174-64B2-0790-B345FB9CCB44}"/>
              </a:ext>
            </a:extLst>
          </p:cNvPr>
          <p:cNvGrpSpPr/>
          <p:nvPr/>
        </p:nvGrpSpPr>
        <p:grpSpPr>
          <a:xfrm>
            <a:off x="2491503" y="1878841"/>
            <a:ext cx="7166263" cy="4021251"/>
            <a:chOff x="753533" y="1179159"/>
            <a:chExt cx="9431933" cy="529260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391" y="3957799"/>
              <a:ext cx="8822729" cy="2513961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3533" y="1179159"/>
              <a:ext cx="9431933" cy="2353750"/>
            </a:xfrm>
            <a:prstGeom prst="rect">
              <a:avLst/>
            </a:prstGeom>
          </p:spPr>
        </p:pic>
        <p:cxnSp>
          <p:nvCxnSpPr>
            <p:cNvPr id="9" name="꺾인 연결선 7"/>
            <p:cNvCxnSpPr/>
            <p:nvPr/>
          </p:nvCxnSpPr>
          <p:spPr>
            <a:xfrm flipH="1" flipV="1">
              <a:off x="3384886" y="3384884"/>
              <a:ext cx="3753853" cy="82935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80495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문자열을 원소로 하는 리스트를 반복가능 자료로 </a:t>
            </a:r>
            <a:r>
              <a:rPr lang="en-US" altLang="ko-KR" dirty="0"/>
              <a:t>zip() </a:t>
            </a:r>
            <a:r>
              <a:rPr lang="ko-KR" altLang="en-US" dirty="0"/>
              <a:t>함수에 넘긴 경우</a:t>
            </a:r>
          </a:p>
          <a:p>
            <a:r>
              <a:rPr lang="ko-KR" altLang="en-US" dirty="0"/>
              <a:t>생성되는 원소가 </a:t>
            </a:r>
            <a:r>
              <a:rPr lang="ko-KR" altLang="en-US" dirty="0" err="1"/>
              <a:t>튜플이기</a:t>
            </a:r>
            <a:r>
              <a:rPr lang="ko-KR" altLang="en-US" dirty="0"/>
              <a:t> 때문에 ‘</a:t>
            </a:r>
            <a:r>
              <a:rPr lang="en-US" altLang="ko-KR" dirty="0"/>
              <a:t>a’</a:t>
            </a:r>
            <a:r>
              <a:rPr lang="ko-KR" altLang="en-US" dirty="0"/>
              <a:t>가 아니라</a:t>
            </a:r>
            <a:r>
              <a:rPr lang="en-US" altLang="ko-KR" dirty="0"/>
              <a:t>, ‘a’</a:t>
            </a:r>
            <a:r>
              <a:rPr lang="ko-KR" altLang="en-US" dirty="0"/>
              <a:t>라는 하나의 원소를 가진 </a:t>
            </a:r>
            <a:r>
              <a:rPr lang="ko-KR" altLang="en-US" dirty="0" err="1">
                <a:solidFill>
                  <a:srgbClr val="FF0000"/>
                </a:solidFill>
              </a:rPr>
              <a:t>튜플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('a',)</a:t>
            </a:r>
            <a:r>
              <a:rPr lang="ko-KR" altLang="en-US" dirty="0"/>
              <a:t>로 나타남을 주의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281" y="2549434"/>
            <a:ext cx="9188788" cy="26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81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여러 개의 반복가능 자료형 인자를 전달한 경우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85" y="1644464"/>
            <a:ext cx="9300184" cy="300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417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zip() </a:t>
            </a:r>
            <a:r>
              <a:rPr lang="ko-KR" altLang="en-US" dirty="0"/>
              <a:t>함수를 이용한 집적화와</a:t>
            </a:r>
            <a:r>
              <a:rPr lang="en-US" altLang="ko-KR" dirty="0"/>
              <a:t>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05415" y="470391"/>
            <a:ext cx="1705495" cy="34082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/>
              <a:t>심화학습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E78059-40DA-81F1-CC5F-C130D456EF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zip() </a:t>
            </a:r>
            <a:r>
              <a:rPr lang="ko-KR" altLang="en-US" dirty="0"/>
              <a:t>함수를 통해 묶여진 </a:t>
            </a:r>
            <a:r>
              <a:rPr lang="ko-KR" altLang="en-US" dirty="0" err="1"/>
              <a:t>튜플들을</a:t>
            </a:r>
            <a:r>
              <a:rPr lang="ko-KR" altLang="en-US" dirty="0"/>
              <a:t> 원래의 반복 가능 자료들로 되돌리는 작업</a:t>
            </a:r>
          </a:p>
          <a:p>
            <a:r>
              <a:rPr lang="ko-KR" altLang="en-US" dirty="0"/>
              <a:t>다른 함수를 쓰는 것이 아니라 </a:t>
            </a:r>
            <a:r>
              <a:rPr lang="en-US" altLang="ko-KR" dirty="0"/>
              <a:t>zip() </a:t>
            </a:r>
            <a:r>
              <a:rPr lang="ko-KR" altLang="en-US" dirty="0"/>
              <a:t>함수에 묶인 자료를 인자로 입력하고 * 연산자를 인자 앞에 붙이기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78" y="2444788"/>
            <a:ext cx="9182832" cy="331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52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4730"/>
          <a:stretch/>
        </p:blipFill>
        <p:spPr>
          <a:xfrm>
            <a:off x="1318822" y="2258394"/>
            <a:ext cx="8934450" cy="378784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튜플이나</a:t>
            </a:r>
            <a:r>
              <a:rPr lang="ko-KR" altLang="en-US" dirty="0"/>
              <a:t> </a:t>
            </a:r>
            <a:r>
              <a:rPr lang="ko-KR" altLang="en-US" dirty="0" err="1"/>
              <a:t>스트링</a:t>
            </a:r>
            <a:r>
              <a:rPr lang="ko-KR" altLang="en-US" dirty="0"/>
              <a:t> 역시 리스트와 동일한 방식으로 </a:t>
            </a:r>
            <a:r>
              <a:rPr lang="ko-KR" altLang="en-US" dirty="0" err="1"/>
              <a:t>슬라이싱이</a:t>
            </a:r>
            <a:r>
              <a:rPr lang="ko-KR" altLang="en-US" dirty="0"/>
              <a:t> 가능</a:t>
            </a:r>
          </a:p>
          <a:p>
            <a:r>
              <a:rPr lang="ko-KR" altLang="en-US" dirty="0"/>
              <a:t>음수 인덱스를 지정할 경우 역순으로 가져오기 위하여 </a:t>
            </a:r>
            <a:r>
              <a:rPr lang="en-US" altLang="ko-KR" dirty="0"/>
              <a:t>-1</a:t>
            </a:r>
            <a:r>
              <a:rPr lang="ko-KR" altLang="en-US" dirty="0"/>
              <a:t>과 같은 음수 스텝을 사용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7.13 </a:t>
            </a:r>
            <a:r>
              <a:rPr lang="ko-KR" altLang="en-US" dirty="0" err="1"/>
              <a:t>튜플과</a:t>
            </a:r>
            <a:r>
              <a:rPr lang="ko-KR" altLang="en-US" dirty="0"/>
              <a:t> 문자열의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3063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369" y="1697717"/>
            <a:ext cx="9853087" cy="434851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슬라이싱은</a:t>
            </a:r>
            <a:r>
              <a:rPr lang="ko-KR" altLang="en-US" dirty="0"/>
              <a:t> 리스트나 </a:t>
            </a:r>
            <a:r>
              <a:rPr lang="ko-KR" altLang="en-US" dirty="0" err="1"/>
              <a:t>튜플뿐만</a:t>
            </a:r>
            <a:r>
              <a:rPr lang="ko-KR" altLang="en-US" dirty="0"/>
              <a:t> 아니라 다음과 같은 문자열에 대해서도 적용 가능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CF16DA-AAC6-5DEA-CBBE-7031E687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7.13 </a:t>
            </a:r>
            <a:r>
              <a:rPr lang="ko-KR" altLang="en-US" dirty="0" err="1"/>
              <a:t>튜플과</a:t>
            </a:r>
            <a:r>
              <a:rPr lang="ko-KR" altLang="en-US" dirty="0"/>
              <a:t> 문자열의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55928" y="4048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5428525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95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9C11B3895B08A4E96A2D1D42ADAB91F" ma:contentTypeVersion="11" ma:contentTypeDescription="새 문서를 만듭니다." ma:contentTypeScope="" ma:versionID="96c2aa274bec6d6e342baca59153e768">
  <xsd:schema xmlns:xsd="http://www.w3.org/2001/XMLSchema" xmlns:xs="http://www.w3.org/2001/XMLSchema" xmlns:p="http://schemas.microsoft.com/office/2006/metadata/properties" xmlns:ns3="5509120e-0d6d-4073-b3d6-647a0835581f" targetNamespace="http://schemas.microsoft.com/office/2006/metadata/properties" ma:root="true" ma:fieldsID="7390630744db7ccd3855bd086a1bfea6" ns3:_="">
    <xsd:import namespace="5509120e-0d6d-4073-b3d6-647a083558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9120e-0d6d-4073-b3d6-647a08355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067A3E-60C4-4F74-9466-D5B54AB66F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A68CB9-ECBE-4DDA-A56E-54EF230B55A3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5509120e-0d6d-4073-b3d6-647a0835581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2705620-5141-4533-B523-7BED06FC92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9120e-0d6d-4073-b3d6-647a083558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1477</Words>
  <Application>Microsoft Office PowerPoint</Application>
  <PresentationFormat>와이드스크린</PresentationFormat>
  <Paragraphs>250</Paragraphs>
  <Slides>79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4" baseType="lpstr">
      <vt:lpstr>D2Coding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7.1 딕셔너리 자료형</vt:lpstr>
      <vt:lpstr>7.1 딕셔너리 자료형</vt:lpstr>
      <vt:lpstr>7.1 딕셔너리 자료형</vt:lpstr>
      <vt:lpstr>7.1 딕셔너리 자료형</vt:lpstr>
      <vt:lpstr>7.1 딕셔너리 자료형</vt:lpstr>
      <vt:lpstr>7.1 딕셔너리 자료형</vt:lpstr>
      <vt:lpstr>7.1 딕셔너리 자료형</vt:lpstr>
      <vt:lpstr>7.1 딕셔너리 자료형</vt:lpstr>
      <vt:lpstr>7.2 딕셔너리의 삽입과 삭제</vt:lpstr>
      <vt:lpstr>7.2 딕셔너리의 삽입과 삭제</vt:lpstr>
      <vt:lpstr>7.2 딕셔너리의 삽입과 삭제</vt:lpstr>
      <vt:lpstr>7.2 딕셔너리의 삽입과 삭제</vt:lpstr>
      <vt:lpstr>7.3 딕셔너리와 연산자</vt:lpstr>
      <vt:lpstr>7.3 딕셔너리와 연산자</vt:lpstr>
      <vt:lpstr>7.3 딕셔너리와 연산자</vt:lpstr>
      <vt:lpstr>7.4 딕셔너리의 메소드</vt:lpstr>
      <vt:lpstr>7.4 딕셔너리의 메소드</vt:lpstr>
      <vt:lpstr>7.4 딕셔너리의 메소드</vt:lpstr>
      <vt:lpstr>7.4 딕셔너리의 메소드</vt:lpstr>
      <vt:lpstr>7.4 딕셔너리의 메소드</vt:lpstr>
      <vt:lpstr>7.4 딕셔너리의 메소드</vt:lpstr>
      <vt:lpstr>7.4 딕셔너리의 메소드</vt:lpstr>
      <vt:lpstr>7.5 리스트와 딕셔너리의 비교</vt:lpstr>
      <vt:lpstr>7.5 리스트와 딕셔너리의 비교</vt:lpstr>
      <vt:lpstr>7.5 리스트와 딕셔너리의 비교</vt:lpstr>
      <vt:lpstr>7.5 리스트와 딕셔너리의 비교</vt:lpstr>
      <vt:lpstr>7.5 리스트와 딕셔너리의 비교</vt:lpstr>
      <vt:lpstr>7.5 리스트와 딕셔너리의 비교</vt:lpstr>
      <vt:lpstr>7.5 리스트와 딕셔너리의 비교</vt:lpstr>
      <vt:lpstr>7.6  튜플 자료형</vt:lpstr>
      <vt:lpstr>7.6  튜플 자료형</vt:lpstr>
      <vt:lpstr>7.6  튜플 자료형</vt:lpstr>
      <vt:lpstr>7.6  튜플 자료형</vt:lpstr>
      <vt:lpstr>7.6  튜플 자료형</vt:lpstr>
      <vt:lpstr>7.6  튜플 자료형</vt:lpstr>
      <vt:lpstr>7.6  튜플 자료형</vt:lpstr>
      <vt:lpstr>7.6  튜플 자료형</vt:lpstr>
      <vt:lpstr>7.7 튜플의 연산</vt:lpstr>
      <vt:lpstr>7.7 튜플의 연산</vt:lpstr>
      <vt:lpstr>7.7 튜플의 연산</vt:lpstr>
      <vt:lpstr>7.7 튜플의 연산</vt:lpstr>
      <vt:lpstr>7.7 튜플의 연산</vt:lpstr>
      <vt:lpstr>7.8 함수 반환문과 튜플 활용</vt:lpstr>
      <vt:lpstr>7.8 함수 반환문과 튜플 활용</vt:lpstr>
      <vt:lpstr>7.8 함수 반환문과 튜플 활용</vt:lpstr>
      <vt:lpstr>7.9 집합 자료형</vt:lpstr>
      <vt:lpstr>7.9 집합 자료형</vt:lpstr>
      <vt:lpstr>7.9 집합 자료형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7.10 집합의 메소드</vt:lpstr>
      <vt:lpstr>7.11 곱집합</vt:lpstr>
      <vt:lpstr>7.11 곱집합</vt:lpstr>
      <vt:lpstr>7.11 곱집합</vt:lpstr>
      <vt:lpstr>7.11 곱집합</vt:lpstr>
      <vt:lpstr>7.11 곱집합</vt:lpstr>
      <vt:lpstr>7.11 곱집합</vt:lpstr>
      <vt:lpstr>7.11 곱집합</vt:lpstr>
      <vt:lpstr>7.11 곱집합</vt:lpstr>
      <vt:lpstr>7.12 zip() 함수를 이용한 집적화와 슬라이싱</vt:lpstr>
      <vt:lpstr>7.12 zip() 함수를 이용한 집적화와 슬라이싱</vt:lpstr>
      <vt:lpstr>7.12 zip() 함수를 이용한 집적화와 슬라이싱</vt:lpstr>
      <vt:lpstr>7.12 zip() 함수를 이용한 집적화와 슬라이싱</vt:lpstr>
      <vt:lpstr>7.12 zip() 함수를 이용한 집적화와 슬라이싱</vt:lpstr>
      <vt:lpstr>7.12 zip() 함수를 이용한 집적화와 슬라이싱</vt:lpstr>
      <vt:lpstr>7.13 튜플과 문자열의 슬라이싱</vt:lpstr>
      <vt:lpstr>7.13 튜플과 문자열의 슬라이싱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으뜸 파이썬</dc:title>
  <dc:creator>dkfnfn9871@gmail.com</dc:creator>
  <cp:lastModifiedBy>IT</cp:lastModifiedBy>
  <cp:revision>114</cp:revision>
  <dcterms:created xsi:type="dcterms:W3CDTF">2020-02-07T12:14:19Z</dcterms:created>
  <dcterms:modified xsi:type="dcterms:W3CDTF">2024-10-21T03:45:21Z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0x01010069C11B3895B08A4E96A2D1D42ADAB91F</vt:lpwstr>
  </property>
</Properties>
</file>