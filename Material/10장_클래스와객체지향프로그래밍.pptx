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48" r:id="rId5"/>
    <p:sldId id="342" r:id="rId6"/>
    <p:sldId id="364" r:id="rId7"/>
    <p:sldId id="431" r:id="rId8"/>
    <p:sldId id="343" r:id="rId9"/>
    <p:sldId id="365" r:id="rId10"/>
    <p:sldId id="366" r:id="rId11"/>
    <p:sldId id="396" r:id="rId12"/>
    <p:sldId id="397" r:id="rId13"/>
    <p:sldId id="432" r:id="rId14"/>
    <p:sldId id="346" r:id="rId15"/>
    <p:sldId id="433" r:id="rId16"/>
    <p:sldId id="367" r:id="rId17"/>
    <p:sldId id="350" r:id="rId18"/>
    <p:sldId id="434" r:id="rId19"/>
    <p:sldId id="399" r:id="rId20"/>
    <p:sldId id="362" r:id="rId21"/>
    <p:sldId id="363" r:id="rId22"/>
    <p:sldId id="400" r:id="rId23"/>
    <p:sldId id="368" r:id="rId24"/>
    <p:sldId id="369" r:id="rId25"/>
    <p:sldId id="401" r:id="rId26"/>
    <p:sldId id="370" r:id="rId27"/>
    <p:sldId id="435" r:id="rId28"/>
    <p:sldId id="402" r:id="rId29"/>
    <p:sldId id="416" r:id="rId30"/>
    <p:sldId id="436" r:id="rId31"/>
    <p:sldId id="358" r:id="rId32"/>
    <p:sldId id="371" r:id="rId33"/>
    <p:sldId id="403" r:id="rId34"/>
    <p:sldId id="437" r:id="rId35"/>
    <p:sldId id="372" r:id="rId36"/>
    <p:sldId id="359" r:id="rId37"/>
    <p:sldId id="373" r:id="rId38"/>
    <p:sldId id="405" r:id="rId39"/>
    <p:sldId id="374" r:id="rId40"/>
    <p:sldId id="375" r:id="rId41"/>
    <p:sldId id="406" r:id="rId42"/>
    <p:sldId id="376" r:id="rId43"/>
    <p:sldId id="377" r:id="rId44"/>
    <p:sldId id="378" r:id="rId45"/>
    <p:sldId id="379" r:id="rId46"/>
    <p:sldId id="380" r:id="rId47"/>
    <p:sldId id="407" r:id="rId48"/>
    <p:sldId id="408" r:id="rId49"/>
    <p:sldId id="381" r:id="rId50"/>
    <p:sldId id="382" r:id="rId51"/>
    <p:sldId id="383" r:id="rId52"/>
    <p:sldId id="384" r:id="rId53"/>
    <p:sldId id="356" r:id="rId54"/>
    <p:sldId id="409" r:id="rId55"/>
    <p:sldId id="354" r:id="rId56"/>
    <p:sldId id="439" r:id="rId57"/>
    <p:sldId id="440" r:id="rId58"/>
    <p:sldId id="441" r:id="rId59"/>
    <p:sldId id="417" r:id="rId60"/>
    <p:sldId id="418" r:id="rId61"/>
    <p:sldId id="419" r:id="rId62"/>
    <p:sldId id="420" r:id="rId63"/>
    <p:sldId id="421" r:id="rId64"/>
    <p:sldId id="442" r:id="rId65"/>
    <p:sldId id="430" r:id="rId66"/>
    <p:sldId id="423" r:id="rId67"/>
    <p:sldId id="443" r:id="rId68"/>
    <p:sldId id="444" r:id="rId69"/>
    <p:sldId id="445" r:id="rId70"/>
    <p:sldId id="427" r:id="rId71"/>
    <p:sldId id="446" r:id="rId72"/>
    <p:sldId id="429" r:id="rId73"/>
    <p:sldId id="447" r:id="rId74"/>
    <p:sldId id="387" r:id="rId75"/>
    <p:sldId id="388" r:id="rId76"/>
    <p:sldId id="389" r:id="rId77"/>
    <p:sldId id="413" r:id="rId7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ngupak" initials="d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53805-033A-BA40-8B16-6831D04ABEB5}" v="1" dt="2022-11-02T11:57:15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3" autoAdjust="0"/>
    <p:restoredTop sz="94660"/>
  </p:normalViewPr>
  <p:slideViewPr>
    <p:cSldViewPr snapToGrid="0">
      <p:cViewPr varScale="1">
        <p:scale>
          <a:sx n="98" d="100"/>
          <a:sy n="98" d="100"/>
        </p:scale>
        <p:origin x="84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commentAuthors" Target="commentAuthor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presProps" Target="presProps.xml"/><Relationship Id="rId85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viewProps" Target="viewProps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cebcdd3f-733e-4af1-b963-9742717e494c" providerId="ADAL" clId="{64B86D03-E407-45A2-9FFA-181F8C37F1AF}"/>
    <pc:docChg chg="custSel modSld">
      <pc:chgData name=" " userId="cebcdd3f-733e-4af1-b963-9742717e494c" providerId="ADAL" clId="{64B86D03-E407-45A2-9FFA-181F8C37F1AF}" dt="2021-02-26T06:42:33.584" v="23" actId="108"/>
      <pc:docMkLst>
        <pc:docMk/>
      </pc:docMkLst>
      <pc:sldChg chg="modSp">
        <pc:chgData name=" " userId="cebcdd3f-733e-4af1-b963-9742717e494c" providerId="ADAL" clId="{64B86D03-E407-45A2-9FFA-181F8C37F1AF}" dt="2021-02-26T06:42:20.958" v="14" actId="27636"/>
        <pc:sldMkLst>
          <pc:docMk/>
          <pc:sldMk cId="893196540" sldId="342"/>
        </pc:sldMkLst>
        <pc:spChg chg="mod">
          <ac:chgData name=" " userId="cebcdd3f-733e-4af1-b963-9742717e494c" providerId="ADAL" clId="{64B86D03-E407-45A2-9FFA-181F8C37F1AF}" dt="2021-02-26T06:42:20.958" v="14" actId="27636"/>
          <ac:spMkLst>
            <pc:docMk/>
            <pc:sldMk cId="893196540" sldId="342"/>
            <ac:spMk id="8" creationId="{00000000-0000-0000-0000-000000000000}"/>
          </ac:spMkLst>
        </pc:spChg>
      </pc:sldChg>
      <pc:sldChg chg="modSp">
        <pc:chgData name=" " userId="cebcdd3f-733e-4af1-b963-9742717e494c" providerId="ADAL" clId="{64B86D03-E407-45A2-9FFA-181F8C37F1AF}" dt="2021-02-26T06:42:30.031" v="21" actId="108"/>
        <pc:sldMkLst>
          <pc:docMk/>
          <pc:sldMk cId="1560965731" sldId="355"/>
        </pc:sldMkLst>
        <pc:graphicFrameChg chg="modGraphic">
          <ac:chgData name=" " userId="cebcdd3f-733e-4af1-b963-9742717e494c" providerId="ADAL" clId="{64B86D03-E407-45A2-9FFA-181F8C37F1AF}" dt="2021-02-26T06:42:30.031" v="21" actId="108"/>
          <ac:graphicFrameMkLst>
            <pc:docMk/>
            <pc:sldMk cId="1560965731" sldId="355"/>
            <ac:graphicFrameMk id="7" creationId="{536CFC30-756E-4DDA-AD95-5D99A4D1233B}"/>
          </ac:graphicFrameMkLst>
        </pc:graphicFrameChg>
      </pc:sldChg>
      <pc:sldChg chg="modSp">
        <pc:chgData name=" " userId="cebcdd3f-733e-4af1-b963-9742717e494c" providerId="ADAL" clId="{64B86D03-E407-45A2-9FFA-181F8C37F1AF}" dt="2021-02-26T06:41:39.308" v="4" actId="113"/>
        <pc:sldMkLst>
          <pc:docMk/>
          <pc:sldMk cId="403428278" sldId="359"/>
        </pc:sldMkLst>
        <pc:graphicFrameChg chg="modGraphic">
          <ac:chgData name=" " userId="cebcdd3f-733e-4af1-b963-9742717e494c" providerId="ADAL" clId="{64B86D03-E407-45A2-9FFA-181F8C37F1AF}" dt="2021-02-26T06:41:39.308" v="4" actId="113"/>
          <ac:graphicFrameMkLst>
            <pc:docMk/>
            <pc:sldMk cId="403428278" sldId="359"/>
            <ac:graphicFrameMk id="6" creationId="{C197D301-14C0-4F54-AC43-C8A622CC3CDC}"/>
          </ac:graphicFrameMkLst>
        </pc:graphicFrameChg>
      </pc:sldChg>
      <pc:sldChg chg="modSp">
        <pc:chgData name=" " userId="cebcdd3f-733e-4af1-b963-9742717e494c" providerId="ADAL" clId="{64B86D03-E407-45A2-9FFA-181F8C37F1AF}" dt="2021-02-26T06:41:26.048" v="3" actId="255"/>
        <pc:sldMkLst>
          <pc:docMk/>
          <pc:sldMk cId="4069525464" sldId="360"/>
        </pc:sldMkLst>
        <pc:graphicFrameChg chg="modGraphic">
          <ac:chgData name=" " userId="cebcdd3f-733e-4af1-b963-9742717e494c" providerId="ADAL" clId="{64B86D03-E407-45A2-9FFA-181F8C37F1AF}" dt="2021-02-26T06:41:26.048" v="3" actId="255"/>
          <ac:graphicFrameMkLst>
            <pc:docMk/>
            <pc:sldMk cId="4069525464" sldId="360"/>
            <ac:graphicFrameMk id="6" creationId="{6C2B31CC-F587-4978-BD61-94518E5FDB9F}"/>
          </ac:graphicFrameMkLst>
        </pc:graphicFrameChg>
      </pc:sldChg>
      <pc:sldChg chg="modSp">
        <pc:chgData name=" " userId="cebcdd3f-733e-4af1-b963-9742717e494c" providerId="ADAL" clId="{64B86D03-E407-45A2-9FFA-181F8C37F1AF}" dt="2021-02-26T06:40:59.461" v="2" actId="113"/>
        <pc:sldMkLst>
          <pc:docMk/>
          <pc:sldMk cId="1884776429" sldId="361"/>
        </pc:sldMkLst>
        <pc:graphicFrameChg chg="modGraphic">
          <ac:chgData name=" " userId="cebcdd3f-733e-4af1-b963-9742717e494c" providerId="ADAL" clId="{64B86D03-E407-45A2-9FFA-181F8C37F1AF}" dt="2021-02-26T06:40:59.461" v="2" actId="113"/>
          <ac:graphicFrameMkLst>
            <pc:docMk/>
            <pc:sldMk cId="1884776429" sldId="361"/>
            <ac:graphicFrameMk id="9" creationId="{4CDE85D9-32D9-4668-AA63-6F36DFD3E8A1}"/>
          </ac:graphicFrameMkLst>
        </pc:graphicFrameChg>
      </pc:sldChg>
      <pc:sldChg chg="modSp">
        <pc:chgData name=" " userId="cebcdd3f-733e-4af1-b963-9742717e494c" providerId="ADAL" clId="{64B86D03-E407-45A2-9FFA-181F8C37F1AF}" dt="2021-02-26T06:40:51.114" v="0" actId="113"/>
        <pc:sldMkLst>
          <pc:docMk/>
          <pc:sldMk cId="612672609" sldId="369"/>
        </pc:sldMkLst>
        <pc:graphicFrameChg chg="modGraphic">
          <ac:chgData name=" " userId="cebcdd3f-733e-4af1-b963-9742717e494c" providerId="ADAL" clId="{64B86D03-E407-45A2-9FFA-181F8C37F1AF}" dt="2021-02-26T06:40:51.114" v="0" actId="113"/>
          <ac:graphicFrameMkLst>
            <pc:docMk/>
            <pc:sldMk cId="612672609" sldId="369"/>
            <ac:graphicFrameMk id="7" creationId="{B3B92448-9AAB-4385-89FE-471F653D488E}"/>
          </ac:graphicFrameMkLst>
        </pc:graphicFrameChg>
      </pc:sldChg>
      <pc:sldChg chg="modSp">
        <pc:chgData name=" " userId="cebcdd3f-733e-4af1-b963-9742717e494c" providerId="ADAL" clId="{64B86D03-E407-45A2-9FFA-181F8C37F1AF}" dt="2021-02-26T06:40:54.935" v="1" actId="113"/>
        <pc:sldMkLst>
          <pc:docMk/>
          <pc:sldMk cId="1580816771" sldId="370"/>
        </pc:sldMkLst>
        <pc:graphicFrameChg chg="modGraphic">
          <ac:chgData name=" " userId="cebcdd3f-733e-4af1-b963-9742717e494c" providerId="ADAL" clId="{64B86D03-E407-45A2-9FFA-181F8C37F1AF}" dt="2021-02-26T06:40:54.935" v="1" actId="113"/>
          <ac:graphicFrameMkLst>
            <pc:docMk/>
            <pc:sldMk cId="1580816771" sldId="370"/>
            <ac:graphicFrameMk id="5" creationId="{E23CC364-6D34-4D99-8A54-C369C3DFEE81}"/>
          </ac:graphicFrameMkLst>
        </pc:graphicFrameChg>
      </pc:sldChg>
      <pc:sldChg chg="modSp">
        <pc:chgData name=" " userId="cebcdd3f-733e-4af1-b963-9742717e494c" providerId="ADAL" clId="{64B86D03-E407-45A2-9FFA-181F8C37F1AF}" dt="2021-02-26T06:41:44.962" v="5" actId="113"/>
        <pc:sldMkLst>
          <pc:docMk/>
          <pc:sldMk cId="708395502" sldId="375"/>
        </pc:sldMkLst>
        <pc:graphicFrameChg chg="modGraphic">
          <ac:chgData name=" " userId="cebcdd3f-733e-4af1-b963-9742717e494c" providerId="ADAL" clId="{64B86D03-E407-45A2-9FFA-181F8C37F1AF}" dt="2021-02-26T06:41:44.962" v="5" actId="113"/>
          <ac:graphicFrameMkLst>
            <pc:docMk/>
            <pc:sldMk cId="708395502" sldId="375"/>
            <ac:graphicFrameMk id="5" creationId="{1C416356-468D-4DAA-9B85-1D5F95E38000}"/>
          </ac:graphicFrameMkLst>
        </pc:graphicFrameChg>
      </pc:sldChg>
      <pc:sldChg chg="modSp">
        <pc:chgData name=" " userId="cebcdd3f-733e-4af1-b963-9742717e494c" providerId="ADAL" clId="{64B86D03-E407-45A2-9FFA-181F8C37F1AF}" dt="2021-02-26T06:41:52.119" v="7" actId="113"/>
        <pc:sldMkLst>
          <pc:docMk/>
          <pc:sldMk cId="1972980194" sldId="376"/>
        </pc:sldMkLst>
        <pc:graphicFrameChg chg="modGraphic">
          <ac:chgData name=" " userId="cebcdd3f-733e-4af1-b963-9742717e494c" providerId="ADAL" clId="{64B86D03-E407-45A2-9FFA-181F8C37F1AF}" dt="2021-02-26T06:41:52.119" v="7" actId="113"/>
          <ac:graphicFrameMkLst>
            <pc:docMk/>
            <pc:sldMk cId="1972980194" sldId="376"/>
            <ac:graphicFrameMk id="5" creationId="{798B4CB3-4621-4978-B834-29FABFC111BB}"/>
          </ac:graphicFrameMkLst>
        </pc:graphicFrameChg>
      </pc:sldChg>
      <pc:sldChg chg="modSp">
        <pc:chgData name=" " userId="cebcdd3f-733e-4af1-b963-9742717e494c" providerId="ADAL" clId="{64B86D03-E407-45A2-9FFA-181F8C37F1AF}" dt="2021-02-26T06:41:57.671" v="8" actId="113"/>
        <pc:sldMkLst>
          <pc:docMk/>
          <pc:sldMk cId="4133716390" sldId="378"/>
        </pc:sldMkLst>
        <pc:graphicFrameChg chg="modGraphic">
          <ac:chgData name=" " userId="cebcdd3f-733e-4af1-b963-9742717e494c" providerId="ADAL" clId="{64B86D03-E407-45A2-9FFA-181F8C37F1AF}" dt="2021-02-26T06:41:57.671" v="8" actId="113"/>
          <ac:graphicFrameMkLst>
            <pc:docMk/>
            <pc:sldMk cId="4133716390" sldId="378"/>
            <ac:graphicFrameMk id="6" creationId="{55FF40F5-53EA-49CC-9553-B3025D459AD9}"/>
          </ac:graphicFrameMkLst>
        </pc:graphicFrameChg>
      </pc:sldChg>
      <pc:sldChg chg="modSp">
        <pc:chgData name=" " userId="cebcdd3f-733e-4af1-b963-9742717e494c" providerId="ADAL" clId="{64B86D03-E407-45A2-9FFA-181F8C37F1AF}" dt="2021-02-26T06:42:15.751" v="11" actId="113"/>
        <pc:sldMkLst>
          <pc:docMk/>
          <pc:sldMk cId="3712201376" sldId="383"/>
        </pc:sldMkLst>
        <pc:graphicFrameChg chg="modGraphic">
          <ac:chgData name=" " userId="cebcdd3f-733e-4af1-b963-9742717e494c" providerId="ADAL" clId="{64B86D03-E407-45A2-9FFA-181F8C37F1AF}" dt="2021-02-26T06:42:15.751" v="11" actId="113"/>
          <ac:graphicFrameMkLst>
            <pc:docMk/>
            <pc:sldMk cId="3712201376" sldId="383"/>
            <ac:graphicFrameMk id="6" creationId="{8055C854-2C5E-4ED6-A540-579DB5B0DA16}"/>
          </ac:graphicFrameMkLst>
        </pc:graphicFrameChg>
      </pc:sldChg>
      <pc:sldChg chg="modSp">
        <pc:chgData name=" " userId="cebcdd3f-733e-4af1-b963-9742717e494c" providerId="ADAL" clId="{64B86D03-E407-45A2-9FFA-181F8C37F1AF}" dt="2021-02-26T06:42:23.421" v="19" actId="108"/>
        <pc:sldMkLst>
          <pc:docMk/>
          <pc:sldMk cId="370566463" sldId="384"/>
        </pc:sldMkLst>
        <pc:graphicFrameChg chg="mod modGraphic">
          <ac:chgData name=" " userId="cebcdd3f-733e-4af1-b963-9742717e494c" providerId="ADAL" clId="{64B86D03-E407-45A2-9FFA-181F8C37F1AF}" dt="2021-02-26T06:42:23.421" v="19" actId="108"/>
          <ac:graphicFrameMkLst>
            <pc:docMk/>
            <pc:sldMk cId="370566463" sldId="384"/>
            <ac:graphicFrameMk id="5" creationId="{5E4DBAA5-4911-4458-9B41-015F2C44F8AC}"/>
          </ac:graphicFrameMkLst>
        </pc:graphicFrameChg>
      </pc:sldChg>
      <pc:sldChg chg="modSp">
        <pc:chgData name=" " userId="cebcdd3f-733e-4af1-b963-9742717e494c" providerId="ADAL" clId="{64B86D03-E407-45A2-9FFA-181F8C37F1AF}" dt="2021-02-26T06:42:33.584" v="23" actId="108"/>
        <pc:sldMkLst>
          <pc:docMk/>
          <pc:sldMk cId="1213852062" sldId="389"/>
        </pc:sldMkLst>
        <pc:graphicFrameChg chg="modGraphic">
          <ac:chgData name=" " userId="cebcdd3f-733e-4af1-b963-9742717e494c" providerId="ADAL" clId="{64B86D03-E407-45A2-9FFA-181F8C37F1AF}" dt="2021-02-26T06:42:33.584" v="23" actId="108"/>
          <ac:graphicFrameMkLst>
            <pc:docMk/>
            <pc:sldMk cId="1213852062" sldId="389"/>
            <ac:graphicFrameMk id="5" creationId="{85E08661-6CE0-43E5-9669-C468A171A47A}"/>
          </ac:graphicFrameMkLst>
        </pc:graphicFrameChg>
      </pc:sldChg>
      <pc:sldChg chg="modSp">
        <pc:chgData name=" " userId="cebcdd3f-733e-4af1-b963-9742717e494c" providerId="ADAL" clId="{64B86D03-E407-45A2-9FFA-181F8C37F1AF}" dt="2021-02-26T06:42:04.061" v="9" actId="113"/>
        <pc:sldMkLst>
          <pc:docMk/>
          <pc:sldMk cId="1312103147" sldId="407"/>
        </pc:sldMkLst>
        <pc:graphicFrameChg chg="modGraphic">
          <ac:chgData name=" " userId="cebcdd3f-733e-4af1-b963-9742717e494c" providerId="ADAL" clId="{64B86D03-E407-45A2-9FFA-181F8C37F1AF}" dt="2021-02-26T06:42:04.061" v="9" actId="113"/>
          <ac:graphicFrameMkLst>
            <pc:docMk/>
            <pc:sldMk cId="1312103147" sldId="407"/>
            <ac:graphicFrameMk id="4" creationId="{23D56CCD-30D6-4CDF-A9A9-79252A4D2099}"/>
          </ac:graphicFrameMkLst>
        </pc:graphicFrameChg>
      </pc:sldChg>
    </pc:docChg>
  </pc:docChgLst>
  <pc:docChgLst>
    <pc:chgData name="안혜강" userId="98b22b6e-56f4-4429-b5e0-faac91709a9d" providerId="ADAL" clId="{2EBB1AD4-7CB9-4787-83C9-628539F4FC96}"/>
    <pc:docChg chg="modSld">
      <pc:chgData name="안혜강" userId="98b22b6e-56f4-4429-b5e0-faac91709a9d" providerId="ADAL" clId="{2EBB1AD4-7CB9-4787-83C9-628539F4FC96}" dt="2021-02-26T06:06:41.486" v="45" actId="113"/>
      <pc:docMkLst>
        <pc:docMk/>
      </pc:docMkLst>
      <pc:sldChg chg="modSp">
        <pc:chgData name="안혜강" userId="98b22b6e-56f4-4429-b5e0-faac91709a9d" providerId="ADAL" clId="{2EBB1AD4-7CB9-4787-83C9-628539F4FC96}" dt="2021-02-26T06:06:28.373" v="43" actId="113"/>
        <pc:sldMkLst>
          <pc:docMk/>
          <pc:sldMk cId="3234176922" sldId="353"/>
        </pc:sldMkLst>
        <pc:graphicFrameChg chg="modGraphic">
          <ac:chgData name="안혜강" userId="98b22b6e-56f4-4429-b5e0-faac91709a9d" providerId="ADAL" clId="{2EBB1AD4-7CB9-4787-83C9-628539F4FC96}" dt="2021-02-26T06:06:28.373" v="43" actId="113"/>
          <ac:graphicFrameMkLst>
            <pc:docMk/>
            <pc:sldMk cId="3234176922" sldId="353"/>
            <ac:graphicFrameMk id="7" creationId="{1B653947-F70A-4F06-AC6E-38C3D79B958B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6:06:15.318" v="38" actId="113"/>
        <pc:sldMkLst>
          <pc:docMk/>
          <pc:sldMk cId="1560965731" sldId="355"/>
        </pc:sldMkLst>
        <pc:graphicFrameChg chg="modGraphic">
          <ac:chgData name="안혜강" userId="98b22b6e-56f4-4429-b5e0-faac91709a9d" providerId="ADAL" clId="{2EBB1AD4-7CB9-4787-83C9-628539F4FC96}" dt="2021-02-26T06:06:15.318" v="38" actId="113"/>
          <ac:graphicFrameMkLst>
            <pc:docMk/>
            <pc:sldMk cId="1560965731" sldId="355"/>
            <ac:graphicFrameMk id="7" creationId="{536CFC30-756E-4DDA-AD95-5D99A4D1233B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7:58.170" v="9" actId="113"/>
        <pc:sldMkLst>
          <pc:docMk/>
          <pc:sldMk cId="403428278" sldId="359"/>
        </pc:sldMkLst>
        <pc:grpChg chg="mod">
          <ac:chgData name="안혜강" userId="98b22b6e-56f4-4429-b5e0-faac91709a9d" providerId="ADAL" clId="{2EBB1AD4-7CB9-4787-83C9-628539F4FC96}" dt="2021-02-26T05:57:55.538" v="8" actId="1036"/>
          <ac:grpSpMkLst>
            <pc:docMk/>
            <pc:sldMk cId="403428278" sldId="359"/>
            <ac:grpSpMk id="9" creationId="{C5D3D954-9A96-4199-BE48-C8B9F260E135}"/>
          </ac:grpSpMkLst>
        </pc:grpChg>
        <pc:graphicFrameChg chg="modGraphic">
          <ac:chgData name="안혜강" userId="98b22b6e-56f4-4429-b5e0-faac91709a9d" providerId="ADAL" clId="{2EBB1AD4-7CB9-4787-83C9-628539F4FC96}" dt="2021-02-26T05:57:58.170" v="9" actId="113"/>
          <ac:graphicFrameMkLst>
            <pc:docMk/>
            <pc:sldMk cId="403428278" sldId="359"/>
            <ac:graphicFrameMk id="6" creationId="{C197D301-14C0-4F54-AC43-C8A622CC3CDC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7:46.258" v="5" actId="113"/>
        <pc:sldMkLst>
          <pc:docMk/>
          <pc:sldMk cId="4069525464" sldId="360"/>
        </pc:sldMkLst>
        <pc:graphicFrameChg chg="modGraphic">
          <ac:chgData name="안혜강" userId="98b22b6e-56f4-4429-b5e0-faac91709a9d" providerId="ADAL" clId="{2EBB1AD4-7CB9-4787-83C9-628539F4FC96}" dt="2021-02-26T05:57:46.258" v="5" actId="113"/>
          <ac:graphicFrameMkLst>
            <pc:docMk/>
            <pc:sldMk cId="4069525464" sldId="360"/>
            <ac:graphicFrameMk id="6" creationId="{6C2B31CC-F587-4978-BD61-94518E5FDB9F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7:38.074" v="2" actId="113"/>
        <pc:sldMkLst>
          <pc:docMk/>
          <pc:sldMk cId="1884776429" sldId="361"/>
        </pc:sldMkLst>
        <pc:graphicFrameChg chg="modGraphic">
          <ac:chgData name="안혜강" userId="98b22b6e-56f4-4429-b5e0-faac91709a9d" providerId="ADAL" clId="{2EBB1AD4-7CB9-4787-83C9-628539F4FC96}" dt="2021-02-26T05:57:38.074" v="2" actId="113"/>
          <ac:graphicFrameMkLst>
            <pc:docMk/>
            <pc:sldMk cId="1884776429" sldId="361"/>
            <ac:graphicFrameMk id="9" creationId="{4CDE85D9-32D9-4668-AA63-6F36DFD3E8A1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7:20.139" v="0" actId="113"/>
        <pc:sldMkLst>
          <pc:docMk/>
          <pc:sldMk cId="612672609" sldId="369"/>
        </pc:sldMkLst>
        <pc:graphicFrameChg chg="modGraphic">
          <ac:chgData name="안혜강" userId="98b22b6e-56f4-4429-b5e0-faac91709a9d" providerId="ADAL" clId="{2EBB1AD4-7CB9-4787-83C9-628539F4FC96}" dt="2021-02-26T05:57:20.139" v="0" actId="113"/>
          <ac:graphicFrameMkLst>
            <pc:docMk/>
            <pc:sldMk cId="612672609" sldId="369"/>
            <ac:graphicFrameMk id="7" creationId="{B3B92448-9AAB-4385-89FE-471F653D488E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7:26.370" v="1" actId="113"/>
        <pc:sldMkLst>
          <pc:docMk/>
          <pc:sldMk cId="1580816771" sldId="370"/>
        </pc:sldMkLst>
        <pc:graphicFrameChg chg="modGraphic">
          <ac:chgData name="안혜강" userId="98b22b6e-56f4-4429-b5e0-faac91709a9d" providerId="ADAL" clId="{2EBB1AD4-7CB9-4787-83C9-628539F4FC96}" dt="2021-02-26T05:57:26.370" v="1" actId="113"/>
          <ac:graphicFrameMkLst>
            <pc:docMk/>
            <pc:sldMk cId="1580816771" sldId="370"/>
            <ac:graphicFrameMk id="5" creationId="{E23CC364-6D34-4D99-8A54-C369C3DFEE81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8:05.466" v="12" actId="113"/>
        <pc:sldMkLst>
          <pc:docMk/>
          <pc:sldMk cId="708395502" sldId="375"/>
        </pc:sldMkLst>
        <pc:graphicFrameChg chg="modGraphic">
          <ac:chgData name="안혜강" userId="98b22b6e-56f4-4429-b5e0-faac91709a9d" providerId="ADAL" clId="{2EBB1AD4-7CB9-4787-83C9-628539F4FC96}" dt="2021-02-26T05:58:05.466" v="12" actId="113"/>
          <ac:graphicFrameMkLst>
            <pc:docMk/>
            <pc:sldMk cId="708395502" sldId="375"/>
            <ac:graphicFrameMk id="5" creationId="{1C416356-468D-4DAA-9B85-1D5F95E38000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8:20.089" v="17" actId="113"/>
        <pc:sldMkLst>
          <pc:docMk/>
          <pc:sldMk cId="1972980194" sldId="376"/>
        </pc:sldMkLst>
        <pc:graphicFrameChg chg="modGraphic">
          <ac:chgData name="안혜강" userId="98b22b6e-56f4-4429-b5e0-faac91709a9d" providerId="ADAL" clId="{2EBB1AD4-7CB9-4787-83C9-628539F4FC96}" dt="2021-02-26T05:58:20.089" v="17" actId="113"/>
          <ac:graphicFrameMkLst>
            <pc:docMk/>
            <pc:sldMk cId="1972980194" sldId="376"/>
            <ac:graphicFrameMk id="5" creationId="{798B4CB3-4621-4978-B834-29FABFC111BB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8:27.874" v="20" actId="113"/>
        <pc:sldMkLst>
          <pc:docMk/>
          <pc:sldMk cId="4133716390" sldId="378"/>
        </pc:sldMkLst>
        <pc:graphicFrameChg chg="modGraphic">
          <ac:chgData name="안혜강" userId="98b22b6e-56f4-4429-b5e0-faac91709a9d" providerId="ADAL" clId="{2EBB1AD4-7CB9-4787-83C9-628539F4FC96}" dt="2021-02-26T05:58:27.874" v="20" actId="113"/>
          <ac:graphicFrameMkLst>
            <pc:docMk/>
            <pc:sldMk cId="4133716390" sldId="378"/>
            <ac:graphicFrameMk id="6" creationId="{55FF40F5-53EA-49CC-9553-B3025D459AD9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8:34.082" v="22" actId="113"/>
        <pc:sldMkLst>
          <pc:docMk/>
          <pc:sldMk cId="1401993343" sldId="380"/>
        </pc:sldMkLst>
        <pc:graphicFrameChg chg="modGraphic">
          <ac:chgData name="안혜강" userId="98b22b6e-56f4-4429-b5e0-faac91709a9d" providerId="ADAL" clId="{2EBB1AD4-7CB9-4787-83C9-628539F4FC96}" dt="2021-02-26T05:58:34.082" v="22" actId="113"/>
          <ac:graphicFrameMkLst>
            <pc:docMk/>
            <pc:sldMk cId="1401993343" sldId="380"/>
            <ac:graphicFrameMk id="5" creationId="{B9BD65E5-7CA6-4BE0-9A4B-0C4697DD6B3E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8:43.778" v="26" actId="113"/>
        <pc:sldMkLst>
          <pc:docMk/>
          <pc:sldMk cId="2320455287" sldId="381"/>
        </pc:sldMkLst>
        <pc:graphicFrameChg chg="modGraphic">
          <ac:chgData name="안혜강" userId="98b22b6e-56f4-4429-b5e0-faac91709a9d" providerId="ADAL" clId="{2EBB1AD4-7CB9-4787-83C9-628539F4FC96}" dt="2021-02-26T05:58:43.778" v="26" actId="113"/>
          <ac:graphicFrameMkLst>
            <pc:docMk/>
            <pc:sldMk cId="2320455287" sldId="381"/>
            <ac:graphicFrameMk id="6" creationId="{6AB70AFB-9987-4956-B899-C50DAC0BEB6C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8:54.674" v="30" actId="113"/>
        <pc:sldMkLst>
          <pc:docMk/>
          <pc:sldMk cId="3712201376" sldId="383"/>
        </pc:sldMkLst>
        <pc:graphicFrameChg chg="modGraphic">
          <ac:chgData name="안혜강" userId="98b22b6e-56f4-4429-b5e0-faac91709a9d" providerId="ADAL" clId="{2EBB1AD4-7CB9-4787-83C9-628539F4FC96}" dt="2021-02-26T05:58:54.674" v="30" actId="113"/>
          <ac:graphicFrameMkLst>
            <pc:docMk/>
            <pc:sldMk cId="3712201376" sldId="383"/>
            <ac:graphicFrameMk id="6" creationId="{8055C854-2C5E-4ED6-A540-579DB5B0DA16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9:17.177" v="35" actId="113"/>
        <pc:sldMkLst>
          <pc:docMk/>
          <pc:sldMk cId="370566463" sldId="384"/>
        </pc:sldMkLst>
        <pc:graphicFrameChg chg="modGraphic">
          <ac:chgData name="안혜강" userId="98b22b6e-56f4-4429-b5e0-faac91709a9d" providerId="ADAL" clId="{2EBB1AD4-7CB9-4787-83C9-628539F4FC96}" dt="2021-02-26T05:59:17.177" v="35" actId="113"/>
          <ac:graphicFrameMkLst>
            <pc:docMk/>
            <pc:sldMk cId="370566463" sldId="384"/>
            <ac:graphicFrameMk id="5" creationId="{5E4DBAA5-4911-4458-9B41-015F2C44F8AC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6:06:23.110" v="41" actId="113"/>
        <pc:sldMkLst>
          <pc:docMk/>
          <pc:sldMk cId="1213852062" sldId="389"/>
        </pc:sldMkLst>
        <pc:graphicFrameChg chg="modGraphic">
          <ac:chgData name="안혜강" userId="98b22b6e-56f4-4429-b5e0-faac91709a9d" providerId="ADAL" clId="{2EBB1AD4-7CB9-4787-83C9-628539F4FC96}" dt="2021-02-26T06:06:23.110" v="41" actId="113"/>
          <ac:graphicFrameMkLst>
            <pc:docMk/>
            <pc:sldMk cId="1213852062" sldId="389"/>
            <ac:graphicFrameMk id="5" creationId="{85E08661-6CE0-43E5-9669-C468A171A47A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6:06:41.486" v="45" actId="113"/>
        <pc:sldMkLst>
          <pc:docMk/>
          <pc:sldMk cId="3282660958" sldId="390"/>
        </pc:sldMkLst>
        <pc:graphicFrameChg chg="modGraphic">
          <ac:chgData name="안혜강" userId="98b22b6e-56f4-4429-b5e0-faac91709a9d" providerId="ADAL" clId="{2EBB1AD4-7CB9-4787-83C9-628539F4FC96}" dt="2021-02-26T06:06:41.486" v="45" actId="113"/>
          <ac:graphicFrameMkLst>
            <pc:docMk/>
            <pc:sldMk cId="3282660958" sldId="390"/>
            <ac:graphicFrameMk id="5" creationId="{B7B9515B-4D37-4586-819F-C67991510B9F}"/>
          </ac:graphicFrameMkLst>
        </pc:graphicFrameChg>
      </pc:sldChg>
      <pc:sldChg chg="modSp">
        <pc:chgData name="안혜강" userId="98b22b6e-56f4-4429-b5e0-faac91709a9d" providerId="ADAL" clId="{2EBB1AD4-7CB9-4787-83C9-628539F4FC96}" dt="2021-02-26T05:58:39.338" v="24" actId="113"/>
        <pc:sldMkLst>
          <pc:docMk/>
          <pc:sldMk cId="1312103147" sldId="407"/>
        </pc:sldMkLst>
        <pc:graphicFrameChg chg="modGraphic">
          <ac:chgData name="안혜강" userId="98b22b6e-56f4-4429-b5e0-faac91709a9d" providerId="ADAL" clId="{2EBB1AD4-7CB9-4787-83C9-628539F4FC96}" dt="2021-02-26T05:58:39.338" v="24" actId="113"/>
          <ac:graphicFrameMkLst>
            <pc:docMk/>
            <pc:sldMk cId="1312103147" sldId="407"/>
            <ac:graphicFrameMk id="4" creationId="{23D56CCD-30D6-4CDF-A9A9-79252A4D2099}"/>
          </ac:graphicFrameMkLst>
        </pc:graphicFrameChg>
      </pc:sldChg>
    </pc:docChg>
  </pc:docChgLst>
  <pc:docChgLst>
    <pc:chgData name="박동규" userId="cebcdd3f-733e-4af1-b963-9742717e494c" providerId="ADAL" clId="{06453805-033A-BA40-8B16-6831D04ABEB5}"/>
    <pc:docChg chg="modSld">
      <pc:chgData name="박동규" userId="cebcdd3f-733e-4af1-b963-9742717e494c" providerId="ADAL" clId="{06453805-033A-BA40-8B16-6831D04ABEB5}" dt="2022-11-02T11:57:15.748" v="1" actId="767"/>
      <pc:docMkLst>
        <pc:docMk/>
      </pc:docMkLst>
      <pc:sldChg chg="addSp modSp mod">
        <pc:chgData name="박동규" userId="cebcdd3f-733e-4af1-b963-9742717e494c" providerId="ADAL" clId="{06453805-033A-BA40-8B16-6831D04ABEB5}" dt="2022-11-02T11:57:15.748" v="1" actId="767"/>
        <pc:sldMkLst>
          <pc:docMk/>
          <pc:sldMk cId="1521840423" sldId="347"/>
        </pc:sldMkLst>
        <pc:spChg chg="add mod">
          <ac:chgData name="박동규" userId="cebcdd3f-733e-4af1-b963-9742717e494c" providerId="ADAL" clId="{06453805-033A-BA40-8B16-6831D04ABEB5}" dt="2022-11-02T11:57:15.748" v="1" actId="767"/>
          <ac:spMkLst>
            <pc:docMk/>
            <pc:sldMk cId="1521840423" sldId="347"/>
            <ac:spMk id="3" creationId="{65323258-2A86-F290-291C-4F7DAED719AD}"/>
          </ac:spMkLst>
        </pc:spChg>
        <pc:picChg chg="mod">
          <ac:chgData name="박동규" userId="cebcdd3f-733e-4af1-b963-9742717e494c" providerId="ADAL" clId="{06453805-033A-BA40-8B16-6831D04ABEB5}" dt="2022-11-02T11:49:33.152" v="0" actId="14100"/>
          <ac:picMkLst>
            <pc:docMk/>
            <pc:sldMk cId="1521840423" sldId="347"/>
            <ac:picMk id="15" creationId="{00000000-0000-0000-0000-000000000000}"/>
          </ac:picMkLst>
        </pc:picChg>
      </pc:sldChg>
    </pc:docChg>
  </pc:docChgLst>
  <pc:docChgLst>
    <pc:chgData name="박동규" userId="cebcdd3f-733e-4af1-b963-9742717e494c" providerId="ADAL" clId="{1286F289-AF36-4B63-A361-113F38961FB3}"/>
    <pc:docChg chg="modSld">
      <pc:chgData name="박동규" userId="cebcdd3f-733e-4af1-b963-9742717e494c" providerId="ADAL" clId="{1286F289-AF36-4B63-A361-113F38961FB3}" dt="2021-08-19T01:14:20.660" v="215" actId="1076"/>
      <pc:docMkLst>
        <pc:docMk/>
      </pc:docMkLst>
      <pc:sldChg chg="addSp modSp mod">
        <pc:chgData name="박동규" userId="cebcdd3f-733e-4af1-b963-9742717e494c" providerId="ADAL" clId="{1286F289-AF36-4B63-A361-113F38961FB3}" dt="2021-08-19T01:13:50.046" v="211" actId="207"/>
        <pc:sldMkLst>
          <pc:docMk/>
          <pc:sldMk cId="2635280681" sldId="358"/>
        </pc:sldMkLst>
        <pc:spChg chg="add mod">
          <ac:chgData name="박동규" userId="cebcdd3f-733e-4af1-b963-9742717e494c" providerId="ADAL" clId="{1286F289-AF36-4B63-A361-113F38961FB3}" dt="2021-08-19T01:13:50.046" v="211" actId="207"/>
          <ac:spMkLst>
            <pc:docMk/>
            <pc:sldMk cId="2635280681" sldId="358"/>
            <ac:spMk id="3" creationId="{2938BFF5-8668-4B3E-9D90-BED8745E8D51}"/>
          </ac:spMkLst>
        </pc:spChg>
        <pc:picChg chg="mod">
          <ac:chgData name="박동규" userId="cebcdd3f-733e-4af1-b963-9742717e494c" providerId="ADAL" clId="{1286F289-AF36-4B63-A361-113F38961FB3}" dt="2021-08-19T01:13:13.676" v="97" actId="14100"/>
          <ac:picMkLst>
            <pc:docMk/>
            <pc:sldMk cId="2635280681" sldId="358"/>
            <ac:picMk id="2" creationId="{00000000-0000-0000-0000-000000000000}"/>
          </ac:picMkLst>
        </pc:picChg>
      </pc:sldChg>
      <pc:sldChg chg="delSp modSp mod modAnim">
        <pc:chgData name="박동규" userId="cebcdd3f-733e-4af1-b963-9742717e494c" providerId="ADAL" clId="{1286F289-AF36-4B63-A361-113F38961FB3}" dt="2021-08-19T01:12:36.301" v="96" actId="20577"/>
        <pc:sldMkLst>
          <pc:docMk/>
          <pc:sldMk cId="1580816771" sldId="370"/>
        </pc:sldMkLst>
        <pc:spChg chg="mod topLvl">
          <ac:chgData name="박동규" userId="cebcdd3f-733e-4af1-b963-9742717e494c" providerId="ADAL" clId="{1286F289-AF36-4B63-A361-113F38961FB3}" dt="2021-08-19T01:12:36.301" v="96" actId="20577"/>
          <ac:spMkLst>
            <pc:docMk/>
            <pc:sldMk cId="1580816771" sldId="370"/>
            <ac:spMk id="13" creationId="{00000000-0000-0000-0000-000000000000}"/>
          </ac:spMkLst>
        </pc:spChg>
        <pc:grpChg chg="del mod ord">
          <ac:chgData name="박동규" userId="cebcdd3f-733e-4af1-b963-9742717e494c" providerId="ADAL" clId="{1286F289-AF36-4B63-A361-113F38961FB3}" dt="2021-08-19T01:12:28.188" v="94" actId="165"/>
          <ac:grpSpMkLst>
            <pc:docMk/>
            <pc:sldMk cId="1580816771" sldId="370"/>
            <ac:grpSpMk id="12" creationId="{00000000-0000-0000-0000-000000000000}"/>
          </ac:grpSpMkLst>
        </pc:grpChg>
        <pc:cxnChg chg="mod topLvl">
          <ac:chgData name="박동규" userId="cebcdd3f-733e-4af1-b963-9742717e494c" providerId="ADAL" clId="{1286F289-AF36-4B63-A361-113F38961FB3}" dt="2021-08-19T01:12:31.933" v="95" actId="14100"/>
          <ac:cxnSpMkLst>
            <pc:docMk/>
            <pc:sldMk cId="1580816771" sldId="370"/>
            <ac:cxnSpMk id="14" creationId="{00000000-0000-0000-0000-000000000000}"/>
          </ac:cxnSpMkLst>
        </pc:cxnChg>
      </pc:sldChg>
      <pc:sldChg chg="modSp mod">
        <pc:chgData name="박동규" userId="cebcdd3f-733e-4af1-b963-9742717e494c" providerId="ADAL" clId="{1286F289-AF36-4B63-A361-113F38961FB3}" dt="2021-08-19T01:14:11.180" v="213" actId="1076"/>
        <pc:sldMkLst>
          <pc:docMk/>
          <pc:sldMk cId="2095690196" sldId="403"/>
        </pc:sldMkLst>
        <pc:picChg chg="mod">
          <ac:chgData name="박동규" userId="cebcdd3f-733e-4af1-b963-9742717e494c" providerId="ADAL" clId="{1286F289-AF36-4B63-A361-113F38961FB3}" dt="2021-08-19T01:14:11.180" v="213" actId="1076"/>
          <ac:picMkLst>
            <pc:docMk/>
            <pc:sldMk cId="2095690196" sldId="403"/>
            <ac:picMk id="4" creationId="{BB9D5B30-7C3F-4DC8-8793-8D6279E21116}"/>
          </ac:picMkLst>
        </pc:picChg>
      </pc:sldChg>
      <pc:sldChg chg="modSp mod">
        <pc:chgData name="박동규" userId="cebcdd3f-733e-4af1-b963-9742717e494c" providerId="ADAL" clId="{1286F289-AF36-4B63-A361-113F38961FB3}" dt="2021-08-19T01:14:20.660" v="215" actId="1076"/>
        <pc:sldMkLst>
          <pc:docMk/>
          <pc:sldMk cId="3500209919" sldId="404"/>
        </pc:sldMkLst>
        <pc:picChg chg="mod">
          <ac:chgData name="박동규" userId="cebcdd3f-733e-4af1-b963-9742717e494c" providerId="ADAL" clId="{1286F289-AF36-4B63-A361-113F38961FB3}" dt="2021-08-19T01:14:20.660" v="215" actId="1076"/>
          <ac:picMkLst>
            <pc:docMk/>
            <pc:sldMk cId="3500209919" sldId="404"/>
            <ac:picMk id="4" creationId="{D262C551-4AEB-42D8-84C5-FFE613EF37C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71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모서리가 둥근 직사각형 16">
            <a:extLst>
              <a:ext uri="{FF2B5EF4-FFF2-40B4-BE49-F238E27FC236}">
                <a16:creationId xmlns:a16="http://schemas.microsoft.com/office/drawing/2014/main" id="{D9922996-39A1-D144-2529-4EE6920C524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FF4CCE-76D5-FB87-7563-41F1390CD823}"/>
              </a:ext>
            </a:extLst>
          </p:cNvPr>
          <p:cNvSpPr txBox="1"/>
          <p:nvPr userDrawn="1"/>
        </p:nvSpPr>
        <p:spPr>
          <a:xfrm>
            <a:off x="10582275" y="90475"/>
            <a:ext cx="986332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4A0A25-03E6-68C0-D458-43887041AE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671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D7590359-BB23-F0F2-D6AB-13043CD4CA6F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AD178D0-9D0B-D7BF-4359-941B74EE8B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0B40FF4-AB01-1A8B-4ABD-88F6BAEAFD55}"/>
              </a:ext>
            </a:extLst>
          </p:cNvPr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4" name="모서리가 둥근 직사각형 16">
            <a:extLst>
              <a:ext uri="{FF2B5EF4-FFF2-40B4-BE49-F238E27FC236}">
                <a16:creationId xmlns:a16="http://schemas.microsoft.com/office/drawing/2014/main" id="{FD3DA280-44CE-4EC9-F4DF-93D05602707F}"/>
              </a:ext>
            </a:extLst>
          </p:cNvPr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1D8060-B0F5-0224-2109-C51C1E77C3DE}"/>
              </a:ext>
            </a:extLst>
          </p:cNvPr>
          <p:cNvSpPr txBox="1"/>
          <p:nvPr userDrawn="1"/>
        </p:nvSpPr>
        <p:spPr>
          <a:xfrm>
            <a:off x="10582275" y="90475"/>
            <a:ext cx="1024433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bg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bg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8E4CDDD-6B66-CD7E-416E-ACDEDDF42BD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1007437" y="1124744"/>
            <a:ext cx="10177129" cy="57606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rgbClr val="385723"/>
                </a:solidFill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5835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480B8AFC-1442-2A41-38E6-098E199D644B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67257" y="1700809"/>
            <a:ext cx="10014757" cy="4345428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13557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70C0D07-8B9B-7F79-ECEE-08F3ED4D9A77}"/>
              </a:ext>
            </a:extLst>
          </p:cNvPr>
          <p:cNvSpPr/>
          <p:nvPr userDrawn="1"/>
        </p:nvSpPr>
        <p:spPr>
          <a:xfrm>
            <a:off x="0" y="-3359"/>
            <a:ext cx="12192000" cy="9807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687766E-4112-1C71-1153-BDA337090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2122" y="188413"/>
            <a:ext cx="963548" cy="763829"/>
          </a:xfrm>
          <a:prstGeom prst="rect">
            <a:avLst/>
          </a:prstGeom>
        </p:spPr>
      </p:pic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067257" y="1128237"/>
            <a:ext cx="10014757" cy="4917999"/>
          </a:xfrm>
        </p:spPr>
        <p:txBody>
          <a:bodyPr>
            <a:noAutofit/>
          </a:bodyPr>
          <a:lstStyle>
            <a:lvl1pPr marL="179388" indent="-179388">
              <a:lnSpc>
                <a:spcPct val="120000"/>
              </a:lnSpc>
              <a:spcBef>
                <a:spcPts val="480"/>
              </a:spcBef>
              <a:buClr>
                <a:schemeClr val="accent6"/>
              </a:buClr>
              <a:buFont typeface="Arial" pitchFamily="34" charset="0"/>
              <a:buChar char="•"/>
              <a:defRPr sz="2000"/>
            </a:lvl1pPr>
            <a:lvl2pPr marL="360363" indent="-180975">
              <a:buClr>
                <a:schemeClr val="accent6">
                  <a:lumMod val="75000"/>
                </a:schemeClr>
              </a:buClr>
              <a:buFont typeface="맑은 고딕" panose="020B0503020000020004" pitchFamily="50" charset="-127"/>
              <a:buChar char="-"/>
              <a:defRPr sz="1800"/>
            </a:lvl2pPr>
          </a:lstStyle>
          <a:p>
            <a:pPr lvl="0"/>
            <a:r>
              <a:rPr lang="ko-KR" altLang="en-US" dirty="0"/>
              <a:t>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16" name="직선 연결선 15"/>
          <p:cNvCxnSpPr>
            <a:cxnSpLocks/>
          </p:cNvCxnSpPr>
          <p:nvPr userDrawn="1"/>
        </p:nvCxnSpPr>
        <p:spPr>
          <a:xfrm>
            <a:off x="501901" y="6251050"/>
            <a:ext cx="11125323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904883" y="346646"/>
            <a:ext cx="10177131" cy="562074"/>
          </a:xfrm>
        </p:spPr>
        <p:txBody>
          <a:bodyPr>
            <a:noAutofit/>
          </a:bodyPr>
          <a:lstStyle>
            <a:lvl1pPr algn="l">
              <a:defRPr sz="3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 dirty="0"/>
              <a:t>텍스트 스타일을 편집합니다</a:t>
            </a:r>
          </a:p>
        </p:txBody>
      </p:sp>
      <p:sp>
        <p:nvSpPr>
          <p:cNvPr id="31" name="타원 30"/>
          <p:cNvSpPr/>
          <p:nvPr userDrawn="1"/>
        </p:nvSpPr>
        <p:spPr>
          <a:xfrm>
            <a:off x="368312" y="69338"/>
            <a:ext cx="192021" cy="1440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10544174" y="83680"/>
            <a:ext cx="1024433" cy="218397"/>
          </a:xfrm>
          <a:prstGeom prst="round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9" name="TextBox 18"/>
          <p:cNvSpPr txBox="1"/>
          <p:nvPr userDrawn="1"/>
        </p:nvSpPr>
        <p:spPr>
          <a:xfrm>
            <a:off x="10582275" y="90475"/>
            <a:ext cx="1038454" cy="196208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r>
              <a:rPr lang="en-US" altLang="ko-KR" sz="675" spc="0" dirty="0">
                <a:solidFill>
                  <a:schemeClr val="tx1"/>
                </a:solidFill>
                <a:latin typeface="+mn-ea"/>
                <a:ea typeface="+mn-ea"/>
              </a:rPr>
              <a:t>Welcome</a:t>
            </a:r>
            <a:r>
              <a:rPr lang="en-US" altLang="ko-KR" sz="675" spc="0" baseline="0" dirty="0">
                <a:solidFill>
                  <a:schemeClr val="tx1"/>
                </a:solidFill>
                <a:latin typeface="+mn-ea"/>
                <a:ea typeface="+mn-ea"/>
              </a:rPr>
              <a:t> to Python</a:t>
            </a:r>
            <a:endParaRPr lang="ko-KR" altLang="en-US" sz="675" spc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0EC649-97C1-B342-C2A3-884307B7EA72}"/>
              </a:ext>
            </a:extLst>
          </p:cNvPr>
          <p:cNvSpPr/>
          <p:nvPr userDrawn="1"/>
        </p:nvSpPr>
        <p:spPr>
          <a:xfrm>
            <a:off x="5686477" y="6350553"/>
            <a:ext cx="6096000" cy="2308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fld id="{46A5C3F9-5C7D-4EF5-8F53-66B38DB9C20D}" type="slidenum">
              <a:rPr lang="ko-KR" altLang="en-US" sz="900" b="1" smtClean="0">
                <a:solidFill>
                  <a:schemeClr val="accent6">
                    <a:lumMod val="50000"/>
                  </a:schemeClr>
                </a:solidFill>
              </a:rPr>
              <a:pPr algn="r"/>
              <a:t>‹#›</a:t>
            </a:fld>
            <a:endParaRPr lang="ko-KR" altLang="en-US" sz="675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0B5FAD-91D9-5136-8EC2-B73791B61B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6847" y="311945"/>
            <a:ext cx="970445" cy="5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24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9E555-41BD-4F42-BACD-260A3D2E8810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74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9E555-41BD-4F42-BACD-260A3D2E8810}" type="datetimeFigureOut">
              <a:rPr lang="ko-KR" altLang="en-US" smtClean="0"/>
              <a:t>2024-11-06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3DECF-8BA1-4923-867C-64FAB5EDD4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874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 txBox="1">
            <a:spLocks/>
          </p:cNvSpPr>
          <p:nvPr/>
        </p:nvSpPr>
        <p:spPr>
          <a:xfrm>
            <a:off x="6284285" y="3552227"/>
            <a:ext cx="5488615" cy="562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en-US" altLang="ko-KR" sz="3600" b="1" dirty="0">
                <a:solidFill>
                  <a:schemeClr val="accent6">
                    <a:lumMod val="50000"/>
                  </a:schemeClr>
                </a:solidFill>
              </a:rPr>
              <a:t>10</a:t>
            </a:r>
            <a:r>
              <a:rPr lang="ko-KR" altLang="en-US" sz="3600" b="1" dirty="0" smtClean="0">
                <a:solidFill>
                  <a:schemeClr val="accent6">
                    <a:lumMod val="50000"/>
                  </a:schemeClr>
                </a:solidFill>
              </a:rPr>
              <a:t>장</a:t>
            </a:r>
            <a:r>
              <a:rPr lang="en-US" altLang="ko-KR" sz="3600" b="1" dirty="0" smtClean="0"/>
              <a:t> </a:t>
            </a:r>
            <a:r>
              <a:rPr lang="ko-KR" altLang="en-US" sz="3600" b="1" dirty="0" smtClean="0"/>
              <a:t>클래스와</a:t>
            </a:r>
            <a:endParaRPr lang="en-US" altLang="ko-KR" sz="3600" b="1" dirty="0" smtClean="0"/>
          </a:p>
          <a:p>
            <a:pPr algn="r">
              <a:lnSpc>
                <a:spcPct val="120000"/>
              </a:lnSpc>
            </a:pPr>
            <a:r>
              <a:rPr lang="ko-KR" altLang="en-US" sz="3600" b="1" dirty="0" smtClean="0"/>
              <a:t>객체 지향 프로그래밍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4232195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r="9187"/>
          <a:stretch/>
        </p:blipFill>
        <p:spPr>
          <a:xfrm>
            <a:off x="381242" y="1150649"/>
            <a:ext cx="6246447" cy="3586721"/>
          </a:xfrm>
          <a:prstGeom prst="rect">
            <a:avLst/>
          </a:prstGeom>
        </p:spPr>
      </p:pic>
      <p:sp>
        <p:nvSpPr>
          <p:cNvPr id="8" name="내용 개체 틀 2"/>
          <p:cNvSpPr>
            <a:spLocks noGrp="1"/>
          </p:cNvSpPr>
          <p:nvPr>
            <p:ph idx="14"/>
          </p:nvPr>
        </p:nvSpPr>
        <p:spPr>
          <a:xfrm>
            <a:off x="6804212" y="1128237"/>
            <a:ext cx="4277802" cy="4917999"/>
          </a:xfrm>
        </p:spPr>
        <p:txBody>
          <a:bodyPr>
            <a:normAutofit/>
          </a:bodyPr>
          <a:lstStyle/>
          <a:p>
            <a:pPr fontAlgn="base"/>
            <a:r>
              <a:rPr lang="ko-KR" altLang="en-US" dirty="0" err="1"/>
              <a:t>파이썬의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5"/>
                </a:solidFill>
              </a:rPr>
              <a:t>리스트</a:t>
            </a:r>
            <a:r>
              <a:rPr lang="en-US" altLang="ko-KR" b="1" baseline="30000" dirty="0">
                <a:solidFill>
                  <a:schemeClr val="accent5"/>
                </a:solidFill>
              </a:rPr>
              <a:t>list</a:t>
            </a:r>
            <a:r>
              <a:rPr lang="ko-KR" altLang="en-US" dirty="0"/>
              <a:t>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'lion', 'tiger', 'cat', 'dog'</a:t>
            </a:r>
            <a:r>
              <a:rPr lang="ko-KR" altLang="en-US" dirty="0"/>
              <a:t>등의 항목을 원소</a:t>
            </a:r>
            <a:r>
              <a:rPr lang="en-US" altLang="ko-KR" dirty="0"/>
              <a:t>(</a:t>
            </a:r>
            <a:r>
              <a:rPr lang="ko-KR" altLang="en-US" dirty="0">
                <a:solidFill>
                  <a:srgbClr val="FF0000"/>
                </a:solidFill>
              </a:rPr>
              <a:t>속성</a:t>
            </a:r>
            <a:r>
              <a:rPr lang="en-US" altLang="ko-KR" dirty="0"/>
              <a:t>)</a:t>
            </a:r>
            <a:r>
              <a:rPr lang="ko-KR" altLang="en-US" dirty="0"/>
              <a:t>로 가질 수 있음</a:t>
            </a:r>
            <a:r>
              <a:rPr lang="en-US" altLang="ko-KR" dirty="0"/>
              <a:t>.</a:t>
            </a:r>
          </a:p>
          <a:p>
            <a:pPr fontAlgn="base"/>
            <a:endParaRPr lang="en-US" altLang="ko-KR" sz="500" dirty="0"/>
          </a:p>
          <a:p>
            <a:pPr fontAlgn="base"/>
            <a:r>
              <a:rPr lang="ko-KR" altLang="en-US" dirty="0"/>
              <a:t>또한 </a:t>
            </a:r>
            <a:r>
              <a:rPr lang="en-US" altLang="ko-KR" dirty="0"/>
              <a:t>sort(), append(), remove(), reverse(), pop() </a:t>
            </a:r>
            <a:r>
              <a:rPr lang="ko-KR" altLang="en-US" dirty="0"/>
              <a:t>라는 함수</a:t>
            </a:r>
            <a:r>
              <a:rPr lang="en-US" altLang="ko-KR" dirty="0"/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메소드</a:t>
            </a:r>
            <a:r>
              <a:rPr lang="en-US" altLang="ko-KR" dirty="0"/>
              <a:t>)</a:t>
            </a:r>
            <a:r>
              <a:rPr lang="ko-KR" altLang="en-US" dirty="0"/>
              <a:t>를 가지고 있음</a:t>
            </a:r>
            <a:r>
              <a:rPr lang="en-US" altLang="ko-KR" dirty="0">
                <a:solidFill>
                  <a:schemeClr val="accent2"/>
                </a:solidFill>
              </a:rPr>
              <a:t>(. </a:t>
            </a:r>
            <a:r>
              <a:rPr lang="ko-KR" altLang="en-US" dirty="0">
                <a:solidFill>
                  <a:schemeClr val="accent2"/>
                </a:solidFill>
              </a:rPr>
              <a:t>표기로 </a:t>
            </a:r>
            <a:r>
              <a:rPr lang="ko-KR" altLang="en-US" dirty="0" err="1">
                <a:solidFill>
                  <a:schemeClr val="accent2"/>
                </a:solidFill>
              </a:rPr>
              <a:t>메소드</a:t>
            </a:r>
            <a:r>
              <a:rPr lang="ko-KR" altLang="en-US" dirty="0">
                <a:solidFill>
                  <a:schemeClr val="accent2"/>
                </a:solidFill>
              </a:rPr>
              <a:t> 호출</a:t>
            </a:r>
            <a:r>
              <a:rPr lang="en-US" altLang="ko-KR" dirty="0">
                <a:solidFill>
                  <a:schemeClr val="accent2"/>
                </a:solidFill>
              </a:rPr>
              <a:t>)</a:t>
            </a:r>
            <a:endParaRPr lang="en-US" altLang="ko-KR" sz="500" dirty="0">
              <a:solidFill>
                <a:schemeClr val="accent2"/>
              </a:solidFill>
            </a:endParaRPr>
          </a:p>
          <a:p>
            <a:pPr fontAlgn="base"/>
            <a:r>
              <a:rPr lang="ko-KR" altLang="en-US" dirty="0">
                <a:solidFill>
                  <a:schemeClr val="accent5"/>
                </a:solidFill>
              </a:rPr>
              <a:t>객체</a:t>
            </a:r>
            <a:r>
              <a:rPr lang="en-US" altLang="ko-KR" b="1" baseline="30000" dirty="0">
                <a:solidFill>
                  <a:schemeClr val="accent5"/>
                </a:solidFill>
              </a:rPr>
              <a:t>object</a:t>
            </a:r>
            <a:endParaRPr lang="en-US" altLang="ko-KR" sz="700" baseline="30000" dirty="0"/>
          </a:p>
          <a:p>
            <a:pPr lvl="1" fontAlgn="base"/>
            <a:r>
              <a:rPr lang="ko-KR" altLang="en-US" dirty="0"/>
              <a:t>컴퓨터 시스템에서 다양한 기능을 수행하도록 </a:t>
            </a:r>
            <a:r>
              <a:rPr lang="ko-KR" altLang="en-US" dirty="0">
                <a:solidFill>
                  <a:srgbClr val="FF0000"/>
                </a:solidFill>
              </a:rPr>
              <a:t>속성</a:t>
            </a:r>
            <a:r>
              <a:rPr lang="ko-KR" altLang="en-US" dirty="0"/>
              <a:t>과 </a:t>
            </a:r>
            <a:r>
              <a:rPr lang="ko-KR" altLang="en-US" dirty="0" err="1">
                <a:solidFill>
                  <a:srgbClr val="FF0000"/>
                </a:solidFill>
              </a:rPr>
              <a:t>메소드</a:t>
            </a:r>
            <a:r>
              <a:rPr lang="ko-KR" altLang="en-US" dirty="0" err="1"/>
              <a:t>를</a:t>
            </a:r>
            <a:r>
              <a:rPr lang="ko-KR" altLang="en-US" dirty="0"/>
              <a:t> 가진 요소를 객체라고 함</a:t>
            </a:r>
            <a:endParaRPr lang="en-US" altLang="ko-KR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319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335" y="2798024"/>
            <a:ext cx="9326032" cy="3321141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편리한 </a:t>
            </a:r>
            <a:r>
              <a:rPr lang="ko-KR" altLang="en-US" dirty="0" err="1"/>
              <a:t>메소드를</a:t>
            </a:r>
            <a:r>
              <a:rPr lang="ko-KR" altLang="en-US" dirty="0"/>
              <a:t> 쉽게 이용할 수 있는 것이 </a:t>
            </a:r>
            <a:r>
              <a:rPr lang="ko-KR" altLang="en-US" dirty="0">
                <a:solidFill>
                  <a:schemeClr val="accent5"/>
                </a:solidFill>
              </a:rPr>
              <a:t>객체 지향 프로그래밍</a:t>
            </a:r>
            <a:r>
              <a:rPr lang="en-US" altLang="ko-KR" b="1" baseline="30000" dirty="0">
                <a:solidFill>
                  <a:schemeClr val="accent5"/>
                </a:solidFill>
              </a:rPr>
              <a:t>objected oriented programming</a:t>
            </a:r>
            <a:r>
              <a:rPr lang="ko-KR" altLang="en-US" dirty="0"/>
              <a:t>의 큰 장점</a:t>
            </a:r>
          </a:p>
          <a:p>
            <a:r>
              <a:rPr lang="ko-KR" altLang="en-US" spc="-20" dirty="0"/>
              <a:t>또한 </a:t>
            </a:r>
            <a:r>
              <a:rPr lang="ko-KR" altLang="en-US" b="1" spc="-20" dirty="0">
                <a:solidFill>
                  <a:schemeClr val="accent5"/>
                </a:solidFill>
              </a:rPr>
              <a:t>문자열</a:t>
            </a:r>
            <a:r>
              <a:rPr lang="en-US" altLang="ko-KR" b="1" spc="-20" baseline="30000" dirty="0" err="1">
                <a:solidFill>
                  <a:schemeClr val="accent5"/>
                </a:solidFill>
              </a:rPr>
              <a:t>str</a:t>
            </a:r>
            <a:r>
              <a:rPr lang="ko-KR" altLang="en-US" spc="-20" dirty="0"/>
              <a:t>이라는 클래스 자료형에는 문자와 관련된 다양한 처리기능이 미리 잘 정의되어 있기 때문에 객체 지향 프로그래밍에서 이렇게 많은 메소드를 사용할 수 있음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E302322-94F5-5CD4-4671-255D8FD82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</p:spTree>
    <p:extLst>
      <p:ext uri="{BB962C8B-B14F-4D97-AF65-F5344CB8AC3E}">
        <p14:creationId xmlns:p14="http://schemas.microsoft.com/office/powerpoint/2010/main" val="1468466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3D51515-B7D3-5271-42D2-BFDA6ECF9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7030A0"/>
                </a:solidFill>
              </a:rPr>
              <a:t>예</a:t>
            </a:r>
            <a:r>
              <a:rPr lang="en-US" altLang="ko-KR" dirty="0">
                <a:solidFill>
                  <a:srgbClr val="7030A0"/>
                </a:solidFill>
              </a:rPr>
              <a:t>: str </a:t>
            </a:r>
            <a:r>
              <a:rPr lang="ko-KR" altLang="en-US" dirty="0">
                <a:solidFill>
                  <a:srgbClr val="7030A0"/>
                </a:solidFill>
              </a:rPr>
              <a:t>클래스의 다양한 메소드</a:t>
            </a:r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EDC0AA34-7993-84A3-2801-2D576A28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AC912FAD-C031-9C5A-FC26-6489A29CA1B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67257" y="1700809"/>
            <a:ext cx="10014757" cy="3471826"/>
          </a:xfrm>
        </p:spPr>
        <p:txBody>
          <a:bodyPr numCol="3"/>
          <a:lstStyle/>
          <a:p>
            <a:r>
              <a:rPr lang="en-US" altLang="ko-KR" dirty="0"/>
              <a:t>upper()</a:t>
            </a:r>
          </a:p>
          <a:p>
            <a:r>
              <a:rPr lang="en-US" altLang="ko-KR" dirty="0"/>
              <a:t>lower()</a:t>
            </a:r>
          </a:p>
          <a:p>
            <a:r>
              <a:rPr lang="en-US" altLang="ko-KR" dirty="0"/>
              <a:t>capitalize()</a:t>
            </a:r>
          </a:p>
          <a:p>
            <a:r>
              <a:rPr lang="en-US" altLang="ko-KR" dirty="0" err="1"/>
              <a:t>startswith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strip()</a:t>
            </a:r>
          </a:p>
          <a:p>
            <a:r>
              <a:rPr lang="en-US" altLang="ko-KR" dirty="0"/>
              <a:t>find()</a:t>
            </a:r>
          </a:p>
          <a:p>
            <a:r>
              <a:rPr lang="en-US" altLang="ko-KR" dirty="0"/>
              <a:t>split()</a:t>
            </a:r>
          </a:p>
          <a:p>
            <a:r>
              <a:rPr lang="en-US" altLang="ko-KR" dirty="0"/>
              <a:t>join()</a:t>
            </a:r>
          </a:p>
          <a:p>
            <a:r>
              <a:rPr lang="en-US" altLang="ko-KR" dirty="0" err="1"/>
              <a:t>casefold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center()</a:t>
            </a:r>
          </a:p>
          <a:p>
            <a:r>
              <a:rPr lang="en-US" altLang="ko-KR" dirty="0"/>
              <a:t>count()</a:t>
            </a:r>
          </a:p>
          <a:p>
            <a:r>
              <a:rPr lang="en-US" altLang="ko-KR" dirty="0" err="1"/>
              <a:t>endswith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format()</a:t>
            </a:r>
          </a:p>
          <a:p>
            <a:r>
              <a:rPr lang="en-US" altLang="ko-KR" dirty="0"/>
              <a:t>index()</a:t>
            </a:r>
          </a:p>
          <a:p>
            <a:r>
              <a:rPr lang="en-US" altLang="ko-KR" dirty="0" err="1"/>
              <a:t>isalnum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isalpha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isdecimal</a:t>
            </a:r>
            <a:r>
              <a:rPr lang="en-US" altLang="ko-KR" dirty="0"/>
              <a:t>()</a:t>
            </a:r>
          </a:p>
          <a:p>
            <a:r>
              <a:rPr lang="en-US" altLang="ko-KR" dirty="0" err="1"/>
              <a:t>islower</a:t>
            </a:r>
            <a:r>
              <a:rPr lang="en-US" altLang="ko-KR" dirty="0"/>
              <a:t>()</a:t>
            </a:r>
          </a:p>
          <a:p>
            <a:r>
              <a:rPr lang="en-US" altLang="ko-KR" dirty="0"/>
              <a:t>....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1688F9B-F63F-51E3-58FE-5B8D34D420B0}"/>
              </a:ext>
            </a:extLst>
          </p:cNvPr>
          <p:cNvGrpSpPr/>
          <p:nvPr/>
        </p:nvGrpSpPr>
        <p:grpSpPr>
          <a:xfrm>
            <a:off x="5934636" y="3082540"/>
            <a:ext cx="5432612" cy="1077218"/>
            <a:chOff x="1079681" y="556003"/>
            <a:chExt cx="5753479" cy="100781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A08AF2-0F5B-EAB1-A434-001061501432}"/>
                </a:ext>
              </a:extLst>
            </p:cNvPr>
            <p:cNvSpPr txBox="1"/>
            <p:nvPr/>
          </p:nvSpPr>
          <p:spPr>
            <a:xfrm>
              <a:off x="1803823" y="556003"/>
              <a:ext cx="5029337" cy="100781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>
                  <a:solidFill>
                    <a:srgbClr val="FF0000"/>
                  </a:solidFill>
                </a:rPr>
                <a:t>str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클래스 하나만 해도 이와 같은 많은 메소드가 제공되고 있다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. </a:t>
              </a:r>
              <a:r>
                <a:rPr lang="ko-KR" altLang="en-US" sz="1600" b="1" dirty="0" err="1">
                  <a:solidFill>
                    <a:srgbClr val="FF0000"/>
                  </a:solidFill>
                </a:rPr>
                <a:t>파이썬은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 기본적으로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int, list, tuple, </a:t>
              </a:r>
              <a:r>
                <a:rPr lang="en-US" altLang="ko-KR" sz="1600" b="1" dirty="0" err="1">
                  <a:solidFill>
                    <a:srgbClr val="FF0000"/>
                  </a:solidFill>
                </a:rPr>
                <a:t>dic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, date, time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등 많은 클래스가 있으며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, 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이들이 가진 메소드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(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기능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)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이 무궁무진하다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.</a:t>
              </a: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39BCD0A6-BF1B-8F8A-5352-5BCCBC8B9B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79681" y="716592"/>
              <a:ext cx="724143" cy="1619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3471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제목 11">
            <a:extLst>
              <a:ext uri="{FF2B5EF4-FFF2-40B4-BE49-F238E27FC236}">
                <a16:creationId xmlns:a16="http://schemas.microsoft.com/office/drawing/2014/main" id="{A817A97D-6712-3F15-A1E2-EB406CD66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685756D-3B8A-D6B2-71AE-05D9DFD8E0C2}"/>
              </a:ext>
            </a:extLst>
          </p:cNvPr>
          <p:cNvGrpSpPr/>
          <p:nvPr/>
        </p:nvGrpSpPr>
        <p:grpSpPr>
          <a:xfrm>
            <a:off x="86239" y="1180026"/>
            <a:ext cx="11989961" cy="5283836"/>
            <a:chOff x="-340623" y="842539"/>
            <a:chExt cx="13923674" cy="6136001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F892A36-1563-ACE4-4D2E-2BE2FD6E6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340623" y="842539"/>
              <a:ext cx="7398128" cy="6136001"/>
            </a:xfrm>
            <a:prstGeom prst="rect">
              <a:avLst/>
            </a:prstGeom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34681F12-6C00-14EC-E614-0591F1AD517E}"/>
                </a:ext>
              </a:extLst>
            </p:cNvPr>
            <p:cNvGrpSpPr/>
            <p:nvPr/>
          </p:nvGrpSpPr>
          <p:grpSpPr>
            <a:xfrm>
              <a:off x="4713433" y="1172893"/>
              <a:ext cx="6224484" cy="1318851"/>
              <a:chOff x="1049345" y="556003"/>
              <a:chExt cx="5936922" cy="1233878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BD9E1CA-FDB1-8C5C-24EB-E3535B2E0031}"/>
                  </a:ext>
                </a:extLst>
              </p:cNvPr>
              <p:cNvSpPr txBox="1"/>
              <p:nvPr/>
            </p:nvSpPr>
            <p:spPr>
              <a:xfrm>
                <a:off x="1803823" y="556003"/>
                <a:ext cx="5182444" cy="91130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solidFill>
                      <a:srgbClr val="FF0000"/>
                    </a:solidFill>
                  </a:rPr>
                  <a:t>수많은 클래스는 객체를 생성하기 위한 틀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(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타입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이다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. </a:t>
                </a:r>
                <a:r>
                  <a:rPr lang="ko-KR" altLang="en-US" sz="1600" b="1" dirty="0">
                    <a:solidFill>
                      <a:srgbClr val="FF0000"/>
                    </a:solidFill>
                  </a:rPr>
                  <a:t>실제로 프로그램을 하기 위해서는 객체를 생성해야 하고 객체 간의 상호작용이 필요하다</a:t>
                </a:r>
                <a:r>
                  <a:rPr lang="en-US" altLang="ko-KR" sz="1600" b="1" dirty="0">
                    <a:solidFill>
                      <a:srgbClr val="FF0000"/>
                    </a:solidFill>
                  </a:rPr>
                  <a:t>.</a:t>
                </a:r>
              </a:p>
            </p:txBody>
          </p: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96A1A8E5-4E8E-9A93-3263-F85BC65860AE}"/>
                  </a:ext>
                </a:extLst>
              </p:cNvPr>
              <p:cNvCxnSpPr/>
              <p:nvPr/>
            </p:nvCxnSpPr>
            <p:spPr>
              <a:xfrm flipH="1">
                <a:off x="1049345" y="878581"/>
                <a:ext cx="754480" cy="911300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157CFB-3D23-00E4-0A91-07B15B7581F7}"/>
                </a:ext>
              </a:extLst>
            </p:cNvPr>
            <p:cNvSpPr txBox="1"/>
            <p:nvPr/>
          </p:nvSpPr>
          <p:spPr>
            <a:xfrm>
              <a:off x="-13939" y="982774"/>
              <a:ext cx="2588857" cy="79434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ko-KR" altLang="en-US" sz="1600" b="1" dirty="0">
                  <a:solidFill>
                    <a:srgbClr val="FF0000"/>
                  </a:solidFill>
                </a:rPr>
                <a:t>사용자가 코딩하는 부분을 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prog.py</a:t>
              </a:r>
              <a:r>
                <a:rPr lang="ko-KR" altLang="en-US" sz="1600" b="1" dirty="0">
                  <a:solidFill>
                    <a:srgbClr val="FF0000"/>
                  </a:solidFill>
                </a:rPr>
                <a:t>라 하자</a:t>
              </a:r>
              <a:r>
                <a:rPr lang="en-US" altLang="ko-KR" sz="1600" b="1" dirty="0">
                  <a:solidFill>
                    <a:srgbClr val="FF0000"/>
                  </a:solidFill>
                </a:rPr>
                <a:t>.</a:t>
              </a: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FA31B56-32B5-DCEB-541F-6645254D9B6A}"/>
                </a:ext>
              </a:extLst>
            </p:cNvPr>
            <p:cNvCxnSpPr/>
            <p:nvPr/>
          </p:nvCxnSpPr>
          <p:spPr>
            <a:xfrm flipH="1" flipV="1">
              <a:off x="4324765" y="1454135"/>
              <a:ext cx="1179690" cy="8949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009A98F2-1AF0-84F3-0F1B-2F62E2954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4173" y="2511997"/>
              <a:ext cx="6628878" cy="21047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6799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986" y="2045350"/>
            <a:ext cx="8609216" cy="409851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type()</a:t>
            </a:r>
            <a:r>
              <a:rPr lang="ko-KR" altLang="en-US" dirty="0"/>
              <a:t>은 객체의 </a:t>
            </a:r>
            <a:r>
              <a:rPr lang="ko-KR" altLang="en-US" dirty="0" err="1"/>
              <a:t>자료형을</a:t>
            </a:r>
            <a:r>
              <a:rPr lang="ko-KR" altLang="en-US" dirty="0"/>
              <a:t> 알려주는 함수</a:t>
            </a:r>
          </a:p>
          <a:p>
            <a:r>
              <a:rPr lang="ko-KR" altLang="en-US" dirty="0"/>
              <a:t>객체들은 생성될 때 서로 다른 고유의 아이디</a:t>
            </a:r>
            <a:r>
              <a:rPr lang="en-US" altLang="ko-KR" dirty="0"/>
              <a:t>(id)</a:t>
            </a:r>
            <a:r>
              <a:rPr lang="ko-KR" altLang="en-US" dirty="0"/>
              <a:t> 값을 가짐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1C358BE-7B06-1946-FE73-65565617F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</p:spTree>
    <p:extLst>
      <p:ext uri="{BB962C8B-B14F-4D97-AF65-F5344CB8AC3E}">
        <p14:creationId xmlns:p14="http://schemas.microsoft.com/office/powerpoint/2010/main" val="2200602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정수형의 </a:t>
            </a:r>
            <a:r>
              <a:rPr lang="en-US" altLang="ko-KR" dirty="0"/>
              <a:t>type</a:t>
            </a:r>
            <a:r>
              <a:rPr lang="ko-KR" altLang="en-US" dirty="0"/>
              <a:t>과 </a:t>
            </a:r>
            <a:r>
              <a:rPr lang="en-US" altLang="ko-KR" dirty="0"/>
              <a:t>id </a:t>
            </a:r>
            <a:r>
              <a:rPr lang="ko-KR" altLang="en-US" dirty="0"/>
              <a:t>그리고 </a:t>
            </a:r>
            <a:r>
              <a:rPr lang="ko-KR" altLang="en-US" dirty="0" err="1"/>
              <a:t>메소드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B549199-D286-1664-FB87-08669F98A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F1D6285-36B4-E5AA-D386-3917C0AF91F4}"/>
              </a:ext>
            </a:extLst>
          </p:cNvPr>
          <p:cNvGrpSpPr/>
          <p:nvPr/>
        </p:nvGrpSpPr>
        <p:grpSpPr>
          <a:xfrm>
            <a:off x="1109986" y="1723617"/>
            <a:ext cx="10382767" cy="4322619"/>
            <a:chOff x="806670" y="1471352"/>
            <a:chExt cx="10382767" cy="4322619"/>
          </a:xfrm>
        </p:grpSpPr>
        <p:grpSp>
          <p:nvGrpSpPr>
            <p:cNvPr id="10" name="그룹 9"/>
            <p:cNvGrpSpPr/>
            <p:nvPr/>
          </p:nvGrpSpPr>
          <p:grpSpPr>
            <a:xfrm>
              <a:off x="806670" y="1471352"/>
              <a:ext cx="7090422" cy="4322619"/>
              <a:chOff x="1245214" y="-1779607"/>
              <a:chExt cx="10515601" cy="6337051"/>
            </a:xfrm>
          </p:grpSpPr>
          <p:pic>
            <p:nvPicPr>
              <p:cNvPr id="5" name="그림 4"/>
              <p:cNvPicPr>
                <a:picLocks noChangeAspect="1"/>
              </p:cNvPicPr>
              <p:nvPr/>
            </p:nvPicPr>
            <p:blipFill rotWithShape="1">
              <a:blip r:embed="rId2"/>
              <a:srcRect l="644" r="961"/>
              <a:stretch/>
            </p:blipFill>
            <p:spPr>
              <a:xfrm>
                <a:off x="1245214" y="-1779607"/>
                <a:ext cx="10515601" cy="1981200"/>
              </a:xfrm>
              <a:prstGeom prst="rect">
                <a:avLst/>
              </a:prstGeom>
            </p:spPr>
          </p:pic>
          <p:pic>
            <p:nvPicPr>
              <p:cNvPr id="9" name="그림 8"/>
              <p:cNvPicPr>
                <a:picLocks noChangeAspect="1"/>
              </p:cNvPicPr>
              <p:nvPr/>
            </p:nvPicPr>
            <p:blipFill rotWithShape="1">
              <a:blip r:embed="rId3"/>
              <a:srcRect l="687" t="2147" r="907"/>
              <a:stretch/>
            </p:blipFill>
            <p:spPr>
              <a:xfrm>
                <a:off x="1245214" y="-50543"/>
                <a:ext cx="10515600" cy="4607987"/>
              </a:xfrm>
              <a:prstGeom prst="rect">
                <a:avLst/>
              </a:prstGeom>
            </p:spPr>
          </p:pic>
        </p:grpSp>
        <p:grpSp>
          <p:nvGrpSpPr>
            <p:cNvPr id="4" name="그룹 3"/>
            <p:cNvGrpSpPr/>
            <p:nvPr/>
          </p:nvGrpSpPr>
          <p:grpSpPr>
            <a:xfrm>
              <a:off x="5277869" y="2345737"/>
              <a:ext cx="5911568" cy="1072408"/>
              <a:chOff x="1151737" y="-28521"/>
              <a:chExt cx="5638461" cy="1003313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1884267" y="-28521"/>
                <a:ext cx="4905931" cy="77745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객체지향 언어인 </a:t>
                </a:r>
                <a:r>
                  <a:rPr lang="ko-KR" altLang="en-US" sz="1600" b="1" dirty="0" err="1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파이썬에서</a:t>
                </a:r>
                <a:r>
                  <a:rPr lang="ko-KR" altLang="en-US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 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n + 100</a:t>
                </a:r>
                <a:r>
                  <a:rPr lang="ko-KR" altLang="en-US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과 같은 연산은 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n</a:t>
                </a:r>
                <a:r>
                  <a:rPr lang="ko-KR" altLang="en-US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이라는 객체의 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__add__(100) </a:t>
                </a:r>
                <a:r>
                  <a:rPr lang="ko-KR" altLang="en-US" sz="1600" b="1" dirty="0" err="1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메소드</a:t>
                </a:r>
                <a:r>
                  <a:rPr lang="ko-KR" altLang="en-US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 호출과 내부적으로는 동일하게 동작함</a:t>
                </a:r>
                <a:endParaRPr lang="en-US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  <p:cxnSp>
            <p:nvCxnSpPr>
              <p:cNvPr id="7" name="직선 화살표 연결선 6"/>
              <p:cNvCxnSpPr>
                <a:cxnSpLocks/>
                <a:stCxn id="6" idx="1"/>
              </p:cNvCxnSpPr>
              <p:nvPr/>
            </p:nvCxnSpPr>
            <p:spPr>
              <a:xfrm flipH="1">
                <a:off x="1151737" y="360207"/>
                <a:ext cx="732530" cy="61458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47086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150" y="3119435"/>
            <a:ext cx="8263780" cy="277686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/>
              <a:t>int </a:t>
            </a:r>
            <a:r>
              <a:rPr lang="ko-KR" altLang="en-US"/>
              <a:t>클래스의 메소드</a:t>
            </a:r>
            <a:endParaRPr lang="en-US" altLang="ko-KR"/>
          </a:p>
          <a:p>
            <a:pPr lvl="1"/>
            <a:r>
              <a:rPr lang="en-US" altLang="ko-KR"/>
              <a:t>__add__()</a:t>
            </a:r>
          </a:p>
          <a:p>
            <a:pPr lvl="1"/>
            <a:r>
              <a:rPr lang="en-US" altLang="ko-KR"/>
              <a:t>__sub__()</a:t>
            </a:r>
          </a:p>
          <a:p>
            <a:pPr lvl="1"/>
            <a:r>
              <a:rPr lang="en-US" altLang="ko-KR"/>
              <a:t>__</a:t>
            </a:r>
            <a:r>
              <a:rPr lang="en-US" altLang="ko-KR" smtClean="0"/>
              <a:t>mul__()</a:t>
            </a:r>
            <a:endParaRPr lang="en-US" altLang="ko-KR"/>
          </a:p>
          <a:p>
            <a:pPr lvl="1"/>
            <a:r>
              <a:rPr lang="en-US" altLang="ko-KR"/>
              <a:t>__truediv__()</a:t>
            </a:r>
          </a:p>
          <a:p>
            <a:pPr lvl="1"/>
            <a:r>
              <a:rPr lang="en-US" altLang="ko-KR"/>
              <a:t>__mod__()</a:t>
            </a:r>
          </a:p>
          <a:p>
            <a:pPr lvl="1"/>
            <a:r>
              <a:rPr lang="en-US" altLang="ko-KR"/>
              <a:t>__pow__()</a:t>
            </a:r>
          </a:p>
          <a:p>
            <a:pPr lvl="1"/>
            <a:r>
              <a:rPr lang="en-US" altLang="ko-KR"/>
              <a:t>__lshift__()</a:t>
            </a:r>
          </a:p>
          <a:p>
            <a:pPr lvl="1"/>
            <a:r>
              <a:rPr lang="en-US" altLang="ko-KR"/>
              <a:t>__rshift__(), ...</a:t>
            </a:r>
            <a:endParaRPr lang="ko-KR" altLang="en-US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27224DC-1E1E-E276-099B-1B836643A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3611478" y="1400066"/>
            <a:ext cx="6617252" cy="1152283"/>
            <a:chOff x="-437668" y="-913264"/>
            <a:chExt cx="6311545" cy="1078042"/>
          </a:xfrm>
        </p:grpSpPr>
        <p:sp>
          <p:nvSpPr>
            <p:cNvPr id="6" name="TextBox 5"/>
            <p:cNvSpPr txBox="1"/>
            <p:nvPr/>
          </p:nvSpPr>
          <p:spPr>
            <a:xfrm>
              <a:off x="1127142" y="-843035"/>
              <a:ext cx="4746735" cy="100781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ko-KR" altLang="en-US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이러한 다양한 메소드들을 통해서 산술연산</a:t>
              </a:r>
              <a:r>
                <a:rPr lang="en-US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(</a:t>
              </a:r>
              <a:r>
                <a:rPr lang="ko-KR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+, </a:t>
              </a:r>
              <a:r>
                <a:rPr lang="en-US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-,</a:t>
              </a:r>
              <a:r>
                <a:rPr lang="ko-KR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  *, @, /, //, %, **, &lt;&lt;, &gt;&gt;, &amp;, ^, |) </a:t>
              </a:r>
              <a:r>
                <a:rPr lang="ko-KR" altLang="en-US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을 수행한다</a:t>
              </a:r>
              <a:r>
                <a:rPr lang="en-US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 </a:t>
              </a:r>
              <a:r>
                <a:rPr lang="ko-KR" altLang="en-US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책 </a:t>
              </a:r>
              <a:r>
                <a:rPr lang="en-US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2</a:t>
              </a:r>
              <a:r>
                <a:rPr lang="ko-KR" altLang="en-US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장의 다양한 연산자는 내부적으로 이 메소드의 호출로 동작한다</a:t>
              </a:r>
              <a:r>
                <a:rPr lang="en-US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.</a:t>
              </a:r>
              <a:endParaRPr lang="ko-KR" altLang="ko-KR" sz="1600" b="1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cxnSp>
          <p:nvCxnSpPr>
            <p:cNvPr id="7" name="직선 화살표 연결선 6"/>
            <p:cNvCxnSpPr>
              <a:cxnSpLocks/>
              <a:stCxn id="6" idx="1"/>
            </p:cNvCxnSpPr>
            <p:nvPr/>
          </p:nvCxnSpPr>
          <p:spPr>
            <a:xfrm flipH="1" flipV="1">
              <a:off x="-437668" y="-913264"/>
              <a:ext cx="1564810" cy="5741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6084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DA29870-BDE8-60F3-56C8-45C0B751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  <p:pic>
        <p:nvPicPr>
          <p:cNvPr id="8" name="내용 개체 틀 4"/>
          <p:cNvPicPr>
            <a:picLocks noGrp="1" noChangeAspect="1"/>
          </p:cNvPicPr>
          <p:nvPr>
            <p:ph idx="14"/>
          </p:nvPr>
        </p:nvPicPr>
        <p:blipFill rotWithShape="1">
          <a:blip r:embed="rId2"/>
          <a:srcRect b="42382"/>
          <a:stretch/>
        </p:blipFill>
        <p:spPr>
          <a:xfrm>
            <a:off x="2545556" y="1414457"/>
            <a:ext cx="7058025" cy="434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8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DA29870-BDE8-60F3-56C8-45C0B751F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 </a:t>
            </a:r>
            <a:r>
              <a:rPr lang="ko-KR" altLang="en-US" dirty="0"/>
              <a:t>객체 지향 프로그래밍과 객체</a:t>
            </a:r>
          </a:p>
        </p:txBody>
      </p:sp>
      <p:pic>
        <p:nvPicPr>
          <p:cNvPr id="6" name="내용 개체 틀 4"/>
          <p:cNvPicPr>
            <a:picLocks noGrp="1" noChangeAspect="1"/>
          </p:cNvPicPr>
          <p:nvPr>
            <p:ph idx="14"/>
          </p:nvPr>
        </p:nvPicPr>
        <p:blipFill rotWithShape="1">
          <a:blip r:embed="rId2"/>
          <a:srcRect t="57071"/>
          <a:stretch/>
        </p:blipFill>
        <p:spPr>
          <a:xfrm>
            <a:off x="1205487" y="1322125"/>
            <a:ext cx="9007012" cy="413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41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>
            <a:spLocks noGrp="1"/>
          </p:cNvSpPr>
          <p:nvPr>
            <p:ph idx="14"/>
          </p:nvPr>
        </p:nvSpPr>
        <p:spPr/>
        <p:txBody>
          <a:bodyPr>
            <a:noAutofit/>
          </a:bodyPr>
          <a:lstStyle/>
          <a:p>
            <a:pPr fontAlgn="base"/>
            <a:r>
              <a:rPr lang="ko-KR" altLang="en-US" sz="2400" dirty="0"/>
              <a:t>객체 지향 프로그래밍</a:t>
            </a:r>
            <a:r>
              <a:rPr lang="en-US" altLang="ko-KR" sz="2400" b="1" baseline="30000" dirty="0" err="1">
                <a:solidFill>
                  <a:schemeClr val="accent5"/>
                </a:solidFill>
              </a:rPr>
              <a:t>OOP:object</a:t>
            </a:r>
            <a:r>
              <a:rPr lang="en-US" altLang="ko-KR" sz="2400" b="1" baseline="30000" dirty="0">
                <a:solidFill>
                  <a:schemeClr val="accent5"/>
                </a:solidFill>
              </a:rPr>
              <a:t> oriented programming</a:t>
            </a:r>
          </a:p>
          <a:p>
            <a:pPr lvl="1" fontAlgn="base"/>
            <a:r>
              <a:rPr lang="ko-KR" altLang="en-US" sz="2000" dirty="0"/>
              <a:t>프로그램을 짤 때</a:t>
            </a:r>
            <a:r>
              <a:rPr lang="en-US" altLang="ko-KR" sz="2000" dirty="0"/>
              <a:t>, </a:t>
            </a:r>
            <a:r>
              <a:rPr lang="ko-KR" altLang="en-US" sz="2000" dirty="0"/>
              <a:t>프로그램을 실제 세상에 가깝게 모델링하는 기법</a:t>
            </a:r>
            <a:endParaRPr lang="en-US" altLang="ko-KR" sz="2000" dirty="0"/>
          </a:p>
          <a:p>
            <a:pPr lvl="1" fontAlgn="base"/>
            <a:r>
              <a:rPr lang="ko-KR" altLang="en-US" sz="2000" dirty="0"/>
              <a:t>컴퓨터가 수행하는 작업을 </a:t>
            </a:r>
            <a:r>
              <a:rPr lang="ko-KR" altLang="en-US" sz="2000" dirty="0">
                <a:solidFill>
                  <a:srgbClr val="FF0000"/>
                </a:solidFill>
              </a:rPr>
              <a:t>객체 사이의 상호작용</a:t>
            </a:r>
            <a:r>
              <a:rPr lang="ko-KR" altLang="en-US" sz="2000" dirty="0"/>
              <a:t>으로 표현</a:t>
            </a:r>
            <a:endParaRPr lang="en-US" altLang="ko-KR" sz="2000" dirty="0"/>
          </a:p>
          <a:p>
            <a:pPr lvl="1" fontAlgn="base"/>
            <a:r>
              <a:rPr lang="ko-KR" altLang="en-US" sz="2000" dirty="0"/>
              <a:t>클래스</a:t>
            </a:r>
            <a:r>
              <a:rPr lang="en-US" altLang="ko-KR" sz="2000" b="1" baseline="30000" dirty="0">
                <a:solidFill>
                  <a:schemeClr val="accent5"/>
                </a:solidFill>
              </a:rPr>
              <a:t>class</a:t>
            </a:r>
            <a:r>
              <a:rPr lang="ko-KR" altLang="en-US" sz="2000" dirty="0"/>
              <a:t>나 객체</a:t>
            </a:r>
            <a:r>
              <a:rPr lang="en-US" altLang="ko-KR" sz="2000" b="1" baseline="30000" dirty="0">
                <a:solidFill>
                  <a:schemeClr val="accent5"/>
                </a:solidFill>
              </a:rPr>
              <a:t>object</a:t>
            </a:r>
            <a:r>
              <a:rPr lang="en-US" altLang="ko-KR" sz="2000" b="1" dirty="0">
                <a:solidFill>
                  <a:schemeClr val="accent5"/>
                </a:solidFill>
              </a:rPr>
              <a:t> </a:t>
            </a:r>
            <a:r>
              <a:rPr lang="ko-KR" altLang="en-US" sz="2000" dirty="0"/>
              <a:t>들의 집합으로 소프트웨어를 개발하자는 개념</a:t>
            </a:r>
            <a:endParaRPr lang="en-US" altLang="ko-KR" sz="2000" dirty="0"/>
          </a:p>
          <a:p>
            <a:pPr lvl="1" fontAlgn="base"/>
            <a:r>
              <a:rPr lang="en-US" altLang="ko-KR" sz="2000" dirty="0"/>
              <a:t>Java, Python, C++, C#, Swift </a:t>
            </a:r>
            <a:r>
              <a:rPr lang="ko-KR" altLang="en-US" sz="2000" dirty="0"/>
              <a:t>등 현재 사용 중인 많은 프로그래밍 언어에서 채택</a:t>
            </a:r>
            <a:endParaRPr lang="en-US" altLang="ko-KR" sz="2000" dirty="0"/>
          </a:p>
          <a:p>
            <a:pPr lvl="1" fontAlgn="base"/>
            <a:endParaRPr lang="en-US" altLang="ko-KR" sz="600" dirty="0"/>
          </a:p>
          <a:p>
            <a:pPr fontAlgn="base"/>
            <a:r>
              <a:rPr lang="ko-KR" altLang="en-US" sz="2400" dirty="0"/>
              <a:t>절차적 프로그래밍 언어</a:t>
            </a:r>
            <a:r>
              <a:rPr lang="en-US" altLang="ko-KR" sz="2400" b="1" baseline="30000" dirty="0">
                <a:solidFill>
                  <a:schemeClr val="accent5"/>
                </a:solidFill>
              </a:rPr>
              <a:t>procedural programming language</a:t>
            </a:r>
          </a:p>
          <a:p>
            <a:pPr lvl="1" fontAlgn="base"/>
            <a:r>
              <a:rPr lang="ko-KR" altLang="en-US" sz="2000" dirty="0"/>
              <a:t>함수나 모듈을 만들어두고 이것들을 문제해결 순서에 맞게 호출하여 수행하는 방식</a:t>
            </a:r>
            <a:endParaRPr lang="en-US" altLang="ko-KR" sz="2000" dirty="0"/>
          </a:p>
          <a:p>
            <a:pPr lvl="1" fontAlgn="base"/>
            <a:r>
              <a:rPr lang="en-US" altLang="ko-KR" sz="2000" dirty="0"/>
              <a:t>C, Fortran, </a:t>
            </a:r>
            <a:r>
              <a:rPr lang="en-US" altLang="ko-KR" sz="2000" dirty="0" smtClean="0"/>
              <a:t>Basic </a:t>
            </a:r>
            <a:r>
              <a:rPr lang="ko-KR" altLang="en-US" sz="2000" dirty="0" smtClean="0"/>
              <a:t>등의 </a:t>
            </a:r>
            <a:r>
              <a:rPr lang="ko-KR" altLang="en-US" sz="2000" dirty="0"/>
              <a:t>고전적인 프로그래밍 언어에서 사용함</a:t>
            </a:r>
            <a:endParaRPr lang="en-US" altLang="ko-KR" sz="2000" dirty="0"/>
          </a:p>
          <a:p>
            <a:pPr lvl="1" fontAlgn="base"/>
            <a:r>
              <a:rPr lang="ko-KR" altLang="en-US" sz="2000" dirty="0"/>
              <a:t>그래픽 사용자 인터페이스</a:t>
            </a:r>
            <a:r>
              <a:rPr lang="en-US" altLang="ko-KR" sz="2000" b="1" baseline="30000" dirty="0">
                <a:solidFill>
                  <a:schemeClr val="accent5"/>
                </a:solidFill>
              </a:rPr>
              <a:t>graphic user interface</a:t>
            </a:r>
            <a:r>
              <a:rPr lang="ko-KR" altLang="en-US" sz="2000" b="1" baseline="30000" dirty="0">
                <a:solidFill>
                  <a:schemeClr val="accent5"/>
                </a:solidFill>
              </a:rPr>
              <a:t> </a:t>
            </a:r>
            <a:r>
              <a:rPr lang="ko-KR" altLang="en-US" sz="2000" dirty="0"/>
              <a:t>시스템과 같이 다양한 그래픽 요소들이 있을 경우 효과적으로 문제해결을 하기 힘들다</a:t>
            </a:r>
            <a:r>
              <a:rPr lang="en-US" altLang="ko-KR" sz="2000" dirty="0"/>
              <a:t>.</a:t>
            </a:r>
            <a:endParaRPr lang="ko-KR" altLang="en-US" sz="2000" dirty="0"/>
          </a:p>
          <a:p>
            <a:pPr lvl="1" fontAlgn="base"/>
            <a:endParaRPr lang="ko-KR" altLang="en-US" sz="2000" dirty="0"/>
          </a:p>
          <a:p>
            <a:pPr marL="0" indent="0" fontAlgn="base">
              <a:buNone/>
            </a:pPr>
            <a:endParaRPr lang="en-US" altLang="ko-KR" sz="600" dirty="0"/>
          </a:p>
          <a:p>
            <a:pPr lvl="1" fontAlgn="base"/>
            <a:endParaRPr lang="en-US" altLang="ko-KR" sz="600" dirty="0"/>
          </a:p>
          <a:p>
            <a:pPr lvl="1" fontAlgn="base"/>
            <a:endParaRPr lang="ko-KR" altLang="en-US" sz="2000" dirty="0"/>
          </a:p>
          <a:p>
            <a:pPr lvl="1" fontAlgn="base"/>
            <a:endParaRPr lang="en-US" altLang="ko-KR" sz="2000" dirty="0"/>
          </a:p>
          <a:p>
            <a:pPr lvl="1" fontAlgn="base"/>
            <a:endParaRPr lang="en-US" altLang="ko-KR" sz="2000" dirty="0"/>
          </a:p>
          <a:p>
            <a:pPr lvl="1" fontAlgn="base"/>
            <a:endParaRPr lang="en-US" altLang="ko-KR" sz="2000" dirty="0"/>
          </a:p>
          <a:p>
            <a:pPr lvl="1"/>
            <a:endParaRPr lang="ko-KR" altLang="en-US" sz="2000" dirty="0"/>
          </a:p>
        </p:txBody>
      </p:sp>
      <p:sp>
        <p:nvSpPr>
          <p:cNvPr id="3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10.2 </a:t>
            </a:r>
            <a:r>
              <a:rPr lang="ko-KR" altLang="en-US" dirty="0"/>
              <a:t>객체 지향 프로그래밍과 절차적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2435076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10.2 </a:t>
            </a:r>
            <a:r>
              <a:rPr lang="ko-KR" altLang="en-US" dirty="0"/>
              <a:t>객체 지향 프로그래밍과 절차적 프로그래밍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398AEA4-BA91-F02C-1CCB-7340A3A413AB}"/>
              </a:ext>
            </a:extLst>
          </p:cNvPr>
          <p:cNvGrpSpPr/>
          <p:nvPr/>
        </p:nvGrpSpPr>
        <p:grpSpPr>
          <a:xfrm>
            <a:off x="217031" y="908720"/>
            <a:ext cx="10864983" cy="5014746"/>
            <a:chOff x="-82421" y="87436"/>
            <a:chExt cx="13082690" cy="6038333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C7E5AE99-9EB8-40E3-DB41-CB17D4373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5326" y="1665147"/>
              <a:ext cx="6804943" cy="444043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E4A8671-5949-AA69-D876-0E3667199E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82421" y="1147158"/>
              <a:ext cx="5801578" cy="4978611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1218EBB3-0189-108C-738D-4CFA034CE31A}"/>
                </a:ext>
              </a:extLst>
            </p:cNvPr>
            <p:cNvGrpSpPr/>
            <p:nvPr/>
          </p:nvGrpSpPr>
          <p:grpSpPr>
            <a:xfrm>
              <a:off x="2965858" y="87436"/>
              <a:ext cx="5920989" cy="1059721"/>
              <a:chOff x="-257185" y="-1278586"/>
              <a:chExt cx="5647448" cy="991443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C0C7FE-860B-EB12-B0F2-B02D46AF7BE8}"/>
                  </a:ext>
                </a:extLst>
              </p:cNvPr>
              <p:cNvSpPr txBox="1"/>
              <p:nvPr/>
            </p:nvSpPr>
            <p:spPr>
              <a:xfrm>
                <a:off x="474475" y="-1278586"/>
                <a:ext cx="4915788" cy="93614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lvl="0"/>
                <a:r>
                  <a:rPr lang="ko-KR" altLang="en-US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아래의 다양한 구성요소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(</a:t>
                </a:r>
                <a:r>
                  <a:rPr lang="ko-KR" altLang="en-US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객체</a:t>
                </a:r>
                <a:r>
                  <a:rPr lang="en-US" altLang="ko-KR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)</a:t>
                </a:r>
                <a:r>
                  <a:rPr lang="ko-KR" altLang="en-US" sz="1600" b="1" dirty="0">
                    <a:solidFill>
                      <a:srgbClr val="FF0000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들이 상호작용하도록 하자는 것이 객체지향 프로그래밍의 핵심</a:t>
                </a:r>
                <a:endParaRPr lang="ko-KR" altLang="ko-KR" sz="1600" b="1" dirty="0">
                  <a:solidFill>
                    <a:srgbClr val="FF0000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  <p:cxnSp>
            <p:nvCxnSpPr>
              <p:cNvPr id="13" name="직선 화살표 연결선 12">
                <a:extLst>
                  <a:ext uri="{FF2B5EF4-FFF2-40B4-BE49-F238E27FC236}">
                    <a16:creationId xmlns:a16="http://schemas.microsoft.com/office/drawing/2014/main" id="{EF3B30C4-DACA-BA31-D444-A910DB5F1009}"/>
                  </a:ext>
                </a:extLst>
              </p:cNvPr>
              <p:cNvCxnSpPr>
                <a:cxnSpLocks/>
                <a:stCxn id="12" idx="1"/>
              </p:cNvCxnSpPr>
              <p:nvPr/>
            </p:nvCxnSpPr>
            <p:spPr>
              <a:xfrm flipH="1">
                <a:off x="-257185" y="-810512"/>
                <a:ext cx="731660" cy="523369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EDFB8179-4AC2-7F31-2377-34B5EFB80B56}"/>
                </a:ext>
              </a:extLst>
            </p:cNvPr>
            <p:cNvCxnSpPr/>
            <p:nvPr/>
          </p:nvCxnSpPr>
          <p:spPr>
            <a:xfrm>
              <a:off x="8886847" y="566680"/>
              <a:ext cx="708997" cy="105430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A3E9EB-3D98-8359-833D-40CD31E7990A}"/>
                </a:ext>
              </a:extLst>
            </p:cNvPr>
            <p:cNvSpPr txBox="1"/>
            <p:nvPr/>
          </p:nvSpPr>
          <p:spPr>
            <a:xfrm>
              <a:off x="10346635" y="367748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kumimoji="1" lang="ko-Kore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167955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절차적 프로그래밍 방식</a:t>
            </a:r>
            <a:r>
              <a:rPr lang="en-US" altLang="ko-KR" sz="2400" b="1" baseline="30000" dirty="0">
                <a:solidFill>
                  <a:schemeClr val="accent5"/>
                </a:solidFill>
              </a:rPr>
              <a:t>procedural programming</a:t>
            </a:r>
          </a:p>
          <a:p>
            <a:pPr lvl="1"/>
            <a:r>
              <a:rPr lang="ko-KR" altLang="en-US" sz="2000" dirty="0"/>
              <a:t>데이터들이 많아지고 함수가 많아진다면 매우 많은 화살표와 함수 호출이 필요</a:t>
            </a:r>
            <a:endParaRPr lang="en-US" altLang="ko-KR" sz="2000" dirty="0"/>
          </a:p>
          <a:p>
            <a:pPr lvl="1"/>
            <a:r>
              <a:rPr lang="ko-KR" altLang="en-US" sz="2000" dirty="0"/>
              <a:t>대규모 프로젝트에서는 큰 어려움</a:t>
            </a:r>
          </a:p>
          <a:p>
            <a:r>
              <a:rPr lang="ko-KR" altLang="en-US" sz="2400" dirty="0"/>
              <a:t>객체 지향 프로그래밍</a:t>
            </a:r>
            <a:r>
              <a:rPr lang="en-US" altLang="ko-KR" sz="2400" b="1" baseline="30000" dirty="0">
                <a:solidFill>
                  <a:schemeClr val="accent5"/>
                </a:solidFill>
              </a:rPr>
              <a:t>OOP: Objected Oriented Programming</a:t>
            </a:r>
          </a:p>
          <a:p>
            <a:pPr lvl="1"/>
            <a:r>
              <a:rPr lang="ko-KR" altLang="en-US" sz="2000" dirty="0"/>
              <a:t>잘 설계된 클래스를 이용하여 객체를 생성</a:t>
            </a:r>
            <a:endParaRPr lang="en-US" altLang="ko-KR" sz="2000" dirty="0"/>
          </a:p>
          <a:p>
            <a:pPr lvl="1"/>
            <a:r>
              <a:rPr lang="ko-KR" altLang="en-US" sz="2000" dirty="0"/>
              <a:t>클래스는 속성과 행위를 가지도록 설계하고 이 클래스를 이용하여 실제로 상호작용하는 객체를 만들어서 프로그램에 적용시키는 방법을 사용</a:t>
            </a:r>
          </a:p>
          <a:p>
            <a:r>
              <a:rPr lang="ko-KR" altLang="en-US" sz="2400" dirty="0"/>
              <a:t>객체 지향 프로그래밍 방식이 개발이나 소프트웨어 업데이트시의 유지보수 비용이 매우 적게 들기 때문에 최근 프로그래밍 경향은 대부분 객체 지향 방식을 선호</a:t>
            </a:r>
          </a:p>
          <a:p>
            <a:endParaRPr lang="ko-KR" altLang="en-US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9C0A1C9-3638-239E-9A82-7B1437DE6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 </a:t>
            </a:r>
            <a:r>
              <a:rPr lang="ko-KR" altLang="en-US" dirty="0"/>
              <a:t>객체 지향 프로그래밍과 절차적 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2506422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AB1325F-3F2B-B71E-DC1F-B4A0530B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 </a:t>
            </a:r>
            <a:r>
              <a:rPr lang="ko-KR" altLang="en-US" dirty="0"/>
              <a:t>객체 지향 프로그래밍과 절차적 프로그래밍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526381" y="1635125"/>
            <a:ext cx="9096375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35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AB1325F-3F2B-B71E-DC1F-B4A0530B1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 </a:t>
            </a:r>
            <a:r>
              <a:rPr lang="ko-KR" altLang="en-US" dirty="0"/>
              <a:t>객체 지향 프로그래밍과 절차적 프로그래밍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4356D58-44C7-119F-D992-AD7980CA6F0A}"/>
              </a:ext>
            </a:extLst>
          </p:cNvPr>
          <p:cNvGrpSpPr/>
          <p:nvPr/>
        </p:nvGrpSpPr>
        <p:grpSpPr>
          <a:xfrm>
            <a:off x="2861794" y="1093304"/>
            <a:ext cx="7335754" cy="5081457"/>
            <a:chOff x="337255" y="342634"/>
            <a:chExt cx="8950338" cy="6199875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7255" y="342635"/>
              <a:ext cx="6774745" cy="6199874"/>
            </a:xfrm>
            <a:prstGeom prst="rect">
              <a:avLst/>
            </a:prstGeom>
          </p:spPr>
        </p:pic>
        <p:sp>
          <p:nvSpPr>
            <p:cNvPr id="8" name="설명선 1 2"/>
            <p:cNvSpPr/>
            <p:nvPr/>
          </p:nvSpPr>
          <p:spPr>
            <a:xfrm>
              <a:off x="5021041" y="342634"/>
              <a:ext cx="3393428" cy="787645"/>
            </a:xfrm>
            <a:prstGeom prst="borderCallout1">
              <a:avLst>
                <a:gd name="adj1" fmla="val 50374"/>
                <a:gd name="adj2" fmla="val -225"/>
                <a:gd name="adj3" fmla="val 137390"/>
                <a:gd name="adj4" fmla="val -86820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rgbClr val="FF0000"/>
                  </a:solidFill>
                </a:rPr>
                <a:t>문자열은</a:t>
              </a:r>
              <a:r>
                <a:rPr lang="en-US" altLang="ko-KR" sz="1600" dirty="0">
                  <a:solidFill>
                    <a:srgbClr val="FF0000"/>
                  </a:solidFill>
                </a:rPr>
                <a:t> upper()</a:t>
              </a:r>
              <a:r>
                <a:rPr lang="ko-KR" altLang="en-US" sz="1600" dirty="0">
                  <a:solidFill>
                    <a:srgbClr val="FF0000"/>
                  </a:solidFill>
                </a:rPr>
                <a:t>라는 메소드로 대문자 변환을 수행</a:t>
              </a:r>
            </a:p>
          </p:txBody>
        </p:sp>
        <p:sp>
          <p:nvSpPr>
            <p:cNvPr id="9" name="설명선 1 4"/>
            <p:cNvSpPr/>
            <p:nvPr/>
          </p:nvSpPr>
          <p:spPr>
            <a:xfrm>
              <a:off x="5763645" y="1253752"/>
              <a:ext cx="3523948" cy="787645"/>
            </a:xfrm>
            <a:prstGeom prst="borderCallout1">
              <a:avLst>
                <a:gd name="adj1" fmla="val 50374"/>
                <a:gd name="adj2" fmla="val -225"/>
                <a:gd name="adj3" fmla="val 58236"/>
                <a:gd name="adj4" fmla="val -8920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rgbClr val="FF0000"/>
                  </a:solidFill>
                </a:rPr>
                <a:t>리스트는 </a:t>
              </a:r>
              <a:r>
                <a:rPr lang="en-US" altLang="ko-KR" sz="1600" dirty="0">
                  <a:solidFill>
                    <a:srgbClr val="FF0000"/>
                  </a:solidFill>
                </a:rPr>
                <a:t>append()</a:t>
              </a:r>
              <a:r>
                <a:rPr lang="ko-KR" altLang="en-US" sz="1600" dirty="0">
                  <a:solidFill>
                    <a:srgbClr val="FF0000"/>
                  </a:solidFill>
                </a:rPr>
                <a:t>라는 메소드로 새 요소를 추가함</a:t>
              </a:r>
            </a:p>
          </p:txBody>
        </p:sp>
        <p:sp>
          <p:nvSpPr>
            <p:cNvPr id="10" name="설명선 1 5"/>
            <p:cNvSpPr/>
            <p:nvPr/>
          </p:nvSpPr>
          <p:spPr>
            <a:xfrm>
              <a:off x="5134649" y="3617336"/>
              <a:ext cx="3619368" cy="787645"/>
            </a:xfrm>
            <a:prstGeom prst="borderCallout1">
              <a:avLst>
                <a:gd name="adj1" fmla="val 50374"/>
                <a:gd name="adj2" fmla="val -225"/>
                <a:gd name="adj3" fmla="val 3903"/>
                <a:gd name="adj4" fmla="val -82465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solidFill>
                    <a:srgbClr val="FF0000"/>
                  </a:solidFill>
                </a:rPr>
                <a:t>수식 연산 역시 아래의 코드와 같이 메소드 호출로 동작함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5470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15EF19-BC1F-D545-EB9E-ED2B4A38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10.2 </a:t>
            </a:r>
            <a:r>
              <a:rPr lang="ko-KR" altLang="en-US" dirty="0"/>
              <a:t>객체 지향 프로그래밍과 절차적 프로그래밍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74019" y="1701800"/>
            <a:ext cx="88011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375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6" name="내용 개체 틀 2"/>
          <p:cNvSpPr>
            <a:spLocks noGrp="1"/>
          </p:cNvSpPr>
          <p:nvPr>
            <p:ph idx="14"/>
          </p:nvPr>
        </p:nvSpPr>
        <p:spPr>
          <a:xfrm>
            <a:off x="6480235" y="1128237"/>
            <a:ext cx="4601779" cy="4917999"/>
          </a:xfrm>
        </p:spPr>
        <p:txBody>
          <a:bodyPr>
            <a:normAutofit/>
          </a:bodyPr>
          <a:lstStyle/>
          <a:p>
            <a:pPr fontAlgn="base">
              <a:lnSpc>
                <a:spcPct val="90000"/>
              </a:lnSpc>
            </a:pPr>
            <a:r>
              <a:rPr lang="ko-KR" altLang="en-US" dirty="0"/>
              <a:t>객체</a:t>
            </a:r>
            <a:r>
              <a:rPr lang="en-US" altLang="ko-KR" b="1" baseline="30000" dirty="0">
                <a:solidFill>
                  <a:schemeClr val="accent5"/>
                </a:solidFill>
              </a:rPr>
              <a:t>object</a:t>
            </a:r>
          </a:p>
          <a:p>
            <a:pPr lvl="1" fontAlgn="base"/>
            <a:r>
              <a:rPr lang="ko-KR" altLang="en-US" dirty="0"/>
              <a:t>프로그램 상에서 사용되는 속성과 행위를 모아놓은 집합체</a:t>
            </a:r>
            <a:endParaRPr lang="en-US" altLang="ko-KR" dirty="0"/>
          </a:p>
          <a:p>
            <a:pPr marL="457200" lvl="1" indent="0" fontAlgn="base">
              <a:buNone/>
            </a:pPr>
            <a:endParaRPr lang="en-US" altLang="ko-KR" dirty="0"/>
          </a:p>
          <a:p>
            <a:pPr fontAlgn="base">
              <a:lnSpc>
                <a:spcPct val="90000"/>
              </a:lnSpc>
            </a:pPr>
            <a:r>
              <a:rPr lang="ko-KR" altLang="en-US" dirty="0"/>
              <a:t>클래스</a:t>
            </a:r>
            <a:r>
              <a:rPr lang="en-US" altLang="ko-KR" b="1" baseline="30000" dirty="0">
                <a:solidFill>
                  <a:schemeClr val="accent5"/>
                </a:solidFill>
              </a:rPr>
              <a:t>class</a:t>
            </a:r>
          </a:p>
          <a:p>
            <a:pPr lvl="1" fontAlgn="base"/>
            <a:r>
              <a:rPr lang="ko-KR" altLang="en-US" dirty="0"/>
              <a:t>객체의 설계도 혹은 템플릿</a:t>
            </a:r>
            <a:r>
              <a:rPr lang="en-US" altLang="ko-KR" dirty="0"/>
              <a:t>(</a:t>
            </a:r>
            <a:r>
              <a:rPr lang="ko-KR" altLang="en-US" dirty="0"/>
              <a:t>형틀</a:t>
            </a:r>
            <a:r>
              <a:rPr lang="en-US" altLang="ko-KR" b="1" baseline="30000" dirty="0">
                <a:solidFill>
                  <a:schemeClr val="accent5"/>
                </a:solidFill>
              </a:rPr>
              <a:t>template</a:t>
            </a:r>
            <a:r>
              <a:rPr lang="en-US" altLang="ko-KR" dirty="0"/>
              <a:t>), </a:t>
            </a:r>
            <a:r>
              <a:rPr lang="ko-KR" altLang="en-US" dirty="0"/>
              <a:t>청사진</a:t>
            </a:r>
            <a:r>
              <a:rPr lang="en-US" altLang="ko-KR" b="1" baseline="30000" dirty="0">
                <a:solidFill>
                  <a:schemeClr val="accent5"/>
                </a:solidFill>
              </a:rPr>
              <a:t>blueprint</a:t>
            </a:r>
          </a:p>
          <a:p>
            <a:pPr lvl="1" fontAlgn="base"/>
            <a:endParaRPr lang="en-US" altLang="ko-KR" sz="1700" b="1" dirty="0">
              <a:solidFill>
                <a:schemeClr val="accent5"/>
              </a:solidFill>
            </a:endParaRPr>
          </a:p>
          <a:p>
            <a:pPr fontAlgn="base">
              <a:lnSpc>
                <a:spcPct val="90000"/>
              </a:lnSpc>
            </a:pPr>
            <a:r>
              <a:rPr lang="ko-KR" altLang="en-US" dirty="0"/>
              <a:t>인스턴스</a:t>
            </a:r>
            <a:r>
              <a:rPr lang="en-US" altLang="ko-KR" b="1" baseline="30000" dirty="0">
                <a:solidFill>
                  <a:schemeClr val="accent5"/>
                </a:solidFill>
              </a:rPr>
              <a:t>instance</a:t>
            </a:r>
          </a:p>
          <a:p>
            <a:pPr lvl="1" fontAlgn="base"/>
            <a:r>
              <a:rPr lang="ko-KR" altLang="en-US" dirty="0"/>
              <a:t>클래스로부터 만들어지는 각각의 개별적인 객체</a:t>
            </a:r>
            <a:endParaRPr lang="en-US" altLang="ko-KR" dirty="0"/>
          </a:p>
          <a:p>
            <a:pPr lvl="1" fontAlgn="base"/>
            <a:r>
              <a:rPr lang="ko-KR" altLang="en-US" dirty="0"/>
              <a:t>서로 다른 인스턴스는 서로 다른 속성 값을 가질 수 있음</a:t>
            </a:r>
          </a:p>
        </p:txBody>
      </p:sp>
      <p:sp>
        <p:nvSpPr>
          <p:cNvPr id="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10.3 </a:t>
            </a:r>
            <a:r>
              <a:rPr lang="ko-KR" altLang="en-US" dirty="0"/>
              <a:t>클래스와 객체</a:t>
            </a:r>
            <a:r>
              <a:rPr lang="en-US" altLang="ko-KR" dirty="0"/>
              <a:t>, </a:t>
            </a:r>
            <a:r>
              <a:rPr lang="ko-KR" altLang="en-US" dirty="0"/>
              <a:t>인스턴스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88571" y="1717975"/>
            <a:ext cx="6140321" cy="3926732"/>
            <a:chOff x="899592" y="1341377"/>
            <a:chExt cx="6140321" cy="3926732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9592" y="2374595"/>
              <a:ext cx="2266950" cy="2133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9333" y="1341377"/>
              <a:ext cx="1296144" cy="17190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9333" y="3251442"/>
              <a:ext cx="1452360" cy="1831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1169864" y="4437112"/>
              <a:ext cx="161294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dirty="0"/>
                <a:t>추상적인 개념 </a:t>
              </a:r>
              <a:endParaRPr lang="en-US" altLang="ko-KR" sz="1600" dirty="0"/>
            </a:p>
            <a:p>
              <a:pPr algn="ctr"/>
              <a:r>
                <a:rPr lang="ko-KR" altLang="en-US" sz="1600" dirty="0"/>
                <a:t>고양이</a:t>
              </a:r>
              <a:endParaRPr lang="en-US" altLang="ko-KR" sz="1600" dirty="0"/>
            </a:p>
            <a:p>
              <a:pPr algn="ctr"/>
              <a:r>
                <a:rPr lang="en-US" altLang="ko-KR" sz="1600" dirty="0"/>
                <a:t>(</a:t>
              </a:r>
              <a:r>
                <a:rPr lang="ko-KR" altLang="en-US" sz="1600" dirty="0"/>
                <a:t>클래스</a:t>
              </a:r>
              <a:r>
                <a:rPr lang="en-US" altLang="ko-KR" sz="1600" dirty="0"/>
                <a:t>)</a:t>
              </a:r>
              <a:endParaRPr lang="ko-KR" altLang="en-US" sz="1600" dirty="0"/>
            </a:p>
          </p:txBody>
        </p:sp>
        <p:cxnSp>
          <p:nvCxnSpPr>
            <p:cNvPr id="10" name="직선 화살표 연결선 9"/>
            <p:cNvCxnSpPr/>
            <p:nvPr/>
          </p:nvCxnSpPr>
          <p:spPr>
            <a:xfrm flipV="1">
              <a:off x="3059832" y="2780928"/>
              <a:ext cx="785988" cy="50405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화살표 연결선 10"/>
            <p:cNvCxnSpPr/>
            <p:nvPr/>
          </p:nvCxnSpPr>
          <p:spPr>
            <a:xfrm>
              <a:off x="3059832" y="3464221"/>
              <a:ext cx="785988" cy="54084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346821" y="2835943"/>
              <a:ext cx="1693092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600" dirty="0"/>
                <a:t>색상과 크기</a:t>
              </a:r>
              <a:endParaRPr lang="en-US" altLang="ko-KR" sz="1600" dirty="0"/>
            </a:p>
            <a:p>
              <a:pPr algn="ctr"/>
              <a:r>
                <a:rPr lang="ko-KR" altLang="en-US" sz="1600" dirty="0"/>
                <a:t>이름을 가지는 </a:t>
              </a:r>
              <a:endParaRPr lang="en-US" altLang="ko-KR" sz="1600" dirty="0"/>
            </a:p>
            <a:p>
              <a:pPr algn="ctr"/>
              <a:r>
                <a:rPr lang="ko-KR" altLang="en-US" sz="1600" dirty="0"/>
                <a:t>존재하는 고양이</a:t>
              </a:r>
              <a:endParaRPr lang="en-US" altLang="ko-KR" sz="1600" dirty="0"/>
            </a:p>
            <a:p>
              <a:pPr algn="ctr"/>
              <a:r>
                <a:rPr lang="en-US" altLang="ko-KR" sz="1600" dirty="0"/>
                <a:t>(</a:t>
              </a:r>
              <a:r>
                <a:rPr lang="ko-KR" altLang="en-US" sz="1600" dirty="0" err="1"/>
                <a:t>인스턴스</a:t>
              </a:r>
              <a:r>
                <a:rPr lang="en-US" altLang="ko-KR" sz="1600" dirty="0"/>
                <a:t>)</a:t>
              </a:r>
              <a:endParaRPr lang="ko-KR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3542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957" y="1191691"/>
            <a:ext cx="8127725" cy="3453887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endParaRPr lang="en-US" altLang="ko-KR" dirty="0"/>
          </a:p>
          <a:p>
            <a:pPr fontAlgn="base"/>
            <a:r>
              <a:rPr lang="ko-KR" altLang="en-US" dirty="0"/>
              <a:t>메소드</a:t>
            </a:r>
            <a:r>
              <a:rPr lang="en-US" altLang="ko-KR" b="1" baseline="30000" dirty="0">
                <a:solidFill>
                  <a:schemeClr val="accent5"/>
                </a:solidFill>
              </a:rPr>
              <a:t>method</a:t>
            </a:r>
          </a:p>
          <a:p>
            <a:pPr lvl="1" fontAlgn="base"/>
            <a:r>
              <a:rPr lang="ko-KR" altLang="en-US" dirty="0"/>
              <a:t>인스턴스가 하는 동작</a:t>
            </a:r>
            <a:r>
              <a:rPr lang="en-US" altLang="ko-KR" dirty="0"/>
              <a:t>(</a:t>
            </a:r>
            <a:r>
              <a:rPr lang="ko-KR" altLang="en-US" dirty="0"/>
              <a:t>행위</a:t>
            </a:r>
            <a:r>
              <a:rPr lang="en-US" altLang="ko-KR" dirty="0"/>
              <a:t>)</a:t>
            </a:r>
            <a:endParaRPr lang="en-US" altLang="ko-KR" sz="500" dirty="0"/>
          </a:p>
          <a:p>
            <a:pPr lvl="1" fontAlgn="base"/>
            <a:endParaRPr lang="ko-KR" altLang="en-US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lvl="1" fontAlgn="base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10.3 </a:t>
            </a:r>
            <a:r>
              <a:rPr lang="ko-KR" altLang="en-US" dirty="0"/>
              <a:t>클래스와 객체</a:t>
            </a:r>
            <a:r>
              <a:rPr lang="en-US" altLang="ko-KR" dirty="0"/>
              <a:t>, </a:t>
            </a:r>
            <a:r>
              <a:rPr lang="ko-KR" altLang="en-US" dirty="0"/>
              <a:t>인스턴스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096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5719A-5B44-6044-6FDF-8740B4D6F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10.3 </a:t>
            </a:r>
            <a:r>
              <a:rPr lang="ko-KR" altLang="en-US" dirty="0"/>
              <a:t>클래스와 객체</a:t>
            </a:r>
            <a:r>
              <a:rPr lang="en-US" altLang="ko-KR" dirty="0"/>
              <a:t>, </a:t>
            </a:r>
            <a:r>
              <a:rPr lang="ko-KR" altLang="en-US" dirty="0"/>
              <a:t>인스턴스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708147"/>
            <a:ext cx="10015538" cy="375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070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226" y="1563173"/>
            <a:ext cx="8618029" cy="4483063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고양이 클래스는 아주 추상적인 개념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 </a:t>
            </a:r>
            <a:r>
              <a:rPr lang="ko-KR" altLang="en-US" dirty="0"/>
              <a:t>클래스 정의와 인스턴스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908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FCD4F07A-E307-4F83-4ABE-759CB4B299E9}"/>
              </a:ext>
            </a:extLst>
          </p:cNvPr>
          <p:cNvGrpSpPr/>
          <p:nvPr/>
        </p:nvGrpSpPr>
        <p:grpSpPr>
          <a:xfrm>
            <a:off x="1067257" y="2715146"/>
            <a:ext cx="10278076" cy="3156791"/>
            <a:chOff x="806670" y="2635110"/>
            <a:chExt cx="10538663" cy="3236827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r="12340"/>
            <a:stretch/>
          </p:blipFill>
          <p:spPr>
            <a:xfrm>
              <a:off x="806670" y="2635110"/>
              <a:ext cx="5668946" cy="3236827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t="8146" r="49780" b="10093"/>
            <a:stretch/>
          </p:blipFill>
          <p:spPr>
            <a:xfrm>
              <a:off x="6692713" y="2635110"/>
              <a:ext cx="4652620" cy="1428890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클래스의 정의 방법</a:t>
            </a:r>
            <a:endParaRPr lang="en-US" altLang="ko-KR" dirty="0"/>
          </a:p>
          <a:p>
            <a:pPr lvl="1"/>
            <a:r>
              <a:rPr lang="en-US" altLang="ko-KR" dirty="0"/>
              <a:t>class</a:t>
            </a:r>
            <a:r>
              <a:rPr lang="ko-KR" altLang="en-US" dirty="0"/>
              <a:t>라는 키워드를 써 준 후 </a:t>
            </a:r>
            <a:r>
              <a:rPr lang="en-US" altLang="ko-KR" dirty="0"/>
              <a:t>class</a:t>
            </a:r>
            <a:r>
              <a:rPr lang="ko-KR" altLang="en-US" dirty="0"/>
              <a:t>의 이름을 써 준다</a:t>
            </a:r>
            <a:r>
              <a:rPr lang="en-US" altLang="ko-KR" dirty="0"/>
              <a:t>. </a:t>
            </a:r>
            <a:r>
              <a:rPr lang="ko-KR" altLang="en-US" dirty="0"/>
              <a:t>그 후 필요한 속성과 </a:t>
            </a:r>
            <a:r>
              <a:rPr lang="ko-KR" altLang="en-US" dirty="0" err="1"/>
              <a:t>메소드를</a:t>
            </a:r>
            <a:r>
              <a:rPr lang="ko-KR" altLang="en-US" dirty="0"/>
              <a:t> </a:t>
            </a:r>
            <a:r>
              <a:rPr lang="ko-KR" altLang="en-US" dirty="0" err="1"/>
              <a:t>파이썬</a:t>
            </a:r>
            <a:r>
              <a:rPr lang="ko-KR" altLang="en-US" dirty="0"/>
              <a:t> 문법에 맞게 써 준다</a:t>
            </a:r>
            <a:endParaRPr lang="en-US" altLang="ko-KR" dirty="0"/>
          </a:p>
          <a:p>
            <a:r>
              <a:rPr lang="en-US" altLang="ko-KR" dirty="0"/>
              <a:t>pass</a:t>
            </a:r>
            <a:r>
              <a:rPr lang="ko-KR" altLang="en-US" dirty="0"/>
              <a:t> 문은 아무런 역할을 하지 않는 </a:t>
            </a:r>
            <a:r>
              <a:rPr lang="ko-KR" altLang="en-US" dirty="0" err="1"/>
              <a:t>파이썬</a:t>
            </a:r>
            <a:r>
              <a:rPr lang="ko-KR" altLang="en-US" dirty="0"/>
              <a:t> 명령문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AEE648C-DF43-EC24-F7AD-7346292DA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 </a:t>
            </a:r>
            <a:r>
              <a:rPr lang="ko-KR" altLang="en-US" dirty="0"/>
              <a:t>클래스 정의와 인스턴스</a:t>
            </a:r>
          </a:p>
        </p:txBody>
      </p:sp>
    </p:spTree>
    <p:extLst>
      <p:ext uri="{BB962C8B-B14F-4D97-AF65-F5344CB8AC3E}">
        <p14:creationId xmlns:p14="http://schemas.microsoft.com/office/powerpoint/2010/main" val="612672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0144C58-46B8-5F94-5D3F-32E59CF8D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 </a:t>
            </a:r>
            <a:r>
              <a:rPr lang="ko-KR" altLang="en-US" dirty="0"/>
              <a:t>클래스 정의와 인스턴스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855570" y="1128713"/>
            <a:ext cx="6437997" cy="491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9815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클래스 내부에서 정의되어 클래스나 클래스 </a:t>
            </a:r>
            <a:r>
              <a:rPr lang="ko-KR" altLang="en-US" dirty="0" err="1"/>
              <a:t>인스턴스가</a:t>
            </a:r>
            <a:r>
              <a:rPr lang="ko-KR" altLang="en-US" dirty="0"/>
              <a:t> 사용하는 함수를 </a:t>
            </a:r>
            <a:r>
              <a:rPr lang="ko-KR" altLang="en-US" b="1" dirty="0" err="1"/>
              <a:t>메소드</a:t>
            </a:r>
            <a:r>
              <a:rPr lang="en-US" altLang="ko-KR" b="1" baseline="30000" dirty="0">
                <a:solidFill>
                  <a:schemeClr val="accent5"/>
                </a:solidFill>
              </a:rPr>
              <a:t>method</a:t>
            </a:r>
            <a:r>
              <a:rPr lang="en-US" altLang="ko-KR" b="1" dirty="0"/>
              <a:t> </a:t>
            </a:r>
            <a:r>
              <a:rPr lang="ko-KR" altLang="en-US" dirty="0"/>
              <a:t>혹은 </a:t>
            </a:r>
            <a:r>
              <a:rPr lang="ko-KR" altLang="en-US" b="1" dirty="0"/>
              <a:t>멤버 함수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member function</a:t>
            </a:r>
            <a:r>
              <a:rPr lang="ko-KR" altLang="en-US" dirty="0"/>
              <a:t>라 한다</a:t>
            </a:r>
            <a:r>
              <a:rPr lang="en-US" altLang="ko-KR" dirty="0"/>
              <a:t>.</a:t>
            </a:r>
            <a:r>
              <a:rPr lang="en-US" altLang="ko-KR" b="1" dirty="0"/>
              <a:t> </a:t>
            </a:r>
          </a:p>
          <a:p>
            <a:r>
              <a:rPr lang="en-US" altLang="ko-KR" dirty="0"/>
              <a:t>meow() </a:t>
            </a:r>
            <a:r>
              <a:rPr lang="ko-KR" altLang="en-US" dirty="0" err="1"/>
              <a:t>메소드의</a:t>
            </a:r>
            <a:r>
              <a:rPr lang="ko-KR" altLang="en-US" dirty="0"/>
              <a:t> 매개변수인 </a:t>
            </a:r>
            <a:r>
              <a:rPr lang="en-US" altLang="ko-KR" dirty="0"/>
              <a:t>self</a:t>
            </a:r>
            <a:r>
              <a:rPr lang="ko-KR" altLang="en-US" dirty="0"/>
              <a:t>는 자기 자신을 참조하는 변수이며 </a:t>
            </a:r>
            <a:r>
              <a:rPr lang="ko-KR" altLang="en-US" dirty="0" err="1"/>
              <a:t>메소드의</a:t>
            </a:r>
            <a:r>
              <a:rPr lang="ko-KR" altLang="en-US" dirty="0"/>
              <a:t> 첫 번째 매개변수로 반드시 들어가야 한다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ED41BF-E35F-6275-8448-970D9E30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 </a:t>
            </a:r>
            <a:r>
              <a:rPr lang="ko-KR" altLang="en-US" dirty="0"/>
              <a:t>클래스 정의와 인스턴스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693D6B8-1A86-DB1A-D5DE-C91CF0BDA4A4}"/>
              </a:ext>
            </a:extLst>
          </p:cNvPr>
          <p:cNvGrpSpPr/>
          <p:nvPr/>
        </p:nvGrpSpPr>
        <p:grpSpPr>
          <a:xfrm>
            <a:off x="2475186" y="2745421"/>
            <a:ext cx="7972932" cy="3860331"/>
            <a:chOff x="743605" y="2219706"/>
            <a:chExt cx="9299474" cy="4335606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3605" y="2219706"/>
              <a:ext cx="6305587" cy="4335606"/>
            </a:xfrm>
            <a:prstGeom prst="rect">
              <a:avLst/>
            </a:prstGeom>
          </p:spPr>
        </p:pic>
        <p:grpSp>
          <p:nvGrpSpPr>
            <p:cNvPr id="15" name="그룹 14"/>
            <p:cNvGrpSpPr/>
            <p:nvPr/>
          </p:nvGrpSpPr>
          <p:grpSpPr>
            <a:xfrm>
              <a:off x="2459178" y="4072680"/>
              <a:ext cx="6242632" cy="742999"/>
              <a:chOff x="8266987" y="1065729"/>
              <a:chExt cx="5916623" cy="742999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8672072" y="1065729"/>
                <a:ext cx="5511538" cy="7429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>
                    <a:solidFill>
                      <a:srgbClr val="FF0000"/>
                    </a:solidFill>
                  </a:rPr>
                  <a:t>Cat()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을 통해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Cat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클래스의 객체를 생성함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. 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이제 </a:t>
                </a:r>
                <a:r>
                  <a:rPr lang="en-US" altLang="ko-KR" sz="1600" dirty="0" err="1">
                    <a:solidFill>
                      <a:srgbClr val="FF0000"/>
                    </a:solidFill>
                  </a:rPr>
                  <a:t>nabi.meow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()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를 통해 메소드 호출이 가능함</a:t>
                </a:r>
              </a:p>
            </p:txBody>
          </p:sp>
          <p:cxnSp>
            <p:nvCxnSpPr>
              <p:cNvPr id="17" name="직선 화살표 연결선 16"/>
              <p:cNvCxnSpPr>
                <a:cxnSpLocks/>
                <a:stCxn id="16" idx="1"/>
              </p:cNvCxnSpPr>
              <p:nvPr/>
            </p:nvCxnSpPr>
            <p:spPr>
              <a:xfrm flipH="1">
                <a:off x="8266987" y="1437229"/>
                <a:ext cx="405085" cy="8225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/>
            <p:cNvSpPr txBox="1"/>
            <p:nvPr/>
          </p:nvSpPr>
          <p:spPr>
            <a:xfrm>
              <a:off x="3737492" y="2695243"/>
              <a:ext cx="6305587" cy="742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rgbClr val="FF0000"/>
                  </a:solidFill>
                </a:rPr>
                <a:t>Cat </a:t>
              </a:r>
              <a:r>
                <a:rPr lang="ko-KR" altLang="en-US" sz="1600" dirty="0">
                  <a:solidFill>
                    <a:srgbClr val="FF0000"/>
                  </a:solidFill>
                </a:rPr>
                <a:t>클래스 내의 함수로 메소드라고 함</a:t>
              </a:r>
              <a:r>
                <a:rPr lang="en-US" altLang="ko-KR" sz="1600" dirty="0">
                  <a:solidFill>
                    <a:srgbClr val="FF0000"/>
                  </a:solidFill>
                </a:rPr>
                <a:t>.</a:t>
              </a:r>
            </a:p>
            <a:p>
              <a:r>
                <a:rPr lang="en-US" altLang="ko-KR" sz="1600" dirty="0">
                  <a:solidFill>
                    <a:srgbClr val="FF0000"/>
                  </a:solidFill>
                </a:rPr>
                <a:t>self</a:t>
              </a:r>
              <a:r>
                <a:rPr lang="ko-KR" altLang="en-US" sz="1600" dirty="0">
                  <a:solidFill>
                    <a:srgbClr val="FF0000"/>
                  </a:solidFill>
                </a:rPr>
                <a:t>는 메소드에 필수적으로 넣어야 하는 매개변수임</a:t>
              </a:r>
            </a:p>
          </p:txBody>
        </p:sp>
        <p:cxnSp>
          <p:nvCxnSpPr>
            <p:cNvPr id="14" name="직선 화살표 연결선 13"/>
            <p:cNvCxnSpPr>
              <a:cxnSpLocks/>
              <a:stCxn id="13" idx="1"/>
            </p:cNvCxnSpPr>
            <p:nvPr/>
          </p:nvCxnSpPr>
          <p:spPr>
            <a:xfrm flipH="1">
              <a:off x="2675468" y="3066743"/>
              <a:ext cx="1062025" cy="43845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80816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1067257" y="1128237"/>
            <a:ext cx="4558291" cy="4917999"/>
          </a:xfrm>
        </p:spPr>
        <p:txBody>
          <a:bodyPr/>
          <a:lstStyle/>
          <a:p>
            <a:pPr fontAlgn="base"/>
            <a:r>
              <a:rPr lang="ko-KR" altLang="en-US" dirty="0"/>
              <a:t>인스턴스의 메소드 호출 문법</a:t>
            </a:r>
          </a:p>
          <a:p>
            <a:pPr fontAlgn="base"/>
            <a:endParaRPr lang="en-US" altLang="ko-KR" sz="500" dirty="0"/>
          </a:p>
          <a:p>
            <a:pPr fontAlgn="base"/>
            <a:endParaRPr lang="en-US" altLang="ko-KR" sz="500" dirty="0"/>
          </a:p>
          <a:p>
            <a:pPr fontAlgn="base"/>
            <a:endParaRPr lang="en-US" altLang="ko-KR" sz="500" dirty="0"/>
          </a:p>
          <a:p>
            <a:pPr fontAlgn="base"/>
            <a:endParaRPr lang="en-US" altLang="ko-KR" sz="500" dirty="0"/>
          </a:p>
          <a:p>
            <a:pPr marL="0" indent="0" fontAlgn="base">
              <a:buNone/>
            </a:pPr>
            <a:endParaRPr lang="en-US" altLang="ko-KR" sz="500" dirty="0"/>
          </a:p>
          <a:p>
            <a:pPr fontAlgn="base"/>
            <a:r>
              <a:rPr lang="en-US" altLang="ko-KR" dirty="0" err="1"/>
              <a:t>nabi</a:t>
            </a:r>
            <a:r>
              <a:rPr lang="ko-KR" altLang="en-US" dirty="0"/>
              <a:t>라는 인스턴스는 </a:t>
            </a:r>
            <a:r>
              <a:rPr lang="en-US" altLang="ko-KR" dirty="0"/>
              <a:t>Cat</a:t>
            </a:r>
            <a:r>
              <a:rPr lang="ko-KR" altLang="en-US" dirty="0"/>
              <a:t>이라는 클래스가 가진 </a:t>
            </a:r>
            <a:r>
              <a:rPr lang="en-US" altLang="ko-KR" dirty="0"/>
              <a:t>meow()</a:t>
            </a:r>
            <a:r>
              <a:rPr lang="ko-KR" altLang="en-US" dirty="0"/>
              <a:t>라는 메소드를 사용할 수 있음</a:t>
            </a:r>
            <a:endParaRPr lang="en-US" altLang="ko-KR" dirty="0"/>
          </a:p>
          <a:p>
            <a:pPr lvl="1" fontAlgn="base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4ED41BF-E35F-6275-8448-970D9E30B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 </a:t>
            </a:r>
            <a:r>
              <a:rPr lang="ko-KR" altLang="en-US" dirty="0"/>
              <a:t>클래스 정의와 인스턴스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AED459-73AE-04C2-0A8C-509D4904A0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389"/>
          <a:stretch/>
        </p:blipFill>
        <p:spPr>
          <a:xfrm>
            <a:off x="1311498" y="1647741"/>
            <a:ext cx="3504124" cy="443870"/>
          </a:xfrm>
          <a:prstGeom prst="rect">
            <a:avLst/>
          </a:prstGeom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E79EC238-1084-CB4C-5895-2BFAC8CED502}"/>
              </a:ext>
            </a:extLst>
          </p:cNvPr>
          <p:cNvGrpSpPr/>
          <p:nvPr/>
        </p:nvGrpSpPr>
        <p:grpSpPr>
          <a:xfrm>
            <a:off x="6145814" y="1128237"/>
            <a:ext cx="4387557" cy="4917999"/>
            <a:chOff x="6316548" y="471171"/>
            <a:chExt cx="5198119" cy="582655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C6A5612-D00B-852E-37EB-D5C56C95D9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1351" b="3929"/>
            <a:stretch/>
          </p:blipFill>
          <p:spPr>
            <a:xfrm>
              <a:off x="6316548" y="4773575"/>
              <a:ext cx="5189654" cy="1524151"/>
            </a:xfrm>
            <a:prstGeom prst="rect">
              <a:avLst/>
            </a:prstGeom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19691C7-EEF4-3E28-59AB-504A682EBFE1}"/>
                </a:ext>
              </a:extLst>
            </p:cNvPr>
            <p:cNvGrpSpPr/>
            <p:nvPr/>
          </p:nvGrpSpPr>
          <p:grpSpPr>
            <a:xfrm>
              <a:off x="6316548" y="471171"/>
              <a:ext cx="5198119" cy="4127727"/>
              <a:chOff x="854570" y="2546816"/>
              <a:chExt cx="3786552" cy="2928315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F1D9A29D-F1A1-F974-B039-E75B8CD890E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589" r="36565"/>
              <a:stretch/>
            </p:blipFill>
            <p:spPr>
              <a:xfrm>
                <a:off x="854571" y="2546816"/>
                <a:ext cx="3780385" cy="2501055"/>
              </a:xfrm>
              <a:prstGeom prst="rect">
                <a:avLst/>
              </a:prstGeom>
            </p:spPr>
          </p:pic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FBB96C22-0821-7C98-0380-28786B45F75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/>
              <a:srcRect l="922" t="7886" r="36161" b="-1"/>
              <a:stretch/>
            </p:blipFill>
            <p:spPr>
              <a:xfrm>
                <a:off x="854570" y="4698617"/>
                <a:ext cx="3786552" cy="776514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AB0FE592-4331-5838-D660-3748F22B02F4}"/>
                </a:ext>
              </a:extLst>
            </p:cNvPr>
            <p:cNvGrpSpPr/>
            <p:nvPr/>
          </p:nvGrpSpPr>
          <p:grpSpPr>
            <a:xfrm>
              <a:off x="7557233" y="2241054"/>
              <a:ext cx="3319390" cy="726364"/>
              <a:chOff x="8403668" y="1065729"/>
              <a:chExt cx="3319390" cy="726364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D7809F-522D-AA50-21F3-633B232BFE3E}"/>
                  </a:ext>
                </a:extLst>
              </p:cNvPr>
              <p:cNvSpPr txBox="1"/>
              <p:nvPr/>
            </p:nvSpPr>
            <p:spPr>
              <a:xfrm>
                <a:off x="8672073" y="1065729"/>
                <a:ext cx="3050985" cy="4010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 err="1"/>
                  <a:t>nabi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객체가 </a:t>
                </a:r>
                <a:r>
                  <a:rPr lang="en-US" altLang="ko-KR" sz="1600" dirty="0"/>
                  <a:t>meow() </a:t>
                </a:r>
                <a:r>
                  <a:rPr lang="ko-KR" altLang="en-US" sz="1600" dirty="0"/>
                  <a:t>실행</a:t>
                </a:r>
              </a:p>
            </p:txBody>
          </p: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656690E6-21C5-E065-60F2-29EB200F8AAA}"/>
                  </a:ext>
                </a:extLst>
              </p:cNvPr>
              <p:cNvCxnSpPr>
                <a:cxnSpLocks/>
                <a:stCxn id="12" idx="2"/>
              </p:cNvCxnSpPr>
              <p:nvPr/>
            </p:nvCxnSpPr>
            <p:spPr>
              <a:xfrm flipH="1">
                <a:off x="8403668" y="1466828"/>
                <a:ext cx="1793898" cy="32526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9E858BB-D115-AE07-4292-AD4FF91BFE0E}"/>
                </a:ext>
              </a:extLst>
            </p:cNvPr>
            <p:cNvGrpSpPr/>
            <p:nvPr/>
          </p:nvGrpSpPr>
          <p:grpSpPr>
            <a:xfrm>
              <a:off x="7557232" y="2903783"/>
              <a:ext cx="3621704" cy="711787"/>
              <a:chOff x="8269465" y="1140445"/>
              <a:chExt cx="3621704" cy="711787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FD8D30F-44E0-ABDF-7C8F-E1B170D0CE86}"/>
                  </a:ext>
                </a:extLst>
              </p:cNvPr>
              <p:cNvSpPr txBox="1"/>
              <p:nvPr/>
            </p:nvSpPr>
            <p:spPr>
              <a:xfrm>
                <a:off x="8840184" y="1140445"/>
                <a:ext cx="3050985" cy="4010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 err="1"/>
                  <a:t>nero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객체가 </a:t>
                </a:r>
                <a:r>
                  <a:rPr lang="en-US" altLang="ko-KR" sz="1600" dirty="0"/>
                  <a:t>meow() </a:t>
                </a:r>
                <a:r>
                  <a:rPr lang="ko-KR" altLang="en-US" sz="1600" dirty="0"/>
                  <a:t>실행</a:t>
                </a:r>
              </a:p>
            </p:txBody>
          </p: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ACE38EF6-12D5-33F2-5084-A80D6B6F1154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>
              <a:xfrm flipH="1">
                <a:off x="8269465" y="1541544"/>
                <a:ext cx="2096212" cy="310688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2F84B62B-0287-37E6-806F-0A9C22AB3DDF}"/>
                </a:ext>
              </a:extLst>
            </p:cNvPr>
            <p:cNvGrpSpPr/>
            <p:nvPr/>
          </p:nvGrpSpPr>
          <p:grpSpPr>
            <a:xfrm>
              <a:off x="7676206" y="3615570"/>
              <a:ext cx="3319398" cy="726364"/>
              <a:chOff x="8254236" y="1121766"/>
              <a:chExt cx="3319398" cy="726364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347048-1C08-3E3F-2E87-D99DE22AFA43}"/>
                  </a:ext>
                </a:extLst>
              </p:cNvPr>
              <p:cNvSpPr txBox="1"/>
              <p:nvPr/>
            </p:nvSpPr>
            <p:spPr>
              <a:xfrm>
                <a:off x="8522642" y="1121766"/>
                <a:ext cx="3050992" cy="40109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600" dirty="0"/>
                  <a:t>mini </a:t>
                </a:r>
                <a:r>
                  <a:rPr lang="ko-KR" altLang="en-US" sz="1600" dirty="0"/>
                  <a:t>객체가 </a:t>
                </a:r>
                <a:r>
                  <a:rPr lang="en-US" altLang="ko-KR" sz="1600" dirty="0"/>
                  <a:t>meow() </a:t>
                </a:r>
                <a:r>
                  <a:rPr lang="ko-KR" altLang="en-US" sz="1600" dirty="0"/>
                  <a:t>실행</a:t>
                </a:r>
              </a:p>
            </p:txBody>
          </p:sp>
          <p:cxnSp>
            <p:nvCxnSpPr>
              <p:cNvPr id="24" name="직선 화살표 연결선 23">
                <a:extLst>
                  <a:ext uri="{FF2B5EF4-FFF2-40B4-BE49-F238E27FC236}">
                    <a16:creationId xmlns:a16="http://schemas.microsoft.com/office/drawing/2014/main" id="{B91C07A7-2A05-17D6-2F30-3A3F336F8263}"/>
                  </a:ext>
                </a:extLst>
              </p:cNvPr>
              <p:cNvCxnSpPr>
                <a:cxnSpLocks/>
                <a:stCxn id="23" idx="2"/>
              </p:cNvCxnSpPr>
              <p:nvPr/>
            </p:nvCxnSpPr>
            <p:spPr>
              <a:xfrm flipH="1">
                <a:off x="8254236" y="1522865"/>
                <a:ext cx="1793898" cy="325265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8572783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2836ED-70E3-A184-E7D4-B8A1B1DD7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10.4 </a:t>
            </a:r>
            <a:r>
              <a:rPr lang="ko-KR" altLang="en-US" dirty="0"/>
              <a:t>클래스 정의와 인스턴스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909471"/>
            <a:ext cx="10015538" cy="335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53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DE0A034C-65EF-FEDD-55F1-CAE1AA6820EC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800" dirty="0"/>
              <a:t>초기화 메소드</a:t>
            </a:r>
            <a:r>
              <a:rPr lang="en-US" altLang="ko-KR" sz="2800" b="1" baseline="30000" dirty="0">
                <a:solidFill>
                  <a:srgbClr val="0070C0"/>
                </a:solidFill>
              </a:rPr>
              <a:t>initialization method</a:t>
            </a:r>
          </a:p>
          <a:p>
            <a:pPr lvl="1"/>
            <a:r>
              <a:rPr lang="ko-KR" altLang="en-US" sz="2400" dirty="0"/>
              <a:t>인스턴스가 생성될 때 자동으로 호출됨</a:t>
            </a:r>
            <a:endParaRPr lang="en-US" altLang="ko-KR" sz="2400" dirty="0"/>
          </a:p>
          <a:p>
            <a:pPr lvl="1"/>
            <a:r>
              <a:rPr lang="ko-KR" altLang="en-US" sz="2800" dirty="0"/>
              <a:t>생성자</a:t>
            </a:r>
            <a:r>
              <a:rPr lang="en-US" altLang="ko-KR" sz="2800" b="1" baseline="30000" dirty="0">
                <a:solidFill>
                  <a:srgbClr val="0070C0"/>
                </a:solidFill>
              </a:rPr>
              <a:t>constructor</a:t>
            </a:r>
            <a:r>
              <a:rPr lang="ko-KR" altLang="en-US" sz="2800" dirty="0"/>
              <a:t>라고도 부름</a:t>
            </a:r>
          </a:p>
          <a:p>
            <a:endParaRPr lang="ko-KR" altLang="en-US" sz="2800" dirty="0"/>
          </a:p>
        </p:txBody>
      </p:sp>
      <p:sp>
        <p:nvSpPr>
          <p:cNvPr id="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 </a:t>
            </a:r>
            <a:r>
              <a:rPr lang="ko-KR" altLang="en-US" dirty="0"/>
              <a:t>클래스 정의와 </a:t>
            </a:r>
            <a:r>
              <a:rPr lang="ko-KR" altLang="en-US" dirty="0" err="1"/>
              <a:t>생성자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78055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 </a:t>
            </a:r>
            <a:r>
              <a:rPr lang="ko-KR" altLang="en-US" dirty="0"/>
              <a:t>클래스 정의와 </a:t>
            </a:r>
            <a:r>
              <a:rPr lang="ko-KR" altLang="en-US" dirty="0" err="1"/>
              <a:t>생성자</a:t>
            </a:r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E8EF34B-404A-7C28-6379-FC8AA7E048A1}"/>
              </a:ext>
            </a:extLst>
          </p:cNvPr>
          <p:cNvGrpSpPr/>
          <p:nvPr/>
        </p:nvGrpSpPr>
        <p:grpSpPr>
          <a:xfrm>
            <a:off x="699931" y="1111604"/>
            <a:ext cx="10714304" cy="5428023"/>
            <a:chOff x="293180" y="634999"/>
            <a:chExt cx="12174588" cy="6167824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18443" y="796226"/>
              <a:ext cx="4949325" cy="1759198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r="14673"/>
            <a:stretch/>
          </p:blipFill>
          <p:spPr>
            <a:xfrm>
              <a:off x="293180" y="634999"/>
              <a:ext cx="6979456" cy="61678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66043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528" y="2376809"/>
            <a:ext cx="6637539" cy="3271017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40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두 번째 매개변수 </a:t>
            </a:r>
            <a:r>
              <a:rPr lang="en-US" altLang="ko-KR" dirty="0"/>
              <a:t>name</a:t>
            </a:r>
            <a:r>
              <a:rPr lang="ko-KR" altLang="en-US" dirty="0"/>
              <a:t>과 세 번째 매개변수 </a:t>
            </a:r>
            <a:r>
              <a:rPr lang="en-US" altLang="ko-KR" dirty="0"/>
              <a:t>color</a:t>
            </a:r>
            <a:r>
              <a:rPr lang="ko-KR" altLang="en-US" dirty="0"/>
              <a:t>는 </a:t>
            </a:r>
            <a:r>
              <a:rPr lang="ko-KR" altLang="en-US" b="1" dirty="0" err="1"/>
              <a:t>인스턴스의</a:t>
            </a:r>
            <a:r>
              <a:rPr lang="ko-KR" altLang="en-US" b="1" dirty="0"/>
              <a:t> 속성</a:t>
            </a:r>
            <a:r>
              <a:rPr lang="ko-KR" altLang="en-US" dirty="0"/>
              <a:t>에 해당하는 이름과 색상을 할당하기 위한 변수</a:t>
            </a:r>
            <a:endParaRPr lang="en-US" altLang="ko-KR" dirty="0"/>
          </a:p>
          <a:p>
            <a:endParaRPr lang="ko-KR" altLang="en-US" dirty="0"/>
          </a:p>
          <a:p>
            <a:pPr marL="457200" lvl="1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EED135C-8E8B-C4FC-2A04-19BB41A10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 </a:t>
            </a:r>
            <a:r>
              <a:rPr lang="ko-KR" altLang="en-US" dirty="0"/>
              <a:t>클래스 정의와 생성자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38BFF5-8668-4B3E-9D90-BED8745E8D51}"/>
              </a:ext>
            </a:extLst>
          </p:cNvPr>
          <p:cNvSpPr txBox="1"/>
          <p:nvPr/>
        </p:nvSpPr>
        <p:spPr>
          <a:xfrm>
            <a:off x="2191726" y="5684749"/>
            <a:ext cx="780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주의 </a:t>
            </a:r>
            <a:r>
              <a:rPr lang="en-US" altLang="ko-KR" dirty="0">
                <a:solidFill>
                  <a:srgbClr val="FF0000"/>
                </a:solidFill>
              </a:rPr>
              <a:t>: self</a:t>
            </a:r>
            <a:r>
              <a:rPr lang="ko-KR" altLang="en-US" dirty="0">
                <a:solidFill>
                  <a:srgbClr val="FF0000"/>
                </a:solidFill>
              </a:rPr>
              <a:t>는 파이썬 예약어가 아닙니다</a:t>
            </a:r>
            <a:r>
              <a:rPr lang="en-US" altLang="ko-KR" dirty="0">
                <a:solidFill>
                  <a:srgbClr val="FF0000"/>
                </a:solidFill>
              </a:rPr>
              <a:t>. </a:t>
            </a:r>
            <a:r>
              <a:rPr lang="ko-KR" altLang="en-US" dirty="0">
                <a:solidFill>
                  <a:srgbClr val="FF0000"/>
                </a:solidFill>
              </a:rPr>
              <a:t>메소드의 디폴트 매개변수입니다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280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821" y="2501439"/>
            <a:ext cx="7502310" cy="330543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 err="1"/>
              <a:t>인스턴스</a:t>
            </a:r>
            <a:r>
              <a:rPr lang="ko-KR" altLang="en-US" b="1" dirty="0"/>
              <a:t> 변수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instance variable</a:t>
            </a:r>
            <a:r>
              <a:rPr lang="en-US" altLang="ko-KR" b="1" dirty="0"/>
              <a:t>, </a:t>
            </a:r>
            <a:r>
              <a:rPr lang="ko-KR" altLang="en-US" b="1" dirty="0"/>
              <a:t>멤버 변수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member</a:t>
            </a:r>
            <a:r>
              <a:rPr lang="en-US" altLang="ko-KR" sz="3600" b="1" baseline="30000" dirty="0"/>
              <a:t> </a:t>
            </a:r>
            <a:r>
              <a:rPr lang="en-US" altLang="ko-KR" b="1" baseline="30000" dirty="0">
                <a:solidFill>
                  <a:schemeClr val="accent5"/>
                </a:solidFill>
              </a:rPr>
              <a:t>variable</a:t>
            </a:r>
            <a:r>
              <a:rPr lang="en-US" altLang="ko-KR" b="1" dirty="0"/>
              <a:t>, </a:t>
            </a:r>
            <a:r>
              <a:rPr lang="ko-KR" altLang="en-US" b="1" dirty="0"/>
              <a:t>혹은 필드</a:t>
            </a:r>
            <a:r>
              <a:rPr lang="en-US" altLang="ko-KR" b="1" baseline="30000" dirty="0">
                <a:solidFill>
                  <a:schemeClr val="accent5"/>
                </a:solidFill>
              </a:rPr>
              <a:t>field</a:t>
            </a:r>
          </a:p>
          <a:p>
            <a:pPr lvl="1"/>
            <a:r>
              <a:rPr lang="ko-KR" altLang="en-US" dirty="0"/>
              <a:t>각각의 </a:t>
            </a:r>
            <a:r>
              <a:rPr lang="ko-KR" altLang="en-US" dirty="0" err="1"/>
              <a:t>인스턴스들이</a:t>
            </a:r>
            <a:r>
              <a:rPr lang="ko-KR" altLang="en-US" dirty="0"/>
              <a:t> 개별적으로 가지는 속성을 저장하는 변수</a:t>
            </a:r>
          </a:p>
          <a:p>
            <a:pPr lvl="1"/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BC63C337-C395-196B-5BF0-AA7C0E82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 </a:t>
            </a:r>
            <a:r>
              <a:rPr lang="ko-KR" altLang="en-US" dirty="0"/>
              <a:t>클래스 정의와 생성자</a:t>
            </a:r>
          </a:p>
        </p:txBody>
      </p:sp>
    </p:spTree>
    <p:extLst>
      <p:ext uri="{BB962C8B-B14F-4D97-AF65-F5344CB8AC3E}">
        <p14:creationId xmlns:p14="http://schemas.microsoft.com/office/powerpoint/2010/main" val="962411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5E3C7-F138-83AF-0762-19FC636A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 </a:t>
            </a:r>
            <a:r>
              <a:rPr lang="ko-KR" altLang="en-US" dirty="0"/>
              <a:t>클래스 정의와 생성자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092157"/>
            <a:ext cx="10015538" cy="299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90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5E3C7-F138-83AF-0762-19FC636A7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10.5 </a:t>
            </a:r>
            <a:r>
              <a:rPr lang="ko-KR" altLang="en-US" dirty="0"/>
              <a:t>클래스 정의와 생성자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351097"/>
            <a:ext cx="10015538" cy="4473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79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16055" r="4875"/>
          <a:stretch/>
        </p:blipFill>
        <p:spPr>
          <a:xfrm>
            <a:off x="1256077" y="4633381"/>
            <a:ext cx="8424636" cy="472836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생성자</a:t>
            </a:r>
            <a:endParaRPr lang="ko-KR" altLang="en-US" dirty="0"/>
          </a:p>
          <a:p>
            <a:pPr lvl="1"/>
            <a:r>
              <a:rPr lang="ko-KR" altLang="en-US" dirty="0"/>
              <a:t>객체를 만들 때 </a:t>
            </a:r>
            <a:r>
              <a:rPr lang="ko-KR" altLang="en-US" dirty="0" err="1"/>
              <a:t>인스턴스</a:t>
            </a:r>
            <a:r>
              <a:rPr lang="ko-KR" altLang="en-US" dirty="0"/>
              <a:t> 내부의 변수가 기본값을 가지도록 하는 역할을 하는 </a:t>
            </a:r>
            <a:r>
              <a:rPr lang="ko-KR" altLang="en-US" dirty="0" err="1"/>
              <a:t>메소드</a:t>
            </a:r>
            <a:endParaRPr lang="ko-KR" altLang="en-US" dirty="0"/>
          </a:p>
          <a:p>
            <a:pPr lvl="1"/>
            <a:r>
              <a:rPr lang="en-US" altLang="ko-KR" dirty="0"/>
              <a:t>__</a:t>
            </a:r>
            <a:r>
              <a:rPr lang="en-US" altLang="ko-KR" dirty="0" err="1"/>
              <a:t>init</a:t>
            </a:r>
            <a:r>
              <a:rPr lang="en-US" altLang="ko-KR" dirty="0"/>
              <a:t>__</a:t>
            </a:r>
            <a:r>
              <a:rPr lang="ko-KR" altLang="en-US" dirty="0"/>
              <a:t>이라는 이름을 가진다</a:t>
            </a:r>
          </a:p>
          <a:p>
            <a:pPr lvl="1"/>
            <a:r>
              <a:rPr lang="ko-KR" altLang="en-US" dirty="0"/>
              <a:t>객체가 생성될 때 자동으로 실행</a:t>
            </a:r>
          </a:p>
          <a:p>
            <a:r>
              <a:rPr lang="en-US" altLang="ko-KR" dirty="0"/>
              <a:t>__</a:t>
            </a:r>
            <a:r>
              <a:rPr lang="en-US" altLang="ko-KR" dirty="0" err="1"/>
              <a:t>str</a:t>
            </a:r>
            <a:r>
              <a:rPr lang="en-US" altLang="ko-KR" dirty="0"/>
              <a:t>__() </a:t>
            </a:r>
            <a:r>
              <a:rPr lang="ko-KR" altLang="en-US" dirty="0" err="1"/>
              <a:t>메소드</a:t>
            </a:r>
            <a:endParaRPr lang="en-US" altLang="ko-KR" dirty="0"/>
          </a:p>
          <a:p>
            <a:pPr lvl="1"/>
            <a:r>
              <a:rPr lang="ko-KR" altLang="en-US" dirty="0"/>
              <a:t>객체가 어떤 이름과 색상정보를 가지는지 알 수 있는 메소드</a:t>
            </a:r>
            <a:endParaRPr lang="en-US" altLang="ko-KR" dirty="0"/>
          </a:p>
          <a:p>
            <a:r>
              <a:rPr lang="en-US" altLang="ko-KR" dirty="0"/>
              <a:t>__main__</a:t>
            </a:r>
            <a:r>
              <a:rPr lang="ko-KR" altLang="en-US" dirty="0"/>
              <a:t>은 현재 파이썬 인터프리터에 의해 수행되는 메인 프로그램을 의미하는데 현재 수행 중인 프로그램을 지칭</a:t>
            </a:r>
          </a:p>
          <a:p>
            <a:r>
              <a:rPr lang="en-US" altLang="ko-KR" dirty="0"/>
              <a:t>16</a:t>
            </a:r>
            <a:r>
              <a:rPr lang="ko-KR" altLang="en-US" dirty="0"/>
              <a:t>진수는 이 객체의 아이디</a:t>
            </a:r>
            <a:r>
              <a:rPr lang="en-US" altLang="ko-KR" b="1" baseline="30000" dirty="0">
                <a:solidFill>
                  <a:schemeClr val="accent5"/>
                </a:solidFill>
              </a:rPr>
              <a:t>id</a:t>
            </a:r>
            <a:endParaRPr lang="ko-KR" altLang="en-US" b="1" baseline="30000" dirty="0">
              <a:solidFill>
                <a:schemeClr val="accent5"/>
              </a:solidFill>
            </a:endParaRPr>
          </a:p>
          <a:p>
            <a:endParaRPr lang="ko-KR" alt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altLang="ko-KR" dirty="0"/>
              <a:t>10.6 </a:t>
            </a:r>
            <a:r>
              <a:rPr lang="ko-KR" altLang="en-US" dirty="0"/>
              <a:t>문자열화 메소드</a:t>
            </a:r>
          </a:p>
        </p:txBody>
      </p:sp>
    </p:spTree>
    <p:extLst>
      <p:ext uri="{BB962C8B-B14F-4D97-AF65-F5344CB8AC3E}">
        <p14:creationId xmlns:p14="http://schemas.microsoft.com/office/powerpoint/2010/main" val="26916231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4"/>
          </p:nvPr>
        </p:nvSpPr>
        <p:spPr>
          <a:xfrm>
            <a:off x="6271591" y="1128237"/>
            <a:ext cx="4810423" cy="4917999"/>
          </a:xfrm>
        </p:spPr>
        <p:txBody>
          <a:bodyPr>
            <a:normAutofit/>
          </a:bodyPr>
          <a:lstStyle/>
          <a:p>
            <a:pPr fontAlgn="base"/>
            <a:r>
              <a:rPr lang="en-US" altLang="ko-KR" dirty="0"/>
              <a:t>Cat </a:t>
            </a:r>
            <a:r>
              <a:rPr lang="en-US" altLang="ko-KR" dirty="0" err="1"/>
              <a:t>클래스</a:t>
            </a:r>
            <a:r>
              <a:rPr lang="en-US" altLang="ko-KR" dirty="0"/>
              <a:t> </a:t>
            </a:r>
            <a:r>
              <a:rPr lang="en-US" altLang="ko-KR" dirty="0" err="1"/>
              <a:t>내에</a:t>
            </a:r>
            <a:r>
              <a:rPr lang="en-US" altLang="ko-KR" dirty="0"/>
              <a:t> </a:t>
            </a:r>
            <a:r>
              <a:rPr lang="en-US" altLang="ko-KR" dirty="0" err="1"/>
              <a:t>다음과</a:t>
            </a:r>
            <a:r>
              <a:rPr lang="en-US" altLang="ko-KR" dirty="0"/>
              <a:t> </a:t>
            </a:r>
            <a:r>
              <a:rPr lang="en-US" altLang="ko-KR" dirty="0" err="1"/>
              <a:t>같이</a:t>
            </a:r>
            <a:r>
              <a:rPr lang="en-US" altLang="ko-KR" dirty="0"/>
              <a:t> __</a:t>
            </a:r>
            <a:r>
              <a:rPr lang="en-US" altLang="ko-KR" dirty="0" err="1"/>
              <a:t>str</a:t>
            </a:r>
            <a:r>
              <a:rPr lang="en-US" altLang="ko-KR" dirty="0"/>
              <a:t>__() </a:t>
            </a:r>
            <a:r>
              <a:rPr lang="en-US" altLang="ko-KR" dirty="0" err="1"/>
              <a:t>메소드를</a:t>
            </a:r>
            <a:r>
              <a:rPr lang="en-US" altLang="ko-KR" dirty="0"/>
              <a:t> </a:t>
            </a:r>
            <a:r>
              <a:rPr lang="en-US" altLang="ko-KR" dirty="0" err="1"/>
              <a:t>추가</a:t>
            </a:r>
            <a:r>
              <a:rPr lang="ko-KR" altLang="en-US" dirty="0"/>
              <a:t>해보기</a:t>
            </a:r>
            <a:endParaRPr lang="en-US" altLang="ko-KR" dirty="0"/>
          </a:p>
          <a:p>
            <a:pPr fontAlgn="base"/>
            <a:r>
              <a:rPr lang="en-US" altLang="ko-KR" dirty="0"/>
              <a:t>__str__() </a:t>
            </a:r>
            <a:r>
              <a:rPr lang="ko-KR" altLang="en-US" dirty="0"/>
              <a:t>은 어떤 객체의 문자열 표현 방식을 정의하는데 반환 값은 문자열이 됨</a:t>
            </a:r>
          </a:p>
          <a:p>
            <a:pPr fontAlgn="base"/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F169C4-5E93-D019-EAF4-A7D536AC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10.6 </a:t>
            </a:r>
            <a:r>
              <a:rPr lang="ko-KR" altLang="en-US" dirty="0"/>
              <a:t>문자열화 메소드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B12B279-31E8-2274-5589-41393B777032}"/>
              </a:ext>
            </a:extLst>
          </p:cNvPr>
          <p:cNvGrpSpPr/>
          <p:nvPr/>
        </p:nvGrpSpPr>
        <p:grpSpPr>
          <a:xfrm>
            <a:off x="337325" y="908719"/>
            <a:ext cx="6284192" cy="5807391"/>
            <a:chOff x="436041" y="363481"/>
            <a:chExt cx="6214141" cy="572034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r="19251"/>
            <a:stretch/>
          </p:blipFill>
          <p:spPr>
            <a:xfrm>
              <a:off x="436042" y="363481"/>
              <a:ext cx="5668498" cy="4472910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r="27249"/>
            <a:stretch/>
          </p:blipFill>
          <p:spPr>
            <a:xfrm>
              <a:off x="436041" y="4767782"/>
              <a:ext cx="6214141" cy="13160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34282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위의 코드 아래에 다음과 같이 </a:t>
            </a:r>
            <a:r>
              <a:rPr lang="en-US" altLang="ko-KR" dirty="0"/>
              <a:t>{} </a:t>
            </a:r>
            <a:r>
              <a:rPr lang="ko-KR" altLang="en-US" dirty="0" err="1"/>
              <a:t>플레이스</a:t>
            </a:r>
            <a:r>
              <a:rPr lang="ko-KR" altLang="en-US" dirty="0"/>
              <a:t> 홀더를 두고 </a:t>
            </a:r>
            <a:r>
              <a:rPr lang="en-US" altLang="ko-KR" dirty="0"/>
              <a:t>format() </a:t>
            </a:r>
            <a:r>
              <a:rPr lang="ko-KR" altLang="en-US" dirty="0"/>
              <a:t>메소드로 출력을 하게 되어도 </a:t>
            </a:r>
            <a:r>
              <a:rPr lang="en-US" altLang="ko-KR" dirty="0"/>
              <a:t>__</a:t>
            </a:r>
            <a:r>
              <a:rPr lang="en-US" altLang="ko-KR" dirty="0" err="1"/>
              <a:t>str</a:t>
            </a:r>
            <a:r>
              <a:rPr lang="en-US" altLang="ko-KR" dirty="0"/>
              <a:t>__() </a:t>
            </a:r>
            <a:r>
              <a:rPr lang="ko-KR" altLang="en-US" dirty="0" err="1"/>
              <a:t>메소드가</a:t>
            </a:r>
            <a:r>
              <a:rPr lang="ko-KR" altLang="en-US" dirty="0"/>
              <a:t> 수행됨을 알 수 있음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E49E730-65AA-EE2C-DF75-8C0BB718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10.6 </a:t>
            </a:r>
            <a:r>
              <a:rPr lang="ko-KR" altLang="en-US" dirty="0"/>
              <a:t>문자열화 메소드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7CB5621-4879-34E7-7F80-2E327C89A071}"/>
              </a:ext>
            </a:extLst>
          </p:cNvPr>
          <p:cNvGrpSpPr/>
          <p:nvPr/>
        </p:nvGrpSpPr>
        <p:grpSpPr>
          <a:xfrm>
            <a:off x="1341781" y="2240392"/>
            <a:ext cx="7936161" cy="1295778"/>
            <a:chOff x="822435" y="2707531"/>
            <a:chExt cx="9260578" cy="1512022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2435" y="3591925"/>
              <a:ext cx="8562634" cy="627628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2435" y="2707531"/>
              <a:ext cx="9260578" cy="5970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5450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EAE892-9669-A14B-6525-E97DC4BA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10.6 </a:t>
            </a:r>
            <a:r>
              <a:rPr lang="ko-KR" altLang="en-US" dirty="0"/>
              <a:t>문자열화 메소드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347198"/>
            <a:ext cx="10015538" cy="448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7666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Cat </a:t>
            </a:r>
            <a:r>
              <a:rPr lang="ko-KR" altLang="en-US" dirty="0"/>
              <a:t>클래스에 나이를 의미하는 </a:t>
            </a:r>
            <a:r>
              <a:rPr lang="en-US" altLang="ko-KR" dirty="0"/>
              <a:t>age</a:t>
            </a:r>
            <a:r>
              <a:rPr lang="ko-KR" altLang="en-US" dirty="0"/>
              <a:t>라는 속성을 부여</a:t>
            </a:r>
          </a:p>
          <a:p>
            <a:pPr lvl="1"/>
            <a:r>
              <a:rPr lang="en-US" altLang="ko-KR" dirty="0" err="1"/>
              <a:t>nabi.age</a:t>
            </a:r>
            <a:r>
              <a:rPr lang="en-US" altLang="ko-KR" dirty="0"/>
              <a:t> = </a:t>
            </a:r>
            <a:r>
              <a:rPr lang="en-US" altLang="ko-KR" dirty="0">
                <a:solidFill>
                  <a:srgbClr val="FF0000"/>
                </a:solidFill>
              </a:rPr>
              <a:t>-5</a:t>
            </a:r>
            <a:r>
              <a:rPr lang="ko-KR" altLang="en-US" dirty="0"/>
              <a:t>를 넣게 된다면 코드상의 문법적인 문제는 없으나 고양이의 나이가 음수가 되는 논리적인 오류</a:t>
            </a:r>
            <a:r>
              <a:rPr lang="en-US" altLang="ko-KR" dirty="0"/>
              <a:t> </a:t>
            </a:r>
            <a:r>
              <a:rPr lang="ko-KR" altLang="en-US" dirty="0"/>
              <a:t>발생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캡슐화</a:t>
            </a:r>
            <a:r>
              <a:rPr lang="en-US" altLang="ko-KR" b="1" baseline="30000" dirty="0">
                <a:solidFill>
                  <a:schemeClr val="accent5"/>
                </a:solidFill>
              </a:rPr>
              <a:t>encapsulation</a:t>
            </a:r>
          </a:p>
          <a:p>
            <a:pPr lvl="1"/>
            <a:r>
              <a:rPr lang="ko-KR" altLang="en-US" dirty="0"/>
              <a:t>클래스의 속성을 외부에서 접근할 때 오류를 줄일 수 있음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 </a:t>
            </a:r>
            <a:r>
              <a:rPr lang="ko-KR" altLang="en-US" dirty="0"/>
              <a:t>캡슐화</a:t>
            </a:r>
          </a:p>
        </p:txBody>
      </p:sp>
    </p:spTree>
    <p:extLst>
      <p:ext uri="{BB962C8B-B14F-4D97-AF65-F5344CB8AC3E}">
        <p14:creationId xmlns:p14="http://schemas.microsoft.com/office/powerpoint/2010/main" val="3587132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906EEFB-F8B5-E83F-CA78-8A5780F911B4}"/>
              </a:ext>
            </a:extLst>
          </p:cNvPr>
          <p:cNvGrpSpPr/>
          <p:nvPr/>
        </p:nvGrpSpPr>
        <p:grpSpPr>
          <a:xfrm>
            <a:off x="904883" y="1128237"/>
            <a:ext cx="6758187" cy="5076701"/>
            <a:chOff x="650408" y="680832"/>
            <a:chExt cx="7479867" cy="5618822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408" y="5171500"/>
              <a:ext cx="7238370" cy="1059115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rcRect r="26520"/>
            <a:stretch/>
          </p:blipFill>
          <p:spPr>
            <a:xfrm>
              <a:off x="650408" y="680832"/>
              <a:ext cx="5349944" cy="4409054"/>
            </a:xfrm>
            <a:prstGeom prst="rect">
              <a:avLst/>
            </a:prstGeom>
          </p:spPr>
        </p:pic>
        <p:sp>
          <p:nvSpPr>
            <p:cNvPr id="11" name="TextBox 10"/>
            <p:cNvSpPr txBox="1"/>
            <p:nvPr/>
          </p:nvSpPr>
          <p:spPr>
            <a:xfrm>
              <a:off x="2630615" y="4292983"/>
              <a:ext cx="2448272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400">
                  <a:latin typeface="+mj-lt"/>
                </a:defRPr>
              </a:lvl1pPr>
            </a:lstStyle>
            <a:p>
              <a:pPr algn="ctr"/>
              <a:r>
                <a:rPr lang="en-US" altLang="ko-KR" sz="1600" dirty="0"/>
                <a:t>age</a:t>
              </a:r>
              <a:r>
                <a:rPr lang="ko-KR" altLang="en-US" sz="1600" dirty="0"/>
                <a:t>가 음수가 되는</a:t>
              </a:r>
              <a:endParaRPr lang="en-US" altLang="ko-KR" sz="1600" dirty="0"/>
            </a:p>
            <a:p>
              <a:pPr algn="ctr"/>
              <a:r>
                <a:rPr lang="ko-KR" altLang="en-US" sz="1600" dirty="0"/>
                <a:t>비정상적 상황</a:t>
              </a:r>
            </a:p>
          </p:txBody>
        </p:sp>
        <p:cxnSp>
          <p:nvCxnSpPr>
            <p:cNvPr id="12" name="직선 화살표 연결선 11"/>
            <p:cNvCxnSpPr/>
            <p:nvPr/>
          </p:nvCxnSpPr>
          <p:spPr>
            <a:xfrm flipH="1" flipV="1">
              <a:off x="2043433" y="4545650"/>
              <a:ext cx="587182" cy="19676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104324" y="5652433"/>
              <a:ext cx="4025951" cy="64722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400">
                  <a:latin typeface="+mj-lt"/>
                </a:defRPr>
              </a:lvl1pPr>
            </a:lstStyle>
            <a:p>
              <a:pPr algn="ctr"/>
              <a:r>
                <a:rPr lang="ko-KR" altLang="en-US" sz="1600" dirty="0"/>
                <a:t>문법 오류는 아니지만 값이 보호받지 못한 상태의 논리적 문제</a:t>
              </a:r>
            </a:p>
          </p:txBody>
        </p:sp>
        <p:cxnSp>
          <p:nvCxnSpPr>
            <p:cNvPr id="14" name="직선 화살표 연결선 13"/>
            <p:cNvCxnSpPr>
              <a:cxnSpLocks/>
              <a:stCxn id="13" idx="1"/>
            </p:cNvCxnSpPr>
            <p:nvPr/>
          </p:nvCxnSpPr>
          <p:spPr>
            <a:xfrm flipH="1" flipV="1">
              <a:off x="3234391" y="5957802"/>
              <a:ext cx="869933" cy="1824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6610147" y="1128237"/>
            <a:ext cx="3841252" cy="4917999"/>
          </a:xfrm>
        </p:spPr>
        <p:txBody>
          <a:bodyPr/>
          <a:lstStyle/>
          <a:p>
            <a:r>
              <a:rPr lang="ko-KR" altLang="en-US" b="1" dirty="0"/>
              <a:t>캡슐화</a:t>
            </a:r>
            <a:r>
              <a:rPr lang="en-US" altLang="ko-KR" b="1" baseline="30000" dirty="0">
                <a:solidFill>
                  <a:schemeClr val="accent5"/>
                </a:solidFill>
              </a:rPr>
              <a:t>encapsulation</a:t>
            </a:r>
          </a:p>
          <a:p>
            <a:pPr lvl="1"/>
            <a:r>
              <a:rPr lang="ko-KR" altLang="en-US" dirty="0" err="1"/>
              <a:t>메소드와</a:t>
            </a:r>
            <a:r>
              <a:rPr lang="ko-KR" altLang="en-US" dirty="0"/>
              <a:t> 변수를 외부에서 함부로 조작하는 것을 제한</a:t>
            </a:r>
            <a:endParaRPr lang="en-US" altLang="ko-KR" dirty="0"/>
          </a:p>
          <a:p>
            <a:pPr lvl="1"/>
            <a:r>
              <a:rPr lang="ko-KR" altLang="en-US" dirty="0"/>
              <a:t>데이터를 보호</a:t>
            </a:r>
            <a:endParaRPr lang="en-US" altLang="ko-KR" dirty="0"/>
          </a:p>
          <a:p>
            <a:pPr lvl="1"/>
            <a:r>
              <a:rPr lang="ko-KR" altLang="en-US" dirty="0"/>
              <a:t>우연히 값이 변경되는 것을 방지</a:t>
            </a:r>
            <a:endParaRPr lang="en-US" altLang="ko-KR" dirty="0"/>
          </a:p>
          <a:p>
            <a:pPr lvl="1"/>
            <a:r>
              <a:rPr lang="ko-KR" altLang="en-US" dirty="0"/>
              <a:t>논리적 오류를 줄이기 위한 방법</a:t>
            </a:r>
          </a:p>
          <a:p>
            <a:endParaRPr lang="ko-KR" altLang="en-US" dirty="0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FCAE342E-2667-288C-DBB3-FFB5EB8D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 </a:t>
            </a:r>
            <a:r>
              <a:rPr lang="ko-KR" altLang="en-US" dirty="0"/>
              <a:t>캡슐화</a:t>
            </a:r>
          </a:p>
        </p:txBody>
      </p:sp>
    </p:spTree>
    <p:extLst>
      <p:ext uri="{BB962C8B-B14F-4D97-AF65-F5344CB8AC3E}">
        <p14:creationId xmlns:p14="http://schemas.microsoft.com/office/powerpoint/2010/main" val="7083955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DC59B2-2483-B94A-6446-68943072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 </a:t>
            </a:r>
            <a:r>
              <a:rPr lang="ko-KR" altLang="en-US" dirty="0"/>
              <a:t>캡슐화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2197200"/>
            <a:ext cx="10015538" cy="27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936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rcRect r="14166"/>
          <a:stretch/>
        </p:blipFill>
        <p:spPr>
          <a:xfrm>
            <a:off x="6325620" y="4667319"/>
            <a:ext cx="5148186" cy="140330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5667"/>
          <a:stretch/>
        </p:blipFill>
        <p:spPr>
          <a:xfrm>
            <a:off x="399783" y="908719"/>
            <a:ext cx="5733002" cy="577585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6325619" y="1128237"/>
            <a:ext cx="4756395" cy="4917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dirty="0"/>
              <a:t>if </a:t>
            </a:r>
            <a:r>
              <a:rPr lang="ko-KR" altLang="en-US" dirty="0" err="1"/>
              <a:t>조건식을</a:t>
            </a:r>
            <a:r>
              <a:rPr lang="ko-KR" altLang="en-US" dirty="0"/>
              <a:t> 넣어서 </a:t>
            </a:r>
            <a:r>
              <a:rPr lang="en-US" altLang="ko-KR" dirty="0"/>
              <a:t>age </a:t>
            </a:r>
            <a:r>
              <a:rPr lang="ko-KR" altLang="en-US" dirty="0"/>
              <a:t>값이 음수일 때는 할당이 되지 않도록 해보기</a:t>
            </a:r>
          </a:p>
          <a:p>
            <a:pPr>
              <a:lnSpc>
                <a:spcPct val="100000"/>
              </a:lnSpc>
            </a:pPr>
            <a:r>
              <a:rPr lang="en-US" altLang="ko-KR" dirty="0" err="1"/>
              <a:t>setXXX</a:t>
            </a:r>
            <a:r>
              <a:rPr lang="ko-KR" altLang="en-US" dirty="0"/>
              <a:t>와 같이 시작하는 </a:t>
            </a:r>
            <a:r>
              <a:rPr lang="ko-KR" altLang="en-US" dirty="0" err="1"/>
              <a:t>메소드를</a:t>
            </a:r>
            <a:r>
              <a:rPr lang="ko-KR" altLang="en-US" dirty="0"/>
              <a:t> 세터</a:t>
            </a:r>
            <a:r>
              <a:rPr lang="en-US" altLang="ko-KR" b="1" baseline="30000" dirty="0">
                <a:solidFill>
                  <a:schemeClr val="accent5"/>
                </a:solidFill>
              </a:rPr>
              <a:t>setter</a:t>
            </a:r>
            <a:r>
              <a:rPr lang="ko-KR" altLang="en-US" dirty="0"/>
              <a:t>라고 함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반대로 </a:t>
            </a:r>
            <a:r>
              <a:rPr lang="en-US" altLang="ko-KR" dirty="0" err="1"/>
              <a:t>getXXX</a:t>
            </a:r>
            <a:r>
              <a:rPr lang="ko-KR" altLang="en-US" dirty="0"/>
              <a:t>와 같이 시작하는 </a:t>
            </a:r>
            <a:r>
              <a:rPr lang="ko-KR" altLang="en-US" dirty="0" err="1"/>
              <a:t>게터</a:t>
            </a:r>
            <a:r>
              <a:rPr lang="en-US" altLang="ko-KR" b="1" baseline="30000" dirty="0">
                <a:solidFill>
                  <a:schemeClr val="accent5"/>
                </a:solidFill>
              </a:rPr>
              <a:t>getter</a:t>
            </a:r>
            <a:r>
              <a:rPr lang="ko-KR" altLang="en-US" dirty="0"/>
              <a:t>를 통해서 멤버 값을 읽어오는 것도 가능</a:t>
            </a:r>
          </a:p>
          <a:p>
            <a:pPr>
              <a:lnSpc>
                <a:spcPct val="100000"/>
              </a:lnSpc>
            </a:pP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6386510-F9F1-27C4-81A7-990E39744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 </a:t>
            </a:r>
            <a:r>
              <a:rPr lang="ko-KR" altLang="en-US" dirty="0"/>
              <a:t>캡슐화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7896" y="4086320"/>
            <a:ext cx="2965909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400">
                <a:latin typeface="+mj-lt"/>
              </a:defRPr>
            </a:lvl1pPr>
          </a:lstStyle>
          <a:p>
            <a:pPr algn="ctr"/>
            <a:r>
              <a:rPr lang="ko-KR" altLang="en-US" sz="1600" dirty="0"/>
              <a:t>나이가 음수가 되는 비논리적 상황을 해결하는 방법</a:t>
            </a:r>
          </a:p>
        </p:txBody>
      </p:sp>
      <p:cxnSp>
        <p:nvCxnSpPr>
          <p:cNvPr id="12" name="직선 화살표 연결선 11"/>
          <p:cNvCxnSpPr>
            <a:cxnSpLocks/>
            <a:stCxn id="11" idx="2"/>
          </p:cNvCxnSpPr>
          <p:nvPr/>
        </p:nvCxnSpPr>
        <p:spPr>
          <a:xfrm flipH="1">
            <a:off x="8974342" y="4671095"/>
            <a:ext cx="1016509" cy="7982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29801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610" y="1752202"/>
            <a:ext cx="7419975" cy="368617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캡슐화를 통해 보다 안전하게 멤버 내부의 변수를 보호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970B1CE-9E9A-F7E7-C66A-1C4D238BD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10.7 </a:t>
            </a:r>
            <a:r>
              <a:rPr lang="ko-KR" altLang="en-US" dirty="0"/>
              <a:t>캡슐화</a:t>
            </a:r>
          </a:p>
        </p:txBody>
      </p:sp>
    </p:spTree>
    <p:extLst>
      <p:ext uri="{BB962C8B-B14F-4D97-AF65-F5344CB8AC3E}">
        <p14:creationId xmlns:p14="http://schemas.microsoft.com/office/powerpoint/2010/main" val="285007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A010317-8509-B1BF-E2BA-5F002BB9E7DA}"/>
              </a:ext>
            </a:extLst>
          </p:cNvPr>
          <p:cNvGrpSpPr/>
          <p:nvPr/>
        </p:nvGrpSpPr>
        <p:grpSpPr>
          <a:xfrm>
            <a:off x="2476510" y="2018130"/>
            <a:ext cx="7033875" cy="3791300"/>
            <a:chOff x="917028" y="2564782"/>
            <a:chExt cx="7033875" cy="3791300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r="20989"/>
            <a:stretch/>
          </p:blipFill>
          <p:spPr>
            <a:xfrm>
              <a:off x="917028" y="5394057"/>
              <a:ext cx="7021628" cy="962025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7029" y="2564782"/>
              <a:ext cx="7033874" cy="2646257"/>
            </a:xfrm>
            <a:prstGeom prst="rect">
              <a:avLst/>
            </a:prstGeom>
          </p:spPr>
        </p:pic>
      </p:grpSp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is </a:t>
            </a:r>
            <a:r>
              <a:rPr lang="ko-KR" altLang="en-US" dirty="0"/>
              <a:t>연산자는 두 </a:t>
            </a:r>
            <a:r>
              <a:rPr lang="ko-KR" altLang="en-US" dirty="0" err="1"/>
              <a:t>인스턴스가</a:t>
            </a:r>
            <a:r>
              <a:rPr lang="ko-KR" altLang="en-US" dirty="0"/>
              <a:t> 같으면 </a:t>
            </a:r>
            <a:r>
              <a:rPr lang="en-US" altLang="ko-KR" dirty="0"/>
              <a:t>True</a:t>
            </a:r>
            <a:r>
              <a:rPr lang="ko-KR" altLang="en-US" dirty="0"/>
              <a:t>를 반환하며</a:t>
            </a:r>
            <a:r>
              <a:rPr lang="en-US" altLang="ko-KR" dirty="0"/>
              <a:t>, </a:t>
            </a:r>
            <a:r>
              <a:rPr lang="ko-KR" altLang="en-US" dirty="0"/>
              <a:t>그렇지 않으면 </a:t>
            </a:r>
            <a:r>
              <a:rPr lang="en-US" altLang="ko-KR" dirty="0"/>
              <a:t>False</a:t>
            </a:r>
            <a:r>
              <a:rPr lang="ko-KR" altLang="en-US" dirty="0"/>
              <a:t>를 반환</a:t>
            </a:r>
            <a:r>
              <a:rPr lang="en-US" altLang="ko-KR" dirty="0"/>
              <a:t>. is not</a:t>
            </a:r>
            <a:r>
              <a:rPr lang="ko-KR" altLang="en-US" dirty="0"/>
              <a:t>은 반대 역할을 함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3200" dirty="0"/>
              <a:t>10.8 </a:t>
            </a:r>
            <a:r>
              <a:rPr lang="ko-KR" altLang="en-US" sz="3200" dirty="0"/>
              <a:t>객체의 </a:t>
            </a:r>
            <a:r>
              <a:rPr lang="ko-KR" altLang="en-US" sz="3200" dirty="0" err="1"/>
              <a:t>아이덴티티</a:t>
            </a:r>
            <a:r>
              <a:rPr lang="ko-KR" altLang="en-US" sz="3200" dirty="0"/>
              <a:t> 연산</a:t>
            </a:r>
            <a:r>
              <a:rPr lang="en-US" altLang="ko-KR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identity operator</a:t>
            </a:r>
            <a:r>
              <a:rPr lang="ko-KR" altLang="en-US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3200" dirty="0"/>
              <a:t>: is, is not</a:t>
            </a:r>
          </a:p>
        </p:txBody>
      </p:sp>
    </p:spTree>
    <p:extLst>
      <p:ext uri="{BB962C8B-B14F-4D97-AF65-F5344CB8AC3E}">
        <p14:creationId xmlns:p14="http://schemas.microsoft.com/office/powerpoint/2010/main" val="41337163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t="14066"/>
          <a:stretch/>
        </p:blipFill>
        <p:spPr>
          <a:xfrm>
            <a:off x="1337011" y="2275336"/>
            <a:ext cx="8062420" cy="49614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17702" r="10825" b="16843"/>
          <a:stretch/>
        </p:blipFill>
        <p:spPr>
          <a:xfrm>
            <a:off x="1337011" y="1627688"/>
            <a:ext cx="8044804" cy="44814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id(</a:t>
            </a:r>
            <a:r>
              <a:rPr lang="en-US" altLang="ko-KR" dirty="0" err="1"/>
              <a:t>list_a</a:t>
            </a:r>
            <a:r>
              <a:rPr lang="en-US" altLang="ko-KR" dirty="0"/>
              <a:t>), id(</a:t>
            </a:r>
            <a:r>
              <a:rPr lang="en-US" altLang="ko-KR" dirty="0" err="1"/>
              <a:t>list_b</a:t>
            </a:r>
            <a:r>
              <a:rPr lang="en-US" altLang="ko-KR" dirty="0"/>
              <a:t>)</a:t>
            </a:r>
            <a:r>
              <a:rPr lang="ko-KR" altLang="en-US" dirty="0"/>
              <a:t>를 출력하는 방법으로 결과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출력 결과 </a:t>
            </a:r>
            <a:r>
              <a:rPr lang="en-US" altLang="ko-KR" dirty="0" err="1"/>
              <a:t>list_a</a:t>
            </a:r>
            <a:r>
              <a:rPr lang="ko-KR" altLang="en-US" dirty="0"/>
              <a:t>와 </a:t>
            </a:r>
            <a:r>
              <a:rPr lang="en-US" altLang="ko-KR" dirty="0" err="1"/>
              <a:t>list_b</a:t>
            </a:r>
            <a:r>
              <a:rPr lang="ko-KR" altLang="en-US" dirty="0"/>
              <a:t>는 각기 다른 아이디 값을 가짐</a:t>
            </a:r>
          </a:p>
          <a:p>
            <a:endParaRPr lang="ko-KR" altLang="en-US" dirty="0"/>
          </a:p>
        </p:txBody>
      </p:sp>
      <p:sp>
        <p:nvSpPr>
          <p:cNvPr id="16" name="제목 15">
            <a:extLst>
              <a:ext uri="{FF2B5EF4-FFF2-40B4-BE49-F238E27FC236}">
                <a16:creationId xmlns:a16="http://schemas.microsoft.com/office/drawing/2014/main" id="{5C386A9F-E160-154F-9331-D847EDD28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10.8 </a:t>
            </a:r>
            <a:r>
              <a:rPr lang="ko-KR" altLang="en-US" sz="3200" dirty="0"/>
              <a:t>객체의 아이덴티티 연산</a:t>
            </a:r>
            <a:r>
              <a:rPr lang="en-US" altLang="ko-KR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identity operator</a:t>
            </a:r>
            <a:r>
              <a:rPr lang="ko-KR" altLang="en-US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3200" dirty="0"/>
              <a:t>: is, is not</a:t>
            </a:r>
            <a:endParaRPr lang="ko-KR" altLang="en-US" sz="3200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67C5D66-985B-553C-061D-5B0F54FDEA13}"/>
              </a:ext>
            </a:extLst>
          </p:cNvPr>
          <p:cNvGrpSpPr/>
          <p:nvPr/>
        </p:nvGrpSpPr>
        <p:grpSpPr>
          <a:xfrm>
            <a:off x="1067257" y="3429000"/>
            <a:ext cx="10257882" cy="2477032"/>
            <a:chOff x="789757" y="3696195"/>
            <a:chExt cx="10257882" cy="2477032"/>
          </a:xfrm>
        </p:grpSpPr>
        <p:sp>
          <p:nvSpPr>
            <p:cNvPr id="6" name="TextBox 5"/>
            <p:cNvSpPr txBox="1"/>
            <p:nvPr/>
          </p:nvSpPr>
          <p:spPr>
            <a:xfrm>
              <a:off x="789758" y="4138617"/>
              <a:ext cx="2128009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400">
                  <a:latin typeface="+mj-lt"/>
                </a:defRPr>
              </a:lvl1pPr>
            </a:lstStyle>
            <a:p>
              <a:pPr algn="ctr"/>
              <a:r>
                <a:rPr lang="en-US" altLang="ko-KR" sz="1800">
                  <a:latin typeface="D2Coding" panose="020B0609020101020101" pitchFamily="49" charset="-127"/>
                  <a:ea typeface="D2Coding" panose="020B0609020101020101" pitchFamily="49" charset="-127"/>
                </a:rPr>
                <a:t>list_a</a:t>
              </a:r>
              <a:endPara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89757" y="4954352"/>
              <a:ext cx="2128009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400">
                  <a:latin typeface="+mj-lt"/>
                </a:defRPr>
              </a:lvl1pPr>
            </a:lstStyle>
            <a:p>
              <a:pPr algn="ctr"/>
              <a:r>
                <a:rPr lang="en-US" altLang="ko-KR" sz="1800">
                  <a:latin typeface="D2Coding" panose="020B0609020101020101" pitchFamily="49" charset="-127"/>
                  <a:ea typeface="D2Coding" panose="020B0609020101020101" pitchFamily="49" charset="-127"/>
                </a:rPr>
                <a:t>list_b</a:t>
              </a:r>
              <a:endPara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cxnSp>
          <p:nvCxnSpPr>
            <p:cNvPr id="8" name="직선 화살표 연결선 7"/>
            <p:cNvCxnSpPr>
              <a:stCxn id="6" idx="3"/>
            </p:cNvCxnSpPr>
            <p:nvPr/>
          </p:nvCxnSpPr>
          <p:spPr>
            <a:xfrm>
              <a:off x="2917767" y="4323283"/>
              <a:ext cx="68164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/>
            <p:cNvCxnSpPr/>
            <p:nvPr/>
          </p:nvCxnSpPr>
          <p:spPr>
            <a:xfrm>
              <a:off x="2917767" y="5139018"/>
              <a:ext cx="681644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직사각형 9"/>
            <p:cNvSpPr/>
            <p:nvPr/>
          </p:nvSpPr>
          <p:spPr>
            <a:xfrm>
              <a:off x="3674225" y="4048298"/>
              <a:ext cx="2502131" cy="45965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[10, 20, 30]</a:t>
              </a:r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699188" y="4909192"/>
              <a:ext cx="2502131" cy="45965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[10, 20, 30]</a:t>
              </a:r>
              <a:endParaRPr lang="ko-KR" altLang="en-US"/>
            </a:p>
          </p:txBody>
        </p:sp>
        <p:sp>
          <p:nvSpPr>
            <p:cNvPr id="12" name="오른쪽 중괄호 11"/>
            <p:cNvSpPr/>
            <p:nvPr/>
          </p:nvSpPr>
          <p:spPr>
            <a:xfrm>
              <a:off x="6317673" y="4048298"/>
              <a:ext cx="332509" cy="1275386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907900" y="4168514"/>
              <a:ext cx="4139739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두 객체의 내용</a:t>
              </a:r>
              <a:r>
                <a:rPr lang="en-US" altLang="ko-KR" sz="1600" dirty="0"/>
                <a:t>(</a:t>
              </a:r>
              <a:r>
                <a:rPr lang="ko-KR" altLang="en-US" sz="1600" dirty="0"/>
                <a:t>속성값</a:t>
              </a:r>
              <a:r>
                <a:rPr lang="en-US" altLang="ko-KR" sz="1600" dirty="0"/>
                <a:t>)</a:t>
              </a:r>
              <a:r>
                <a:rPr lang="ko-KR" altLang="en-US" sz="1600" dirty="0"/>
                <a:t>은 </a:t>
              </a:r>
              <a:r>
                <a:rPr lang="en-US" altLang="ko-KR" sz="1600" dirty="0"/>
                <a:t>[10, 20, 30]</a:t>
              </a:r>
              <a:r>
                <a:rPr lang="ko-KR" altLang="en-US" sz="1600" dirty="0"/>
                <a:t>이지만</a:t>
              </a:r>
              <a:r>
                <a:rPr lang="en-US" altLang="ko-KR" sz="1600" dirty="0"/>
                <a:t> </a:t>
              </a:r>
              <a:r>
                <a:rPr lang="ko-KR" altLang="en-US" sz="1600" dirty="0"/>
                <a:t>서로 다른 메모리에 저장되는 다른 객체이므로</a:t>
              </a:r>
              <a:r>
                <a:rPr lang="en-US" altLang="ko-KR" sz="1600" dirty="0"/>
                <a:t> </a:t>
              </a:r>
              <a:r>
                <a:rPr lang="ko-KR" altLang="en-US" sz="1600" dirty="0"/>
                <a:t>아이디가 다르게 출력됨</a:t>
              </a:r>
              <a:r>
                <a:rPr lang="en-US" altLang="ko-KR" sz="1600" dirty="0"/>
                <a:t>(</a:t>
              </a:r>
              <a:r>
                <a:rPr lang="en-US" altLang="ko-KR" sz="1600" dirty="0">
                  <a:solidFill>
                    <a:srgbClr val="FF0000"/>
                  </a:solidFill>
                </a:rPr>
                <a:t>is</a:t>
              </a:r>
              <a:r>
                <a:rPr lang="ko-KR" altLang="en-US" sz="1600" dirty="0">
                  <a:solidFill>
                    <a:srgbClr val="FF0000"/>
                  </a:solidFill>
                </a:rPr>
                <a:t>는 아이디 값을 비교함</a:t>
              </a:r>
              <a:r>
                <a:rPr lang="en-US" altLang="ko-KR" sz="1600" dirty="0"/>
                <a:t>)</a:t>
              </a:r>
              <a:endParaRPr lang="ko-KR" altLang="en-US" sz="1600" dirty="0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371292" y="369619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kern="0">
                  <a:solidFill>
                    <a:srgbClr val="FF0000"/>
                  </a:solidFill>
                  <a:latin typeface="D2Coding"/>
                  <a:ea typeface="D2Coding"/>
                </a:rPr>
                <a:t>76537160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4396255" y="5348098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kern="0">
                  <a:solidFill>
                    <a:srgbClr val="FF0000"/>
                  </a:solidFill>
                  <a:latin typeface="D2Coding"/>
                  <a:ea typeface="D2Coding"/>
                </a:rPr>
                <a:t>80319880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3480013" y="5834673"/>
              <a:ext cx="274947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kern="0" dirty="0" err="1">
                  <a:solidFill>
                    <a:srgbClr val="000000"/>
                  </a:solidFill>
                  <a:latin typeface="D2Coding"/>
                  <a:ea typeface="D2Coding"/>
                </a:rPr>
                <a:t>list_a</a:t>
              </a:r>
              <a:r>
                <a:rPr lang="en-US" altLang="ko-KR" sz="1600" kern="0" dirty="0">
                  <a:solidFill>
                    <a:srgbClr val="000000"/>
                  </a:solidFill>
                  <a:latin typeface="D2Coding"/>
                  <a:ea typeface="D2Coding"/>
                </a:rPr>
                <a:t> is </a:t>
              </a:r>
              <a:r>
                <a:rPr lang="en-US" altLang="ko-KR" sz="1600" kern="0" dirty="0" err="1">
                  <a:solidFill>
                    <a:srgbClr val="000000"/>
                  </a:solidFill>
                  <a:latin typeface="D2Coding"/>
                  <a:ea typeface="D2Coding"/>
                </a:rPr>
                <a:t>list_b</a:t>
              </a:r>
              <a:r>
                <a:rPr lang="en-US" altLang="ko-KR" sz="1600" kern="0" dirty="0">
                  <a:solidFill>
                    <a:srgbClr val="000000"/>
                  </a:solidFill>
                  <a:latin typeface="D2Coding"/>
                  <a:ea typeface="D2Coding"/>
                </a:rPr>
                <a:t> </a:t>
              </a:r>
              <a:r>
                <a:rPr lang="ko-KR" altLang="en-US" sz="1600" kern="0" dirty="0">
                  <a:solidFill>
                    <a:srgbClr val="000000"/>
                  </a:solidFill>
                  <a:latin typeface="D2Coding"/>
                  <a:ea typeface="D2Coding"/>
                </a:rPr>
                <a:t>는 </a:t>
              </a:r>
              <a:r>
                <a:rPr lang="en-US" altLang="ko-KR" sz="1600" kern="0" dirty="0">
                  <a:solidFill>
                    <a:srgbClr val="FF0000"/>
                  </a:solidFill>
                  <a:latin typeface="D2Coding"/>
                  <a:ea typeface="D2Coding"/>
                </a:rPr>
                <a:t>False</a:t>
              </a:r>
              <a:endParaRPr lang="ko-KR" altLang="en-US" sz="16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7831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== </a:t>
            </a:r>
            <a:r>
              <a:rPr lang="ko-KR" altLang="en-US" dirty="0"/>
              <a:t>연산자는 두 인스턴스의 속성 값</a:t>
            </a:r>
            <a:r>
              <a:rPr lang="en-US" altLang="ko-KR" dirty="0"/>
              <a:t>,</a:t>
            </a:r>
            <a:r>
              <a:rPr lang="ko-KR" altLang="en-US" dirty="0"/>
              <a:t> 즉 인스턴스 변수 값이 서로 일치하는지 확인하는데 사용</a:t>
            </a:r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43C9A84-BA90-7E10-B647-38B2B6341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10.8 </a:t>
            </a:r>
            <a:r>
              <a:rPr lang="ko-KR" altLang="en-US" sz="3200" dirty="0"/>
              <a:t>객체의 아이덴티티 연산</a:t>
            </a:r>
            <a:r>
              <a:rPr lang="en-US" altLang="ko-KR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identity operator</a:t>
            </a:r>
            <a:r>
              <a:rPr lang="ko-KR" altLang="en-US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3200" dirty="0"/>
              <a:t>: is, is not</a:t>
            </a:r>
            <a:endParaRPr lang="ko-KR" altLang="en-US" sz="32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269" y="2034247"/>
            <a:ext cx="6733592" cy="4081225"/>
          </a:xfrm>
          <a:prstGeom prst="rect">
            <a:avLst/>
          </a:prstGeom>
        </p:spPr>
      </p:pic>
      <p:grpSp>
        <p:nvGrpSpPr>
          <p:cNvPr id="2" name="그룹 1"/>
          <p:cNvGrpSpPr/>
          <p:nvPr/>
        </p:nvGrpSpPr>
        <p:grpSpPr>
          <a:xfrm>
            <a:off x="5485470" y="4140468"/>
            <a:ext cx="4907768" cy="1905768"/>
            <a:chOff x="5372865" y="4136761"/>
            <a:chExt cx="5205121" cy="2021235"/>
          </a:xfrm>
        </p:grpSpPr>
        <p:sp>
          <p:nvSpPr>
            <p:cNvPr id="11" name="직사각형 10"/>
            <p:cNvSpPr/>
            <p:nvPr/>
          </p:nvSpPr>
          <p:spPr>
            <a:xfrm>
              <a:off x="5372865" y="4488864"/>
              <a:ext cx="2502131" cy="45965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[10, 20, 30]</a:t>
              </a:r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5397828" y="5349758"/>
              <a:ext cx="2502131" cy="45965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[10, 20, 30]</a:t>
              </a:r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6069932" y="4136761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kern="0">
                  <a:solidFill>
                    <a:srgbClr val="FF0000"/>
                  </a:solidFill>
                  <a:latin typeface="D2Coding"/>
                  <a:ea typeface="D2Coding"/>
                </a:rPr>
                <a:t>76537160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6094895" y="5788664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kern="0">
                  <a:solidFill>
                    <a:srgbClr val="FF0000"/>
                  </a:solidFill>
                  <a:latin typeface="D2Coding"/>
                  <a:ea typeface="D2Coding"/>
                </a:rPr>
                <a:t>80319880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7988354" y="4865521"/>
              <a:ext cx="2589632" cy="3590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kern="0" dirty="0" err="1">
                  <a:solidFill>
                    <a:srgbClr val="000000"/>
                  </a:solidFill>
                  <a:latin typeface="D2Coding"/>
                  <a:ea typeface="D2Coding"/>
                </a:rPr>
                <a:t>list_a</a:t>
              </a:r>
              <a:r>
                <a:rPr lang="en-US" altLang="ko-KR" sz="1600" kern="0" dirty="0">
                  <a:solidFill>
                    <a:srgbClr val="000000"/>
                  </a:solidFill>
                  <a:latin typeface="D2Coding"/>
                  <a:ea typeface="D2Coding"/>
                </a:rPr>
                <a:t> = </a:t>
              </a:r>
              <a:r>
                <a:rPr lang="en-US" altLang="ko-KR" sz="1600" kern="0" dirty="0" err="1">
                  <a:solidFill>
                    <a:srgbClr val="000000"/>
                  </a:solidFill>
                  <a:latin typeface="D2Coding"/>
                  <a:ea typeface="D2Coding"/>
                </a:rPr>
                <a:t>list_b</a:t>
              </a:r>
              <a:r>
                <a:rPr lang="ko-KR" altLang="en-US" sz="1600" kern="0" dirty="0">
                  <a:solidFill>
                    <a:srgbClr val="000000"/>
                  </a:solidFill>
                  <a:latin typeface="D2Coding"/>
                  <a:ea typeface="D2Coding"/>
                </a:rPr>
                <a:t>는 </a:t>
              </a:r>
              <a:r>
                <a:rPr lang="en-US" altLang="ko-KR" sz="1600" kern="0" dirty="0">
                  <a:solidFill>
                    <a:srgbClr val="FF0000"/>
                  </a:solidFill>
                  <a:latin typeface="D2Coding"/>
                  <a:ea typeface="D2Coding"/>
                </a:rPr>
                <a:t>True</a:t>
              </a:r>
              <a:endParaRPr lang="ko-KR" altLang="en-US" sz="1600" dirty="0">
                <a:solidFill>
                  <a:srgbClr val="FF0000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6394371" y="4957854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kern="0">
                  <a:solidFill>
                    <a:srgbClr val="000000"/>
                  </a:solidFill>
                  <a:latin typeface="D2Coding"/>
                  <a:ea typeface="D2Coding"/>
                </a:rPr>
                <a:t>==</a:t>
              </a:r>
              <a:endParaRPr lang="ko-KR" altLang="en-US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99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67AEC105-896A-38BA-5455-83AC423D34F3}"/>
              </a:ext>
            </a:extLst>
          </p:cNvPr>
          <p:cNvGrpSpPr/>
          <p:nvPr/>
        </p:nvGrpSpPr>
        <p:grpSpPr>
          <a:xfrm>
            <a:off x="904883" y="1071834"/>
            <a:ext cx="9541144" cy="5005776"/>
            <a:chOff x="764099" y="551647"/>
            <a:chExt cx="10949407" cy="5744624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r="4482"/>
            <a:stretch/>
          </p:blipFill>
          <p:spPr>
            <a:xfrm>
              <a:off x="764099" y="551647"/>
              <a:ext cx="6210280" cy="4374892"/>
            </a:xfrm>
            <a:prstGeom prst="rect">
              <a:avLst/>
            </a:prstGeom>
          </p:spPr>
        </p:pic>
        <p:sp>
          <p:nvSpPr>
            <p:cNvPr id="20" name="TextBox 19"/>
            <p:cNvSpPr txBox="1"/>
            <p:nvPr/>
          </p:nvSpPr>
          <p:spPr>
            <a:xfrm>
              <a:off x="789758" y="5111204"/>
              <a:ext cx="2128009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400">
                  <a:latin typeface="+mj-lt"/>
                </a:defRPr>
              </a:lvl1pPr>
            </a:lstStyle>
            <a:p>
              <a:pPr algn="ctr"/>
              <a:r>
                <a:rPr lang="en-US" altLang="ko-KR" sz="1800">
                  <a:latin typeface="D2Coding" panose="020B0609020101020101" pitchFamily="49" charset="-127"/>
                  <a:ea typeface="D2Coding" panose="020B0609020101020101" pitchFamily="49" charset="-127"/>
                </a:rPr>
                <a:t>a</a:t>
              </a:r>
              <a:endPara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89757" y="5926939"/>
              <a:ext cx="2128009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>
                <a:defRPr sz="1400">
                  <a:latin typeface="+mj-lt"/>
                </a:defRPr>
              </a:lvl1pPr>
            </a:lstStyle>
            <a:p>
              <a:pPr algn="ctr"/>
              <a:r>
                <a:rPr lang="en-US" altLang="ko-KR" sz="1800">
                  <a:latin typeface="D2Coding" panose="020B0609020101020101" pitchFamily="49" charset="-127"/>
                  <a:ea typeface="D2Coding" panose="020B0609020101020101" pitchFamily="49" charset="-127"/>
                </a:rPr>
                <a:t>b</a:t>
              </a:r>
              <a:endPara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cxnSp>
          <p:nvCxnSpPr>
            <p:cNvPr id="22" name="직선 화살표 연결선 21"/>
            <p:cNvCxnSpPr>
              <a:stCxn id="20" idx="3"/>
              <a:endCxn id="24" idx="1"/>
            </p:cNvCxnSpPr>
            <p:nvPr/>
          </p:nvCxnSpPr>
          <p:spPr>
            <a:xfrm>
              <a:off x="2917767" y="5295870"/>
              <a:ext cx="756457" cy="3457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/>
            <p:cNvCxnSpPr>
              <a:endCxn id="24" idx="1"/>
            </p:cNvCxnSpPr>
            <p:nvPr/>
          </p:nvCxnSpPr>
          <p:spPr>
            <a:xfrm flipV="1">
              <a:off x="2917767" y="5641582"/>
              <a:ext cx="756457" cy="47002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/>
            <p:cNvSpPr/>
            <p:nvPr/>
          </p:nvSpPr>
          <p:spPr>
            <a:xfrm>
              <a:off x="3674224" y="5411756"/>
              <a:ext cx="2502131" cy="45965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‘ABC’</a:t>
              </a:r>
              <a:endParaRPr lang="ko-KR" altLang="en-US"/>
            </a:p>
          </p:txBody>
        </p:sp>
        <p:sp>
          <p:nvSpPr>
            <p:cNvPr id="26" name="오른쪽 중괄호 25"/>
            <p:cNvSpPr/>
            <p:nvPr/>
          </p:nvSpPr>
          <p:spPr>
            <a:xfrm>
              <a:off x="6317673" y="5020885"/>
              <a:ext cx="332509" cy="1275386"/>
            </a:xfrm>
            <a:prstGeom prst="rightBrac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91500" y="5468726"/>
              <a:ext cx="41397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/>
                <a:t>a</a:t>
              </a:r>
              <a:r>
                <a:rPr lang="ko-KR" altLang="en-US" sz="1600" dirty="0"/>
                <a:t>와 </a:t>
              </a:r>
              <a:r>
                <a:rPr lang="en-US" altLang="ko-KR" sz="1600" dirty="0"/>
                <a:t>b</a:t>
              </a:r>
              <a:r>
                <a:rPr lang="ko-KR" altLang="en-US" sz="1600" dirty="0"/>
                <a:t>가 같은 객체를 참조함 </a:t>
              </a: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4411896" y="5020885"/>
              <a:ext cx="12234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kern="0">
                  <a:solidFill>
                    <a:srgbClr val="000000"/>
                  </a:solidFill>
                  <a:latin typeface="D2Coding"/>
                  <a:ea typeface="D2Coding"/>
                </a:rPr>
                <a:t>765323962</a:t>
              </a:r>
              <a:endParaRPr lang="ko-KR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143592" y="4165033"/>
              <a:ext cx="4569914" cy="1236214"/>
            </a:xfrm>
            <a:prstGeom prst="rect">
              <a:avLst/>
            </a:prstGeom>
            <a:solidFill>
              <a:schemeClr val="bg2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600" dirty="0" err="1"/>
                <a:t>파이썬의</a:t>
              </a:r>
              <a:r>
                <a:rPr lang="ko-KR" altLang="en-US" sz="1600" dirty="0"/>
                <a:t> </a:t>
              </a:r>
              <a:r>
                <a:rPr lang="en-US" altLang="ko-KR" sz="1600" dirty="0" err="1"/>
                <a:t>str</a:t>
              </a:r>
              <a:r>
                <a:rPr lang="en-US" altLang="ko-KR" sz="1600" dirty="0"/>
                <a:t> </a:t>
              </a:r>
              <a:r>
                <a:rPr lang="ko-KR" altLang="en-US" sz="1600" dirty="0"/>
                <a:t>객체는 문자 객체를 저장하는 표에 넣어 놓은 후 </a:t>
              </a:r>
              <a:r>
                <a:rPr lang="en-US" altLang="ko-KR" sz="1600" dirty="0"/>
                <a:t>a, b</a:t>
              </a:r>
              <a:r>
                <a:rPr lang="ko-KR" altLang="en-US" sz="1600" dirty="0"/>
                <a:t>에 같은 문자를 할당할 경우 </a:t>
              </a:r>
              <a:r>
                <a:rPr lang="ko-KR" altLang="en-US" sz="1600" dirty="0">
                  <a:solidFill>
                    <a:srgbClr val="FF0000"/>
                  </a:solidFill>
                </a:rPr>
                <a:t>메모리를 절약</a:t>
              </a:r>
              <a:r>
                <a:rPr lang="ko-KR" altLang="en-US" sz="1600" dirty="0"/>
                <a:t>하기 위해서 같은 저장위치를 참조한다</a:t>
              </a:r>
              <a:r>
                <a:rPr lang="en-US" altLang="ko-KR" sz="1600" dirty="0"/>
                <a:t>.</a:t>
              </a:r>
              <a:endParaRPr lang="ko-KR" altLang="en-US" sz="1600" dirty="0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7143591" y="3190021"/>
              <a:ext cx="4139740" cy="95365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문자열은 </a:t>
              </a:r>
              <a:r>
                <a:rPr lang="ko-KR" altLang="en-US" sz="1600" dirty="0" err="1"/>
                <a:t>불변객체</a:t>
              </a:r>
              <a:r>
                <a:rPr lang="en-US" altLang="ko-KR" sz="1600" dirty="0"/>
                <a:t>(immutable)</a:t>
              </a:r>
              <a:r>
                <a:rPr lang="ko-KR" altLang="en-US" sz="1600" dirty="0"/>
                <a:t>이므로</a:t>
              </a:r>
              <a:endParaRPr lang="en-US" altLang="ko-KR" sz="1600" dirty="0"/>
            </a:p>
            <a:p>
              <a:r>
                <a:rPr lang="ko-KR" altLang="en-US" sz="1600" dirty="0"/>
                <a:t>이 방법을 사용해도 아무런 문제가 </a:t>
              </a:r>
              <a:endParaRPr lang="en-US" altLang="ko-KR" sz="1600" dirty="0"/>
            </a:p>
            <a:p>
              <a:r>
                <a:rPr lang="ko-KR" altLang="en-US" sz="1600" dirty="0"/>
                <a:t>발생하지 않는다</a:t>
              </a:r>
              <a:r>
                <a:rPr lang="en-US" altLang="ko-KR" sz="1600" dirty="0"/>
                <a:t>.</a:t>
              </a:r>
              <a:endParaRPr lang="ko-KR" altLang="en-US" sz="1600" dirty="0"/>
            </a:p>
          </p:txBody>
        </p:sp>
      </p:grpSp>
      <p:sp>
        <p:nvSpPr>
          <p:cNvPr id="3" name="제목 2">
            <a:extLst>
              <a:ext uri="{FF2B5EF4-FFF2-40B4-BE49-F238E27FC236}">
                <a16:creationId xmlns:a16="http://schemas.microsoft.com/office/drawing/2014/main" id="{799589A4-20AF-62ED-A414-60270729B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10.8 </a:t>
            </a:r>
            <a:r>
              <a:rPr lang="ko-KR" altLang="en-US" sz="3200" dirty="0"/>
              <a:t>객체의 아이덴티티 연산</a:t>
            </a:r>
            <a:r>
              <a:rPr lang="en-US" altLang="ko-KR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identity operator</a:t>
            </a:r>
            <a:r>
              <a:rPr lang="ko-KR" altLang="en-US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3200" dirty="0"/>
              <a:t>: is, is not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3121031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8B4355B8-EEAF-8EF5-3DE6-BF1B30CE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10.8 </a:t>
            </a:r>
            <a:r>
              <a:rPr lang="ko-KR" altLang="en-US" sz="3200" dirty="0"/>
              <a:t>객체의 아이덴티티 연산</a:t>
            </a:r>
            <a:r>
              <a:rPr lang="en-US" altLang="ko-KR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identity operator</a:t>
            </a:r>
            <a:r>
              <a:rPr lang="ko-KR" altLang="en-US" sz="3200" b="1" baseline="300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3200" dirty="0"/>
              <a:t>: is, is not</a:t>
            </a:r>
            <a:endParaRPr lang="ko-KR" altLang="en-US" sz="3200" dirty="0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45444" y="1792288"/>
            <a:ext cx="8858250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18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0600" y="2001987"/>
            <a:ext cx="7286821" cy="4587999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차원 벡터를 표현하는 </a:t>
            </a:r>
            <a:r>
              <a:rPr lang="en-US" altLang="ko-KR" dirty="0"/>
              <a:t>Vector2D</a:t>
            </a:r>
            <a:r>
              <a:rPr lang="ko-KR" altLang="en-US" dirty="0"/>
              <a:t>라는 클래스를 구현하고 이 클래스를 통해서 특수 </a:t>
            </a:r>
            <a:r>
              <a:rPr lang="ko-KR" altLang="en-US" dirty="0" err="1"/>
              <a:t>메소드의</a:t>
            </a:r>
            <a:r>
              <a:rPr lang="ko-KR" altLang="en-US" dirty="0"/>
              <a:t> 필요성에 대해 살펴보자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</p:spTree>
    <p:extLst>
      <p:ext uri="{BB962C8B-B14F-4D97-AF65-F5344CB8AC3E}">
        <p14:creationId xmlns:p14="http://schemas.microsoft.com/office/powerpoint/2010/main" val="23204552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에러가 나타나는 이유는 클래스 내부에 어떤 방식으로 덧셈을 할지 그 방법을 서술해야 하기 때문</a:t>
            </a:r>
          </a:p>
          <a:p>
            <a:r>
              <a:rPr lang="en-US" altLang="ko-KR" dirty="0"/>
              <a:t>add()</a:t>
            </a:r>
            <a:r>
              <a:rPr lang="ko-KR" altLang="en-US" dirty="0"/>
              <a:t>라는 </a:t>
            </a:r>
            <a:r>
              <a:rPr lang="ko-KR" altLang="en-US" dirty="0" err="1"/>
              <a:t>메소드를</a:t>
            </a:r>
            <a:r>
              <a:rPr lang="ko-KR" altLang="en-US" dirty="0"/>
              <a:t> 정의하고 두 벡터의 </a:t>
            </a:r>
            <a:r>
              <a:rPr lang="en-US" altLang="ko-KR" dirty="0"/>
              <a:t>x </a:t>
            </a:r>
            <a:r>
              <a:rPr lang="ko-KR" altLang="en-US" dirty="0"/>
              <a:t>성분과 </a:t>
            </a:r>
            <a:r>
              <a:rPr lang="en-US" altLang="ko-KR" dirty="0"/>
              <a:t>y </a:t>
            </a:r>
            <a:r>
              <a:rPr lang="ko-KR" altLang="en-US" dirty="0"/>
              <a:t>성분을 더하고 이 </a:t>
            </a:r>
            <a:r>
              <a:rPr lang="ko-KR" altLang="en-US" dirty="0" err="1"/>
              <a:t>성분값을</a:t>
            </a:r>
            <a:r>
              <a:rPr lang="ko-KR" altLang="en-US" dirty="0"/>
              <a:t> 초기값으로 가지는 </a:t>
            </a:r>
            <a:r>
              <a:rPr lang="en-US" altLang="ko-KR" dirty="0"/>
              <a:t>Vector2D</a:t>
            </a:r>
            <a:r>
              <a:rPr lang="ko-KR" altLang="en-US" dirty="0"/>
              <a:t>를 반환하도록 해보기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18DFA33-785E-0664-C6FB-6670970C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</p:spTree>
    <p:extLst>
      <p:ext uri="{BB962C8B-B14F-4D97-AF65-F5344CB8AC3E}">
        <p14:creationId xmlns:p14="http://schemas.microsoft.com/office/powerpoint/2010/main" val="1187530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25576"/>
          <a:stretch/>
        </p:blipFill>
        <p:spPr>
          <a:xfrm>
            <a:off x="437507" y="908720"/>
            <a:ext cx="4925063" cy="5618204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5446643" y="1128237"/>
            <a:ext cx="5635371" cy="4917999"/>
          </a:xfrm>
        </p:spPr>
        <p:txBody>
          <a:bodyPr/>
          <a:lstStyle/>
          <a:p>
            <a:r>
              <a:rPr lang="en-US" altLang="ko-KR" dirty="0"/>
              <a:t>v1.add(v2)</a:t>
            </a:r>
            <a:r>
              <a:rPr lang="ko-KR" altLang="en-US" dirty="0"/>
              <a:t>는 두 벡터의 합을 출력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add() </a:t>
            </a:r>
            <a:r>
              <a:rPr lang="ko-KR" altLang="en-US" dirty="0" err="1"/>
              <a:t>메소드</a:t>
            </a:r>
            <a:r>
              <a:rPr lang="ko-KR" altLang="en-US" dirty="0"/>
              <a:t> 대신에 </a:t>
            </a:r>
            <a:r>
              <a:rPr lang="en-US" altLang="ko-KR" dirty="0"/>
              <a:t>+, -</a:t>
            </a:r>
            <a:r>
              <a:rPr lang="ko-KR" altLang="en-US" dirty="0"/>
              <a:t>와 같은 연산자를 사용하면 보다 편리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3A9B29-9FD8-3780-D3D1-1DC19B92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</p:spTree>
    <p:extLst>
      <p:ext uri="{BB962C8B-B14F-4D97-AF65-F5344CB8AC3E}">
        <p14:creationId xmlns:p14="http://schemas.microsoft.com/office/powerpoint/2010/main" val="37122013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15356"/>
          <a:stretch/>
        </p:blipFill>
        <p:spPr>
          <a:xfrm>
            <a:off x="571939" y="877188"/>
            <a:ext cx="5198240" cy="5570908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>
          <a:xfrm>
            <a:off x="6407894" y="1128237"/>
            <a:ext cx="4674120" cy="4917999"/>
          </a:xfrm>
        </p:spPr>
        <p:txBody>
          <a:bodyPr/>
          <a:lstStyle/>
          <a:p>
            <a:r>
              <a:rPr lang="en-US" altLang="ko-KR" dirty="0"/>
              <a:t>__add__() </a:t>
            </a:r>
            <a:r>
              <a:rPr lang="ko-KR" altLang="en-US" dirty="0"/>
              <a:t>에는 두 벡터의 합을 구하는 기능을 구현하고</a:t>
            </a:r>
            <a:r>
              <a:rPr lang="en-US" altLang="ko-KR" dirty="0"/>
              <a:t>, __sub__()</a:t>
            </a:r>
            <a:r>
              <a:rPr lang="ko-KR" altLang="en-US" dirty="0"/>
              <a:t>에는 두 벡터의 차를 구하는 기능을 구현</a:t>
            </a:r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v1 + v2</a:t>
            </a:r>
            <a:r>
              <a:rPr lang="ko-KR" altLang="en-US" dirty="0">
                <a:solidFill>
                  <a:srgbClr val="FF0000"/>
                </a:solidFill>
              </a:rPr>
              <a:t>는 </a:t>
            </a:r>
            <a:r>
              <a:rPr lang="en-US" altLang="ko-KR" dirty="0">
                <a:solidFill>
                  <a:srgbClr val="FF0000"/>
                </a:solidFill>
              </a:rPr>
              <a:t>v1.__add__(v2)</a:t>
            </a:r>
            <a:r>
              <a:rPr lang="ko-KR" altLang="en-US" dirty="0"/>
              <a:t>와 같은 </a:t>
            </a:r>
            <a:r>
              <a:rPr lang="ko-KR" altLang="en-US" dirty="0" err="1"/>
              <a:t>메소드</a:t>
            </a:r>
            <a:r>
              <a:rPr lang="ko-KR" altLang="en-US" dirty="0"/>
              <a:t> 호출과 동일한 기능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29F200-F0E2-4C65-7DDA-1CFB82CA4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r="44862"/>
          <a:stretch/>
        </p:blipFill>
        <p:spPr>
          <a:xfrm>
            <a:off x="6407894" y="4776200"/>
            <a:ext cx="467412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64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A116D4A-25C9-A6C5-AE6B-BCD00E5A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50206" y="1154113"/>
            <a:ext cx="884872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5661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9FEDE-2FC4-4328-9442-A0B73FFE7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35919" y="1163638"/>
            <a:ext cx="887730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871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EA3F1C7-DA48-96E9-33A7-D5E62AE8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725022"/>
            <a:ext cx="10015538" cy="372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2765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EA3F1C7-DA48-96E9-33A7-D5E62AE8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  <p:pic>
        <p:nvPicPr>
          <p:cNvPr id="7" name="내용 개체 틀 6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066800" y="1566597"/>
            <a:ext cx="10015538" cy="404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13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EA3F1C7-DA48-96E9-33A7-D5E62AE82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10.9 </a:t>
            </a:r>
            <a:r>
              <a:rPr lang="ko-KR" altLang="en-US" dirty="0"/>
              <a:t>클래스와 특수 메소드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1AC8AE-8578-4B7D-E7C7-15EF8F0A8B2B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이외에도 </a:t>
            </a:r>
            <a:r>
              <a:rPr lang="ko-KR" altLang="en-US" dirty="0" err="1"/>
              <a:t>파이썬에서는</a:t>
            </a:r>
            <a:r>
              <a:rPr lang="ko-KR" altLang="en-US" dirty="0"/>
              <a:t> </a:t>
            </a:r>
            <a:r>
              <a:rPr lang="en-US" altLang="ko-KR" dirty="0" err="1"/>
              <a:t>len</a:t>
            </a:r>
            <a:r>
              <a:rPr lang="en-US" altLang="ko-KR" dirty="0"/>
              <a:t>()</a:t>
            </a:r>
            <a:r>
              <a:rPr lang="ko-KR" altLang="en-US" dirty="0" err="1"/>
              <a:t>라던지</a:t>
            </a:r>
            <a:r>
              <a:rPr lang="ko-KR" altLang="en-US" dirty="0"/>
              <a:t> </a:t>
            </a:r>
            <a:r>
              <a:rPr lang="en-US" altLang="ko-KR" dirty="0"/>
              <a:t>float(), int(), str(), abs(), hash(), </a:t>
            </a:r>
            <a:r>
              <a:rPr lang="en-US" altLang="ko-KR" dirty="0" err="1"/>
              <a:t>iter</a:t>
            </a:r>
            <a:r>
              <a:rPr lang="en-US" altLang="ko-KR" dirty="0"/>
              <a:t>()</a:t>
            </a:r>
            <a:r>
              <a:rPr lang="ko-KR" altLang="en-US" dirty="0"/>
              <a:t>과 같이 많은 내장 함수들이 존재함</a:t>
            </a:r>
          </a:p>
          <a:p>
            <a:endParaRPr lang="en-US" altLang="ko-KR" dirty="0"/>
          </a:p>
          <a:p>
            <a:r>
              <a:rPr lang="ko-KR" altLang="en-US" dirty="0"/>
              <a:t>이 내장함수들은 </a:t>
            </a:r>
            <a:r>
              <a:rPr lang="en-US" altLang="ko-KR" dirty="0"/>
              <a:t>__</a:t>
            </a:r>
            <a:r>
              <a:rPr lang="en-US" altLang="ko-KR" dirty="0" err="1"/>
              <a:t>len</a:t>
            </a:r>
            <a:r>
              <a:rPr lang="en-US" altLang="ko-KR" dirty="0"/>
              <a:t>__(), __float__(), __int__(), __str__(), __abs__(), __hash__(), __</a:t>
            </a:r>
            <a:r>
              <a:rPr lang="en-US" altLang="ko-KR" dirty="0" err="1"/>
              <a:t>iter</a:t>
            </a:r>
            <a:r>
              <a:rPr lang="en-US" altLang="ko-KR" dirty="0"/>
              <a:t>__()</a:t>
            </a:r>
            <a:r>
              <a:rPr lang="ko-KR" altLang="en-US" dirty="0"/>
              <a:t>과 같은 특수 메소드로 구현이 가능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98487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C02CAD3-EE64-28D3-F3E7-3B6161905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10.10.1 </a:t>
            </a:r>
            <a:r>
              <a:rPr lang="ko-KR" altLang="en-US" sz="2400" dirty="0"/>
              <a:t>상속의 필요성과 용어들</a:t>
            </a:r>
            <a:endParaRPr lang="en-US" altLang="ko-KR" sz="2400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A12511D-BCD8-715B-C5CA-BD63BF160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8BE78E-1E1F-0BB1-45DA-3FB86A991F8E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sz="2800" dirty="0"/>
              <a:t>상속</a:t>
            </a:r>
            <a:r>
              <a:rPr lang="en-US" altLang="ko-KR" sz="2800" b="1" baseline="30000" dirty="0">
                <a:solidFill>
                  <a:srgbClr val="0070C0"/>
                </a:solidFill>
              </a:rPr>
              <a:t>inheritance</a:t>
            </a:r>
          </a:p>
          <a:p>
            <a:pPr lvl="1"/>
            <a:r>
              <a:rPr lang="ko-KR" altLang="en-US" sz="2400" dirty="0"/>
              <a:t>소프트웨어 개발 시 이전에 만들어진 클래스를 기반으로 하여 이 클래스의 속성과 메소드를 물려받은 자식 클래스를 만드는 기법</a:t>
            </a:r>
            <a:endParaRPr lang="en-US" altLang="ko-KR" sz="2400" dirty="0"/>
          </a:p>
          <a:p>
            <a:pPr lvl="1"/>
            <a:r>
              <a:rPr lang="ko-KR" altLang="en-US" sz="2400" dirty="0"/>
              <a:t>효율적인 개발을 위해</a:t>
            </a:r>
            <a:endParaRPr lang="en-US" altLang="ko-KR" sz="2400" dirty="0"/>
          </a:p>
          <a:p>
            <a:pPr lvl="1"/>
            <a:r>
              <a:rPr lang="ko-KR" altLang="en-US" sz="2400" dirty="0"/>
              <a:t>객체지향 프로그래밍의 큰 특징</a:t>
            </a:r>
          </a:p>
        </p:txBody>
      </p:sp>
    </p:spTree>
    <p:extLst>
      <p:ext uri="{BB962C8B-B14F-4D97-AF65-F5344CB8AC3E}">
        <p14:creationId xmlns:p14="http://schemas.microsoft.com/office/powerpoint/2010/main" val="19634933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190" y="2888601"/>
            <a:ext cx="7792515" cy="2762212"/>
          </a:xfrm>
          <a:prstGeom prst="rect">
            <a:avLst/>
          </a:prstGeom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10.10.1 </a:t>
            </a:r>
            <a:r>
              <a:rPr lang="ko-KR" altLang="en-US" sz="2400" dirty="0"/>
              <a:t>상속의 필요성과 용어들</a:t>
            </a:r>
            <a:endParaRPr lang="en-US" altLang="ko-KR" sz="24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0079128-EA55-462A-717B-BE5FD63C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5A4D8F-85DF-9125-2A52-A6FC42A00B5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부모 클래스</a:t>
            </a:r>
            <a:r>
              <a:rPr lang="en-US" altLang="ko-KR" b="1" baseline="30000" dirty="0">
                <a:solidFill>
                  <a:srgbClr val="0070C0"/>
                </a:solidFill>
              </a:rPr>
              <a:t>parent class</a:t>
            </a:r>
            <a:r>
              <a:rPr lang="en-US" altLang="ko-KR" dirty="0"/>
              <a:t>/</a:t>
            </a:r>
            <a:r>
              <a:rPr lang="ko-KR" altLang="en-US" dirty="0"/>
              <a:t>슈퍼 클래스</a:t>
            </a:r>
            <a:r>
              <a:rPr lang="en-US" altLang="ko-KR" b="1" baseline="30000" dirty="0">
                <a:solidFill>
                  <a:srgbClr val="0070C0"/>
                </a:solidFill>
              </a:rPr>
              <a:t>super class</a:t>
            </a:r>
            <a:r>
              <a:rPr lang="en-US" altLang="ko-KR" dirty="0"/>
              <a:t>/</a:t>
            </a:r>
            <a:r>
              <a:rPr lang="ko-KR" altLang="en-US" dirty="0"/>
              <a:t>기본 클래스</a:t>
            </a:r>
            <a:r>
              <a:rPr lang="en-US" altLang="ko-KR" b="1" baseline="30000" dirty="0">
                <a:solidFill>
                  <a:srgbClr val="0070C0"/>
                </a:solidFill>
              </a:rPr>
              <a:t>base class</a:t>
            </a:r>
            <a:endParaRPr lang="en-US" altLang="ko-KR" sz="2400" b="1" baseline="30000" dirty="0">
              <a:solidFill>
                <a:srgbClr val="0070C0"/>
              </a:solidFill>
            </a:endParaRPr>
          </a:p>
          <a:p>
            <a:pPr lvl="1"/>
            <a:r>
              <a:rPr lang="ko-KR" altLang="en-US" dirty="0"/>
              <a:t>클래스의 속성과 메소드를 물려주는 상위의 클래스</a:t>
            </a:r>
            <a:endParaRPr lang="en-US" altLang="ko-KR" dirty="0"/>
          </a:p>
          <a:p>
            <a:r>
              <a:rPr lang="ko-KR" altLang="en-US" dirty="0"/>
              <a:t>자식 클래스</a:t>
            </a:r>
            <a:r>
              <a:rPr lang="en-US" altLang="ko-KR" b="1" baseline="30000" dirty="0">
                <a:solidFill>
                  <a:srgbClr val="0070C0"/>
                </a:solidFill>
              </a:rPr>
              <a:t>child class</a:t>
            </a:r>
            <a:r>
              <a:rPr lang="en-US" altLang="ko-KR" dirty="0"/>
              <a:t>/</a:t>
            </a:r>
            <a:r>
              <a:rPr lang="ko-KR" altLang="en-US" dirty="0"/>
              <a:t>서브 클래스</a:t>
            </a:r>
            <a:r>
              <a:rPr lang="en-US" altLang="ko-KR" b="1" baseline="30000" dirty="0">
                <a:solidFill>
                  <a:srgbClr val="0070C0"/>
                </a:solidFill>
              </a:rPr>
              <a:t>sub class</a:t>
            </a:r>
            <a:r>
              <a:rPr lang="en-US" altLang="ko-KR" dirty="0"/>
              <a:t>/</a:t>
            </a:r>
            <a:r>
              <a:rPr lang="ko-KR" altLang="en-US" dirty="0"/>
              <a:t>파생 클래스</a:t>
            </a:r>
            <a:r>
              <a:rPr lang="en-US" altLang="ko-KR" b="1" baseline="30000" dirty="0">
                <a:solidFill>
                  <a:srgbClr val="0070C0"/>
                </a:solidFill>
              </a:rPr>
              <a:t>derived class</a:t>
            </a:r>
          </a:p>
          <a:p>
            <a:pPr lvl="1"/>
            <a:r>
              <a:rPr lang="ko-KR" altLang="en-US" dirty="0"/>
              <a:t>상속받는 클래스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6736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7142" r="1367" b="4039"/>
          <a:stretch/>
        </p:blipFill>
        <p:spPr>
          <a:xfrm>
            <a:off x="1234260" y="1784666"/>
            <a:ext cx="8128401" cy="22158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261" y="4077339"/>
            <a:ext cx="5826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파이썬에서</a:t>
            </a:r>
            <a:r>
              <a:rPr lang="ko-KR" altLang="en-US" sz="1600" dirty="0"/>
              <a:t> 클래스 상속을 위한 문법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A55089-09BD-295D-475F-DB4E5D521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10.10.1 </a:t>
            </a:r>
            <a:r>
              <a:rPr lang="ko-KR" altLang="en-US" sz="2400" dirty="0"/>
              <a:t>상속의 필요성과 용어들</a:t>
            </a:r>
            <a:endParaRPr lang="en-US" altLang="ko-KR" sz="24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479F6EC-3E0C-23A4-9FA1-C0B739B52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6A2554-6F6E-4743-E5B8-9E7CE33626F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kern="0" spc="-40" dirty="0"/>
              <a:t>자식 클래스 </a:t>
            </a:r>
            <a:r>
              <a:rPr lang="ko-KR" altLang="en-US" sz="2000" kern="0" spc="-40" dirty="0">
                <a:latin typeface="굴림" panose="020B0600000101010101" pitchFamily="50" charset="-127"/>
                <a:ea typeface="굴림" panose="020B0600000101010101" pitchFamily="50" charset="-127"/>
              </a:rPr>
              <a:t>→</a:t>
            </a:r>
            <a:r>
              <a:rPr lang="en-US" altLang="ko-KR" sz="2000" kern="0" spc="-40" dirty="0"/>
              <a:t> </a:t>
            </a:r>
            <a:r>
              <a:rPr lang="ko-KR" altLang="en-US" sz="2000" kern="0" spc="-40" dirty="0"/>
              <a:t>자신의 부모 클래스 이름을 괄호로 둘러싸 상속을 받는다는 것을 명시</a:t>
            </a:r>
            <a:endParaRPr lang="en-US" altLang="ko-KR" sz="2000" kern="0" spc="-4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/>
              <a:t>클래스 </a:t>
            </a:r>
            <a:r>
              <a:rPr lang="en-US" altLang="ko-KR" sz="2000" dirty="0"/>
              <a:t>A</a:t>
            </a:r>
            <a:r>
              <a:rPr lang="ko-KR" altLang="en-US" sz="2000" dirty="0"/>
              <a:t>의 속성과 메소드를 자식 클래스인 </a:t>
            </a:r>
            <a:r>
              <a:rPr lang="en-US" altLang="ko-KR" sz="2000" dirty="0"/>
              <a:t>B</a:t>
            </a:r>
            <a:r>
              <a:rPr lang="ko-KR" altLang="en-US" sz="2000" dirty="0"/>
              <a:t>는 그대로 물려받을 수 있고</a:t>
            </a:r>
            <a:r>
              <a:rPr lang="en-US" altLang="ko-KR" sz="2000" dirty="0"/>
              <a:t>, </a:t>
            </a:r>
            <a:r>
              <a:rPr lang="ko-KR" altLang="en-US" sz="2000" dirty="0"/>
              <a:t>자신만의 새로운 속성과 메소드를 추가로 정의할 수 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3339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AB0409B-DD07-BAA9-9E4C-D866A97347E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992533" y="1700809"/>
            <a:ext cx="3089481" cy="43454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클래스 변수</a:t>
            </a:r>
            <a:r>
              <a:rPr lang="en-US" altLang="ko-KR" b="1" baseline="30000" dirty="0">
                <a:solidFill>
                  <a:srgbClr val="0070C0"/>
                </a:solidFill>
              </a:rPr>
              <a:t>class variable</a:t>
            </a:r>
          </a:p>
          <a:p>
            <a:pPr lvl="1"/>
            <a:r>
              <a:rPr lang="ko-KR" altLang="en-US" dirty="0"/>
              <a:t>클래스 전체에서 접근 가능한 변수</a:t>
            </a:r>
            <a:endParaRPr lang="en-US" altLang="ko-KR" dirty="0"/>
          </a:p>
          <a:p>
            <a:pPr lvl="1"/>
            <a:r>
              <a:rPr lang="ko-KR" altLang="en-US" sz="2000" dirty="0"/>
              <a:t>인스턴스에서도 접근 가능</a:t>
            </a:r>
          </a:p>
          <a:p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74" y="1759401"/>
            <a:ext cx="7039413" cy="468869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399" y="3734163"/>
            <a:ext cx="6089737" cy="1799537"/>
          </a:xfrm>
          <a:prstGeom prst="rect">
            <a:avLst/>
          </a:prstGeom>
        </p:spPr>
      </p:pic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9E7568-80F1-4888-9F2E-5E03284F0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10.10.1 </a:t>
            </a:r>
            <a:r>
              <a:rPr lang="ko-KR" altLang="en-US" sz="2400" dirty="0"/>
              <a:t>상속의 필요성과 용어들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4D96910-40E7-D88A-A6FB-C969C68F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</p:spTree>
    <p:extLst>
      <p:ext uri="{BB962C8B-B14F-4D97-AF65-F5344CB8AC3E}">
        <p14:creationId xmlns:p14="http://schemas.microsoft.com/office/powerpoint/2010/main" val="11712910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30A268-633F-8E9B-57B8-66C6B3D43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10.10.1 </a:t>
            </a:r>
            <a:r>
              <a:rPr lang="ko-KR" altLang="en-US" sz="2400" dirty="0"/>
              <a:t>상속의 필요성과 용어들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4348E5A-7E1C-06F8-2526-04CC39FA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pic>
        <p:nvPicPr>
          <p:cNvPr id="6" name="내용 개체 틀 5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2073658" y="1700808"/>
            <a:ext cx="7357415" cy="490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0803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127" y="1700808"/>
            <a:ext cx="6872546" cy="258467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10.10.2 </a:t>
            </a:r>
            <a:r>
              <a:rPr lang="ko-KR" altLang="en-US" dirty="0"/>
              <a:t>부모 클래스와 자식 클래스의 구현</a:t>
            </a:r>
            <a:endParaRPr lang="en-US" altLang="ko-KR" dirty="0"/>
          </a:p>
          <a:p>
            <a:pPr marL="457200" lvl="1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51AA9E5-8888-E840-53CB-A73F00C55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8765" y="4409817"/>
            <a:ext cx="90932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 err="1"/>
              <a:t>멤버변수</a:t>
            </a:r>
            <a:r>
              <a:rPr lang="ko-KR" altLang="en-US" sz="2000" dirty="0"/>
              <a:t> </a:t>
            </a:r>
            <a:r>
              <a:rPr lang="en-US" altLang="ko-KR" sz="2000" dirty="0"/>
              <a:t>: name</a:t>
            </a:r>
          </a:p>
          <a:p>
            <a:r>
              <a:rPr lang="en-US" altLang="ko-KR" sz="2000" dirty="0"/>
              <a:t>Person </a:t>
            </a:r>
            <a:r>
              <a:rPr lang="ko-KR" altLang="en-US" sz="2000" dirty="0"/>
              <a:t>클래스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get_name</a:t>
            </a:r>
            <a:r>
              <a:rPr lang="en-US" altLang="ko-KR" sz="2000" dirty="0"/>
              <a:t>()</a:t>
            </a:r>
            <a:r>
              <a:rPr lang="ko-KR" altLang="en-US" sz="2000" dirty="0"/>
              <a:t>을 </a:t>
            </a:r>
            <a:r>
              <a:rPr lang="ko-KR" altLang="en-US" sz="2000" dirty="0" err="1"/>
              <a:t>멤버함수로</a:t>
            </a:r>
            <a:r>
              <a:rPr lang="ko-KR" altLang="en-US" sz="2000" dirty="0"/>
              <a:t> 가짐</a:t>
            </a:r>
            <a:endParaRPr lang="en-US" altLang="ko-KR" sz="2000" dirty="0"/>
          </a:p>
          <a:p>
            <a:r>
              <a:rPr lang="en-US" altLang="ko-KR" sz="2000" dirty="0"/>
              <a:t>Manager : </a:t>
            </a:r>
            <a:r>
              <a:rPr lang="ko-KR" altLang="en-US" sz="2000" dirty="0"/>
              <a:t>자식 클래스</a:t>
            </a:r>
            <a:endParaRPr lang="en-US" altLang="ko-KR" sz="2000" dirty="0"/>
          </a:p>
          <a:p>
            <a:r>
              <a:rPr lang="en-US" altLang="ko-KR" sz="2000" dirty="0"/>
              <a:t>Employee : </a:t>
            </a:r>
            <a:r>
              <a:rPr lang="ko-KR" altLang="en-US" sz="2000" dirty="0"/>
              <a:t>자식 클래스</a:t>
            </a:r>
          </a:p>
        </p:txBody>
      </p:sp>
    </p:spTree>
    <p:extLst>
      <p:ext uri="{BB962C8B-B14F-4D97-AF65-F5344CB8AC3E}">
        <p14:creationId xmlns:p14="http://schemas.microsoft.com/office/powerpoint/2010/main" val="25188904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1F563B-EF0C-C71B-5264-3300D7FDE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10.10.2 </a:t>
            </a:r>
            <a:r>
              <a:rPr lang="ko-KR" altLang="en-US" dirty="0"/>
              <a:t>부모 클래스와 자식 클래스의 구현</a:t>
            </a: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BA2DDC12-C07F-4DA4-00CE-5B38BD51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93C5AA73-89D2-E4FD-98C7-72A76A52AF1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코드로 구현</a:t>
            </a:r>
          </a:p>
          <a:p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3619C5CF-A71C-B063-B2AB-8EF54F30D2C8}"/>
              </a:ext>
            </a:extLst>
          </p:cNvPr>
          <p:cNvGrpSpPr/>
          <p:nvPr/>
        </p:nvGrpSpPr>
        <p:grpSpPr>
          <a:xfrm>
            <a:off x="1067258" y="1700809"/>
            <a:ext cx="9544739" cy="4999535"/>
            <a:chOff x="395164" y="233995"/>
            <a:chExt cx="12086989" cy="6058879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 rotWithShape="1">
            <a:blip r:embed="rId2"/>
            <a:srcRect r="23280" b="3826"/>
            <a:stretch/>
          </p:blipFill>
          <p:spPr>
            <a:xfrm>
              <a:off x="395164" y="848250"/>
              <a:ext cx="5806130" cy="5109836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3"/>
            <a:srcRect r="10945"/>
            <a:stretch/>
          </p:blipFill>
          <p:spPr>
            <a:xfrm>
              <a:off x="6681610" y="233995"/>
              <a:ext cx="5800543" cy="4564959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81611" y="4851336"/>
              <a:ext cx="5020028" cy="14415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165733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5171B0E-8916-424B-2F84-3A0AA694E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10.10.2 </a:t>
            </a:r>
            <a:r>
              <a:rPr lang="ko-KR" altLang="en-US" dirty="0"/>
              <a:t>부모 클래스와 자식 클래스의 구현</a:t>
            </a:r>
            <a:endParaRPr lang="en-US" altLang="ko-KR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25F795AE-8EA4-42DC-A893-4F35ADDD6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421498C-E687-F1DB-DAF2-0B84C89DDC7C}"/>
              </a:ext>
            </a:extLst>
          </p:cNvPr>
          <p:cNvGrpSpPr/>
          <p:nvPr/>
        </p:nvGrpSpPr>
        <p:grpSpPr>
          <a:xfrm>
            <a:off x="2354865" y="1570140"/>
            <a:ext cx="6126983" cy="5067143"/>
            <a:chOff x="479627" y="187296"/>
            <a:chExt cx="8165609" cy="6264971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9627" y="187296"/>
              <a:ext cx="6586191" cy="2175421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628" y="2362717"/>
              <a:ext cx="6253682" cy="2332775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627" y="4695492"/>
              <a:ext cx="8165609" cy="17567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71441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10.10.3 super() </a:t>
            </a:r>
            <a:r>
              <a:rPr lang="ko-KR" altLang="en-US" dirty="0"/>
              <a:t>함수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64997D-70A0-3A6B-1F9F-0C3B395F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DA380E-EBB1-C661-9B24-72D1D62BB34D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부모클래스의 속성을 사용하고 싶은데 이름이 생각나지 않거나 부모 클래스의 이름이 너무 길 경우에 사용</a:t>
            </a:r>
            <a:endParaRPr lang="en-US" altLang="ko-KR" dirty="0"/>
          </a:p>
          <a:p>
            <a:r>
              <a:rPr lang="ko-KR" altLang="en-US" dirty="0"/>
              <a:t>해당 클래스의 부모 클래스를 찾아 반환해 주는 역할</a:t>
            </a:r>
            <a:endParaRPr lang="en-US" altLang="ko-KR" dirty="0"/>
          </a:p>
          <a:p>
            <a:pPr lvl="1"/>
            <a:r>
              <a:rPr lang="ko-KR" altLang="en-US" dirty="0"/>
              <a:t>이를 사용하면 부모 클래스를 명시적으로 적어줄 필요가 없으므로 프로그램의 유지보수가 </a:t>
            </a:r>
            <a:r>
              <a:rPr lang="ko-KR" altLang="en-US" dirty="0" err="1"/>
              <a:t>쉬워짐</a:t>
            </a:r>
            <a:endParaRPr lang="en-US" altLang="ko-KR" dirty="0"/>
          </a:p>
          <a:p>
            <a:pPr lvl="1"/>
            <a:r>
              <a:rPr lang="ko-KR" altLang="en-US" dirty="0"/>
              <a:t>이 함수를 사용해 호출할 때는 </a:t>
            </a:r>
            <a:r>
              <a:rPr lang="en-US" altLang="ko-KR" dirty="0"/>
              <a:t>self</a:t>
            </a:r>
            <a:r>
              <a:rPr lang="ko-KR" altLang="en-US" dirty="0"/>
              <a:t>를 자동으로 전달해 주므로 함수의 매개변수에 </a:t>
            </a:r>
            <a:r>
              <a:rPr lang="en-US" altLang="ko-KR" dirty="0"/>
              <a:t>self</a:t>
            </a:r>
            <a:r>
              <a:rPr lang="ko-KR" altLang="en-US" dirty="0"/>
              <a:t>를 적어줄 필요가 없음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56091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10.10.3 super() </a:t>
            </a:r>
            <a:r>
              <a:rPr lang="ko-KR" altLang="en-US" dirty="0"/>
              <a:t>함수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64997D-70A0-3A6B-1F9F-0C3B395F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1CC163D-1625-9C61-260A-D9A63DE15B7F}"/>
              </a:ext>
            </a:extLst>
          </p:cNvPr>
          <p:cNvGrpSpPr/>
          <p:nvPr/>
        </p:nvGrpSpPr>
        <p:grpSpPr>
          <a:xfrm>
            <a:off x="4145892" y="1124743"/>
            <a:ext cx="5502605" cy="5512539"/>
            <a:chOff x="309899" y="209229"/>
            <a:chExt cx="6819034" cy="6280454"/>
          </a:xfrm>
        </p:grpSpPr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9899" y="5810250"/>
              <a:ext cx="6819034" cy="679433"/>
            </a:xfrm>
            <a:prstGeom prst="rect">
              <a:avLst/>
            </a:prstGeom>
          </p:spPr>
        </p:pic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899" y="209229"/>
              <a:ext cx="6819034" cy="541330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320230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10.10.3 super() </a:t>
            </a:r>
            <a:r>
              <a:rPr lang="ko-KR" altLang="en-US" dirty="0"/>
              <a:t>함수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64997D-70A0-3A6B-1F9F-0C3B395F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AA7B561-D344-77FE-0E45-6632B76E5895}"/>
              </a:ext>
            </a:extLst>
          </p:cNvPr>
          <p:cNvGrpSpPr/>
          <p:nvPr/>
        </p:nvGrpSpPr>
        <p:grpSpPr>
          <a:xfrm>
            <a:off x="819803" y="1482776"/>
            <a:ext cx="9681942" cy="4657072"/>
            <a:chOff x="-108319" y="1454919"/>
            <a:chExt cx="10369919" cy="4987993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/>
            <a:srcRect l="462" r="275"/>
            <a:stretch/>
          </p:blipFill>
          <p:spPr>
            <a:xfrm>
              <a:off x="-108319" y="1454919"/>
              <a:ext cx="6152884" cy="498799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0D21EA53-B393-D06A-276B-0FF1A8BD39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408" r="469"/>
            <a:stretch/>
          </p:blipFill>
          <p:spPr>
            <a:xfrm>
              <a:off x="4864631" y="4839696"/>
              <a:ext cx="5396969" cy="160321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5789373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10.10.4 </a:t>
            </a:r>
            <a:r>
              <a:rPr lang="en-US" altLang="ko-KR" dirty="0" err="1"/>
              <a:t>isinstance</a:t>
            </a:r>
            <a:r>
              <a:rPr lang="en-US" altLang="ko-KR" dirty="0"/>
              <a:t>() </a:t>
            </a:r>
            <a:r>
              <a:rPr lang="ko-KR" altLang="en-US" dirty="0"/>
              <a:t>함수와 </a:t>
            </a:r>
            <a:r>
              <a:rPr lang="en-US" altLang="ko-KR" dirty="0" err="1"/>
              <a:t>issubclass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664997D-70A0-3A6B-1F9F-0C3B395F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BF983B-CB5D-8A2B-1FBE-89FCBC514DC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Worker1 = Employee </a:t>
            </a:r>
            <a:r>
              <a:rPr lang="ko-KR" altLang="en-US" dirty="0"/>
              <a:t>클래스의 인스턴스</a:t>
            </a:r>
            <a:endParaRPr lang="en-US" altLang="ko-KR" dirty="0"/>
          </a:p>
          <a:p>
            <a:pPr lvl="1"/>
            <a:r>
              <a:rPr lang="en-US" altLang="ko-KR" dirty="0" err="1"/>
              <a:t>isinstance</a:t>
            </a:r>
            <a:r>
              <a:rPr lang="en-US" altLang="ko-KR" dirty="0"/>
              <a:t>(worker1, Employee) : True</a:t>
            </a:r>
          </a:p>
          <a:p>
            <a:pPr lvl="1"/>
            <a:r>
              <a:rPr lang="en-US" altLang="ko-KR" dirty="0" err="1"/>
              <a:t>isinstance</a:t>
            </a:r>
            <a:r>
              <a:rPr lang="en-US" altLang="ko-KR" dirty="0"/>
              <a:t>(worker1, Person) : True</a:t>
            </a:r>
          </a:p>
          <a:p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864043-497E-D9A5-1333-B4BF728CB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91" y="1768039"/>
            <a:ext cx="5829576" cy="21147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9839A0-5A4E-46ED-37CA-A0C21F1463BC}"/>
              </a:ext>
            </a:extLst>
          </p:cNvPr>
          <p:cNvSpPr txBox="1"/>
          <p:nvPr/>
        </p:nvSpPr>
        <p:spPr>
          <a:xfrm>
            <a:off x="6673800" y="2509018"/>
            <a:ext cx="4882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어떤 객체가 특정 클래스의 인스턴스일 경우</a:t>
            </a:r>
            <a:endParaRPr lang="en-US" altLang="ko-KR" dirty="0"/>
          </a:p>
          <a:p>
            <a:r>
              <a:rPr lang="en-US" altLang="ko-KR" dirty="0" smtClean="0"/>
              <a:t>: True</a:t>
            </a:r>
            <a:endParaRPr lang="en-US" altLang="ko-KR" dirty="0"/>
          </a:p>
          <a:p>
            <a:r>
              <a:rPr lang="ko-KR" altLang="en-US" dirty="0"/>
              <a:t>그렇지 않을 경우</a:t>
            </a:r>
            <a:endParaRPr lang="en-US" altLang="ko-KR" dirty="0"/>
          </a:p>
          <a:p>
            <a:r>
              <a:rPr lang="en-US" altLang="ko-KR" dirty="0" smtClean="0"/>
              <a:t>: False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4B00D35-8287-4528-F2AC-DABA6150611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8675" b="3397"/>
          <a:stretch/>
        </p:blipFill>
        <p:spPr>
          <a:xfrm>
            <a:off x="6673800" y="1829278"/>
            <a:ext cx="4307966" cy="44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259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6316DD46-2826-D868-AA2F-66E2191C2124}"/>
              </a:ext>
            </a:extLst>
          </p:cNvPr>
          <p:cNvGrpSpPr/>
          <p:nvPr/>
        </p:nvGrpSpPr>
        <p:grpSpPr>
          <a:xfrm>
            <a:off x="1942145" y="1621978"/>
            <a:ext cx="5893317" cy="5157192"/>
            <a:chOff x="591256" y="475044"/>
            <a:chExt cx="7536745" cy="6217361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1257" y="3609560"/>
              <a:ext cx="7536744" cy="3082845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1256" y="475044"/>
              <a:ext cx="7536744" cy="3143017"/>
            </a:xfrm>
            <a:prstGeom prst="rect">
              <a:avLst/>
            </a:prstGeom>
          </p:spPr>
        </p:pic>
      </p:grp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DFEB71F-7D9A-E5A5-3737-95C47537C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10.10.4 </a:t>
            </a:r>
            <a:r>
              <a:rPr lang="en-US" altLang="ko-KR" dirty="0" err="1"/>
              <a:t>isinstance</a:t>
            </a:r>
            <a:r>
              <a:rPr lang="en-US" altLang="ko-KR" dirty="0"/>
              <a:t>() </a:t>
            </a:r>
            <a:r>
              <a:rPr lang="ko-KR" altLang="en-US" dirty="0"/>
              <a:t>함수와 </a:t>
            </a:r>
            <a:r>
              <a:rPr lang="en-US" altLang="ko-KR" dirty="0" err="1"/>
              <a:t>issubclass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A018F8F-A367-8FA6-CD5F-7DFA2F8D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</p:spTree>
    <p:extLst>
      <p:ext uri="{BB962C8B-B14F-4D97-AF65-F5344CB8AC3E}">
        <p14:creationId xmlns:p14="http://schemas.microsoft.com/office/powerpoint/2010/main" val="201783149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DFEB71F-7D9A-E5A5-3737-95C47537C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10.10.4 </a:t>
            </a:r>
            <a:r>
              <a:rPr lang="en-US" altLang="ko-KR" dirty="0" err="1"/>
              <a:t>isinstance</a:t>
            </a:r>
            <a:r>
              <a:rPr lang="en-US" altLang="ko-KR" dirty="0"/>
              <a:t>() </a:t>
            </a:r>
            <a:r>
              <a:rPr lang="ko-KR" altLang="en-US" dirty="0"/>
              <a:t>함수와 </a:t>
            </a:r>
            <a:r>
              <a:rPr lang="en-US" altLang="ko-KR" dirty="0" err="1"/>
              <a:t>issubclass</a:t>
            </a:r>
            <a:r>
              <a:rPr lang="en-US" altLang="ko-KR" dirty="0"/>
              <a:t>() </a:t>
            </a:r>
            <a:r>
              <a:rPr lang="ko-KR" altLang="en-US" dirty="0"/>
              <a:t>함수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A018F8F-A367-8FA6-CD5F-7DFA2F8D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10.10 </a:t>
            </a:r>
            <a:r>
              <a:rPr lang="ko-KR" altLang="en-US" dirty="0"/>
              <a:t>클래스의 상속</a:t>
            </a:r>
          </a:p>
        </p:txBody>
      </p:sp>
      <p:pic>
        <p:nvPicPr>
          <p:cNvPr id="8" name="내용 개체 틀 7"/>
          <p:cNvPicPr>
            <a:picLocks noGrp="1" noChangeAspect="1"/>
          </p:cNvPicPr>
          <p:nvPr>
            <p:ph idx="14"/>
          </p:nvPr>
        </p:nvPicPr>
        <p:blipFill>
          <a:blip r:embed="rId2"/>
          <a:stretch>
            <a:fillRect/>
          </a:stretch>
        </p:blipFill>
        <p:spPr>
          <a:xfrm>
            <a:off x="1664494" y="1787525"/>
            <a:ext cx="88201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4721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b="1" dirty="0"/>
              <a:t>클래스 속성</a:t>
            </a:r>
            <a:r>
              <a:rPr lang="en-US" altLang="ko-KR" b="1" baseline="30000" dirty="0">
                <a:solidFill>
                  <a:schemeClr val="accent5"/>
                </a:solidFill>
              </a:rPr>
              <a:t>class attribute</a:t>
            </a:r>
            <a:r>
              <a:rPr lang="ko-KR" altLang="en-US" dirty="0"/>
              <a:t>들은 개별적인 </a:t>
            </a:r>
            <a:r>
              <a:rPr lang="ko-KR" altLang="en-US" dirty="0" err="1"/>
              <a:t>인스턴스마다</a:t>
            </a:r>
            <a:r>
              <a:rPr lang="ko-KR" altLang="en-US" dirty="0"/>
              <a:t> 다르기 때문에 서로 다른 값을 가질 수 있음</a:t>
            </a:r>
            <a:endParaRPr lang="en-US" altLang="ko-KR" dirty="0"/>
          </a:p>
          <a:p>
            <a:r>
              <a:rPr lang="ko-KR" altLang="en-US" dirty="0"/>
              <a:t>우리는 이를 </a:t>
            </a:r>
            <a:r>
              <a:rPr lang="ko-KR" altLang="en-US" b="1" dirty="0" err="1"/>
              <a:t>인스턴스</a:t>
            </a:r>
            <a:r>
              <a:rPr lang="ko-KR" altLang="en-US" b="1" dirty="0"/>
              <a:t> 변수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instance variable</a:t>
            </a:r>
            <a:r>
              <a:rPr lang="ko-KR" altLang="en-US" dirty="0"/>
              <a:t>라고도 한다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10.11 </a:t>
            </a:r>
            <a:r>
              <a:rPr lang="ko-KR" altLang="en-US" dirty="0"/>
              <a:t>클래스 변수</a:t>
            </a:r>
          </a:p>
        </p:txBody>
      </p:sp>
    </p:spTree>
    <p:extLst>
      <p:ext uri="{BB962C8B-B14F-4D97-AF65-F5344CB8AC3E}">
        <p14:creationId xmlns:p14="http://schemas.microsoft.com/office/powerpoint/2010/main" val="403473461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10.11 </a:t>
            </a:r>
            <a:r>
              <a:rPr lang="ko-KR" altLang="en-US" dirty="0"/>
              <a:t>클래스 변수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794945F-7F4E-1BB6-D79B-329A0C1D5399}"/>
              </a:ext>
            </a:extLst>
          </p:cNvPr>
          <p:cNvGrpSpPr/>
          <p:nvPr/>
        </p:nvGrpSpPr>
        <p:grpSpPr>
          <a:xfrm>
            <a:off x="986118" y="1194883"/>
            <a:ext cx="10051772" cy="4757682"/>
            <a:chOff x="412396" y="634817"/>
            <a:chExt cx="11110738" cy="5258909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r="25059"/>
            <a:stretch/>
          </p:blipFill>
          <p:spPr>
            <a:xfrm>
              <a:off x="6608618" y="4314306"/>
              <a:ext cx="4914516" cy="1579420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3"/>
            <a:srcRect r="23262"/>
            <a:stretch/>
          </p:blipFill>
          <p:spPr>
            <a:xfrm>
              <a:off x="412396" y="634817"/>
              <a:ext cx="5655895" cy="52589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07025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ko-KR" altLang="en-US" dirty="0"/>
              <a:t>인스턴스 변수 중에서 클래스가 공유해야 할 공통적인 속성이 있을 것이다</a:t>
            </a:r>
            <a:r>
              <a:rPr lang="en-US" altLang="ko-KR" dirty="0"/>
              <a:t>. </a:t>
            </a:r>
            <a:r>
              <a:rPr lang="ko-KR" altLang="en-US" dirty="0"/>
              <a:t>여기서는 </a:t>
            </a:r>
            <a:r>
              <a:rPr lang="en-US" altLang="ko-KR" dirty="0"/>
              <a:t>PI</a:t>
            </a:r>
            <a:r>
              <a:rPr lang="ko-KR" altLang="en-US" dirty="0"/>
              <a:t>라는 속성이 이에 해당하는데</a:t>
            </a:r>
            <a:r>
              <a:rPr lang="en-US" altLang="ko-KR" dirty="0"/>
              <a:t>, </a:t>
            </a:r>
            <a:r>
              <a:rPr lang="ko-KR" altLang="en-US" dirty="0"/>
              <a:t>이 속성을 개별 </a:t>
            </a:r>
            <a:r>
              <a:rPr lang="ko-KR" altLang="en-US" dirty="0" err="1"/>
              <a:t>인스턴스가</a:t>
            </a:r>
            <a:r>
              <a:rPr lang="ko-KR" altLang="en-US" dirty="0"/>
              <a:t> 모두 공유하여 가지도록 하면 데이터 중복도 줄어들고</a:t>
            </a:r>
            <a:r>
              <a:rPr lang="en-US" altLang="ko-KR" dirty="0"/>
              <a:t>, </a:t>
            </a:r>
            <a:r>
              <a:rPr lang="ko-KR" altLang="en-US" dirty="0"/>
              <a:t>오류의 원인을 찾는 것도 간단할 것임</a:t>
            </a:r>
          </a:p>
          <a:p>
            <a:endParaRPr lang="en-US" altLang="ko-KR" dirty="0"/>
          </a:p>
          <a:p>
            <a:r>
              <a:rPr lang="en-US" altLang="ko-KR" dirty="0"/>
              <a:t>Circle </a:t>
            </a:r>
            <a:r>
              <a:rPr lang="ko-KR" altLang="en-US" dirty="0"/>
              <a:t>클래스의 </a:t>
            </a:r>
            <a:r>
              <a:rPr lang="en-US" altLang="ko-KR" dirty="0" err="1"/>
              <a:t>self.__PI</a:t>
            </a:r>
            <a:r>
              <a:rPr lang="en-US" altLang="ko-KR" dirty="0"/>
              <a:t> </a:t>
            </a:r>
            <a:r>
              <a:rPr lang="ko-KR" altLang="en-US" dirty="0"/>
              <a:t>값이 일관성 있게 유지가 되려면</a:t>
            </a:r>
            <a:r>
              <a:rPr lang="en-US" altLang="ko-KR" dirty="0"/>
              <a:t>, c1, c2, c3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PI </a:t>
            </a:r>
            <a:r>
              <a:rPr lang="ko-KR" altLang="en-US" dirty="0">
                <a:solidFill>
                  <a:srgbClr val="FF0000"/>
                </a:solidFill>
              </a:rPr>
              <a:t>값을 모두 공유할 필요성</a:t>
            </a:r>
            <a:r>
              <a:rPr lang="ko-KR" altLang="en-US" dirty="0"/>
              <a:t>이 있다</a:t>
            </a:r>
            <a:r>
              <a:rPr lang="en-US" altLang="ko-KR" dirty="0"/>
              <a:t>. </a:t>
            </a:r>
            <a:r>
              <a:rPr lang="ko-KR" altLang="en-US" dirty="0"/>
              <a:t>이때</a:t>
            </a:r>
            <a:r>
              <a:rPr lang="en-US" altLang="ko-KR" dirty="0"/>
              <a:t>, </a:t>
            </a:r>
            <a:r>
              <a:rPr lang="ko-KR" altLang="en-US" dirty="0"/>
              <a:t>사용하는 것이 </a:t>
            </a:r>
            <a:r>
              <a:rPr lang="ko-KR" altLang="en-US" b="1" dirty="0">
                <a:solidFill>
                  <a:srgbClr val="FF0000"/>
                </a:solidFill>
              </a:rPr>
              <a:t>클래스 변수</a:t>
            </a:r>
            <a:r>
              <a:rPr lang="en-US" altLang="ko-KR" b="1" baseline="30000" dirty="0">
                <a:solidFill>
                  <a:schemeClr val="accent5"/>
                </a:solidFill>
              </a:rPr>
              <a:t>class variable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41D770A-A829-0C1E-1565-9D16C36E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10.11 </a:t>
            </a:r>
            <a:r>
              <a:rPr lang="ko-KR" altLang="en-US" dirty="0"/>
              <a:t>클래스 변수</a:t>
            </a:r>
          </a:p>
        </p:txBody>
      </p:sp>
    </p:spTree>
    <p:extLst>
      <p:ext uri="{BB962C8B-B14F-4D97-AF65-F5344CB8AC3E}">
        <p14:creationId xmlns:p14="http://schemas.microsoft.com/office/powerpoint/2010/main" val="42015593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68" y="2000807"/>
            <a:ext cx="6107342" cy="2993795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Circle</a:t>
            </a:r>
            <a:r>
              <a:rPr lang="ko-KR" altLang="en-US" dirty="0"/>
              <a:t>의 클래스 변수 </a:t>
            </a:r>
            <a:r>
              <a:rPr lang="en-US" altLang="ko-KR" dirty="0"/>
              <a:t>PI</a:t>
            </a:r>
            <a:r>
              <a:rPr lang="ko-KR" altLang="en-US" dirty="0"/>
              <a:t>는 이 클래스의 </a:t>
            </a:r>
            <a:r>
              <a:rPr lang="ko-KR" altLang="en-US" dirty="0" err="1"/>
              <a:t>인스턴스들이</a:t>
            </a:r>
            <a:r>
              <a:rPr lang="ko-KR" altLang="en-US" dirty="0"/>
              <a:t> 공유하는 변수이며</a:t>
            </a:r>
            <a:r>
              <a:rPr lang="en-US" altLang="ko-KR" dirty="0"/>
              <a:t>, </a:t>
            </a:r>
            <a:r>
              <a:rPr lang="ko-KR" altLang="en-US" dirty="0"/>
              <a:t>클래스 속성 </a:t>
            </a:r>
            <a:r>
              <a:rPr lang="en-US" altLang="ko-KR" dirty="0"/>
              <a:t>__name, __radius</a:t>
            </a:r>
            <a:r>
              <a:rPr lang="ko-KR" altLang="en-US" dirty="0"/>
              <a:t>는 </a:t>
            </a:r>
            <a:r>
              <a:rPr lang="ko-KR" altLang="en-US" dirty="0" err="1"/>
              <a:t>인스턴스마다</a:t>
            </a:r>
            <a:r>
              <a:rPr lang="ko-KR" altLang="en-US" dirty="0"/>
              <a:t> 가지는 변수인 </a:t>
            </a:r>
            <a:r>
              <a:rPr lang="ko-KR" altLang="en-US" dirty="0" err="1"/>
              <a:t>인스턴스</a:t>
            </a:r>
            <a:r>
              <a:rPr lang="ko-KR" altLang="en-US" dirty="0"/>
              <a:t> 변수이다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B8E91E-389C-7BC5-4157-BABE1145C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10.11 </a:t>
            </a:r>
            <a:r>
              <a:rPr lang="ko-KR" altLang="en-US" dirty="0"/>
              <a:t>클래스 변수</a:t>
            </a:r>
          </a:p>
        </p:txBody>
      </p:sp>
    </p:spTree>
    <p:extLst>
      <p:ext uri="{BB962C8B-B14F-4D97-AF65-F5344CB8AC3E}">
        <p14:creationId xmlns:p14="http://schemas.microsoft.com/office/powerpoint/2010/main" val="4119477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120" y="1984348"/>
            <a:ext cx="6583321" cy="4731762"/>
          </a:xfrm>
          <a:prstGeom prst="rect">
            <a:avLst/>
          </a:prstGeom>
        </p:spPr>
      </p:pic>
      <p:sp>
        <p:nvSpPr>
          <p:cNvPr id="3" name="내용 개체 틀 2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altLang="ko-KR" dirty="0"/>
              <a:t>PI </a:t>
            </a:r>
            <a:r>
              <a:rPr lang="ko-KR" altLang="en-US" dirty="0"/>
              <a:t>값을 더욱 정밀한 값으로 변경해야 한다면 간단하게 클래스 변수 </a:t>
            </a:r>
            <a:r>
              <a:rPr lang="en-US" altLang="ko-KR" dirty="0"/>
              <a:t>PI = 3.141592</a:t>
            </a:r>
            <a:r>
              <a:rPr lang="ko-KR" altLang="en-US" dirty="0"/>
              <a:t>와 같이 변경해주기만 하면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B8D153-7312-B7F5-FAB6-8DA618A15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10.11 </a:t>
            </a:r>
            <a:r>
              <a:rPr lang="ko-KR" altLang="en-US" dirty="0"/>
              <a:t>클래스 변수</a:t>
            </a:r>
          </a:p>
        </p:txBody>
      </p:sp>
    </p:spTree>
    <p:extLst>
      <p:ext uri="{BB962C8B-B14F-4D97-AF65-F5344CB8AC3E}">
        <p14:creationId xmlns:p14="http://schemas.microsoft.com/office/powerpoint/2010/main" val="12138520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6750650-9A63-D0F8-8CD3-A01FED4BC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89" y="2179177"/>
            <a:ext cx="6626705" cy="4095532"/>
          </a:xfrm>
          <a:prstGeom prst="rect">
            <a:avLst/>
          </a:prstGeom>
        </p:spPr>
      </p:pic>
      <p:sp>
        <p:nvSpPr>
          <p:cNvPr id="5" name="제목 3">
            <a:extLst>
              <a:ext uri="{FF2B5EF4-FFF2-40B4-BE49-F238E27FC236}">
                <a16:creationId xmlns:a16="http://schemas.microsoft.com/office/drawing/2014/main" id="{EF30F6A3-E1D4-823B-A130-B6903504BB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5675" y="1255713"/>
            <a:ext cx="9144000" cy="2387600"/>
          </a:xfrm>
        </p:spPr>
        <p:txBody>
          <a:bodyPr/>
          <a:lstStyle/>
          <a:p>
            <a:r>
              <a:rPr lang="en-US" altLang="ko-KR" dirty="0"/>
              <a:t>Questions?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4499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69C11B3895B08A4E96A2D1D42ADAB91F" ma:contentTypeVersion="11" ma:contentTypeDescription="새 문서를 만듭니다." ma:contentTypeScope="" ma:versionID="96c2aa274bec6d6e342baca59153e768">
  <xsd:schema xmlns:xsd="http://www.w3.org/2001/XMLSchema" xmlns:xs="http://www.w3.org/2001/XMLSchema" xmlns:p="http://schemas.microsoft.com/office/2006/metadata/properties" xmlns:ns3="5509120e-0d6d-4073-b3d6-647a0835581f" targetNamespace="http://schemas.microsoft.com/office/2006/metadata/properties" ma:root="true" ma:fieldsID="7390630744db7ccd3855bd086a1bfea6" ns3:_="">
    <xsd:import namespace="5509120e-0d6d-4073-b3d6-647a083558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09120e-0d6d-4073-b3d6-647a083558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FFC00F-3C2A-44EA-B800-EC65BE8C3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509120e-0d6d-4073-b3d6-647a083558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3F4299-2FCA-4216-89E1-4311FB4524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81F22C-DBD1-45B0-917C-1470CC0FD818}">
  <ds:schemaRefs>
    <ds:schemaRef ds:uri="http://schemas.microsoft.com/office/2006/metadata/properties"/>
    <ds:schemaRef ds:uri="http://www.w3.org/XML/1998/namespace"/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5509120e-0d6d-4073-b3d6-647a0835581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2114</Words>
  <Application>Microsoft Office PowerPoint</Application>
  <PresentationFormat>와이드스크린</PresentationFormat>
  <Paragraphs>336</Paragraphs>
  <Slides>74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79" baseType="lpstr">
      <vt:lpstr>D2Coding</vt:lpstr>
      <vt:lpstr>굴림</vt:lpstr>
      <vt:lpstr>맑은 고딕</vt:lpstr>
      <vt:lpstr>Arial</vt:lpstr>
      <vt:lpstr>Office 테마</vt:lpstr>
      <vt:lpstr>PowerPoint 프레젠테이션</vt:lpstr>
      <vt:lpstr>10.1 객체 지향 프로그래밍과 객체</vt:lpstr>
      <vt:lpstr>10.1 객체 지향 프로그래밍과 객체</vt:lpstr>
      <vt:lpstr>10.1 객체 지향 프로그래밍과 객체</vt:lpstr>
      <vt:lpstr>10.1 객체 지향 프로그래밍과 객체</vt:lpstr>
      <vt:lpstr>10.1 객체 지향 프로그래밍과 객체</vt:lpstr>
      <vt:lpstr>10.1 객체 지향 프로그래밍과 객체</vt:lpstr>
      <vt:lpstr>10.1 객체 지향 프로그래밍과 객체</vt:lpstr>
      <vt:lpstr>10.1 객체 지향 프로그래밍과 객체</vt:lpstr>
      <vt:lpstr>10.1 객체 지향 프로그래밍과 객체</vt:lpstr>
      <vt:lpstr>10.2 객체 지향 프로그래밍과 절차적 프로그래밍</vt:lpstr>
      <vt:lpstr>10.2 객체 지향 프로그래밍과 절차적 프로그래밍</vt:lpstr>
      <vt:lpstr>10.2 객체 지향 프로그래밍과 절차적 프로그래밍</vt:lpstr>
      <vt:lpstr>10.2 객체 지향 프로그래밍과 절차적 프로그래밍</vt:lpstr>
      <vt:lpstr>10.2 객체 지향 프로그래밍과 절차적 프로그래밍</vt:lpstr>
      <vt:lpstr>10.2 객체 지향 프로그래밍과 절차적 프로그래밍</vt:lpstr>
      <vt:lpstr>10.3 클래스와 객체, 인스턴스</vt:lpstr>
      <vt:lpstr>10.3 클래스와 객체, 인스턴스</vt:lpstr>
      <vt:lpstr>10.3 클래스와 객체, 인스턴스</vt:lpstr>
      <vt:lpstr>10.4 클래스 정의와 인스턴스</vt:lpstr>
      <vt:lpstr>10.4 클래스 정의와 인스턴스</vt:lpstr>
      <vt:lpstr>10.4 클래스 정의와 인스턴스</vt:lpstr>
      <vt:lpstr>10.4 클래스 정의와 인스턴스</vt:lpstr>
      <vt:lpstr>10.4 클래스 정의와 인스턴스</vt:lpstr>
      <vt:lpstr>10.4 클래스 정의와 인스턴스</vt:lpstr>
      <vt:lpstr>10.5 클래스 정의와 생성자</vt:lpstr>
      <vt:lpstr>10.5 클래스 정의와 생성자</vt:lpstr>
      <vt:lpstr>10.5 클래스 정의와 생성자</vt:lpstr>
      <vt:lpstr>10.5 클래스 정의와 생성자</vt:lpstr>
      <vt:lpstr>10.5 클래스 정의와 생성자</vt:lpstr>
      <vt:lpstr>10.5 클래스 정의와 생성자</vt:lpstr>
      <vt:lpstr>10.6 문자열화 메소드</vt:lpstr>
      <vt:lpstr>10.6 문자열화 메소드</vt:lpstr>
      <vt:lpstr>10.6 문자열화 메소드</vt:lpstr>
      <vt:lpstr>10.6 문자열화 메소드</vt:lpstr>
      <vt:lpstr>10.7 캡슐화</vt:lpstr>
      <vt:lpstr>10.7 캡슐화</vt:lpstr>
      <vt:lpstr>10.7 캡슐화</vt:lpstr>
      <vt:lpstr>10.7 캡슐화</vt:lpstr>
      <vt:lpstr>10.7 캡슐화</vt:lpstr>
      <vt:lpstr>10.8 객체의 아이덴티티 연산identity operator : is, is not</vt:lpstr>
      <vt:lpstr>10.8 객체의 아이덴티티 연산identity operator : is, is not</vt:lpstr>
      <vt:lpstr>10.8 객체의 아이덴티티 연산identity operator : is, is not</vt:lpstr>
      <vt:lpstr>10.8 객체의 아이덴티티 연산identity operator : is, is not</vt:lpstr>
      <vt:lpstr>10.8 객체의 아이덴티티 연산identity operator : is, is not</vt:lpstr>
      <vt:lpstr>10.9 클래스와 특수 메소드</vt:lpstr>
      <vt:lpstr>10.9 클래스와 특수 메소드</vt:lpstr>
      <vt:lpstr>10.9 클래스와 특수 메소드</vt:lpstr>
      <vt:lpstr>10.9 클래스와 특수 메소드</vt:lpstr>
      <vt:lpstr>10.9 클래스와 특수 메소드</vt:lpstr>
      <vt:lpstr>10.9 클래스와 특수 메소드</vt:lpstr>
      <vt:lpstr>10.9 클래스와 특수 메소드</vt:lpstr>
      <vt:lpstr>10.9 클래스와 특수 메소드</vt:lpstr>
      <vt:lpstr>10.9 클래스와 특수 메소드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10.10 클래스의 상속</vt:lpstr>
      <vt:lpstr>10.11 클래스 변수</vt:lpstr>
      <vt:lpstr>10.11 클래스 변수</vt:lpstr>
      <vt:lpstr>10.11 클래스 변수</vt:lpstr>
      <vt:lpstr>10.11 클래스 변수</vt:lpstr>
      <vt:lpstr>10.11 클래스 변수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박동규</dc:creator>
  <cp:lastModifiedBy>박 동규</cp:lastModifiedBy>
  <cp:revision>29</cp:revision>
  <dcterms:created xsi:type="dcterms:W3CDTF">2020-11-21T05:55:16Z</dcterms:created>
  <dcterms:modified xsi:type="dcterms:W3CDTF">2024-11-06T06:38:46Z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0x01010069C11B3895B08A4E96A2D1D42ADAB91F</vt:lpwstr>
  </property>
</Properties>
</file>